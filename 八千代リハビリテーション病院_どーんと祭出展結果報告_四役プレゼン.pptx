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A4A825-5094-1CF7-B798-810A27D72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7D4109-B5B4-7B57-A339-5FE54CE3A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1A1028-F428-6B82-E221-59F9F3180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6FF549-AD9F-02F8-6DE1-74646C75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FD419D-0065-BEFE-64FA-80B0F4354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011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F23DA5-9A67-4821-6BF5-6759ED634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6D9CAC8-E3FB-7D28-27F4-58DBFDB25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68BA3D-22DE-BFA4-5C31-1245FD7DD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5B7236-F04B-27D9-2E41-06A6443DE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D6C471-F81D-1023-1020-7C627031C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8147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E05914-BCB0-E0A9-5067-716E787A1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792057B-8816-E3FC-30D9-B2E67E005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F31A11-EF40-E335-648E-37A17D147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860CAF-0CFF-A2C8-ED78-3B953BE23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489E2C-5F70-2748-704E-07653102F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160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A33DE0-4F79-3725-EA0A-B9D7D2179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956F75-7D47-F449-EB75-FDD97542AA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6A7BC02-3FD1-110B-1586-C18B42222E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1365FD6-A500-9DCE-8E28-064E8FB4D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0F78691-4B46-8D48-2CC2-27DF09D39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A335130-A6D4-31E5-E536-2A80C378C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6845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70875B-EF1A-D222-9786-11F83E3BF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9110D8-B84E-14F1-BF7E-A1713D635C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B1FF0F-F13D-B20F-BB1F-F5ACD2D81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8DF3AD9-F90D-41AC-246C-269B1FF0D4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4DF7543-D33F-A571-E443-E9FE7E0E7A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80AA82-F502-8699-45E6-432CA85C9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83BDFF4-A487-0164-8DB4-E43E8AE39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E551DBA-BA4F-728C-FF4E-B67961AEE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1748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D8FB27-237C-DECC-2EE3-33CD840EC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E73AD97-A350-2188-D634-4202CAEB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E08B0D3-9FED-DBE5-11E0-DF63821FE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2A20853-12F7-0DC7-FC94-D26B21E5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8252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DE95B4C-1341-C722-E828-886335BDC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F3A2A2E-803B-27BF-1B4C-280CBE960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A2564E6-1A95-A907-EC49-933295578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0913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6407E9-A390-373F-E5D0-116BF3115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E0B6B3-9107-A027-D732-8BE20445D7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7CF3538-44CF-F446-4585-4CEEB1E36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7F394A-E44A-3388-9FD6-7502824B7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F790DFF-1818-20CF-7543-CDE044F0B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EF93E7-7F08-9CAA-57C4-C1B8CB1A0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5513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D90084-6877-5899-3920-B36B3F9E0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83174DD-D6BE-FF62-1A98-6612A014E9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FAC7A38-30D3-2568-A5BD-4DCE74996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A7F364-0D8E-FB23-CD4A-BAFAF4CE0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4D88297-1D11-5B8E-19B3-130489408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CD4112-4268-6E3A-104A-7598030C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8716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99FFA3-86F1-7204-82B2-3642E5DAC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D328EE5-CD66-A198-715C-A7CA8C24D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16D272-9A4B-AB65-0CF5-6CE2C4678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8CE465-804D-B9FE-293D-4CEAF0127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73C7FF-BC94-7F48-81C5-E403E963B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4165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1BBB20F-3367-0814-5196-E585027DBA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2A9013F-95AB-92D5-BF60-950C777B7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ED786A-2C0A-7FCD-18CA-0B981B473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37017A-FF80-D643-7692-DE8445C4D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5FC902-0EAF-4DD8-D7B1-012A7337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178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C363651-11F2-758B-9CA1-A25F277F3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C97230-3CD4-889B-F23B-A8BB06057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088AF3-8B1C-AC0E-5248-A628C8CD73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CA0917-F055-49B9-E006-56A79E9CEB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30BA78-91A7-12DA-9B22-9950D4931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6668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2542E8-1FCA-1FCE-36AE-40D7DB5BCCF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0CC39B4-C120-4C32-B9E3-1DF1F4A676C8}"/>
              </a:ext>
            </a:extLst>
          </p:cNvPr>
          <p:cNvSpPr/>
          <p:nvPr/>
        </p:nvSpPr>
        <p:spPr>
          <a:xfrm>
            <a:off x="0" y="0"/>
            <a:ext cx="12192000" cy="19685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1FC2F38-7545-D284-9704-0498DDCE063C}"/>
              </a:ext>
            </a:extLst>
          </p:cNvPr>
          <p:cNvSpPr/>
          <p:nvPr/>
        </p:nvSpPr>
        <p:spPr>
          <a:xfrm>
            <a:off x="0" y="1905000"/>
            <a:ext cx="121920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F8DF5F0-E16F-EF8A-3445-3634A4EC4AF4}"/>
              </a:ext>
            </a:extLst>
          </p:cNvPr>
          <p:cNvSpPr/>
          <p:nvPr/>
        </p:nvSpPr>
        <p:spPr>
          <a:xfrm>
            <a:off x="508000" y="431800"/>
            <a:ext cx="660400" cy="660400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3DCD651-59BA-BD42-AD86-8CFDB2829B03}"/>
              </a:ext>
            </a:extLst>
          </p:cNvPr>
          <p:cNvSpPr/>
          <p:nvPr/>
        </p:nvSpPr>
        <p:spPr>
          <a:xfrm>
            <a:off x="762000" y="558800"/>
            <a:ext cx="152400" cy="406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66DB80-A573-1EDF-ADDA-B9E58228A965}"/>
              </a:ext>
            </a:extLst>
          </p:cNvPr>
          <p:cNvSpPr/>
          <p:nvPr/>
        </p:nvSpPr>
        <p:spPr>
          <a:xfrm>
            <a:off x="635000" y="685800"/>
            <a:ext cx="406400" cy="152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1A2F9B-3A08-8007-FD1F-36289D282BB2}"/>
              </a:ext>
            </a:extLst>
          </p:cNvPr>
          <p:cNvSpPr txBox="1"/>
          <p:nvPr/>
        </p:nvSpPr>
        <p:spPr>
          <a:xfrm>
            <a:off x="1346200" y="355600"/>
            <a:ext cx="10414000" cy="33342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八千代リハビリテーション病院｜四役報告資料（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2026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月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日・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 実施）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98470EE-16E4-FB5F-F4DE-4C20EA89B886}"/>
              </a:ext>
            </a:extLst>
          </p:cNvPr>
          <p:cNvSpPr txBox="1"/>
          <p:nvPr/>
        </p:nvSpPr>
        <p:spPr>
          <a:xfrm>
            <a:off x="1346200" y="762000"/>
            <a:ext cx="10414000" cy="53347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8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八千代市産業祭「どーんと祭」出展結果報告書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ADDC263-5787-B77C-5935-0B93D46DC3BA}"/>
              </a:ext>
            </a:extLst>
          </p:cNvPr>
          <p:cNvSpPr txBox="1"/>
          <p:nvPr/>
        </p:nvSpPr>
        <p:spPr>
          <a:xfrm>
            <a:off x="1346200" y="1422400"/>
            <a:ext cx="10414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会場：八千代市総合運動公園 ／ 出展規模：</a:t>
            </a:r>
            <a:r>
              <a:rPr kumimoji="1" lang="en-US" altLang="ja-JP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区画・</a:t>
            </a:r>
            <a:r>
              <a:rPr kumimoji="1" lang="en-US" altLang="ja-JP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部署協働体制 ／ 報告者：リハビリテーション部 保科憲幸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804FF54-341B-FCB4-288B-B965094135CF}"/>
              </a:ext>
            </a:extLst>
          </p:cNvPr>
          <p:cNvSpPr/>
          <p:nvPr/>
        </p:nvSpPr>
        <p:spPr>
          <a:xfrm>
            <a:off x="406400" y="2209800"/>
            <a:ext cx="11379200" cy="812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ABFB611-ABDB-909D-AB35-5B10C48E4E6E}"/>
              </a:ext>
            </a:extLst>
          </p:cNvPr>
          <p:cNvSpPr/>
          <p:nvPr/>
        </p:nvSpPr>
        <p:spPr>
          <a:xfrm>
            <a:off x="406400" y="2209800"/>
            <a:ext cx="101600" cy="8128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9A479D8-405D-ACD6-9838-E5FDB603FF44}"/>
              </a:ext>
            </a:extLst>
          </p:cNvPr>
          <p:cNvSpPr txBox="1"/>
          <p:nvPr/>
        </p:nvSpPr>
        <p:spPr>
          <a:xfrm>
            <a:off x="660400" y="2311400"/>
            <a:ext cx="10922000" cy="56425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出展実績サマリー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 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ブース来場者数：計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148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
                      アンケート有効回答数：計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  ｜  参加スタッフ：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61C87E5-4F51-358D-F32C-FD4C7533DF75}"/>
              </a:ext>
            </a:extLst>
          </p:cNvPr>
          <p:cNvSpPr txBox="1"/>
          <p:nvPr/>
        </p:nvSpPr>
        <p:spPr>
          <a:xfrm>
            <a:off x="406400" y="3200400"/>
            <a:ext cx="113792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起案書における出展の目的（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つの柱）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C6B4451-A06D-EC27-78A2-58D326A0D170}"/>
              </a:ext>
            </a:extLst>
          </p:cNvPr>
          <p:cNvSpPr/>
          <p:nvPr/>
        </p:nvSpPr>
        <p:spPr>
          <a:xfrm>
            <a:off x="4064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C32507F-8253-FA5F-B565-CBFFD6311FEB}"/>
              </a:ext>
            </a:extLst>
          </p:cNvPr>
          <p:cNvSpPr/>
          <p:nvPr/>
        </p:nvSpPr>
        <p:spPr>
          <a:xfrm>
            <a:off x="406400" y="3632200"/>
            <a:ext cx="36576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5850640-36DD-C380-48E9-FF57E1128547}"/>
              </a:ext>
            </a:extLst>
          </p:cNvPr>
          <p:cNvSpPr txBox="1"/>
          <p:nvPr/>
        </p:nvSpPr>
        <p:spPr>
          <a:xfrm>
            <a:off x="5842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基本方針の遂行（地域貢献）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7FD30D96-ED2E-955C-3279-ABD99292E4F8}"/>
              </a:ext>
            </a:extLst>
          </p:cNvPr>
          <p:cNvSpPr/>
          <p:nvPr/>
        </p:nvSpPr>
        <p:spPr>
          <a:xfrm>
            <a:off x="5842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9442A23-4D6B-FDE6-FEF8-0CE37E6BB3F3}"/>
              </a:ext>
            </a:extLst>
          </p:cNvPr>
          <p:cNvSpPr txBox="1"/>
          <p:nvPr/>
        </p:nvSpPr>
        <p:spPr>
          <a:xfrm>
            <a:off x="584200" y="4318000"/>
            <a:ext cx="3302000" cy="99514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</a:t>
            </a:r>
            <a:r>
              <a:rPr kumimoji="1" lang="en-US" altLang="ja-JP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4.5</a:t>
            </a:r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万人規模の「どーんと祭」出展と、多職種による健康相談・測定機会の提供を通じ、地域医療への貢献と住民の健康寿命延伸に寄与する。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56D738F-52DF-A83C-F863-5F1292FC9244}"/>
              </a:ext>
            </a:extLst>
          </p:cNvPr>
          <p:cNvSpPr/>
          <p:nvPr/>
        </p:nvSpPr>
        <p:spPr>
          <a:xfrm>
            <a:off x="42672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0FCB1955-DAEF-AEAD-C66A-5A6404CB6CF3}"/>
              </a:ext>
            </a:extLst>
          </p:cNvPr>
          <p:cNvSpPr/>
          <p:nvPr/>
        </p:nvSpPr>
        <p:spPr>
          <a:xfrm>
            <a:off x="4267200" y="3632200"/>
            <a:ext cx="36576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D9CA09C-AC93-80AA-6281-C514FF9DE8F4}"/>
              </a:ext>
            </a:extLst>
          </p:cNvPr>
          <p:cNvSpPr txBox="1"/>
          <p:nvPr/>
        </p:nvSpPr>
        <p:spPr>
          <a:xfrm>
            <a:off x="44450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経営的価値（認知・集患）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09771F4-C232-091A-6A0A-8B03A3A943D1}"/>
              </a:ext>
            </a:extLst>
          </p:cNvPr>
          <p:cNvSpPr/>
          <p:nvPr/>
        </p:nvSpPr>
        <p:spPr>
          <a:xfrm>
            <a:off x="44450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5388588-063F-5B39-A3D3-F6CA7AF05183}"/>
              </a:ext>
            </a:extLst>
          </p:cNvPr>
          <p:cNvSpPr txBox="1"/>
          <p:nvPr/>
        </p:nvSpPr>
        <p:spPr>
          <a:xfrm>
            <a:off x="4445000" y="4318000"/>
            <a:ext cx="3302000" cy="121828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地域住民へ「顔が見える医療機関」としての認知を確立し、将来的に来場者やそのご家族が入院を要する事態となった際、当院が第一選択として思い浮かぶような下地を作る。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E9F5272-2A48-268D-F58F-51315F10EE48}"/>
              </a:ext>
            </a:extLst>
          </p:cNvPr>
          <p:cNvSpPr/>
          <p:nvPr/>
        </p:nvSpPr>
        <p:spPr>
          <a:xfrm>
            <a:off x="81280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3704A9DC-A03E-3B33-9B2C-22C866495341}"/>
              </a:ext>
            </a:extLst>
          </p:cNvPr>
          <p:cNvSpPr/>
          <p:nvPr/>
        </p:nvSpPr>
        <p:spPr>
          <a:xfrm>
            <a:off x="8128000" y="3632200"/>
            <a:ext cx="3657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DFE765B-BF22-3284-01BB-035AD1BAEB8C}"/>
              </a:ext>
            </a:extLst>
          </p:cNvPr>
          <p:cNvSpPr txBox="1"/>
          <p:nvPr/>
        </p:nvSpPr>
        <p:spPr>
          <a:xfrm>
            <a:off x="83058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zh-TW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3. </a:t>
            </a:r>
            <a:r>
              <a:rPr kumimoji="1" lang="zh-TW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組織的価値（多職種連携）</a:t>
            </a:r>
            <a:endParaRPr kumimoji="1" lang="ja-JP" altLang="en-US" sz="16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8E5382CD-6FC7-A478-0259-367D7E18B375}"/>
              </a:ext>
            </a:extLst>
          </p:cNvPr>
          <p:cNvSpPr/>
          <p:nvPr/>
        </p:nvSpPr>
        <p:spPr>
          <a:xfrm>
            <a:off x="83058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C0D4D5AA-F475-6ECB-8A28-ADF7222AA076}"/>
              </a:ext>
            </a:extLst>
          </p:cNvPr>
          <p:cNvSpPr txBox="1"/>
          <p:nvPr/>
        </p:nvSpPr>
        <p:spPr>
          <a:xfrm>
            <a:off x="8305800" y="4318000"/>
            <a:ext cx="3302000" cy="121828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部署（リハ・看護・薬剤・栄養・地域連携・総務）が協働して一つの地域イベントを企画・運営することで、院内の多職種連携を強化し、日常業務の連携基盤をより強固にする。</a:t>
            </a:r>
          </a:p>
        </p:txBody>
      </p:sp>
    </p:spTree>
    <p:extLst>
      <p:ext uri="{BB962C8B-B14F-4D97-AF65-F5344CB8AC3E}">
        <p14:creationId xmlns:p14="http://schemas.microsoft.com/office/powerpoint/2010/main" val="3107452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62CD361-4A48-EE43-30BE-95A8482F93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806ADC3-61E4-ABE2-878A-EF59CBA1E03E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C01EC5D-5250-9862-9552-ACBB4825018C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2C1399-92F0-573F-CBD7-70535889B5EC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部：来場者調査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B441AC6-3506-F1A9-F5CD-2324F5F0C908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来場者アンケートの質問事項と各設問から見えること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517250-BF83-5749-DD1C-511C16258266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450373B-657C-5EE4-4564-71403371F5F4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1CD13FE-0A78-8807-BD81-E1AA13829CFD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D12218-20E0-37CA-3EC4-7F0B17565BFC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項目（基本情報＋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Q1〜Q5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）を通じて、今回の出展評価・現在の認知度・当院への評価・住民の関心事を把握する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745D2AFE-44E7-3DA5-A20A-7A5C9770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249696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590965382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1980857514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365783204"/>
                    </a:ext>
                  </a:extLst>
                </a:gridCol>
              </a:tblGrid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質問項目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選択肢・回答形式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この質問から何が見えるか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9116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基本情報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・年齢（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〜90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歳代）
・性別（男性・女性）
・お住まい（八千代市内・八千代市外）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来場者の属性（年代・性別・居住地）の内訳と、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日目・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日目の客層の違い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136329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Q1.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本日参考になった内容は
    どれですか？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・筋肉量測定   ・血管年齢測定   ・お薬相談
・栄養レッスン ・人生会議（終活）の案内
（複数選択可）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今回の出展内容に対する評価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190009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Q2.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これまで当院を
    ご存知でしたか？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・よく知っている（自身や家族が利用したことがある）
・名前や場所は知っている
・今日初めて知った（単一選択）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地域における当院の現在の認知度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916474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Q3.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万が一の際、当院を利用
    したいと思いますか？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・ぜひ利用したい
・候補の一つとして検討したい
・他の病院を選ぶ・わからない（単一選択）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アンケート回答時における当院の評価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088254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Q4.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現在健康について気になる
    ことはありますか？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・足腰の衰え・転倒  ・物忘れ・認知機能
・食事・栄養バランス ・薬の飲み方
・将来の介護や終活  ・とくにない  ・その他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地域住民の抱える健康課題や関心のチェック
（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※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今後の知名度向上に向けた定期的な健康教室のテーマ選定用データ）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013177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Q5.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来年に期待する内容は
    何ですか？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・自由記述（計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39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件の記述回答）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来年度の出展内容に向けたヒント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2700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2200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553B591-D4F6-B6A6-2670-3863C0C8AC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C944D52-1BA7-7807-C096-43137C703A1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8B72128-E24D-1712-8D82-DE19E26D3195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E2A9A59-AD4B-56D2-1190-7590251BEB91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部：単純集計①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7856379-63DC-0097-9D46-CA7181E9753B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来場者アンケート結果①：基本情報（年齢・性別・お住まい）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D71EF68-4249-2EA2-2F0E-993657C23FD5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7D59731-FF5E-89A3-CBA3-C6238F969D4C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A95152F-0CF9-AA8D-77D0-5BF47AC8AFB9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4C772B-8E27-150C-B901-3FFC98106AB3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有効回答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名。年代は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50〜70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歳代が中心（計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60.6%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）、性別は女性が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、お住まいは八千代市内が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endParaRPr kumimoji="1" lang="ja-JP" altLang="en-US" sz="14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D9C17EE-3C3C-C2B1-58E5-A95AC849DFC3}"/>
              </a:ext>
            </a:extLst>
          </p:cNvPr>
          <p:cNvSpPr/>
          <p:nvPr/>
        </p:nvSpPr>
        <p:spPr>
          <a:xfrm>
            <a:off x="304800" y="1574800"/>
            <a:ext cx="5969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6F3BF3B-DE0C-FB09-D1C6-E524243FEC10}"/>
              </a:ext>
            </a:extLst>
          </p:cNvPr>
          <p:cNvSpPr/>
          <p:nvPr/>
        </p:nvSpPr>
        <p:spPr>
          <a:xfrm>
            <a:off x="304800" y="1574800"/>
            <a:ext cx="5969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25B7DB3-6871-57DC-6707-530F9907F887}"/>
              </a:ext>
            </a:extLst>
          </p:cNvPr>
          <p:cNvSpPr txBox="1"/>
          <p:nvPr/>
        </p:nvSpPr>
        <p:spPr>
          <a:xfrm>
            <a:off x="482600" y="1727200"/>
            <a:ext cx="5613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年齢別の回答数・割合（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E529CD5-F6F2-87F2-68A5-6B0AE300CAFE}"/>
              </a:ext>
            </a:extLst>
          </p:cNvPr>
          <p:cNvSpPr/>
          <p:nvPr/>
        </p:nvSpPr>
        <p:spPr>
          <a:xfrm>
            <a:off x="482600" y="2108200"/>
            <a:ext cx="5613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16F6393-A771-7973-873C-F4585E5D0797}"/>
              </a:ext>
            </a:extLst>
          </p:cNvPr>
          <p:cNvSpPr txBox="1"/>
          <p:nvPr/>
        </p:nvSpPr>
        <p:spPr>
          <a:xfrm>
            <a:off x="482600" y="21844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8BCA63F-8B73-8812-0F23-737F757F7CCA}"/>
              </a:ext>
            </a:extLst>
          </p:cNvPr>
          <p:cNvSpPr/>
          <p:nvPr/>
        </p:nvSpPr>
        <p:spPr>
          <a:xfrm>
            <a:off x="1524000" y="22352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DF65A7E-6F63-0FBF-546C-FF771967C86A}"/>
              </a:ext>
            </a:extLst>
          </p:cNvPr>
          <p:cNvSpPr/>
          <p:nvPr/>
        </p:nvSpPr>
        <p:spPr>
          <a:xfrm>
            <a:off x="1524000" y="2235200"/>
            <a:ext cx="3175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A73BAD7-A02D-6379-827D-6531BAFCAE93}"/>
              </a:ext>
            </a:extLst>
          </p:cNvPr>
          <p:cNvSpPr txBox="1"/>
          <p:nvPr/>
        </p:nvSpPr>
        <p:spPr>
          <a:xfrm>
            <a:off x="4419600" y="2184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A5A3CF5-0DD3-BF8C-8E55-A31D9DC45B34}"/>
              </a:ext>
            </a:extLst>
          </p:cNvPr>
          <p:cNvSpPr txBox="1"/>
          <p:nvPr/>
        </p:nvSpPr>
        <p:spPr>
          <a:xfrm>
            <a:off x="482600" y="26035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5F9A19F1-E992-1F75-FEBE-EB724038DEB1}"/>
              </a:ext>
            </a:extLst>
          </p:cNvPr>
          <p:cNvSpPr/>
          <p:nvPr/>
        </p:nvSpPr>
        <p:spPr>
          <a:xfrm>
            <a:off x="1524000" y="26543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1A95A37-1B00-777A-842B-94599CA3BC9D}"/>
              </a:ext>
            </a:extLst>
          </p:cNvPr>
          <p:cNvSpPr/>
          <p:nvPr/>
        </p:nvSpPr>
        <p:spPr>
          <a:xfrm>
            <a:off x="1524000" y="2654300"/>
            <a:ext cx="3175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B4B3153-FAFE-A8DC-0A44-C45B673F4B17}"/>
              </a:ext>
            </a:extLst>
          </p:cNvPr>
          <p:cNvSpPr txBox="1"/>
          <p:nvPr/>
        </p:nvSpPr>
        <p:spPr>
          <a:xfrm>
            <a:off x="4419600" y="26035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BDB862F-4D37-3415-99B1-3B2F22D6C507}"/>
              </a:ext>
            </a:extLst>
          </p:cNvPr>
          <p:cNvSpPr txBox="1"/>
          <p:nvPr/>
        </p:nvSpPr>
        <p:spPr>
          <a:xfrm>
            <a:off x="482600" y="30226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960A0C7-28B2-68BB-9B1F-55B890938A41}"/>
              </a:ext>
            </a:extLst>
          </p:cNvPr>
          <p:cNvSpPr/>
          <p:nvPr/>
        </p:nvSpPr>
        <p:spPr>
          <a:xfrm>
            <a:off x="1524000" y="30734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8E890CB-C8BE-07A3-1A42-A89464A8047B}"/>
              </a:ext>
            </a:extLst>
          </p:cNvPr>
          <p:cNvSpPr/>
          <p:nvPr/>
        </p:nvSpPr>
        <p:spPr>
          <a:xfrm>
            <a:off x="1524000" y="3073400"/>
            <a:ext cx="4318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3383763-6FC2-B6D2-3A10-608ABB78A2FB}"/>
              </a:ext>
            </a:extLst>
          </p:cNvPr>
          <p:cNvSpPr txBox="1"/>
          <p:nvPr/>
        </p:nvSpPr>
        <p:spPr>
          <a:xfrm>
            <a:off x="4419600" y="3022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C2153A0-8817-4A26-29D5-56132CE3959B}"/>
              </a:ext>
            </a:extLst>
          </p:cNvPr>
          <p:cNvSpPr txBox="1"/>
          <p:nvPr/>
        </p:nvSpPr>
        <p:spPr>
          <a:xfrm>
            <a:off x="482600" y="34417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E37293D2-C5C5-5D8A-170C-BC79E416EDE9}"/>
              </a:ext>
            </a:extLst>
          </p:cNvPr>
          <p:cNvSpPr/>
          <p:nvPr/>
        </p:nvSpPr>
        <p:spPr>
          <a:xfrm>
            <a:off x="1524000" y="34925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6ECC1DA-9129-9EC4-6C96-17DCAAC3603B}"/>
              </a:ext>
            </a:extLst>
          </p:cNvPr>
          <p:cNvSpPr/>
          <p:nvPr/>
        </p:nvSpPr>
        <p:spPr>
          <a:xfrm>
            <a:off x="1524000" y="3492500"/>
            <a:ext cx="11684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A0F2CA5-B095-0717-64AA-72B142133B4B}"/>
              </a:ext>
            </a:extLst>
          </p:cNvPr>
          <p:cNvSpPr txBox="1"/>
          <p:nvPr/>
        </p:nvSpPr>
        <p:spPr>
          <a:xfrm>
            <a:off x="4419600" y="34417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46EBAF6-1426-E24F-C3A4-FF1B2B8B000A}"/>
              </a:ext>
            </a:extLst>
          </p:cNvPr>
          <p:cNvSpPr txBox="1"/>
          <p:nvPr/>
        </p:nvSpPr>
        <p:spPr>
          <a:xfrm>
            <a:off x="482600" y="38608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88EB2172-BCA1-4119-13DB-D453F7C6A72E}"/>
              </a:ext>
            </a:extLst>
          </p:cNvPr>
          <p:cNvSpPr/>
          <p:nvPr/>
        </p:nvSpPr>
        <p:spPr>
          <a:xfrm>
            <a:off x="1524000" y="39116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EDC5EAB1-2C63-3F31-EB8B-9B98120970F3}"/>
              </a:ext>
            </a:extLst>
          </p:cNvPr>
          <p:cNvSpPr/>
          <p:nvPr/>
        </p:nvSpPr>
        <p:spPr>
          <a:xfrm>
            <a:off x="1524000" y="3911600"/>
            <a:ext cx="2209800" cy="228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3D38F47-DFF7-4AAE-619A-624CE012D191}"/>
              </a:ext>
            </a:extLst>
          </p:cNvPr>
          <p:cNvSpPr txBox="1"/>
          <p:nvPr/>
        </p:nvSpPr>
        <p:spPr>
          <a:xfrm>
            <a:off x="4419600" y="3860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9E8313E-D56C-A0BB-505F-C6823BE83E73}"/>
              </a:ext>
            </a:extLst>
          </p:cNvPr>
          <p:cNvSpPr txBox="1"/>
          <p:nvPr/>
        </p:nvSpPr>
        <p:spPr>
          <a:xfrm>
            <a:off x="482600" y="42799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C75ACB0E-806B-4D9B-21B3-37DDC33ED54A}"/>
              </a:ext>
            </a:extLst>
          </p:cNvPr>
          <p:cNvSpPr/>
          <p:nvPr/>
        </p:nvSpPr>
        <p:spPr>
          <a:xfrm>
            <a:off x="1524000" y="43307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7EA59BE-8B69-7AA1-A0D8-E6991BF88AC5}"/>
              </a:ext>
            </a:extLst>
          </p:cNvPr>
          <p:cNvSpPr/>
          <p:nvPr/>
        </p:nvSpPr>
        <p:spPr>
          <a:xfrm>
            <a:off x="1524000" y="4330700"/>
            <a:ext cx="13843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E09A853-BDDA-17AF-BC09-1A122427FA9A}"/>
              </a:ext>
            </a:extLst>
          </p:cNvPr>
          <p:cNvSpPr txBox="1"/>
          <p:nvPr/>
        </p:nvSpPr>
        <p:spPr>
          <a:xfrm>
            <a:off x="4419600" y="42799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7C8041A2-BEE2-11E0-9172-2A4D6EDA69B4}"/>
              </a:ext>
            </a:extLst>
          </p:cNvPr>
          <p:cNvSpPr txBox="1"/>
          <p:nvPr/>
        </p:nvSpPr>
        <p:spPr>
          <a:xfrm>
            <a:off x="482600" y="46990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F8184D59-2ED2-32EA-BD0F-ADD4559137BE}"/>
              </a:ext>
            </a:extLst>
          </p:cNvPr>
          <p:cNvSpPr/>
          <p:nvPr/>
        </p:nvSpPr>
        <p:spPr>
          <a:xfrm>
            <a:off x="1524000" y="47498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3B1094C-ABCB-69F8-26F8-438C4549A8CD}"/>
              </a:ext>
            </a:extLst>
          </p:cNvPr>
          <p:cNvSpPr/>
          <p:nvPr/>
        </p:nvSpPr>
        <p:spPr>
          <a:xfrm>
            <a:off x="1524000" y="4749800"/>
            <a:ext cx="14859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FA8AE4C-195E-8614-610E-70930EB96BFE}"/>
              </a:ext>
            </a:extLst>
          </p:cNvPr>
          <p:cNvSpPr txBox="1"/>
          <p:nvPr/>
        </p:nvSpPr>
        <p:spPr>
          <a:xfrm>
            <a:off x="4419600" y="4699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08F6043C-A3A1-EB5B-7537-9D21D25CF982}"/>
              </a:ext>
            </a:extLst>
          </p:cNvPr>
          <p:cNvSpPr txBox="1"/>
          <p:nvPr/>
        </p:nvSpPr>
        <p:spPr>
          <a:xfrm>
            <a:off x="482600" y="51181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3C1A9C30-3FAB-9C0B-0FF2-9D89155DA633}"/>
              </a:ext>
            </a:extLst>
          </p:cNvPr>
          <p:cNvSpPr/>
          <p:nvPr/>
        </p:nvSpPr>
        <p:spPr>
          <a:xfrm>
            <a:off x="1524000" y="51689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A55D51B-1963-7986-4460-8CECC32A4251}"/>
              </a:ext>
            </a:extLst>
          </p:cNvPr>
          <p:cNvSpPr/>
          <p:nvPr/>
        </p:nvSpPr>
        <p:spPr>
          <a:xfrm>
            <a:off x="1524000" y="5168900"/>
            <a:ext cx="8890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41B877D-575D-4158-A107-ADA79F7D5AF2}"/>
              </a:ext>
            </a:extLst>
          </p:cNvPr>
          <p:cNvSpPr txBox="1"/>
          <p:nvPr/>
        </p:nvSpPr>
        <p:spPr>
          <a:xfrm>
            <a:off x="4419600" y="51181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FFD7DFF1-F7B7-052A-04E4-380A8F1D897F}"/>
              </a:ext>
            </a:extLst>
          </p:cNvPr>
          <p:cNvSpPr txBox="1"/>
          <p:nvPr/>
        </p:nvSpPr>
        <p:spPr>
          <a:xfrm>
            <a:off x="482600" y="55372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E427627-92B3-6A4D-AA79-706F013C99E2}"/>
              </a:ext>
            </a:extLst>
          </p:cNvPr>
          <p:cNvSpPr/>
          <p:nvPr/>
        </p:nvSpPr>
        <p:spPr>
          <a:xfrm>
            <a:off x="1524000" y="55880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35066391-09BA-69E9-7C25-B1E2D0C02386}"/>
              </a:ext>
            </a:extLst>
          </p:cNvPr>
          <p:cNvSpPr/>
          <p:nvPr/>
        </p:nvSpPr>
        <p:spPr>
          <a:xfrm>
            <a:off x="1524000" y="5588000"/>
            <a:ext cx="635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33F86F88-884A-56B9-1182-25E75EAA1E8C}"/>
              </a:ext>
            </a:extLst>
          </p:cNvPr>
          <p:cNvSpPr txBox="1"/>
          <p:nvPr/>
        </p:nvSpPr>
        <p:spPr>
          <a:xfrm>
            <a:off x="4419600" y="5537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(0.8%)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9422097-4D20-5959-6EA9-79CE94149D2E}"/>
              </a:ext>
            </a:extLst>
          </p:cNvPr>
          <p:cNvSpPr txBox="1"/>
          <p:nvPr/>
        </p:nvSpPr>
        <p:spPr>
          <a:xfrm>
            <a:off x="482600" y="59563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233900F3-841C-F3A0-8C5F-8730501E79B1}"/>
              </a:ext>
            </a:extLst>
          </p:cNvPr>
          <p:cNvSpPr/>
          <p:nvPr/>
        </p:nvSpPr>
        <p:spPr>
          <a:xfrm>
            <a:off x="1524000" y="60071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BF835F7-1DD8-3158-3E3E-29E5C5DA1E76}"/>
              </a:ext>
            </a:extLst>
          </p:cNvPr>
          <p:cNvSpPr/>
          <p:nvPr/>
        </p:nvSpPr>
        <p:spPr>
          <a:xfrm>
            <a:off x="1524000" y="6007100"/>
            <a:ext cx="1143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50A93E16-7457-709D-9EB1-DBC43519B028}"/>
              </a:ext>
            </a:extLst>
          </p:cNvPr>
          <p:cNvSpPr txBox="1"/>
          <p:nvPr/>
        </p:nvSpPr>
        <p:spPr>
          <a:xfrm>
            <a:off x="4419600" y="59563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2DF5F29E-3611-44BB-F13C-C2D885BD2475}"/>
              </a:ext>
            </a:extLst>
          </p:cNvPr>
          <p:cNvSpPr/>
          <p:nvPr/>
        </p:nvSpPr>
        <p:spPr>
          <a:xfrm>
            <a:off x="6477000" y="1574800"/>
            <a:ext cx="5410200" cy="25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588BA1F0-27E3-E99F-A7E5-1C56B31D9F63}"/>
              </a:ext>
            </a:extLst>
          </p:cNvPr>
          <p:cNvSpPr/>
          <p:nvPr/>
        </p:nvSpPr>
        <p:spPr>
          <a:xfrm>
            <a:off x="6477000" y="1574800"/>
            <a:ext cx="54102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633F4193-6FAA-E771-DC68-DE3FC1806312}"/>
              </a:ext>
            </a:extLst>
          </p:cNvPr>
          <p:cNvSpPr txBox="1"/>
          <p:nvPr/>
        </p:nvSpPr>
        <p:spPr>
          <a:xfrm>
            <a:off x="6654800" y="1727200"/>
            <a:ext cx="5054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お住まい・性別の内訳（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CC87485A-7BDD-9C81-DFFA-D0BC372CEC69}"/>
              </a:ext>
            </a:extLst>
          </p:cNvPr>
          <p:cNvSpPr/>
          <p:nvPr/>
        </p:nvSpPr>
        <p:spPr>
          <a:xfrm>
            <a:off x="6654800" y="2108200"/>
            <a:ext cx="5054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3D543B79-8B10-BAAB-B770-547C49D386CC}"/>
              </a:ext>
            </a:extLst>
          </p:cNvPr>
          <p:cNvSpPr txBox="1"/>
          <p:nvPr/>
        </p:nvSpPr>
        <p:spPr>
          <a:xfrm>
            <a:off x="6680200" y="2184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4FBE3252-1880-727A-FBE3-D3488A4554EB}"/>
              </a:ext>
            </a:extLst>
          </p:cNvPr>
          <p:cNvSpPr/>
          <p:nvPr/>
        </p:nvSpPr>
        <p:spPr>
          <a:xfrm>
            <a:off x="8026400" y="2235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CB444D71-CCB7-32C3-F067-A1529D60B50A}"/>
              </a:ext>
            </a:extLst>
          </p:cNvPr>
          <p:cNvSpPr/>
          <p:nvPr/>
        </p:nvSpPr>
        <p:spPr>
          <a:xfrm>
            <a:off x="8026400" y="2235200"/>
            <a:ext cx="14224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7AD2C5AB-7CBD-B9A9-1494-E0D60BB348A1}"/>
              </a:ext>
            </a:extLst>
          </p:cNvPr>
          <p:cNvSpPr txBox="1"/>
          <p:nvPr/>
        </p:nvSpPr>
        <p:spPr>
          <a:xfrm>
            <a:off x="10096500" y="2184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(72.5%)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54FE0141-2E67-E650-1CFD-3BF3F063F6EC}"/>
              </a:ext>
            </a:extLst>
          </p:cNvPr>
          <p:cNvSpPr txBox="1"/>
          <p:nvPr/>
        </p:nvSpPr>
        <p:spPr>
          <a:xfrm>
            <a:off x="6680200" y="2565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八千代市外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7A8D00A6-FF4D-7DB9-914E-A2F596EBDA0A}"/>
              </a:ext>
            </a:extLst>
          </p:cNvPr>
          <p:cNvSpPr/>
          <p:nvPr/>
        </p:nvSpPr>
        <p:spPr>
          <a:xfrm>
            <a:off x="8026400" y="2616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441DEEA4-342A-04B9-A8A0-BDAFCFBE6FED}"/>
              </a:ext>
            </a:extLst>
          </p:cNvPr>
          <p:cNvSpPr/>
          <p:nvPr/>
        </p:nvSpPr>
        <p:spPr>
          <a:xfrm>
            <a:off x="8026400" y="2616200"/>
            <a:ext cx="520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3F286EA4-3DD9-504E-315A-80E66D0DFCE7}"/>
              </a:ext>
            </a:extLst>
          </p:cNvPr>
          <p:cNvSpPr txBox="1"/>
          <p:nvPr/>
        </p:nvSpPr>
        <p:spPr>
          <a:xfrm>
            <a:off x="10096500" y="2565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92360BA-C948-A3E3-CEA8-ED30AD57547E}"/>
              </a:ext>
            </a:extLst>
          </p:cNvPr>
          <p:cNvSpPr txBox="1"/>
          <p:nvPr/>
        </p:nvSpPr>
        <p:spPr>
          <a:xfrm>
            <a:off x="6680200" y="2946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女性</a:t>
            </a:r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944E4AFC-9DF0-54CC-5F04-C0EA90B474C4}"/>
              </a:ext>
            </a:extLst>
          </p:cNvPr>
          <p:cNvSpPr/>
          <p:nvPr/>
        </p:nvSpPr>
        <p:spPr>
          <a:xfrm>
            <a:off x="8026400" y="2997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E9CE73B3-3230-92A1-1EF9-FC53267A6E2B}"/>
              </a:ext>
            </a:extLst>
          </p:cNvPr>
          <p:cNvSpPr/>
          <p:nvPr/>
        </p:nvSpPr>
        <p:spPr>
          <a:xfrm>
            <a:off x="8026400" y="2997200"/>
            <a:ext cx="12700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F3F60BE2-AF9F-F8C9-79D7-7A402979F7D2}"/>
              </a:ext>
            </a:extLst>
          </p:cNvPr>
          <p:cNvSpPr txBox="1"/>
          <p:nvPr/>
        </p:nvSpPr>
        <p:spPr>
          <a:xfrm>
            <a:off x="10096500" y="2946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E5E1A76F-C8A1-9E1B-024E-E4452168C29B}"/>
              </a:ext>
            </a:extLst>
          </p:cNvPr>
          <p:cNvSpPr txBox="1"/>
          <p:nvPr/>
        </p:nvSpPr>
        <p:spPr>
          <a:xfrm>
            <a:off x="6680200" y="3327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男性</a:t>
            </a: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8C423866-036A-8831-F1AD-66F43A3BF140}"/>
              </a:ext>
            </a:extLst>
          </p:cNvPr>
          <p:cNvSpPr/>
          <p:nvPr/>
        </p:nvSpPr>
        <p:spPr>
          <a:xfrm>
            <a:off x="8026400" y="3378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A58652D3-DE6D-34EC-898C-66867F74E0AC}"/>
              </a:ext>
            </a:extLst>
          </p:cNvPr>
          <p:cNvSpPr/>
          <p:nvPr/>
        </p:nvSpPr>
        <p:spPr>
          <a:xfrm>
            <a:off x="8026400" y="3378200"/>
            <a:ext cx="673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3A019525-6545-2862-8A00-A69A0E4A7E1A}"/>
              </a:ext>
            </a:extLst>
          </p:cNvPr>
          <p:cNvSpPr txBox="1"/>
          <p:nvPr/>
        </p:nvSpPr>
        <p:spPr>
          <a:xfrm>
            <a:off x="10096500" y="3327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(34.3%)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11AEEE75-40D3-AA34-DE11-1CFC8187A11E}"/>
              </a:ext>
            </a:extLst>
          </p:cNvPr>
          <p:cNvSpPr txBox="1"/>
          <p:nvPr/>
        </p:nvSpPr>
        <p:spPr>
          <a:xfrm>
            <a:off x="6680200" y="3708400"/>
            <a:ext cx="50292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未記入：お住まい 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1.3%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 ／ 性別 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0.8%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59BC9079-177B-45F9-B683-22073D0B7F5F}"/>
              </a:ext>
            </a:extLst>
          </p:cNvPr>
          <p:cNvSpPr/>
          <p:nvPr/>
        </p:nvSpPr>
        <p:spPr>
          <a:xfrm>
            <a:off x="6477000" y="4267200"/>
            <a:ext cx="54102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E4A0CD9F-B4AB-D70D-F035-9C825AF3BBEF}"/>
              </a:ext>
            </a:extLst>
          </p:cNvPr>
          <p:cNvSpPr/>
          <p:nvPr/>
        </p:nvSpPr>
        <p:spPr>
          <a:xfrm>
            <a:off x="6477000" y="4267200"/>
            <a:ext cx="54102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9F9A443-D968-2DC5-A7C1-454F525A0641}"/>
              </a:ext>
            </a:extLst>
          </p:cNvPr>
          <p:cNvSpPr txBox="1"/>
          <p:nvPr/>
        </p:nvSpPr>
        <p:spPr>
          <a:xfrm>
            <a:off x="6654800" y="4419600"/>
            <a:ext cx="5054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基本情報 集計結果の説明</a:t>
            </a:r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E9521017-7B59-9353-AC92-3A33F2F5FA74}"/>
              </a:ext>
            </a:extLst>
          </p:cNvPr>
          <p:cNvSpPr/>
          <p:nvPr/>
        </p:nvSpPr>
        <p:spPr>
          <a:xfrm>
            <a:off x="6654800" y="4800600"/>
            <a:ext cx="5054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2B6E83D6-3D3B-1A98-5632-84B505E7B76E}"/>
              </a:ext>
            </a:extLst>
          </p:cNvPr>
          <p:cNvSpPr txBox="1"/>
          <p:nvPr/>
        </p:nvSpPr>
        <p:spPr>
          <a:xfrm>
            <a:off x="6654800" y="4851400"/>
            <a:ext cx="5054600" cy="201388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・ブース来場者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名のうち、有効回答数は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名（回答率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・年齢別では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）で最も多く、次いで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14.0%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・性別は女性が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）、男性が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・お住まいは八千代市内が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）、八千代市外が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2875607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D6E0A32-6C10-3D32-265F-9C528E1A49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10ECB62-2B06-D35F-4033-25E561D53DDF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4CF90B0-687B-BD35-661B-596390B0F43B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5CBC0D-86C3-7F20-2874-E3C69DC0BD12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部：単純集計②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92012DC-48F5-C8D5-BE77-42A35B0D7F98}"/>
              </a:ext>
            </a:extLst>
          </p:cNvPr>
          <p:cNvSpPr txBox="1"/>
          <p:nvPr/>
        </p:nvSpPr>
        <p:spPr>
          <a:xfrm>
            <a:off x="2336800" y="139700"/>
            <a:ext cx="8382000" cy="71814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来場者アンケート結果②：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（出展評価）・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（認知度）・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（当院評価）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840A8EF-7403-AEAC-70DE-7AD3DA5D2B60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8199FB-FA7C-300D-BAF2-76BE41850B56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3436A90-D95C-6ABA-F58F-FDD1F0006627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80F5E6C-C0B2-9A1F-DC70-73046662D52E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血管年齢（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）・筋肉量（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）が高評価。初認知は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、当院を「利用・検討したい」は計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endParaRPr kumimoji="1" lang="ja-JP" altLang="en-US" sz="14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D05008A-0DD1-8E97-D3AD-67B6880BFC0C}"/>
              </a:ext>
            </a:extLst>
          </p:cNvPr>
          <p:cNvSpPr/>
          <p:nvPr/>
        </p:nvSpPr>
        <p:spPr>
          <a:xfrm>
            <a:off x="304800" y="1574800"/>
            <a:ext cx="6477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64B519C-BB47-CD17-FF1A-FDDC29E10DEF}"/>
              </a:ext>
            </a:extLst>
          </p:cNvPr>
          <p:cNvSpPr/>
          <p:nvPr/>
        </p:nvSpPr>
        <p:spPr>
          <a:xfrm>
            <a:off x="304800" y="1574800"/>
            <a:ext cx="6477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3F1F921-97B2-DD4E-56AB-894EB1E444E2}"/>
              </a:ext>
            </a:extLst>
          </p:cNvPr>
          <p:cNvSpPr txBox="1"/>
          <p:nvPr/>
        </p:nvSpPr>
        <p:spPr>
          <a:xfrm>
            <a:off x="482600" y="1727200"/>
            <a:ext cx="6121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Q1〜Q3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設問別の回答数・割合（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3E85E65-3EFF-BAC3-CB65-9283F882D137}"/>
              </a:ext>
            </a:extLst>
          </p:cNvPr>
          <p:cNvSpPr/>
          <p:nvPr/>
        </p:nvSpPr>
        <p:spPr>
          <a:xfrm>
            <a:off x="482600" y="2108200"/>
            <a:ext cx="6121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28E5B86-1582-23A2-B890-9E071887FC2B}"/>
              </a:ext>
            </a:extLst>
          </p:cNvPr>
          <p:cNvSpPr txBox="1"/>
          <p:nvPr/>
        </p:nvSpPr>
        <p:spPr>
          <a:xfrm>
            <a:off x="482600" y="21336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1D4ED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【Q1】</a:t>
            </a:r>
            <a:r>
              <a:rPr kumimoji="1" lang="ja-JP" altLang="en-US" sz="1400" b="1">
                <a:solidFill>
                  <a:srgbClr val="1D4ED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本日参考になった内容（複数回答）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4568FCF-D60C-9BB5-C2AA-0E522BD9C7E7}"/>
              </a:ext>
            </a:extLst>
          </p:cNvPr>
          <p:cNvSpPr txBox="1"/>
          <p:nvPr/>
        </p:nvSpPr>
        <p:spPr>
          <a:xfrm>
            <a:off x="482600" y="24638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zh-TW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血管年齢測定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65AE655-D685-E626-CD2A-681EC04B3EED}"/>
              </a:ext>
            </a:extLst>
          </p:cNvPr>
          <p:cNvSpPr/>
          <p:nvPr/>
        </p:nvSpPr>
        <p:spPr>
          <a:xfrm>
            <a:off x="2590800" y="2514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A7DCC7D-E989-E7BB-A530-20D437BF8DC7}"/>
              </a:ext>
            </a:extLst>
          </p:cNvPr>
          <p:cNvSpPr/>
          <p:nvPr/>
        </p:nvSpPr>
        <p:spPr>
          <a:xfrm>
            <a:off x="2590800" y="2514600"/>
            <a:ext cx="17653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3CB529-1D30-B1C2-196A-BDE87082B1B1}"/>
              </a:ext>
            </a:extLst>
          </p:cNvPr>
          <p:cNvSpPr txBox="1"/>
          <p:nvPr/>
        </p:nvSpPr>
        <p:spPr>
          <a:xfrm>
            <a:off x="5105400" y="2463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(72.9%)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8A136C6-B5FE-C0AB-70A9-FB72F20354C2}"/>
              </a:ext>
            </a:extLst>
          </p:cNvPr>
          <p:cNvSpPr txBox="1"/>
          <p:nvPr/>
        </p:nvSpPr>
        <p:spPr>
          <a:xfrm>
            <a:off x="482600" y="27940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筋肉量測定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(InBody)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747A7015-13C9-AE85-CE00-8A0845AA89AF}"/>
              </a:ext>
            </a:extLst>
          </p:cNvPr>
          <p:cNvSpPr/>
          <p:nvPr/>
        </p:nvSpPr>
        <p:spPr>
          <a:xfrm>
            <a:off x="2590800" y="2844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995BA5C-0BD9-CF4C-9DEC-A5ED04D76D28}"/>
              </a:ext>
            </a:extLst>
          </p:cNvPr>
          <p:cNvSpPr/>
          <p:nvPr/>
        </p:nvSpPr>
        <p:spPr>
          <a:xfrm>
            <a:off x="2590800" y="2844800"/>
            <a:ext cx="16002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E1B930F-7E31-5B1D-0942-AAD100290DFC}"/>
              </a:ext>
            </a:extLst>
          </p:cNvPr>
          <p:cNvSpPr txBox="1"/>
          <p:nvPr/>
        </p:nvSpPr>
        <p:spPr>
          <a:xfrm>
            <a:off x="5105400" y="2794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71874F4-D156-EE5F-27DC-33991FFA0F1E}"/>
              </a:ext>
            </a:extLst>
          </p:cNvPr>
          <p:cNvSpPr txBox="1"/>
          <p:nvPr/>
        </p:nvSpPr>
        <p:spPr>
          <a:xfrm>
            <a:off x="482600" y="3124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栄養レッスン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D5B380D-F80B-6BDB-6AE8-C25DDCFB5A35}"/>
              </a:ext>
            </a:extLst>
          </p:cNvPr>
          <p:cNvSpPr/>
          <p:nvPr/>
        </p:nvSpPr>
        <p:spPr>
          <a:xfrm>
            <a:off x="2590800" y="3175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9BFAF5C-AE4A-AE38-96F5-F411AC618FDF}"/>
              </a:ext>
            </a:extLst>
          </p:cNvPr>
          <p:cNvSpPr/>
          <p:nvPr/>
        </p:nvSpPr>
        <p:spPr>
          <a:xfrm>
            <a:off x="2590800" y="3175000"/>
            <a:ext cx="5842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2AD5DEF-41D8-A8D3-5004-0C3E19005000}"/>
              </a:ext>
            </a:extLst>
          </p:cNvPr>
          <p:cNvSpPr txBox="1"/>
          <p:nvPr/>
        </p:nvSpPr>
        <p:spPr>
          <a:xfrm>
            <a:off x="5105400" y="3124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(24.2%)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EDF6660-2DF3-885B-AA89-C6FED07822F4}"/>
              </a:ext>
            </a:extLst>
          </p:cNvPr>
          <p:cNvSpPr txBox="1"/>
          <p:nvPr/>
        </p:nvSpPr>
        <p:spPr>
          <a:xfrm>
            <a:off x="482600" y="3454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人生会議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終活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の案内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9931C21-0BAD-392D-BEA6-8791240AF556}"/>
              </a:ext>
            </a:extLst>
          </p:cNvPr>
          <p:cNvSpPr/>
          <p:nvPr/>
        </p:nvSpPr>
        <p:spPr>
          <a:xfrm>
            <a:off x="2590800" y="3505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355E163-6D90-E1D6-2684-ABCE0E4897B9}"/>
              </a:ext>
            </a:extLst>
          </p:cNvPr>
          <p:cNvSpPr/>
          <p:nvPr/>
        </p:nvSpPr>
        <p:spPr>
          <a:xfrm>
            <a:off x="2590800" y="3505200"/>
            <a:ext cx="419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8F1D3BD-D581-4B06-BB1B-A4864471F2BB}"/>
              </a:ext>
            </a:extLst>
          </p:cNvPr>
          <p:cNvSpPr txBox="1"/>
          <p:nvPr/>
        </p:nvSpPr>
        <p:spPr>
          <a:xfrm>
            <a:off x="5105400" y="3454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67FB81C-E16D-0AD9-A139-0ACCE7935760}"/>
              </a:ext>
            </a:extLst>
          </p:cNvPr>
          <p:cNvSpPr txBox="1"/>
          <p:nvPr/>
        </p:nvSpPr>
        <p:spPr>
          <a:xfrm>
            <a:off x="482600" y="37846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お薬相談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7DC3B2EA-CACE-2D05-66DD-FA8E582D3B06}"/>
              </a:ext>
            </a:extLst>
          </p:cNvPr>
          <p:cNvSpPr/>
          <p:nvPr/>
        </p:nvSpPr>
        <p:spPr>
          <a:xfrm>
            <a:off x="2590800" y="3835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9ADB41E-A601-2836-BF9B-F11457498DB3}"/>
              </a:ext>
            </a:extLst>
          </p:cNvPr>
          <p:cNvSpPr/>
          <p:nvPr/>
        </p:nvSpPr>
        <p:spPr>
          <a:xfrm>
            <a:off x="2590800" y="3835400"/>
            <a:ext cx="3302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5668197-7904-DA38-EE60-5B51BEA8CD04}"/>
              </a:ext>
            </a:extLst>
          </p:cNvPr>
          <p:cNvSpPr txBox="1"/>
          <p:nvPr/>
        </p:nvSpPr>
        <p:spPr>
          <a:xfrm>
            <a:off x="5105400" y="378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(13.6%)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0655427-8947-35D9-DFE0-C377C1821868}"/>
              </a:ext>
            </a:extLst>
          </p:cNvPr>
          <p:cNvSpPr txBox="1"/>
          <p:nvPr/>
        </p:nvSpPr>
        <p:spPr>
          <a:xfrm>
            <a:off x="482600" y="41910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D9770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【Q2】</a:t>
            </a:r>
            <a:r>
              <a:rPr kumimoji="1" lang="ja-JP" altLang="en-US" sz="1400" b="1">
                <a:solidFill>
                  <a:srgbClr val="D9770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これまで当院をご存知でしたか？（単一回答）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D6593BD4-6896-F9C7-AC11-D40D9AB32D6A}"/>
              </a:ext>
            </a:extLst>
          </p:cNvPr>
          <p:cNvSpPr txBox="1"/>
          <p:nvPr/>
        </p:nvSpPr>
        <p:spPr>
          <a:xfrm>
            <a:off x="482600" y="4521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名前や場所は知っている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4B2493BB-0D9F-051A-F353-203002B53213}"/>
              </a:ext>
            </a:extLst>
          </p:cNvPr>
          <p:cNvSpPr/>
          <p:nvPr/>
        </p:nvSpPr>
        <p:spPr>
          <a:xfrm>
            <a:off x="2590800" y="4572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219DF0A-9780-01BE-72D4-9BFB7C4DD34A}"/>
              </a:ext>
            </a:extLst>
          </p:cNvPr>
          <p:cNvSpPr/>
          <p:nvPr/>
        </p:nvSpPr>
        <p:spPr>
          <a:xfrm>
            <a:off x="2590800" y="4572000"/>
            <a:ext cx="12827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E91DA2C1-47F5-2878-3BEF-DFF608440D5F}"/>
              </a:ext>
            </a:extLst>
          </p:cNvPr>
          <p:cNvSpPr txBox="1"/>
          <p:nvPr/>
        </p:nvSpPr>
        <p:spPr>
          <a:xfrm>
            <a:off x="5105400" y="4521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(53.4%)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9664A1F6-532A-931A-1E6F-534CB6C30A35}"/>
              </a:ext>
            </a:extLst>
          </p:cNvPr>
          <p:cNvSpPr txBox="1"/>
          <p:nvPr/>
        </p:nvSpPr>
        <p:spPr>
          <a:xfrm>
            <a:off x="482600" y="4851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EE3BCBDA-CFC9-117B-A621-4BF56224287D}"/>
              </a:ext>
            </a:extLst>
          </p:cNvPr>
          <p:cNvSpPr/>
          <p:nvPr/>
        </p:nvSpPr>
        <p:spPr>
          <a:xfrm>
            <a:off x="2590800" y="4902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27F57AA0-8152-B3BF-ED79-0FD8BFFF128C}"/>
              </a:ext>
            </a:extLst>
          </p:cNvPr>
          <p:cNvSpPr/>
          <p:nvPr/>
        </p:nvSpPr>
        <p:spPr>
          <a:xfrm>
            <a:off x="2590800" y="4902200"/>
            <a:ext cx="6858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194E94CC-7926-B037-E1B8-29E4FA0B60B1}"/>
              </a:ext>
            </a:extLst>
          </p:cNvPr>
          <p:cNvSpPr txBox="1"/>
          <p:nvPr/>
        </p:nvSpPr>
        <p:spPr>
          <a:xfrm>
            <a:off x="5105400" y="4851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(28.4%)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B3E8F9D5-BE95-718B-D78C-A4123B6B610B}"/>
              </a:ext>
            </a:extLst>
          </p:cNvPr>
          <p:cNvSpPr txBox="1"/>
          <p:nvPr/>
        </p:nvSpPr>
        <p:spPr>
          <a:xfrm>
            <a:off x="482600" y="51816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利用有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78DD77B0-3B30-A5BD-C4ED-251D88FDDB2B}"/>
              </a:ext>
            </a:extLst>
          </p:cNvPr>
          <p:cNvSpPr/>
          <p:nvPr/>
        </p:nvSpPr>
        <p:spPr>
          <a:xfrm>
            <a:off x="2590800" y="5232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ACFCD0E2-A486-0FBD-5E74-0BBD4B2F98B2}"/>
              </a:ext>
            </a:extLst>
          </p:cNvPr>
          <p:cNvSpPr/>
          <p:nvPr/>
        </p:nvSpPr>
        <p:spPr>
          <a:xfrm>
            <a:off x="2590800" y="5232400"/>
            <a:ext cx="393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3A274FD8-F6FE-63F4-4C97-88705FBF6AA6}"/>
              </a:ext>
            </a:extLst>
          </p:cNvPr>
          <p:cNvSpPr txBox="1"/>
          <p:nvPr/>
        </p:nvSpPr>
        <p:spPr>
          <a:xfrm>
            <a:off x="5105400" y="5181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F09AE234-BC8B-7CF3-7685-C9B64C430D59}"/>
              </a:ext>
            </a:extLst>
          </p:cNvPr>
          <p:cNvSpPr txBox="1"/>
          <p:nvPr/>
        </p:nvSpPr>
        <p:spPr>
          <a:xfrm>
            <a:off x="482600" y="55626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D948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【Q3】</a:t>
            </a:r>
            <a:r>
              <a:rPr kumimoji="1" lang="ja-JP" altLang="en-US" sz="1400" b="1">
                <a:solidFill>
                  <a:srgbClr val="0D948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万が一の際、当院を利用したいですか？（単一回答）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D210F7FF-3403-623E-1F0C-12995E97A1BA}"/>
              </a:ext>
            </a:extLst>
          </p:cNvPr>
          <p:cNvSpPr txBox="1"/>
          <p:nvPr/>
        </p:nvSpPr>
        <p:spPr>
          <a:xfrm>
            <a:off x="482600" y="5867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候補として検討したい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1F81CB35-79CF-4EF0-DC8A-E5790504E5A3}"/>
              </a:ext>
            </a:extLst>
          </p:cNvPr>
          <p:cNvSpPr/>
          <p:nvPr/>
        </p:nvSpPr>
        <p:spPr>
          <a:xfrm>
            <a:off x="2590800" y="5918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539EA0E6-C57C-43EE-4DBE-AE7CC601C715}"/>
              </a:ext>
            </a:extLst>
          </p:cNvPr>
          <p:cNvSpPr/>
          <p:nvPr/>
        </p:nvSpPr>
        <p:spPr>
          <a:xfrm>
            <a:off x="2590800" y="5918200"/>
            <a:ext cx="15621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2C0A5CBA-76A4-936A-FB04-12516BC720FE}"/>
              </a:ext>
            </a:extLst>
          </p:cNvPr>
          <p:cNvSpPr txBox="1"/>
          <p:nvPr/>
        </p:nvSpPr>
        <p:spPr>
          <a:xfrm>
            <a:off x="5105400" y="5867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DDE8287-65E1-4CBE-7185-22F6C553A771}"/>
              </a:ext>
            </a:extLst>
          </p:cNvPr>
          <p:cNvSpPr txBox="1"/>
          <p:nvPr/>
        </p:nvSpPr>
        <p:spPr>
          <a:xfrm>
            <a:off x="482600" y="6172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ぜひ利用したい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85A02950-6B06-FCEF-2127-2F8B56C8340A}"/>
              </a:ext>
            </a:extLst>
          </p:cNvPr>
          <p:cNvSpPr/>
          <p:nvPr/>
        </p:nvSpPr>
        <p:spPr>
          <a:xfrm>
            <a:off x="2590800" y="6223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A10CA606-178E-058D-B93C-93C4E125383C}"/>
              </a:ext>
            </a:extLst>
          </p:cNvPr>
          <p:cNvSpPr/>
          <p:nvPr/>
        </p:nvSpPr>
        <p:spPr>
          <a:xfrm>
            <a:off x="2590800" y="6223000"/>
            <a:ext cx="6096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AC597CF-8A5C-7C00-EC59-53F115618BB5}"/>
              </a:ext>
            </a:extLst>
          </p:cNvPr>
          <p:cNvSpPr txBox="1"/>
          <p:nvPr/>
        </p:nvSpPr>
        <p:spPr>
          <a:xfrm>
            <a:off x="5105400" y="6172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(25.4%)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B342E8D7-D419-A338-B6DB-3B963B217086}"/>
              </a:ext>
            </a:extLst>
          </p:cNvPr>
          <p:cNvSpPr/>
          <p:nvPr/>
        </p:nvSpPr>
        <p:spPr>
          <a:xfrm>
            <a:off x="6959600" y="1574800"/>
            <a:ext cx="4927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7B27515B-C774-6FD7-37CA-7F2BB1B9E2E2}"/>
              </a:ext>
            </a:extLst>
          </p:cNvPr>
          <p:cNvSpPr/>
          <p:nvPr/>
        </p:nvSpPr>
        <p:spPr>
          <a:xfrm>
            <a:off x="6959600" y="1574800"/>
            <a:ext cx="4927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D2BAEFEA-3F05-C7CD-8943-E11BC41DD098}"/>
              </a:ext>
            </a:extLst>
          </p:cNvPr>
          <p:cNvSpPr txBox="1"/>
          <p:nvPr/>
        </p:nvSpPr>
        <p:spPr>
          <a:xfrm>
            <a:off x="7137400" y="1727200"/>
            <a:ext cx="457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96EAE927-35DF-64EC-EB16-4B7320526BAF}"/>
              </a:ext>
            </a:extLst>
          </p:cNvPr>
          <p:cNvSpPr/>
          <p:nvPr/>
        </p:nvSpPr>
        <p:spPr>
          <a:xfrm>
            <a:off x="7137400" y="2108200"/>
            <a:ext cx="457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531ECED3-75BA-3007-EFCD-70DC217CCD5A}"/>
              </a:ext>
            </a:extLst>
          </p:cNvPr>
          <p:cNvSpPr txBox="1"/>
          <p:nvPr/>
        </p:nvSpPr>
        <p:spPr>
          <a:xfrm>
            <a:off x="7137400" y="2209800"/>
            <a:ext cx="4572000" cy="392517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：今回の出展内容の評価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・「血管年齢測定」が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）で最も多く、次いで「筋肉量測定」が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・続いて「栄養レッスン」が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24.2%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）、「人生会議の案内」が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）、「お薬相談」が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13.6%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：地域における当院の現在の認知度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・「名前や場所は知っている」が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53.4%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）で半数を超え、「今日初めて知った」が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）、「よく知っている」が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）、未記入が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1.7%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：アンケート時の当院の評価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・「候補の一つとして検討したい」が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）、「ぜひ利用したい」が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）で、合計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・「他の病院を選ぶ・わからない」は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7.2%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）、未記入は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3635929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DD869E5-49E2-4C93-7286-38096B898FA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2B58874-ADED-C863-6CD0-122B2600142E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860F1C2-155F-612A-F512-0200D5DE8507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2847B8-884B-9BF9-EA39-AAC71E6563C3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部：単純集計③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9E1274C-CB48-8565-0D23-90C276FD98DF}"/>
              </a:ext>
            </a:extLst>
          </p:cNvPr>
          <p:cNvSpPr txBox="1"/>
          <p:nvPr/>
        </p:nvSpPr>
        <p:spPr>
          <a:xfrm>
            <a:off x="2336800" y="139700"/>
            <a:ext cx="8382000" cy="71814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来場者アンケート結果③：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（健康課題のチェック）・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Q5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（来年度へのヒント）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79A982-60E2-19C1-8388-598D2DA186F2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A6880BB-1CCC-3199-47B7-856E44C6716B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6A98435-C8F9-194F-9679-D164144345C7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068C719-6D56-CA9D-6AC1-A4FC051E5077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健康課題は「転倒（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39.4%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）」「栄養（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）」「認知機能（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）」「介護・終活（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）」が各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割超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4AAAA12-D5E8-92EE-B57F-35B2DEFC48D1}"/>
              </a:ext>
            </a:extLst>
          </p:cNvPr>
          <p:cNvSpPr/>
          <p:nvPr/>
        </p:nvSpPr>
        <p:spPr>
          <a:xfrm>
            <a:off x="304800" y="1574800"/>
            <a:ext cx="5842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7BB5137-0101-BFB1-DCC8-D7348F0DB428}"/>
              </a:ext>
            </a:extLst>
          </p:cNvPr>
          <p:cNvSpPr/>
          <p:nvPr/>
        </p:nvSpPr>
        <p:spPr>
          <a:xfrm>
            <a:off x="304800" y="1574800"/>
            <a:ext cx="5842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23BEE04-F0C8-A000-2F94-13B555D615DD}"/>
              </a:ext>
            </a:extLst>
          </p:cNvPr>
          <p:cNvSpPr txBox="1"/>
          <p:nvPr/>
        </p:nvSpPr>
        <p:spPr>
          <a:xfrm>
            <a:off x="482600" y="1727200"/>
            <a:ext cx="5486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健康について気になること（複数回答・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F151CAB-EBB3-D3E3-DEAA-A5A3A250A067}"/>
              </a:ext>
            </a:extLst>
          </p:cNvPr>
          <p:cNvSpPr/>
          <p:nvPr/>
        </p:nvSpPr>
        <p:spPr>
          <a:xfrm>
            <a:off x="482600" y="2108200"/>
            <a:ext cx="5486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3690AE2-A4B5-CF7C-330C-31E527876BAE}"/>
              </a:ext>
            </a:extLst>
          </p:cNvPr>
          <p:cNvSpPr txBox="1"/>
          <p:nvPr/>
        </p:nvSpPr>
        <p:spPr>
          <a:xfrm>
            <a:off x="482600" y="2235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足腰の衰え・転倒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54C7F91-8855-78FA-E6E2-0DCD8A85FD20}"/>
              </a:ext>
            </a:extLst>
          </p:cNvPr>
          <p:cNvSpPr/>
          <p:nvPr/>
        </p:nvSpPr>
        <p:spPr>
          <a:xfrm>
            <a:off x="2463800" y="22860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453D163-70C3-D7DB-F512-CFCC4D411E23}"/>
              </a:ext>
            </a:extLst>
          </p:cNvPr>
          <p:cNvSpPr/>
          <p:nvPr/>
        </p:nvSpPr>
        <p:spPr>
          <a:xfrm>
            <a:off x="2463800" y="2286000"/>
            <a:ext cx="8001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2F20439-A9F9-2B4A-61E4-B880C64AABFF}"/>
              </a:ext>
            </a:extLst>
          </p:cNvPr>
          <p:cNvSpPr txBox="1"/>
          <p:nvPr/>
        </p:nvSpPr>
        <p:spPr>
          <a:xfrm>
            <a:off x="4597400" y="2235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(39.4%)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D239F67-63F8-48A4-E4C4-ACA6209C0109}"/>
              </a:ext>
            </a:extLst>
          </p:cNvPr>
          <p:cNvSpPr txBox="1"/>
          <p:nvPr/>
        </p:nvSpPr>
        <p:spPr>
          <a:xfrm>
            <a:off x="482600" y="26670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食事・栄養バランス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BA7FFA8-5282-4F90-9227-50CF82B9A4D7}"/>
              </a:ext>
            </a:extLst>
          </p:cNvPr>
          <p:cNvSpPr/>
          <p:nvPr/>
        </p:nvSpPr>
        <p:spPr>
          <a:xfrm>
            <a:off x="2463800" y="2717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AE4D539-9FD3-5A42-0EEC-CA99CF5AD5F1}"/>
              </a:ext>
            </a:extLst>
          </p:cNvPr>
          <p:cNvSpPr/>
          <p:nvPr/>
        </p:nvSpPr>
        <p:spPr>
          <a:xfrm>
            <a:off x="2463800" y="2717800"/>
            <a:ext cx="6858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215CCDD-BB58-9DD0-04E5-76B369C7CB2A}"/>
              </a:ext>
            </a:extLst>
          </p:cNvPr>
          <p:cNvSpPr txBox="1"/>
          <p:nvPr/>
        </p:nvSpPr>
        <p:spPr>
          <a:xfrm>
            <a:off x="4597400" y="2667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79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(33.5%)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A106F2-6223-3386-CF86-585D531C0189}"/>
              </a:ext>
            </a:extLst>
          </p:cNvPr>
          <p:cNvSpPr txBox="1"/>
          <p:nvPr/>
        </p:nvSpPr>
        <p:spPr>
          <a:xfrm>
            <a:off x="482600" y="30988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物忘れ・認知機能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E296716-1817-3CD0-8AF6-52ECB4DB07C8}"/>
              </a:ext>
            </a:extLst>
          </p:cNvPr>
          <p:cNvSpPr/>
          <p:nvPr/>
        </p:nvSpPr>
        <p:spPr>
          <a:xfrm>
            <a:off x="2463800" y="31496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F428D73-1C96-0D42-223C-49ED84196213}"/>
              </a:ext>
            </a:extLst>
          </p:cNvPr>
          <p:cNvSpPr/>
          <p:nvPr/>
        </p:nvSpPr>
        <p:spPr>
          <a:xfrm>
            <a:off x="2463800" y="3149600"/>
            <a:ext cx="6731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CD094B3-A092-E50E-23FA-622EEAE547EA}"/>
              </a:ext>
            </a:extLst>
          </p:cNvPr>
          <p:cNvSpPr txBox="1"/>
          <p:nvPr/>
        </p:nvSpPr>
        <p:spPr>
          <a:xfrm>
            <a:off x="4597400" y="30988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78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(33.1%)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83037DC2-3932-35D1-74E1-0794141714D2}"/>
              </a:ext>
            </a:extLst>
          </p:cNvPr>
          <p:cNvSpPr txBox="1"/>
          <p:nvPr/>
        </p:nvSpPr>
        <p:spPr>
          <a:xfrm>
            <a:off x="482600" y="3530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将来の介護や終活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97F6F5DA-107A-7ED6-6E49-5A0F40512A53}"/>
              </a:ext>
            </a:extLst>
          </p:cNvPr>
          <p:cNvSpPr/>
          <p:nvPr/>
        </p:nvSpPr>
        <p:spPr>
          <a:xfrm>
            <a:off x="2463800" y="35814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5E77FF7A-3CD5-F0D3-A98B-22D6EE76C861}"/>
              </a:ext>
            </a:extLst>
          </p:cNvPr>
          <p:cNvSpPr/>
          <p:nvPr/>
        </p:nvSpPr>
        <p:spPr>
          <a:xfrm>
            <a:off x="2463800" y="3581400"/>
            <a:ext cx="609600" cy="228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7F3488B-A980-B176-569E-6A42E5D95DC2}"/>
              </a:ext>
            </a:extLst>
          </p:cNvPr>
          <p:cNvSpPr txBox="1"/>
          <p:nvPr/>
        </p:nvSpPr>
        <p:spPr>
          <a:xfrm>
            <a:off x="4597400" y="35306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(30.1%)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9F093E7-3DE9-8885-34FD-178EF7D60F79}"/>
              </a:ext>
            </a:extLst>
          </p:cNvPr>
          <p:cNvSpPr txBox="1"/>
          <p:nvPr/>
        </p:nvSpPr>
        <p:spPr>
          <a:xfrm>
            <a:off x="482600" y="39624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とくにない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254E3D2A-5037-9C63-4537-D58855E07FB7}"/>
              </a:ext>
            </a:extLst>
          </p:cNvPr>
          <p:cNvSpPr/>
          <p:nvPr/>
        </p:nvSpPr>
        <p:spPr>
          <a:xfrm>
            <a:off x="2463800" y="40132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E0CD71ED-F854-E2E6-D328-EE2E960F96CC}"/>
              </a:ext>
            </a:extLst>
          </p:cNvPr>
          <p:cNvSpPr/>
          <p:nvPr/>
        </p:nvSpPr>
        <p:spPr>
          <a:xfrm>
            <a:off x="2463800" y="4013200"/>
            <a:ext cx="292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8DE71C2-EC47-6C42-3623-B1907D058373}"/>
              </a:ext>
            </a:extLst>
          </p:cNvPr>
          <p:cNvSpPr txBox="1"/>
          <p:nvPr/>
        </p:nvSpPr>
        <p:spPr>
          <a:xfrm>
            <a:off x="4597400" y="3962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(14.4%)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D502435-1918-63B9-17D5-6ED988D4E26F}"/>
              </a:ext>
            </a:extLst>
          </p:cNvPr>
          <p:cNvSpPr txBox="1"/>
          <p:nvPr/>
        </p:nvSpPr>
        <p:spPr>
          <a:xfrm>
            <a:off x="482600" y="4394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薬の飲み方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07A6FDDA-E0D6-AD3C-CEDB-DA8E49FCFB0A}"/>
              </a:ext>
            </a:extLst>
          </p:cNvPr>
          <p:cNvSpPr/>
          <p:nvPr/>
        </p:nvSpPr>
        <p:spPr>
          <a:xfrm>
            <a:off x="2463800" y="44450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37626BD2-5D52-4FB3-CC6D-E31DFD440ADE}"/>
              </a:ext>
            </a:extLst>
          </p:cNvPr>
          <p:cNvSpPr/>
          <p:nvPr/>
        </p:nvSpPr>
        <p:spPr>
          <a:xfrm>
            <a:off x="2463800" y="4445000"/>
            <a:ext cx="1016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1E4EB11-4A5A-EBA9-9564-1368C5AAF5F6}"/>
              </a:ext>
            </a:extLst>
          </p:cNvPr>
          <p:cNvSpPr txBox="1"/>
          <p:nvPr/>
        </p:nvSpPr>
        <p:spPr>
          <a:xfrm>
            <a:off x="4597400" y="4394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6635665E-93B8-CBCB-DBC6-410385D2392D}"/>
              </a:ext>
            </a:extLst>
          </p:cNvPr>
          <p:cNvSpPr txBox="1"/>
          <p:nvPr/>
        </p:nvSpPr>
        <p:spPr>
          <a:xfrm>
            <a:off x="482600" y="48260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その他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94B34873-973A-2A2E-D8AE-EC1F162001DD}"/>
              </a:ext>
            </a:extLst>
          </p:cNvPr>
          <p:cNvSpPr/>
          <p:nvPr/>
        </p:nvSpPr>
        <p:spPr>
          <a:xfrm>
            <a:off x="2463800" y="4876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A3DB1580-0DA2-29E4-5359-D34C5F323B07}"/>
              </a:ext>
            </a:extLst>
          </p:cNvPr>
          <p:cNvSpPr/>
          <p:nvPr/>
        </p:nvSpPr>
        <p:spPr>
          <a:xfrm>
            <a:off x="2463800" y="4876800"/>
            <a:ext cx="1016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D1471B88-F87C-12FF-12E6-DCD8630383BF}"/>
              </a:ext>
            </a:extLst>
          </p:cNvPr>
          <p:cNvSpPr txBox="1"/>
          <p:nvPr/>
        </p:nvSpPr>
        <p:spPr>
          <a:xfrm>
            <a:off x="4597400" y="4826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6879FC57-E461-E5EC-2F66-489C9AC20398}"/>
              </a:ext>
            </a:extLst>
          </p:cNvPr>
          <p:cNvSpPr txBox="1"/>
          <p:nvPr/>
        </p:nvSpPr>
        <p:spPr>
          <a:xfrm>
            <a:off x="482600" y="5257800"/>
            <a:ext cx="5486400" cy="130292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【Q4 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・「足腰の衰え・転倒」が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）で最も多く、「食事・栄養バランス」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79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33.5%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）、「物忘れ・認知機能」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78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33.1%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）、「将来の介護や終活」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30.1%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）の上位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項目が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を超えた。
・「その他（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名）」には血圧、糖尿病、ひざの痛み、五十肩、むくみ等が記載された。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90AA3ACE-37A8-0D0F-F842-C7661E5B408B}"/>
              </a:ext>
            </a:extLst>
          </p:cNvPr>
          <p:cNvSpPr/>
          <p:nvPr/>
        </p:nvSpPr>
        <p:spPr>
          <a:xfrm>
            <a:off x="6324600" y="1574800"/>
            <a:ext cx="5562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F7D10F7-FB5B-DC2C-2AE2-754C86E6FD2B}"/>
              </a:ext>
            </a:extLst>
          </p:cNvPr>
          <p:cNvSpPr/>
          <p:nvPr/>
        </p:nvSpPr>
        <p:spPr>
          <a:xfrm>
            <a:off x="6324600" y="1574800"/>
            <a:ext cx="5562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D3D44A50-7ECC-01AA-741C-C6BEF70371F6}"/>
              </a:ext>
            </a:extLst>
          </p:cNvPr>
          <p:cNvSpPr txBox="1"/>
          <p:nvPr/>
        </p:nvSpPr>
        <p:spPr>
          <a:xfrm>
            <a:off x="6502400" y="1727200"/>
            <a:ext cx="5207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Q5.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来年に期待する内容（自由記述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件の内訳）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41686D69-71C4-B63A-CB0A-79B5A7E1EF8D}"/>
              </a:ext>
            </a:extLst>
          </p:cNvPr>
          <p:cNvSpPr/>
          <p:nvPr/>
        </p:nvSpPr>
        <p:spPr>
          <a:xfrm>
            <a:off x="6502400" y="2108200"/>
            <a:ext cx="5207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48" name="表 47">
            <a:extLst>
              <a:ext uri="{FF2B5EF4-FFF2-40B4-BE49-F238E27FC236}">
                <a16:creationId xmlns:a16="http://schemas.microsoft.com/office/drawing/2014/main" id="{785030F7-E737-8DE2-EA69-AB352C58EE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708171"/>
              </p:ext>
            </p:extLst>
          </p:nvPr>
        </p:nvGraphicFramePr>
        <p:xfrm>
          <a:off x="6502400" y="2209800"/>
          <a:ext cx="52070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>
                  <a:extLst>
                    <a:ext uri="{9D8B030D-6E8A-4147-A177-3AD203B41FA5}">
                      <a16:colId xmlns:a16="http://schemas.microsoft.com/office/drawing/2014/main" val="167043816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886931253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2784267919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記述カテゴリ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件数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主な記述内容（抜粋）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44856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運動・転倒・骨密度測定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自宅ストレッチ、運動体験、骨密度・バランス測定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5282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今年度と同様の測定継続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今年と同じ内容、筋肉量・血管年齢測定の継続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745169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認知機能・フレイル測定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認知機能チェック、体力測定、フレイル予防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14474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介護・薬・医療相談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介護相談、入院時の薬、症状別の受診科案内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0897147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運営・備品への要望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記入用バインダー、靴入れ・靴ベラ、順路表示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039485"/>
                  </a:ext>
                </a:extLst>
              </a:tr>
            </a:tbl>
          </a:graphicData>
        </a:graphic>
      </p:graphicFrame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2760254-EB15-529D-79D6-E1CE668791F2}"/>
              </a:ext>
            </a:extLst>
          </p:cNvPr>
          <p:cNvSpPr txBox="1"/>
          <p:nvPr/>
        </p:nvSpPr>
        <p:spPr>
          <a:xfrm>
            <a:off x="6502400" y="5054600"/>
            <a:ext cx="5207000" cy="90281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【Q5 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・自由記述は計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件（特になし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件含む）であった。
・運動指導や骨密度・転倒チェックを求める声が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件、今年度と同様の測定継続を求める声が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件、認知機能・フレイル測定を求める声が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56957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3E704C1-460D-2285-4D73-DA7D973E9C2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ECA8AD9-C1B7-E094-6108-DED1E36948DA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FCF69F7-F698-71EA-317C-450372D76650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1BCF32-7492-5B83-A505-7DF582F18C63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部：スタッフ調査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FD52DAB-ED5E-2217-852E-2014D5BB3618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スタッフアンケートの質問事項と各設問から見えること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ED00F6-5A98-E3AB-28CF-87228A4233FD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48B7D6C-FA87-F2EB-E474-CE102745904D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05F69E7-8845-59E2-3355-21C363BBF3ED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626CDEE-D1F3-E3B8-CF52-F9575C64E616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参加した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部署・全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名（現在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名回答済）を対象に、出展意義・貢献度・広さ・人員配置・来年度改善点を調査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D1B827CE-DDF8-6B1F-6272-ACD34A4D7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835821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118939821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329299809"/>
                    </a:ext>
                  </a:extLst>
                </a:gridCol>
                <a:gridCol w="5740400">
                  <a:extLst>
                    <a:ext uri="{9D8B030D-6E8A-4147-A177-3AD203B41FA5}">
                      <a16:colId xmlns:a16="http://schemas.microsoft.com/office/drawing/2014/main" val="2128441132"/>
                    </a:ext>
                  </a:extLst>
                </a:gridCol>
              </a:tblGrid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質問項目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回答形式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この質問から何が見えるか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97081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① 今回のどーんと祭に参加して
    良かったですか？（＋②理由）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出展に対するスタッフの満足度と、参加を通じて得た実感（地域</a:t>
                      </a:r>
                      <a:r>
                        <a:rPr kumimoji="1" lang="en-US" altLang="ja-JP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PR</a:t>
                      </a:r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や多職種連携など）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96358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③ 自部署の出展内容や役割は地域住民に
    貢献できる内容でしたか？（＋④理由）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自部署の企画・役割が地域貢献につながったかどうかのスタッフ自身の評価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886260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⑤ 今回</a:t>
                      </a:r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区画を借りて出展しましたが
    広さはいかがでしたか？（＋⑥問題点）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問題なし ／ 問題あり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区画というスペースの妥当性と、広さに関して現場で生じた具体的な問題点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806916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⑦ 今回の人員配置（部署参加人数）は
    適切でしたか？（＋⑧問題点）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問題なし ／ 問題あり
＋ 自由記述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各部署の参加人数の妥当性と、休憩時間や誘導など人員面で生じた具体的な問題点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05378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⑨ 来年も自部署が参加する必要性は
    あると考えますか？（＋⑩理由）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来年度の継続参加に対する各部署スタッフの意向とその理由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45643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⑪ 来年に向けて改善・強化・
    取り入れた方がよいこと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自由記述（箇条書き）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来年度のブース運営・設備・広報に向けた現場スタッフからの具体的な改善提案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407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9120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D4AA118-AF2C-7305-0EE9-82BA34CC7E5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D6F7523-AD1F-B4FA-7CB3-22CA690C929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7AAD241-CAB8-C71F-7C19-21722A947BAF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36F8F41-F182-E986-32FB-F8B245FC7752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部：スタッフ集計①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5952E80-689D-3D72-4F6F-77039F012CFB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スタッフアンケート結果①：選択式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設問の集計（対象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名中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名回答）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8F82599-3AE8-1CA7-9AD2-EFDA766AA591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737405F-0ABE-6782-693F-FBF22EAC49FC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8FCDD95-8AA4-7EA5-72F1-E586FB47D4D6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455F2CE-7EC3-BDFC-5C6D-A70E31DA9E9E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参加満足度は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、地域貢献実感は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。一方、人員配置は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が「問題あり」と回答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7A172E3-8E6F-9610-C236-4FE2ACF36B14}"/>
              </a:ext>
            </a:extLst>
          </p:cNvPr>
          <p:cNvSpPr/>
          <p:nvPr/>
        </p:nvSpPr>
        <p:spPr>
          <a:xfrm>
            <a:off x="304800" y="1574800"/>
            <a:ext cx="62992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641074B-DA07-626A-0CD7-8128938A8EA4}"/>
              </a:ext>
            </a:extLst>
          </p:cNvPr>
          <p:cNvSpPr/>
          <p:nvPr/>
        </p:nvSpPr>
        <p:spPr>
          <a:xfrm>
            <a:off x="304800" y="1574800"/>
            <a:ext cx="62992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EB83E67-DD0D-4BAC-0566-BC70652B5256}"/>
              </a:ext>
            </a:extLst>
          </p:cNvPr>
          <p:cNvSpPr txBox="1"/>
          <p:nvPr/>
        </p:nvSpPr>
        <p:spPr>
          <a:xfrm>
            <a:off x="482600" y="1727200"/>
            <a:ext cx="5943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選択式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N=13 /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対象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FD80CD3-BDE8-10ED-FE5C-ED839A2E4205}"/>
              </a:ext>
            </a:extLst>
          </p:cNvPr>
          <p:cNvSpPr/>
          <p:nvPr/>
        </p:nvSpPr>
        <p:spPr>
          <a:xfrm>
            <a:off x="482600" y="2108200"/>
            <a:ext cx="5943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C0F2A77-7497-A3BF-3CE0-C451DB8F601C}"/>
              </a:ext>
            </a:extLst>
          </p:cNvPr>
          <p:cNvSpPr txBox="1"/>
          <p:nvPr/>
        </p:nvSpPr>
        <p:spPr>
          <a:xfrm>
            <a:off x="482600" y="2159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① どーんと祭に参加して良かったか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CD607F9-1C04-1F1C-AD47-627959F6DEB7}"/>
              </a:ext>
            </a:extLst>
          </p:cNvPr>
          <p:cNvSpPr txBox="1"/>
          <p:nvPr/>
        </p:nvSpPr>
        <p:spPr>
          <a:xfrm>
            <a:off x="482600" y="2463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E379581-0C2B-4B0D-6EAB-56EA15562069}"/>
              </a:ext>
            </a:extLst>
          </p:cNvPr>
          <p:cNvSpPr/>
          <p:nvPr/>
        </p:nvSpPr>
        <p:spPr>
          <a:xfrm>
            <a:off x="2336800" y="2514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5CE24E0-085A-2FC0-22AF-61E62350FC31}"/>
              </a:ext>
            </a:extLst>
          </p:cNvPr>
          <p:cNvSpPr/>
          <p:nvPr/>
        </p:nvSpPr>
        <p:spPr>
          <a:xfrm>
            <a:off x="2336800" y="2514600"/>
            <a:ext cx="24130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65E0DE9-D983-073A-4325-D87DCD6FF1E0}"/>
              </a:ext>
            </a:extLst>
          </p:cNvPr>
          <p:cNvSpPr txBox="1"/>
          <p:nvPr/>
        </p:nvSpPr>
        <p:spPr>
          <a:xfrm>
            <a:off x="4851400" y="2463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(100.0%)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AB1BE12-248C-FB94-BEFC-949BFA1AAAE0}"/>
              </a:ext>
            </a:extLst>
          </p:cNvPr>
          <p:cNvSpPr txBox="1"/>
          <p:nvPr/>
        </p:nvSpPr>
        <p:spPr>
          <a:xfrm>
            <a:off x="482600" y="29464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③ 自部署の役割は地域住民に貢献できたか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0037944-B267-4354-1B88-9666996F52F3}"/>
              </a:ext>
            </a:extLst>
          </p:cNvPr>
          <p:cNvSpPr txBox="1"/>
          <p:nvPr/>
        </p:nvSpPr>
        <p:spPr>
          <a:xfrm>
            <a:off x="482600" y="32512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2164712-69BF-DFB8-32E7-FBF748303A1A}"/>
              </a:ext>
            </a:extLst>
          </p:cNvPr>
          <p:cNvSpPr/>
          <p:nvPr/>
        </p:nvSpPr>
        <p:spPr>
          <a:xfrm>
            <a:off x="2336800" y="3302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18113AB-003A-9DD7-512B-051FAC38D907}"/>
              </a:ext>
            </a:extLst>
          </p:cNvPr>
          <p:cNvSpPr/>
          <p:nvPr/>
        </p:nvSpPr>
        <p:spPr>
          <a:xfrm>
            <a:off x="2336800" y="3302000"/>
            <a:ext cx="22225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CEBC125-4F54-7EA8-6CD2-4D28D00D251B}"/>
              </a:ext>
            </a:extLst>
          </p:cNvPr>
          <p:cNvSpPr txBox="1"/>
          <p:nvPr/>
        </p:nvSpPr>
        <p:spPr>
          <a:xfrm>
            <a:off x="4851400" y="3251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(92.3%)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C89B4B0-03D3-2190-22EB-43567BDBA2DD}"/>
              </a:ext>
            </a:extLst>
          </p:cNvPr>
          <p:cNvSpPr txBox="1"/>
          <p:nvPr/>
        </p:nvSpPr>
        <p:spPr>
          <a:xfrm>
            <a:off x="482600" y="35560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いいえ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1930EDB-4C79-828C-C799-03E070637FFF}"/>
              </a:ext>
            </a:extLst>
          </p:cNvPr>
          <p:cNvSpPr/>
          <p:nvPr/>
        </p:nvSpPr>
        <p:spPr>
          <a:xfrm>
            <a:off x="2336800" y="3606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89C1EC7-7555-F0DA-04D6-3CEFC769A55B}"/>
              </a:ext>
            </a:extLst>
          </p:cNvPr>
          <p:cNvSpPr/>
          <p:nvPr/>
        </p:nvSpPr>
        <p:spPr>
          <a:xfrm>
            <a:off x="2336800" y="3606800"/>
            <a:ext cx="1905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6DD7BA9-BF7F-0D25-32E5-6E6E0ADDDEA4}"/>
              </a:ext>
            </a:extLst>
          </p:cNvPr>
          <p:cNvSpPr txBox="1"/>
          <p:nvPr/>
        </p:nvSpPr>
        <p:spPr>
          <a:xfrm>
            <a:off x="4851400" y="3556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(7.7%)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F4FF34D-98B3-DC34-8BF8-8E06A8710238}"/>
              </a:ext>
            </a:extLst>
          </p:cNvPr>
          <p:cNvSpPr txBox="1"/>
          <p:nvPr/>
        </p:nvSpPr>
        <p:spPr>
          <a:xfrm>
            <a:off x="482600" y="40132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⑤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区画の広さはいかがだったか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FF27C0B-AF41-854E-D5CC-BCAD440EE8DB}"/>
              </a:ext>
            </a:extLst>
          </p:cNvPr>
          <p:cNvSpPr txBox="1"/>
          <p:nvPr/>
        </p:nvSpPr>
        <p:spPr>
          <a:xfrm>
            <a:off x="482600" y="43180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5868800-A466-E8C4-D0C6-421FE2B6817A}"/>
              </a:ext>
            </a:extLst>
          </p:cNvPr>
          <p:cNvSpPr/>
          <p:nvPr/>
        </p:nvSpPr>
        <p:spPr>
          <a:xfrm>
            <a:off x="2336800" y="4368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28349E4B-7E98-134B-ADE5-46CEB064E7F9}"/>
              </a:ext>
            </a:extLst>
          </p:cNvPr>
          <p:cNvSpPr/>
          <p:nvPr/>
        </p:nvSpPr>
        <p:spPr>
          <a:xfrm>
            <a:off x="2336800" y="4368800"/>
            <a:ext cx="14859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BBA022F-E643-F6CD-8251-73B23970E5F5}"/>
              </a:ext>
            </a:extLst>
          </p:cNvPr>
          <p:cNvSpPr txBox="1"/>
          <p:nvPr/>
        </p:nvSpPr>
        <p:spPr>
          <a:xfrm>
            <a:off x="4851400" y="4318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(61.5%)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240459E-B2AC-1E9D-71CF-EF3792D2D7E5}"/>
              </a:ext>
            </a:extLst>
          </p:cNvPr>
          <p:cNvSpPr txBox="1"/>
          <p:nvPr/>
        </p:nvSpPr>
        <p:spPr>
          <a:xfrm>
            <a:off x="482600" y="4622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5601594C-B392-D273-543A-BE455E089A8C}"/>
              </a:ext>
            </a:extLst>
          </p:cNvPr>
          <p:cNvSpPr/>
          <p:nvPr/>
        </p:nvSpPr>
        <p:spPr>
          <a:xfrm>
            <a:off x="2336800" y="4673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35A3539A-136F-410C-528D-40BA69F112A2}"/>
              </a:ext>
            </a:extLst>
          </p:cNvPr>
          <p:cNvSpPr/>
          <p:nvPr/>
        </p:nvSpPr>
        <p:spPr>
          <a:xfrm>
            <a:off x="2336800" y="4673600"/>
            <a:ext cx="9271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EF82224-4236-3FBA-3B51-E704CB74A548}"/>
              </a:ext>
            </a:extLst>
          </p:cNvPr>
          <p:cNvSpPr txBox="1"/>
          <p:nvPr/>
        </p:nvSpPr>
        <p:spPr>
          <a:xfrm>
            <a:off x="4851400" y="4622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(38.5%)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9EA53285-E4BF-4A96-3004-CB0088A93A5E}"/>
              </a:ext>
            </a:extLst>
          </p:cNvPr>
          <p:cNvSpPr txBox="1"/>
          <p:nvPr/>
        </p:nvSpPr>
        <p:spPr>
          <a:xfrm>
            <a:off x="482600" y="5080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⑦ 人員配置（部署参加人数）は適切だったか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B1BAF798-EFCF-4FBC-0838-0E1A6C65CD25}"/>
              </a:ext>
            </a:extLst>
          </p:cNvPr>
          <p:cNvSpPr txBox="1"/>
          <p:nvPr/>
        </p:nvSpPr>
        <p:spPr>
          <a:xfrm>
            <a:off x="482600" y="5384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97FD0EB9-D751-4EDF-5B46-020840E3F835}"/>
              </a:ext>
            </a:extLst>
          </p:cNvPr>
          <p:cNvSpPr/>
          <p:nvPr/>
        </p:nvSpPr>
        <p:spPr>
          <a:xfrm>
            <a:off x="2336800" y="5435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E9C2ED6-A72C-3240-2B9D-AFB0743206C1}"/>
              </a:ext>
            </a:extLst>
          </p:cNvPr>
          <p:cNvSpPr/>
          <p:nvPr/>
        </p:nvSpPr>
        <p:spPr>
          <a:xfrm>
            <a:off x="2336800" y="5435600"/>
            <a:ext cx="18542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320B4084-F0BA-D7CD-E3BD-FA146CA89BC3}"/>
              </a:ext>
            </a:extLst>
          </p:cNvPr>
          <p:cNvSpPr txBox="1"/>
          <p:nvPr/>
        </p:nvSpPr>
        <p:spPr>
          <a:xfrm>
            <a:off x="4851400" y="5384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(76.9%)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4CE9B18-AFDB-DA6A-899F-273DDD9F32D2}"/>
              </a:ext>
            </a:extLst>
          </p:cNvPr>
          <p:cNvSpPr txBox="1"/>
          <p:nvPr/>
        </p:nvSpPr>
        <p:spPr>
          <a:xfrm>
            <a:off x="482600" y="56896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B194DDF-83BA-6CA3-C7CC-2CF3ADE0FD50}"/>
              </a:ext>
            </a:extLst>
          </p:cNvPr>
          <p:cNvSpPr/>
          <p:nvPr/>
        </p:nvSpPr>
        <p:spPr>
          <a:xfrm>
            <a:off x="2336800" y="5740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89C670B0-8B2D-1FB3-2C61-1EC18BCAFF28}"/>
              </a:ext>
            </a:extLst>
          </p:cNvPr>
          <p:cNvSpPr/>
          <p:nvPr/>
        </p:nvSpPr>
        <p:spPr>
          <a:xfrm>
            <a:off x="2336800" y="5740400"/>
            <a:ext cx="5588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B7E609C1-C23B-ACC9-C3B2-27A3B3DB540A}"/>
              </a:ext>
            </a:extLst>
          </p:cNvPr>
          <p:cNvSpPr txBox="1"/>
          <p:nvPr/>
        </p:nvSpPr>
        <p:spPr>
          <a:xfrm>
            <a:off x="4851400" y="5689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(23.1%)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2B16D534-4894-1FB3-95C8-E30FE4DF05D9}"/>
              </a:ext>
            </a:extLst>
          </p:cNvPr>
          <p:cNvSpPr txBox="1"/>
          <p:nvPr/>
        </p:nvSpPr>
        <p:spPr>
          <a:xfrm>
            <a:off x="482600" y="6070600"/>
            <a:ext cx="5842000" cy="5180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⑨ 来年も参加する必要性はあるか：はい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(84.6%) 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／ いいえ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(15.4%)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C5DBAD5-3882-69C4-F68E-58CEE7F4F814}"/>
              </a:ext>
            </a:extLst>
          </p:cNvPr>
          <p:cNvSpPr/>
          <p:nvPr/>
        </p:nvSpPr>
        <p:spPr>
          <a:xfrm>
            <a:off x="6781800" y="1574800"/>
            <a:ext cx="51054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1296B1E-0A55-0D28-2841-D157C5D28FCD}"/>
              </a:ext>
            </a:extLst>
          </p:cNvPr>
          <p:cNvSpPr/>
          <p:nvPr/>
        </p:nvSpPr>
        <p:spPr>
          <a:xfrm>
            <a:off x="6781800" y="1574800"/>
            <a:ext cx="51054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A1E1E78C-EA8A-4CDB-339C-3DF1F3E60A77}"/>
              </a:ext>
            </a:extLst>
          </p:cNvPr>
          <p:cNvSpPr txBox="1"/>
          <p:nvPr/>
        </p:nvSpPr>
        <p:spPr>
          <a:xfrm>
            <a:off x="6959600" y="1727200"/>
            <a:ext cx="47498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スタッフ選択式設問 集計結果の説明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0DE373F-7B61-E76E-EA10-0BDF028C7474}"/>
              </a:ext>
            </a:extLst>
          </p:cNvPr>
          <p:cNvSpPr/>
          <p:nvPr/>
        </p:nvSpPr>
        <p:spPr>
          <a:xfrm>
            <a:off x="6959600" y="2108200"/>
            <a:ext cx="47498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CE2B5EC0-713C-7CAD-C062-A4296623D826}"/>
              </a:ext>
            </a:extLst>
          </p:cNvPr>
          <p:cNvSpPr txBox="1"/>
          <p:nvPr/>
        </p:nvSpPr>
        <p:spPr>
          <a:xfrm>
            <a:off x="6959600" y="2209800"/>
            <a:ext cx="4749800" cy="371281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・参加スタッフ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名のうち、現時点で回答が完了した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名の集計結果である。
・設問①（参加して良かったか）は、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名全員（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100.0%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）が「はい」と回答した。
・設問③（地域住民に貢献できたか）は、「はい」が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）、「いいえ」が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7.7%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・設問⑤（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区画の広さ）は、「問題なし」が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61.5%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）、「問題あり」が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・設問⑦（人員配置の適切さ）は、「問題あり」が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）、「問題なし」が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23.1%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・設問⑨（来年の自部署の参加必要性）は、「はい」が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84.6%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）、「いいえ」が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2581697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FF980A6-EF98-DF0A-B60D-4C48999C7C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8002C54-43D0-18DA-6AAD-6F08A2D8803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29B9025-2E91-16A3-268A-901053933477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A0B0328-6073-252A-9490-568AE47FF300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部：スタッフ集計②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CD3E69-26B4-0E29-84DB-34F6FEEA7BF3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スタッフアンケート結果②：各設問の自由記述まとめ（考察なし）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BB0575-8871-4A8F-A32A-CEDDB41E78BD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F74E0A4-D166-ADC2-B40C-89E9EC85232E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03917B-20A4-80E6-CCF9-06DB9792CB6C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223F97B-D9AD-6AAD-B9A2-B0D90B57A981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参加意義・多職種連携への肯定的な記述と、広さ・人員・運営面での具体的な問題点が記載された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53CF412A-B46F-4012-1FF6-02B974C79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546917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974275806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209001530"/>
                    </a:ext>
                  </a:extLst>
                </a:gridCol>
              </a:tblGrid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自由記述の設問項目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スタッフから記載された主な回答内容（事実の集約）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596195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② 参加して良かった理由
（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名全員が「はい」）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・地域住民と直接話し、当院を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PR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できた。生活習慣や悩みをリアルに伺えた。
・他部門メンバーと同じ目標に向かって一致団結し、普段できないコミュニケーションを取れた。
・多職種連携ができた。多職種と楽しく地域社会に関われた。当院の結束力が感じられた。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585854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④ 地域貢献できた理由
（はい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／ いいえ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・筋肉量（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）や血管年齢をもとに、運動・生活・栄養指導ができ、お薬カレンダー配布も喜ばれた。
・栄養相談は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の結果ありきの方が話しやすかった。専門職から多様なアドバイスができた。
・（「いいえ」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名の理由）：人生会議というテーマが来場者が求めていたものか判断が難しかったため。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47194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⑥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区画の広さの問題点
（問題あり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・常に混雑して狭かった。満席の状態が続き、移動時に狭そうだった。
・お待ちの方々が座れず、外出をお勧めして対応した。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のスペースが狭かった。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を増やすなど規模を広げるなら、もう半テント（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区画）必要。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79346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⑧ 人員配置の問題点
（問題あり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・来場者が多く、休憩時間がほとんど取れなかった（長くても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10〜15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分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×2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回程度）。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日連続出勤はきつかった。
・並んでいる方や待っている方を公平に案内する「誘導係（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名程度）」と「全体統括」が必要だった。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人が休憩に入ると回らないため、リハ・測定スタッフ、看護、事務の増員が必要だった。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99686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⑩ 来年参加の理由・
⑪ 来年に向けた改善提案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・当院の認知度がまだ低い（医療センターのブースと誤認している人もいた）ため、広報誌や病院紹介パネルが必要。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は待ち時間が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分以上となり最後は並ぶのを中止したため、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台体制（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台では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150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人が限度）が必要。
・整理券方式や順路固定（栄養→薬剤→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MSW→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看護）、ノベルティ（ボールペン・防災グッズ等）増量、休憩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時間確保。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7499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858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6A02D22-A90F-C70F-4576-DDB380DEBBD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DD05F81-2B3C-5400-E4CC-DA6ECF570C42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20C5BD4-C3A1-4D9B-316C-4BD3961A52D0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F10011-44CD-CE2D-1C31-52CD2D7BB983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・目的達成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E52D38-F4F4-D28E-1509-B645464746D3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起案書の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つの目的達成報告 と 今回の出展で得られたこと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47C7C05-F223-5A66-FB71-BDCEF8FCD816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B570A90-BE11-5204-9335-3187533C9023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DF10A70-3B67-165C-D6E1-D50892018390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6731D5-23B0-1BD7-EB80-E65C3DD2DC92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ブース来場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）・アンケート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472%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）を達成し、起案の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目的すべてを遂行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8BBCA0D-039F-7D49-AE39-3FEFE815096B}"/>
              </a:ext>
            </a:extLst>
          </p:cNvPr>
          <p:cNvSpPr/>
          <p:nvPr/>
        </p:nvSpPr>
        <p:spPr>
          <a:xfrm>
            <a:off x="304800" y="1574800"/>
            <a:ext cx="5969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3CC1946-C832-2760-C270-53428060D8F1}"/>
              </a:ext>
            </a:extLst>
          </p:cNvPr>
          <p:cNvSpPr/>
          <p:nvPr/>
        </p:nvSpPr>
        <p:spPr>
          <a:xfrm>
            <a:off x="304800" y="1574800"/>
            <a:ext cx="5969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55451B8-8AEF-6714-0747-C73F50183951}"/>
              </a:ext>
            </a:extLst>
          </p:cNvPr>
          <p:cNvSpPr txBox="1"/>
          <p:nvPr/>
        </p:nvSpPr>
        <p:spPr>
          <a:xfrm>
            <a:off x="482600" y="1727200"/>
            <a:ext cx="5613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起案書の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および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つの目的の達成報告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FD8C7D9-D817-B65F-B5CF-C2D9F8A8B5DA}"/>
              </a:ext>
            </a:extLst>
          </p:cNvPr>
          <p:cNvSpPr/>
          <p:nvPr/>
        </p:nvSpPr>
        <p:spPr>
          <a:xfrm>
            <a:off x="482600" y="2108200"/>
            <a:ext cx="5613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7DAB567-DA87-B4DA-5710-298A39B0CDF9}"/>
              </a:ext>
            </a:extLst>
          </p:cNvPr>
          <p:cNvSpPr txBox="1"/>
          <p:nvPr/>
        </p:nvSpPr>
        <p:spPr>
          <a:xfrm>
            <a:off x="482600" y="2159000"/>
            <a:ext cx="5588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（目標数値）の達成状況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A51013E-AC2E-8DC0-97E2-3E91A275EABC}"/>
              </a:ext>
            </a:extLst>
          </p:cNvPr>
          <p:cNvSpPr txBox="1"/>
          <p:nvPr/>
        </p:nvSpPr>
        <p:spPr>
          <a:xfrm>
            <a:off x="482600" y="2514600"/>
            <a:ext cx="1968500" cy="5180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ブース立ち寄り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目標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200)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1AD335E-D7C8-7C65-D396-3153F1541C1D}"/>
              </a:ext>
            </a:extLst>
          </p:cNvPr>
          <p:cNvSpPr/>
          <p:nvPr/>
        </p:nvSpPr>
        <p:spPr>
          <a:xfrm>
            <a:off x="2527300" y="25654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21DE250-FE56-3B20-A5FC-17FF45AD540E}"/>
              </a:ext>
            </a:extLst>
          </p:cNvPr>
          <p:cNvSpPr/>
          <p:nvPr/>
        </p:nvSpPr>
        <p:spPr>
          <a:xfrm>
            <a:off x="2527300" y="2565400"/>
            <a:ext cx="19685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BD1E88D-C27F-A08D-4F0F-AD487750F060}"/>
              </a:ext>
            </a:extLst>
          </p:cNvPr>
          <p:cNvSpPr txBox="1"/>
          <p:nvPr/>
        </p:nvSpPr>
        <p:spPr>
          <a:xfrm>
            <a:off x="4597400" y="251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(134.0%)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7B824FC-8D90-7786-10BB-7A8633F04652}"/>
              </a:ext>
            </a:extLst>
          </p:cNvPr>
          <p:cNvSpPr txBox="1"/>
          <p:nvPr/>
        </p:nvSpPr>
        <p:spPr>
          <a:xfrm>
            <a:off x="482600" y="2895600"/>
            <a:ext cx="1968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アンケート回答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目標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8B61295-C455-0016-5C95-3FC52E613410}"/>
              </a:ext>
            </a:extLst>
          </p:cNvPr>
          <p:cNvSpPr/>
          <p:nvPr/>
        </p:nvSpPr>
        <p:spPr>
          <a:xfrm>
            <a:off x="2527300" y="29464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34FB92D-303C-CCD0-CBC5-380011CD97CC}"/>
              </a:ext>
            </a:extLst>
          </p:cNvPr>
          <p:cNvSpPr/>
          <p:nvPr/>
        </p:nvSpPr>
        <p:spPr>
          <a:xfrm>
            <a:off x="2527300" y="2946400"/>
            <a:ext cx="19685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7A27037-8920-36BC-2BA0-B9A654AC3AFA}"/>
              </a:ext>
            </a:extLst>
          </p:cNvPr>
          <p:cNvSpPr txBox="1"/>
          <p:nvPr/>
        </p:nvSpPr>
        <p:spPr>
          <a:xfrm>
            <a:off x="4597400" y="2895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(472.0%)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1080FAB-3062-896D-CC38-EDF755E5CE07}"/>
              </a:ext>
            </a:extLst>
          </p:cNvPr>
          <p:cNvSpPr txBox="1"/>
          <p:nvPr/>
        </p:nvSpPr>
        <p:spPr>
          <a:xfrm>
            <a:off x="482600" y="3251200"/>
            <a:ext cx="5613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内訳：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来場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 ／ 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来場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148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  <a:endParaRPr kumimoji="1" lang="ja-JP" altLang="en-US" sz="1250">
              <a:solidFill>
                <a:srgbClr val="475569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75E3161-9099-145E-6B0E-2CDFB0B59652}"/>
              </a:ext>
            </a:extLst>
          </p:cNvPr>
          <p:cNvSpPr txBox="1"/>
          <p:nvPr/>
        </p:nvSpPr>
        <p:spPr>
          <a:xfrm>
            <a:off x="482600" y="3581400"/>
            <a:ext cx="5613400" cy="250324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起案書の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つの目的の達成状況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目的① 基本方針の遂行（地域貢献）：達成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名に測定・専門職相談を提供し、スタッフの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が貢献を実感。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でも血管年齢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・筋肉量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等が高く評価された。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目的② 経営的価値（認知・集患）：達成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・初認知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）・名前のみ認知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53.4%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）と直接接点を持ち、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名）から「将来利用・検討したい」との評価を獲得した。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目的③ 組織的価値（多職種連携の醸成）：達成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名が協働運営し、スタッフ満足度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を達成。「他部門と一致団結できた」「測定結果をもとに他職種へつなぐ連携が機能した」と連携基盤が強化された。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DE0F372-E09B-070C-53E0-19021F0117E2}"/>
              </a:ext>
            </a:extLst>
          </p:cNvPr>
          <p:cNvSpPr/>
          <p:nvPr/>
        </p:nvSpPr>
        <p:spPr>
          <a:xfrm>
            <a:off x="6451600" y="1574800"/>
            <a:ext cx="5435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7358D5C-A45E-C750-15E2-FDAFBE6F1EF0}"/>
              </a:ext>
            </a:extLst>
          </p:cNvPr>
          <p:cNvSpPr/>
          <p:nvPr/>
        </p:nvSpPr>
        <p:spPr>
          <a:xfrm>
            <a:off x="6451600" y="1574800"/>
            <a:ext cx="5435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E23FD95-1791-F48C-549A-259D38FF50AE}"/>
              </a:ext>
            </a:extLst>
          </p:cNvPr>
          <p:cNvSpPr txBox="1"/>
          <p:nvPr/>
        </p:nvSpPr>
        <p:spPr>
          <a:xfrm>
            <a:off x="6629400" y="1727200"/>
            <a:ext cx="5080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今回の出展で得られたこと（事実の整理）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49EED30-CCF0-853A-EC5D-42E7F9B0E92C}"/>
              </a:ext>
            </a:extLst>
          </p:cNvPr>
          <p:cNvSpPr/>
          <p:nvPr/>
        </p:nvSpPr>
        <p:spPr>
          <a:xfrm>
            <a:off x="6629400" y="2108200"/>
            <a:ext cx="5080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9001F76-785E-8248-6BCC-859896858970}"/>
              </a:ext>
            </a:extLst>
          </p:cNvPr>
          <p:cNvSpPr txBox="1"/>
          <p:nvPr/>
        </p:nvSpPr>
        <p:spPr>
          <a:xfrm>
            <a:off x="6629400" y="2184400"/>
            <a:ext cx="5080000" cy="416524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日間で計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名が来場し、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名分の地域住民アンケートデータを取得できたこと。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歳代以上（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歳代以下が倍増（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）し、土日で異なる年代層と接点を持てたこと。
・八千代市内（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）に加え、市外（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名）の住民とも接点を持てたこと。
・血管年齢測定と筋肉量測定が、住民の約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割から評価される集客コンテンツであると確認できたこと。
・八千代市民であっても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が当院を「全く知らない」か「名前・場所しか知らない」という現状が数値で判明したこと。
・ブース体験者の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名）が、万が一の際に当院を「利用・検討したい」と回答したこと。
・今後の知名度向上策（定期的な健康教室）に向け、住民の関心が高い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つのテーマ（転倒・栄養・認知機能・介護終活）を把握できたこと。</a:t>
            </a:r>
          </a:p>
        </p:txBody>
      </p:sp>
    </p:spTree>
    <p:extLst>
      <p:ext uri="{BB962C8B-B14F-4D97-AF65-F5344CB8AC3E}">
        <p14:creationId xmlns:p14="http://schemas.microsoft.com/office/powerpoint/2010/main" val="2151873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A8D2C47-BC23-6C4D-9D11-C05DC00298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3FA00C0-EF84-B36B-14D1-4D3702EE443E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8466B5-D408-1BFA-4CC3-43C708A42E67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F6ACB8-E434-9FDD-A9E1-A1AE3ACB3B75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部：クロス分析①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F77EA4D-BFFD-0A0D-46A4-ADD7F546AC6A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名）と 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名）の来場者層の違い（年齢・居住地）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6D25390-3EDD-CE31-32FB-EE15CC4E82BA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C1F1CFB-46FE-B2E3-D9D4-E6A2A6A85F0D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83E0368-88F1-6586-100F-C4ED2D7AE015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AC9AC19-C5D9-D4F1-B6A9-D94CD4EE6E00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代以上のシニア層が過半数（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）。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代以下の若年・子育て世代が倍増（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19.8%→32.3%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F0BA8E9-598C-B634-0789-8F641649D3A6}"/>
              </a:ext>
            </a:extLst>
          </p:cNvPr>
          <p:cNvSpPr/>
          <p:nvPr/>
        </p:nvSpPr>
        <p:spPr>
          <a:xfrm>
            <a:off x="304800" y="1574800"/>
            <a:ext cx="6477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0FD5A45-B123-8774-9C9D-4EA00EC71475}"/>
              </a:ext>
            </a:extLst>
          </p:cNvPr>
          <p:cNvSpPr/>
          <p:nvPr/>
        </p:nvSpPr>
        <p:spPr>
          <a:xfrm>
            <a:off x="304800" y="1574800"/>
            <a:ext cx="64770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F010A10-E31B-496F-EA86-8D2D3D0A68CA}"/>
              </a:ext>
            </a:extLst>
          </p:cNvPr>
          <p:cNvSpPr txBox="1"/>
          <p:nvPr/>
        </p:nvSpPr>
        <p:spPr>
          <a:xfrm>
            <a:off x="482600" y="1727200"/>
            <a:ext cx="6121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年代別・居住地別の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比較表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AB73A11-8091-7549-EB0B-DD29F67195C4}"/>
              </a:ext>
            </a:extLst>
          </p:cNvPr>
          <p:cNvSpPr/>
          <p:nvPr/>
        </p:nvSpPr>
        <p:spPr>
          <a:xfrm>
            <a:off x="482600" y="2108200"/>
            <a:ext cx="6121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063A8346-7B75-A17B-195D-99F45EB7AD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627568"/>
              </p:ext>
            </p:extLst>
          </p:nvPr>
        </p:nvGraphicFramePr>
        <p:xfrm>
          <a:off x="482600" y="2209800"/>
          <a:ext cx="6121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4258852475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1233657165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271258341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41604252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属性区分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全体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(236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(106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(130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35384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10〜30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歳代（若年層）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(12.7%)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18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(13.8%) ▲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523668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歳代（子育て世代）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(14.0%)</a:t>
                      </a:r>
                      <a:endParaRPr kumimoji="1" lang="ja-JP" altLang="en-US" sz="1300" b="1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</a:t>
                      </a:r>
                      <a:endParaRPr kumimoji="1" lang="ja-JP" altLang="en-US" sz="1300" b="1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24</a:t>
                      </a:r>
                      <a:r>
                        <a:rPr kumimoji="1" lang="ja-JP" altLang="en-US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(18.5%) ▲2.7</a:t>
                      </a:r>
                      <a:r>
                        <a:rPr kumimoji="1" lang="ja-JP" altLang="en-US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倍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45759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歳代（最多層）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28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34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(26.2%)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38059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60〜70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歳代（シニア層）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(34.3%)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(37.7%)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(31.5%)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3191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80〜90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歳代（高齢層）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27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16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(15.1%)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 ▼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20633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zh-CN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八千代市内 在住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171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(72.5%)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75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(70.8%)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96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(73.8%) ▲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42892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八千代市外 在住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29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(27.4%)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33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(25.4%)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45206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F823B5A-6DA0-798B-B6CA-EDCCEBE50D12}"/>
              </a:ext>
            </a:extLst>
          </p:cNvPr>
          <p:cNvSpPr/>
          <p:nvPr/>
        </p:nvSpPr>
        <p:spPr>
          <a:xfrm>
            <a:off x="6959600" y="1574800"/>
            <a:ext cx="4927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E5DBB52-CBF9-FBE0-0533-DC980AEBF513}"/>
              </a:ext>
            </a:extLst>
          </p:cNvPr>
          <p:cNvSpPr/>
          <p:nvPr/>
        </p:nvSpPr>
        <p:spPr>
          <a:xfrm>
            <a:off x="6959600" y="1574800"/>
            <a:ext cx="4927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DD6267-7C26-F128-62F9-D590572CEE15}"/>
              </a:ext>
            </a:extLst>
          </p:cNvPr>
          <p:cNvSpPr txBox="1"/>
          <p:nvPr/>
        </p:nvSpPr>
        <p:spPr>
          <a:xfrm>
            <a:off x="7137400" y="1727200"/>
            <a:ext cx="457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日別クロス集計から見える特徴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E03963E-0E17-02C2-2F76-040A8E3D21E3}"/>
              </a:ext>
            </a:extLst>
          </p:cNvPr>
          <p:cNvSpPr/>
          <p:nvPr/>
        </p:nvSpPr>
        <p:spPr>
          <a:xfrm>
            <a:off x="7137400" y="2108200"/>
            <a:ext cx="457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4A4F495-6A7A-6F6A-8315-DD62A62584B3}"/>
              </a:ext>
            </a:extLst>
          </p:cNvPr>
          <p:cNvSpPr txBox="1"/>
          <p:nvPr/>
        </p:nvSpPr>
        <p:spPr>
          <a:xfrm>
            <a:off x="7137400" y="2209800"/>
            <a:ext cx="4572000" cy="392517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年齢層の明確な変化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日目（土曜）は、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歳代以上が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）と過半数を占め、シニア当事者層が中心であった。
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日目（日曜）は、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10〜40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歳代の若い世代・子育て世代が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日目の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）へと倍増した。特に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倍に増加した。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居住地（市内・市外）の変化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日目は地元の家族連れの増加に伴い、八千代市内の回答者が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日目の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75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73.8%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名増加した。
・また両日を通じて約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人（計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）が八千代市外からの来場者であった。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土日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日間出展の効果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・土曜日は「シニアご本人層」、日曜日は「将来親の介護・入院に関わる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40〜50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代の家族層」にそれぞれ多くアプローチできた。</a:t>
            </a:r>
          </a:p>
        </p:txBody>
      </p:sp>
    </p:spTree>
    <p:extLst>
      <p:ext uri="{BB962C8B-B14F-4D97-AF65-F5344CB8AC3E}">
        <p14:creationId xmlns:p14="http://schemas.microsoft.com/office/powerpoint/2010/main" val="1998410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6F20212-E304-B291-02BF-467E57F50D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64AB3B6-943D-BB32-892A-2B7CD4084953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3B09757-9D50-8AD7-2297-620C51EFF702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548869-B264-4BE2-0821-6F681C0872B5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部：当院の弱点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6C7B76-7949-80F4-ABFB-D36B22A4464E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アンケート結果からわかる当院の弱点（八千代市内における知名度の低さ）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F03520-833C-F873-E012-6842F21B3CC5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CC2F073-F41A-1373-6289-0CA928398B3F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576302A-15BC-F281-5DE7-B571F2A13DF5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9512C32-725E-9289-F43C-F3AAB84F3174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八千代市民（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名）でも「よく知っている」は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のみ。市民の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が当院を「初めて知った・名前のみ」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0D639BC-5EAA-A47E-3A72-F1BEFA3B4BF3}"/>
              </a:ext>
            </a:extLst>
          </p:cNvPr>
          <p:cNvSpPr/>
          <p:nvPr/>
        </p:nvSpPr>
        <p:spPr>
          <a:xfrm>
            <a:off x="304800" y="1574800"/>
            <a:ext cx="62992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182377A-2020-1D16-FB86-1968BAB98514}"/>
              </a:ext>
            </a:extLst>
          </p:cNvPr>
          <p:cNvSpPr/>
          <p:nvPr/>
        </p:nvSpPr>
        <p:spPr>
          <a:xfrm>
            <a:off x="304800" y="1574800"/>
            <a:ext cx="62992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CDEA222-12A4-091D-0EEA-C55A7411CB2D}"/>
              </a:ext>
            </a:extLst>
          </p:cNvPr>
          <p:cNvSpPr txBox="1"/>
          <p:nvPr/>
        </p:nvSpPr>
        <p:spPr>
          <a:xfrm>
            <a:off x="482600" y="1727200"/>
            <a:ext cx="5943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八千代市内居住者（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名）における当院の認知度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360CE4F-8513-CC16-34F6-0FEDEC65CB6C}"/>
              </a:ext>
            </a:extLst>
          </p:cNvPr>
          <p:cNvSpPr/>
          <p:nvPr/>
        </p:nvSpPr>
        <p:spPr>
          <a:xfrm>
            <a:off x="482600" y="2108200"/>
            <a:ext cx="5943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2379A2D-946A-645C-970F-7594C067652C}"/>
              </a:ext>
            </a:extLst>
          </p:cNvPr>
          <p:cNvSpPr txBox="1"/>
          <p:nvPr/>
        </p:nvSpPr>
        <p:spPr>
          <a:xfrm>
            <a:off x="482600" y="2159000"/>
            <a:ext cx="5842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八千代市内居住者（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回答内訳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B0BE08E-FF6D-1A2F-9979-02E33E49FB1D}"/>
              </a:ext>
            </a:extLst>
          </p:cNvPr>
          <p:cNvSpPr txBox="1"/>
          <p:nvPr/>
        </p:nvSpPr>
        <p:spPr>
          <a:xfrm>
            <a:off x="482600" y="2514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利用有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B4B4220-3688-ACC2-CDA6-596E85F01C6D}"/>
              </a:ext>
            </a:extLst>
          </p:cNvPr>
          <p:cNvSpPr/>
          <p:nvPr/>
        </p:nvSpPr>
        <p:spPr>
          <a:xfrm>
            <a:off x="2654300" y="2565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7E2F759-B760-939A-017E-AF10BCA5D848}"/>
              </a:ext>
            </a:extLst>
          </p:cNvPr>
          <p:cNvSpPr/>
          <p:nvPr/>
        </p:nvSpPr>
        <p:spPr>
          <a:xfrm>
            <a:off x="2654300" y="2565400"/>
            <a:ext cx="393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2024696-BF0E-9D36-ABD0-C1B96BF996BC}"/>
              </a:ext>
            </a:extLst>
          </p:cNvPr>
          <p:cNvSpPr txBox="1"/>
          <p:nvPr/>
        </p:nvSpPr>
        <p:spPr>
          <a:xfrm>
            <a:off x="4914900" y="251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(18.1%)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86D22C6-D0AA-7D07-C148-D1ED633B08F8}"/>
              </a:ext>
            </a:extLst>
          </p:cNvPr>
          <p:cNvSpPr txBox="1"/>
          <p:nvPr/>
        </p:nvSpPr>
        <p:spPr>
          <a:xfrm>
            <a:off x="482600" y="2895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名前や場所は知っている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5DDEB554-82FE-67EB-2C92-78A5889E131D}"/>
              </a:ext>
            </a:extLst>
          </p:cNvPr>
          <p:cNvSpPr/>
          <p:nvPr/>
        </p:nvSpPr>
        <p:spPr>
          <a:xfrm>
            <a:off x="2654300" y="2946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40ED2C0-16E1-3C01-4A45-AE375A107ADD}"/>
              </a:ext>
            </a:extLst>
          </p:cNvPr>
          <p:cNvSpPr/>
          <p:nvPr/>
        </p:nvSpPr>
        <p:spPr>
          <a:xfrm>
            <a:off x="2654300" y="2946400"/>
            <a:ext cx="12827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55DD759-2F46-6483-6328-8E4A1A702C25}"/>
              </a:ext>
            </a:extLst>
          </p:cNvPr>
          <p:cNvSpPr txBox="1"/>
          <p:nvPr/>
        </p:nvSpPr>
        <p:spPr>
          <a:xfrm>
            <a:off x="4914900" y="2895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(59.6%)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92F1D25-48BA-16B1-85FD-BF8F79DE511E}"/>
              </a:ext>
            </a:extLst>
          </p:cNvPr>
          <p:cNvSpPr txBox="1"/>
          <p:nvPr/>
        </p:nvSpPr>
        <p:spPr>
          <a:xfrm>
            <a:off x="482600" y="3276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A455D5A3-6FB5-EEB2-2455-3121087C7BCA}"/>
              </a:ext>
            </a:extLst>
          </p:cNvPr>
          <p:cNvSpPr/>
          <p:nvPr/>
        </p:nvSpPr>
        <p:spPr>
          <a:xfrm>
            <a:off x="2654300" y="3327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0DA3AE8-2B1B-BC48-EF94-057CD9D68189}"/>
              </a:ext>
            </a:extLst>
          </p:cNvPr>
          <p:cNvSpPr/>
          <p:nvPr/>
        </p:nvSpPr>
        <p:spPr>
          <a:xfrm>
            <a:off x="2654300" y="3327400"/>
            <a:ext cx="4572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8B0230A1-6958-C21F-7549-EDCBFDF58C00}"/>
              </a:ext>
            </a:extLst>
          </p:cNvPr>
          <p:cNvSpPr txBox="1"/>
          <p:nvPr/>
        </p:nvSpPr>
        <p:spPr>
          <a:xfrm>
            <a:off x="4914900" y="3276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(21.1%)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F2CFA77-CD64-F885-8728-080E5ED65985}"/>
              </a:ext>
            </a:extLst>
          </p:cNvPr>
          <p:cNvSpPr/>
          <p:nvPr/>
        </p:nvSpPr>
        <p:spPr>
          <a:xfrm>
            <a:off x="482600" y="3683000"/>
            <a:ext cx="5943600" cy="482600"/>
          </a:xfrm>
          <a:prstGeom prst="rect">
            <a:avLst/>
          </a:prstGeom>
          <a:solidFill>
            <a:srgbClr val="FEF2F2"/>
          </a:solidFill>
          <a:ln w="15240">
            <a:solidFill>
              <a:srgbClr val="B9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23D18D6-2AB9-875F-80F5-C49C1AC98901}"/>
              </a:ext>
            </a:extLst>
          </p:cNvPr>
          <p:cNvSpPr txBox="1"/>
          <p:nvPr/>
        </p:nvSpPr>
        <p:spPr>
          <a:xfrm>
            <a:off x="584200" y="3746500"/>
            <a:ext cx="5740400" cy="50270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地元・八千代市民の </a:t>
            </a:r>
            <a:r>
              <a:rPr kumimoji="1" lang="en-US" altLang="ja-JP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138</a:t>
            </a:r>
            <a:r>
              <a:rPr kumimoji="1" lang="ja-JP" altLang="en-US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名）が「今日初めて知った」または「名前・場所のみ」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8B7BA35-7CD1-1239-CF64-E5FAE56DEBD2}"/>
              </a:ext>
            </a:extLst>
          </p:cNvPr>
          <p:cNvSpPr txBox="1"/>
          <p:nvPr/>
        </p:nvSpPr>
        <p:spPr>
          <a:xfrm>
            <a:off x="482600" y="4292600"/>
            <a:ext cx="5842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八千代市内の主要年代別「認知度」内訳</a:t>
            </a:r>
          </a:p>
        </p:txBody>
      </p:sp>
      <p:graphicFrame>
        <p:nvGraphicFramePr>
          <p:cNvPr id="31" name="表 30">
            <a:extLst>
              <a:ext uri="{FF2B5EF4-FFF2-40B4-BE49-F238E27FC236}">
                <a16:creationId xmlns:a16="http://schemas.microsoft.com/office/drawing/2014/main" id="{43D7D994-38AD-B024-76DC-7A1D127AAB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454769"/>
              </p:ext>
            </p:extLst>
          </p:nvPr>
        </p:nvGraphicFramePr>
        <p:xfrm>
          <a:off x="482600" y="4648200"/>
          <a:ext cx="5943600" cy="170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352142263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409293884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62937822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873364786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八千代市内 年代</a:t>
                      </a:r>
                      <a:endParaRPr kumimoji="1" lang="ja-JP" altLang="en-US" sz="125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よく知っている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名前・場所のみ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今日初めて知った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86919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(21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(14.3%)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(52.4%)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(33.3%)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083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(47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37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(78.7%)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74159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(13.3%)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(66.7%)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(20.0%)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260175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(19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(15.8%)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(52.6%)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(31.6%)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211134"/>
                  </a:ext>
                </a:extLst>
              </a:tr>
            </a:tbl>
          </a:graphicData>
        </a:graphic>
      </p:graphicFrame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0D9EF06-FF2C-C847-7560-2DC5EEF43096}"/>
              </a:ext>
            </a:extLst>
          </p:cNvPr>
          <p:cNvSpPr/>
          <p:nvPr/>
        </p:nvSpPr>
        <p:spPr>
          <a:xfrm>
            <a:off x="6781800" y="1574800"/>
            <a:ext cx="51054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A19B2A6B-5E05-7F5E-23B4-AABE92DFDB39}"/>
              </a:ext>
            </a:extLst>
          </p:cNvPr>
          <p:cNvSpPr/>
          <p:nvPr/>
        </p:nvSpPr>
        <p:spPr>
          <a:xfrm>
            <a:off x="6781800" y="1574800"/>
            <a:ext cx="51054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364376E-041A-F56E-9AAD-9575BE08208E}"/>
              </a:ext>
            </a:extLst>
          </p:cNvPr>
          <p:cNvSpPr txBox="1"/>
          <p:nvPr/>
        </p:nvSpPr>
        <p:spPr>
          <a:xfrm>
            <a:off x="6959600" y="1727200"/>
            <a:ext cx="47498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データから見る当院の弱点（知名度の低さ）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B3ABBBBA-8DBB-9BF4-A569-D97746F7F594}"/>
              </a:ext>
            </a:extLst>
          </p:cNvPr>
          <p:cNvSpPr/>
          <p:nvPr/>
        </p:nvSpPr>
        <p:spPr>
          <a:xfrm>
            <a:off x="6959600" y="2108200"/>
            <a:ext cx="47498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458C621-FE29-44F3-2767-3358C377F548}"/>
              </a:ext>
            </a:extLst>
          </p:cNvPr>
          <p:cNvSpPr txBox="1"/>
          <p:nvPr/>
        </p:nvSpPr>
        <p:spPr>
          <a:xfrm>
            <a:off x="6959600" y="2209800"/>
            <a:ext cx="4749800" cy="363432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入院専門のリハ病院ゆえの構造的な認知課題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・当院は回復期リハビリテーション専門の入院病院（外来は退院患者のフォローのみ、介護保険は訪問・通所リハ）であるため、一般外来を持つ病院と比べて日常的に住民が接する機会が少ない。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地元・八千代市民でも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割が詳細を知らない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・八千代市内在住者（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名）のうち、「よく知っている」は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名）にとどまる。
・市民の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名）が「今日初めて当院を知った」と回答し、「名前や場所は知っている（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59.6%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）」と合わせると、市民の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名）が当院の役割や中身を知らない状態にある。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家族世代（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40〜60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代）・当事者世代（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代）の課題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・親の入院先を検討する市内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33.3%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、当事者である市内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31.6%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が「今日初めて知った」と回答し、市内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歳代でも「よく知っている」は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8.5%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のみであった。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227579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1F1457B-6B5C-51BB-FBF1-B0326A5A596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5A80B6C-8E29-AC70-7B28-9BD49455E3C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A4BDFAD-909D-3B4B-8669-E48D14A367D7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7B74D4-A87C-6D17-2E10-FAC289BA4D2C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部：クロス分析③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69C5DAB-5A41-88D0-71FC-B7323DC1E045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認知度（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 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アンケート時の当院の評価（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）クロス分析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FB6443A-E672-1A48-90BC-1243696947B0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A58C00-83F6-494B-A5C1-A3E983C3B0EB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D48ED17-2DB3-EA05-B1FA-18D4512701BA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53FDA1B-62E1-C131-7776-36D66AFAEA7C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「今日初めて知った」層でも体験後は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が好意的評価。「よく知っている」層は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66.7%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が「ぜひ利用したい」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D88D36D-9836-8BC0-EE30-A6F22B0F87C1}"/>
              </a:ext>
            </a:extLst>
          </p:cNvPr>
          <p:cNvSpPr/>
          <p:nvPr/>
        </p:nvSpPr>
        <p:spPr>
          <a:xfrm>
            <a:off x="304800" y="1574800"/>
            <a:ext cx="6350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88E94AB-5ECE-E769-BCFA-CFA730328C59}"/>
              </a:ext>
            </a:extLst>
          </p:cNvPr>
          <p:cNvSpPr/>
          <p:nvPr/>
        </p:nvSpPr>
        <p:spPr>
          <a:xfrm>
            <a:off x="304800" y="1574800"/>
            <a:ext cx="63500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30EE9F6-7060-EA4C-B397-A317ACA8BA5E}"/>
              </a:ext>
            </a:extLst>
          </p:cNvPr>
          <p:cNvSpPr txBox="1"/>
          <p:nvPr/>
        </p:nvSpPr>
        <p:spPr>
          <a:xfrm>
            <a:off x="482600" y="1727200"/>
            <a:ext cx="5994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（認知度）別の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（今後の利用意向）内訳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C74693E-CFCE-4F21-A9D5-77967DF3D439}"/>
              </a:ext>
            </a:extLst>
          </p:cNvPr>
          <p:cNvSpPr/>
          <p:nvPr/>
        </p:nvSpPr>
        <p:spPr>
          <a:xfrm>
            <a:off x="482600" y="2108200"/>
            <a:ext cx="5994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EAC48FC-C14D-D76C-3DC9-1306AA468254}"/>
              </a:ext>
            </a:extLst>
          </p:cNvPr>
          <p:cNvSpPr txBox="1"/>
          <p:nvPr/>
        </p:nvSpPr>
        <p:spPr>
          <a:xfrm>
            <a:off x="482600" y="2159000"/>
            <a:ext cx="5969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■「ぜひ利用したい ＋ 候補として検討したい」の合計割合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96A2E32-23F1-217D-D212-0B719D31B825}"/>
              </a:ext>
            </a:extLst>
          </p:cNvPr>
          <p:cNvSpPr txBox="1"/>
          <p:nvPr/>
        </p:nvSpPr>
        <p:spPr>
          <a:xfrm>
            <a:off x="482600" y="25400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E8D07A-091D-67C3-BB5A-342646F378DD}"/>
              </a:ext>
            </a:extLst>
          </p:cNvPr>
          <p:cNvSpPr/>
          <p:nvPr/>
        </p:nvSpPr>
        <p:spPr>
          <a:xfrm>
            <a:off x="2781300" y="2590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6CFE971-FF54-96EE-257E-22A5217D2069}"/>
              </a:ext>
            </a:extLst>
          </p:cNvPr>
          <p:cNvSpPr/>
          <p:nvPr/>
        </p:nvSpPr>
        <p:spPr>
          <a:xfrm>
            <a:off x="2781300" y="2590800"/>
            <a:ext cx="17907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FB42290-FB18-350B-C61F-D6082DAC93C0}"/>
              </a:ext>
            </a:extLst>
          </p:cNvPr>
          <p:cNvSpPr txBox="1"/>
          <p:nvPr/>
        </p:nvSpPr>
        <p:spPr>
          <a:xfrm>
            <a:off x="4914900" y="2540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(88.1%)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7EA5760-E850-0224-9A53-72850FD2706C}"/>
              </a:ext>
            </a:extLst>
          </p:cNvPr>
          <p:cNvSpPr txBox="1"/>
          <p:nvPr/>
        </p:nvSpPr>
        <p:spPr>
          <a:xfrm>
            <a:off x="482600" y="29464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名前・場所は知る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(126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FF4F7D06-B35C-8E87-FD7E-A2C3AA5C0D9B}"/>
              </a:ext>
            </a:extLst>
          </p:cNvPr>
          <p:cNvSpPr/>
          <p:nvPr/>
        </p:nvSpPr>
        <p:spPr>
          <a:xfrm>
            <a:off x="2781300" y="29972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0B9C9A23-AEDF-128F-B0D5-B23D2809E943}"/>
              </a:ext>
            </a:extLst>
          </p:cNvPr>
          <p:cNvSpPr/>
          <p:nvPr/>
        </p:nvSpPr>
        <p:spPr>
          <a:xfrm>
            <a:off x="2781300" y="2997200"/>
            <a:ext cx="19050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4D6712C-481C-89BF-892D-17442ADE77E9}"/>
              </a:ext>
            </a:extLst>
          </p:cNvPr>
          <p:cNvSpPr txBox="1"/>
          <p:nvPr/>
        </p:nvSpPr>
        <p:spPr>
          <a:xfrm>
            <a:off x="4914900" y="2946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(93.7%)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627A118-5D78-CD36-C87E-D07FF2C7B70F}"/>
              </a:ext>
            </a:extLst>
          </p:cNvPr>
          <p:cNvSpPr txBox="1"/>
          <p:nvPr/>
        </p:nvSpPr>
        <p:spPr>
          <a:xfrm>
            <a:off x="482600" y="33528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FECA079-6477-0FBE-9C38-F553E3FC3CD1}"/>
              </a:ext>
            </a:extLst>
          </p:cNvPr>
          <p:cNvSpPr/>
          <p:nvPr/>
        </p:nvSpPr>
        <p:spPr>
          <a:xfrm>
            <a:off x="2781300" y="34036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72E7238-C2D8-D03A-9B3F-674DDF566381}"/>
              </a:ext>
            </a:extLst>
          </p:cNvPr>
          <p:cNvSpPr/>
          <p:nvPr/>
        </p:nvSpPr>
        <p:spPr>
          <a:xfrm>
            <a:off x="2781300" y="3403600"/>
            <a:ext cx="18796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E394213-E3CF-E074-89AB-DDB69CAF47E1}"/>
              </a:ext>
            </a:extLst>
          </p:cNvPr>
          <p:cNvSpPr txBox="1"/>
          <p:nvPr/>
        </p:nvSpPr>
        <p:spPr>
          <a:xfrm>
            <a:off x="4914900" y="3352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(92.3%)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5DD7161-7E8F-F7B5-8C7B-8F80EFCE82FC}"/>
              </a:ext>
            </a:extLst>
          </p:cNvPr>
          <p:cNvSpPr txBox="1"/>
          <p:nvPr/>
        </p:nvSpPr>
        <p:spPr>
          <a:xfrm>
            <a:off x="482600" y="3860800"/>
            <a:ext cx="5969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 Q3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（当院の評価）詳細クロス集計表</a:t>
            </a:r>
          </a:p>
        </p:txBody>
      </p:sp>
      <p:graphicFrame>
        <p:nvGraphicFramePr>
          <p:cNvPr id="29" name="表 28">
            <a:extLst>
              <a:ext uri="{FF2B5EF4-FFF2-40B4-BE49-F238E27FC236}">
                <a16:creationId xmlns:a16="http://schemas.microsoft.com/office/drawing/2014/main" id="{138F770A-186D-BE3B-AE28-E269B9AF1D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468442"/>
              </p:ext>
            </p:extLst>
          </p:nvPr>
        </p:nvGraphicFramePr>
        <p:xfrm>
          <a:off x="482600" y="4216400"/>
          <a:ext cx="59944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115030906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68409217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74371065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422276521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Q2 </a:t>
                      </a: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認知度区分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ぜひ利用したい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候補として検討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他院・不明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27005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今日初めて知った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(67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(14.9%)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49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(73.1%)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(11.9%)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1866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名前・場所は知る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(19.0%)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(74.6%)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(4.8%)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34667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よく知っている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(39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26</a:t>
                      </a:r>
                      <a:r>
                        <a:rPr kumimoji="1" lang="ja-JP" altLang="en-US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(66.7%)</a:t>
                      </a:r>
                      <a:endParaRPr kumimoji="1" lang="ja-JP" altLang="en-US" sz="1250" b="1">
                        <a:solidFill>
                          <a:srgbClr val="0D9488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(25.6%)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2384162"/>
                  </a:ext>
                </a:extLst>
              </a:tr>
            </a:tbl>
          </a:graphicData>
        </a:graphic>
      </p:graphicFrame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1B6F550-A518-7D73-3202-81F2D5C83123}"/>
              </a:ext>
            </a:extLst>
          </p:cNvPr>
          <p:cNvSpPr/>
          <p:nvPr/>
        </p:nvSpPr>
        <p:spPr>
          <a:xfrm>
            <a:off x="6832600" y="1574800"/>
            <a:ext cx="5054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F6BE78B2-BB22-FF12-C6FB-F91A089F8170}"/>
              </a:ext>
            </a:extLst>
          </p:cNvPr>
          <p:cNvSpPr/>
          <p:nvPr/>
        </p:nvSpPr>
        <p:spPr>
          <a:xfrm>
            <a:off x="6832600" y="1574800"/>
            <a:ext cx="5054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8014E04-15D5-FCC5-F343-382BA1FA5DD8}"/>
              </a:ext>
            </a:extLst>
          </p:cNvPr>
          <p:cNvSpPr txBox="1"/>
          <p:nvPr/>
        </p:nvSpPr>
        <p:spPr>
          <a:xfrm>
            <a:off x="7010400" y="1727200"/>
            <a:ext cx="4699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クロス集計から見える出展の効果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84CB059-63C5-0BAE-3049-A2E0BF5C938C}"/>
              </a:ext>
            </a:extLst>
          </p:cNvPr>
          <p:cNvSpPr/>
          <p:nvPr/>
        </p:nvSpPr>
        <p:spPr>
          <a:xfrm>
            <a:off x="7010400" y="2108200"/>
            <a:ext cx="4699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72D3EF1-BF70-8E81-2130-E8064DF819E6}"/>
              </a:ext>
            </a:extLst>
          </p:cNvPr>
          <p:cNvSpPr txBox="1"/>
          <p:nvPr/>
        </p:nvSpPr>
        <p:spPr>
          <a:xfrm>
            <a:off x="7010400" y="2209800"/>
            <a:ext cx="4699000" cy="342657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初認知層でも体験後は約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割が好意的評価へ転換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・「今日初めて当院を知った」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名であっても、ブースで測定や多職種からのアドバイスを体験した時点（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）では、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名）が「ぜひ利用したい（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14.9%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）・候補として検討したい（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73.1%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）」と回答した。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名前のみ認知層の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が第一選択の候補へ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・地域で最も多い「名前や場所は知っている」層（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名）でも、直接スタッフと接することで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名）が利用・検討したいと回答した。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よく知る層は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人が「ぜひ利用したい」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・自身や家族の利用経験がある「よく知っている」層（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名）では、「ぜひ利用したい」が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名）に達した。当院の取り組みや中身を知ってもらう機会を増やせば、高い確率で当院への信頼・選択意向につながることが数値で裏付けられた。</a:t>
            </a:r>
          </a:p>
        </p:txBody>
      </p:sp>
    </p:spTree>
    <p:extLst>
      <p:ext uri="{BB962C8B-B14F-4D97-AF65-F5344CB8AC3E}">
        <p14:creationId xmlns:p14="http://schemas.microsoft.com/office/powerpoint/2010/main" val="3934863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FAE454D-BDC1-8C28-0227-A2D6E803BB2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EEC7C2-8FD1-F844-6ECC-B3AD021660CF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B93343A-A27D-E3E3-AF8D-BCF81AF99CC4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F699C70-76A8-7CEB-3019-1BB10B8D9C13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CN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CN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zh-CN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部：来年度提案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CCB991B-A01B-B663-F28D-3E9B8C4C3C0C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来年度に向けた改善点（出展体制の見直し・知名度向上へのアクション）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6EF8448-B213-137D-FEBB-C195E6A24627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073C161-5F23-EFFE-F711-C13EB8D23A0D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70C5226-2625-29E2-36ED-1ED290203E26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0F284A5-A11C-DDD4-D1D0-1D91C3061E93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今年度の課題（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区画の混雑・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制限・休憩未確保・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不足）を踏まえ、来年度に向け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点を提案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AE7DA9A-2F09-5FFE-21EE-C501950AC741}"/>
              </a:ext>
            </a:extLst>
          </p:cNvPr>
          <p:cNvSpPr/>
          <p:nvPr/>
        </p:nvSpPr>
        <p:spPr>
          <a:xfrm>
            <a:off x="304800" y="1574800"/>
            <a:ext cx="5689600" cy="238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A688BD9-2CBC-C9C4-944C-03DE74D3D940}"/>
              </a:ext>
            </a:extLst>
          </p:cNvPr>
          <p:cNvSpPr/>
          <p:nvPr/>
        </p:nvSpPr>
        <p:spPr>
          <a:xfrm>
            <a:off x="304800" y="1574800"/>
            <a:ext cx="56896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9531BFC-7AA8-738A-87BA-2D85C6EA011C}"/>
              </a:ext>
            </a:extLst>
          </p:cNvPr>
          <p:cNvSpPr txBox="1"/>
          <p:nvPr/>
        </p:nvSpPr>
        <p:spPr>
          <a:xfrm>
            <a:off x="482600" y="17272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：出展規模を「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 →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区画」へ拡大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23179E0-874A-FF65-A3DB-52C3E3DAFD10}"/>
              </a:ext>
            </a:extLst>
          </p:cNvPr>
          <p:cNvSpPr/>
          <p:nvPr/>
        </p:nvSpPr>
        <p:spPr>
          <a:xfrm>
            <a:off x="482600" y="21082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CE93BD7-3E33-E62F-D89F-07A5DD7B73FD}"/>
              </a:ext>
            </a:extLst>
          </p:cNvPr>
          <p:cNvSpPr txBox="1"/>
          <p:nvPr/>
        </p:nvSpPr>
        <p:spPr>
          <a:xfrm>
            <a:off x="482600" y="2184400"/>
            <a:ext cx="5334000" cy="114133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・今年度は四役相談のもと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区画で実施したが、目標の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4.7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倍（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名）が回答する盛況となり、待合椅子不足（座れず外出案内）や移動時の狭さが発生した。
・来年度は当初起案の「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区画」を確保し、測定スペース・待合椅子・相談動線を拡充して機会損失を防ぐ。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EB89C09-AC64-9B5C-51F1-D82F59810347}"/>
              </a:ext>
            </a:extLst>
          </p:cNvPr>
          <p:cNvSpPr/>
          <p:nvPr/>
        </p:nvSpPr>
        <p:spPr>
          <a:xfrm>
            <a:off x="6197600" y="1574800"/>
            <a:ext cx="5689600" cy="238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071AB5F-AC95-2604-DA88-67DFF4F56744}"/>
              </a:ext>
            </a:extLst>
          </p:cNvPr>
          <p:cNvSpPr/>
          <p:nvPr/>
        </p:nvSpPr>
        <p:spPr>
          <a:xfrm>
            <a:off x="6197600" y="1574800"/>
            <a:ext cx="56896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5AC93DE-5CC1-CE84-E5E4-45C73396BCE2}"/>
              </a:ext>
            </a:extLst>
          </p:cNvPr>
          <p:cNvSpPr txBox="1"/>
          <p:nvPr/>
        </p:nvSpPr>
        <p:spPr>
          <a:xfrm>
            <a:off x="6375400" y="17272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：スタッフ増員による「休憩確保」と「誘導強化」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209AC6B-59B3-08F0-A5B6-FC8E62EF46C6}"/>
              </a:ext>
            </a:extLst>
          </p:cNvPr>
          <p:cNvSpPr/>
          <p:nvPr/>
        </p:nvSpPr>
        <p:spPr>
          <a:xfrm>
            <a:off x="6375400" y="21082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366F664-BA88-4D52-E0A6-0DF3BC200B30}"/>
              </a:ext>
            </a:extLst>
          </p:cNvPr>
          <p:cNvSpPr txBox="1"/>
          <p:nvPr/>
        </p:nvSpPr>
        <p:spPr>
          <a:xfrm>
            <a:off x="6375400" y="2184400"/>
            <a:ext cx="5334000" cy="93358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・スタッフの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が人員不足（休憩が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10〜15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回しか取れない、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日連続出勤の負担）を課題に挙げた。
・来年度は各部署の参加人数を増員して「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時間の休憩」を確実に回すとともに、「全体統括」と「誘導係（整理券方式や順路固定）」を配置する。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D787E08-04EA-0A24-059B-F7CD38C73C52}"/>
              </a:ext>
            </a:extLst>
          </p:cNvPr>
          <p:cNvSpPr/>
          <p:nvPr/>
        </p:nvSpPr>
        <p:spPr>
          <a:xfrm>
            <a:off x="304800" y="4140200"/>
            <a:ext cx="5689600" cy="241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58B5B0A-7FF8-A865-17A2-CAFB28C34329}"/>
              </a:ext>
            </a:extLst>
          </p:cNvPr>
          <p:cNvSpPr/>
          <p:nvPr/>
        </p:nvSpPr>
        <p:spPr>
          <a:xfrm>
            <a:off x="304800" y="4140200"/>
            <a:ext cx="56896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CDB4540-867C-2A10-8031-341AAC57FBBA}"/>
              </a:ext>
            </a:extLst>
          </p:cNvPr>
          <p:cNvSpPr txBox="1"/>
          <p:nvPr/>
        </p:nvSpPr>
        <p:spPr>
          <a:xfrm>
            <a:off x="482600" y="42926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 ＆ 病院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資材・備品の充実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D784A1C-AD70-855A-7E50-C9C8649E2F47}"/>
              </a:ext>
            </a:extLst>
          </p:cNvPr>
          <p:cNvSpPr/>
          <p:nvPr/>
        </p:nvSpPr>
        <p:spPr>
          <a:xfrm>
            <a:off x="482600" y="46736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683F5B3-3B48-BEEE-DC22-1E61B5FC4FEF}"/>
              </a:ext>
            </a:extLst>
          </p:cNvPr>
          <p:cNvSpPr txBox="1"/>
          <p:nvPr/>
        </p:nvSpPr>
        <p:spPr>
          <a:xfrm>
            <a:off x="482600" y="4749800"/>
            <a:ext cx="5334000" cy="114133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分以上の待ち時間が発生し終盤に受付を中止したため、来年度は「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台体制」とする。
・リハビリ病院の役割（入院専門・退院後の訪問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通所リハ）を正しく伝えるため「病院広報誌・紹介パネル・映像」を持参し、バインダー・靴ベラ・ノベルティを拡充する。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5132AEB-1919-1B6A-B3C0-27DD1169D556}"/>
              </a:ext>
            </a:extLst>
          </p:cNvPr>
          <p:cNvSpPr/>
          <p:nvPr/>
        </p:nvSpPr>
        <p:spPr>
          <a:xfrm>
            <a:off x="6197600" y="4140200"/>
            <a:ext cx="5689600" cy="241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3004237-3DF3-90AF-8662-113FE56299E6}"/>
              </a:ext>
            </a:extLst>
          </p:cNvPr>
          <p:cNvSpPr/>
          <p:nvPr/>
        </p:nvSpPr>
        <p:spPr>
          <a:xfrm>
            <a:off x="6197600" y="4140200"/>
            <a:ext cx="5689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D2E21FA2-6AC9-0F18-BEE9-CB787C70A1F6}"/>
              </a:ext>
            </a:extLst>
          </p:cNvPr>
          <p:cNvSpPr txBox="1"/>
          <p:nvPr/>
        </p:nvSpPr>
        <p:spPr>
          <a:xfrm>
            <a:off x="6375400" y="42926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：知名度向上に向けた「健康教室」の定期開催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0C0D49D-CD8B-A33E-718A-3DA1A232347D}"/>
              </a:ext>
            </a:extLst>
          </p:cNvPr>
          <p:cNvSpPr/>
          <p:nvPr/>
        </p:nvSpPr>
        <p:spPr>
          <a:xfrm>
            <a:off x="6375400" y="46736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7655622-578A-EFE1-C837-162D9BD54B67}"/>
              </a:ext>
            </a:extLst>
          </p:cNvPr>
          <p:cNvSpPr txBox="1"/>
          <p:nvPr/>
        </p:nvSpPr>
        <p:spPr>
          <a:xfrm>
            <a:off x="6375400" y="4749800"/>
            <a:ext cx="5334000" cy="93358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・八千代市民の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が当院を詳しく知らない現状を打破するため、年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回の産業祭だけでなく、定期的な「健康教室」でコツコツと知名度向上を進める。
・テーマには、今回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割を超えた「①転倒予防・ストレッチ」「②栄養」「③認知機能」「④介護・終活」を活用する。</a:t>
            </a:r>
          </a:p>
        </p:txBody>
      </p:sp>
    </p:spTree>
    <p:extLst>
      <p:ext uri="{BB962C8B-B14F-4D97-AF65-F5344CB8AC3E}">
        <p14:creationId xmlns:p14="http://schemas.microsoft.com/office/powerpoint/2010/main" val="3151290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B6DA399-9612-64B9-00E5-FE685C5683E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A3A3732-64CC-EF9D-F22B-394427A589E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F5B4AB9-B2DA-2541-6961-CE6BCCE34C2F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874DCD1-F007-A417-EBDD-AA8B011DD190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部：総括まとめ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0BE17A6-4B32-AA0A-67A9-803F9515B14C}"/>
              </a:ext>
            </a:extLst>
          </p:cNvPr>
          <p:cNvSpPr txBox="1"/>
          <p:nvPr/>
        </p:nvSpPr>
        <p:spPr>
          <a:xfrm>
            <a:off x="2336800" y="139700"/>
            <a:ext cx="8382000" cy="71814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総括：当院の弱点・出展で得られたこと・来年度の課題（アンケートの掛け合わせ）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167B181-2442-7630-88D5-BBE2A9368E04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4743D00-F985-0BA3-E31E-FDC2DE0E99BF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7DB4622-700F-25A6-9BDA-2FD28B7F8D7B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8C6547E-2604-C49B-D132-4E1DA8E08E3D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名）とスタッフアンケート（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名）の双方のデータが完全に一致して示す結論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7F21EB7-3EE9-37C8-F349-1C5ADE78C151}"/>
              </a:ext>
            </a:extLst>
          </p:cNvPr>
          <p:cNvSpPr/>
          <p:nvPr/>
        </p:nvSpPr>
        <p:spPr>
          <a:xfrm>
            <a:off x="304800" y="1574800"/>
            <a:ext cx="11582400" cy="1524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6356889-F641-6930-1AE4-E4980BF016B0}"/>
              </a:ext>
            </a:extLst>
          </p:cNvPr>
          <p:cNvSpPr/>
          <p:nvPr/>
        </p:nvSpPr>
        <p:spPr>
          <a:xfrm>
            <a:off x="304800" y="1574800"/>
            <a:ext cx="2235200" cy="15240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3D6BC90-4436-8D89-8B68-EDCE96D137C8}"/>
              </a:ext>
            </a:extLst>
          </p:cNvPr>
          <p:cNvSpPr txBox="1"/>
          <p:nvPr/>
        </p:nvSpPr>
        <p:spPr>
          <a:xfrm>
            <a:off x="406400" y="19812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当院の弱点
（知名度の低さ）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A13FCB5-BCAC-0D94-47EC-14C14C28D5F2}"/>
              </a:ext>
            </a:extLst>
          </p:cNvPr>
          <p:cNvSpPr txBox="1"/>
          <p:nvPr/>
        </p:nvSpPr>
        <p:spPr>
          <a:xfrm>
            <a:off x="2692400" y="1651000"/>
            <a:ext cx="9042400" cy="91512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八千代市民（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名）であっても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21.1%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が「今日初めて知った」、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59.6%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が「名前や場所しか知らない」（計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）。特に家族世代（市内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40〜60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代）や当事者世代（市内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代）でも認知が不足している。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「まだまだ当院の認知度が低いことが分かった」「リハ病院の役割（入院専門・訪問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通所）が知られておらず、他院と誤認している人もいた」と双方が一致。日常の一般外来がない当院にとって、地域での知名度向上が最重要課題である。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8CBDAE3-2C0B-833C-0FF9-708F47E94307}"/>
              </a:ext>
            </a:extLst>
          </p:cNvPr>
          <p:cNvSpPr/>
          <p:nvPr/>
        </p:nvSpPr>
        <p:spPr>
          <a:xfrm>
            <a:off x="304800" y="3251200"/>
            <a:ext cx="11582400" cy="1574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87BC58A-F8FE-06DF-A9CB-171E3623F4EA}"/>
              </a:ext>
            </a:extLst>
          </p:cNvPr>
          <p:cNvSpPr/>
          <p:nvPr/>
        </p:nvSpPr>
        <p:spPr>
          <a:xfrm>
            <a:off x="304800" y="3251200"/>
            <a:ext cx="2235200" cy="15748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B51C035-133F-9DD9-EE0A-36419B1E46C4}"/>
              </a:ext>
            </a:extLst>
          </p:cNvPr>
          <p:cNvSpPr txBox="1"/>
          <p:nvPr/>
        </p:nvSpPr>
        <p:spPr>
          <a:xfrm>
            <a:off x="406400" y="36830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出展で
得られたこと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539B8A1-5DB5-9793-9247-E202D1514E40}"/>
              </a:ext>
            </a:extLst>
          </p:cNvPr>
          <p:cNvSpPr txBox="1"/>
          <p:nvPr/>
        </p:nvSpPr>
        <p:spPr>
          <a:xfrm>
            <a:off x="2692400" y="3327400"/>
            <a:ext cx="9042400" cy="111825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名・回答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472%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）を達成。初めて知った層でも体験後は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（全体では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名）が「万が一の際に利用・検討したい」と回答し、今後の健康教室に向けた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大関心テーマ（転倒・栄養・認知機能・介護終活）も判明した。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部署協働により参加満足度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・地域貢献実感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を達成。「他部門と一致団結できた」「測定から栄養・看護・相談へつなぐ連携ができた」と、多職種連携の強化と対面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の有効性が実証された。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3990C45-C9BF-376D-2FCF-77293185F792}"/>
              </a:ext>
            </a:extLst>
          </p:cNvPr>
          <p:cNvSpPr/>
          <p:nvPr/>
        </p:nvSpPr>
        <p:spPr>
          <a:xfrm>
            <a:off x="304800" y="4978400"/>
            <a:ext cx="11582400" cy="1574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0CADFE10-DFC4-3BDB-FC63-6FFA478CAF28}"/>
              </a:ext>
            </a:extLst>
          </p:cNvPr>
          <p:cNvSpPr/>
          <p:nvPr/>
        </p:nvSpPr>
        <p:spPr>
          <a:xfrm>
            <a:off x="304800" y="4978400"/>
            <a:ext cx="2235200" cy="15748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410AEAC-69C2-F452-4A0F-A113D8EB22CE}"/>
              </a:ext>
            </a:extLst>
          </p:cNvPr>
          <p:cNvSpPr txBox="1"/>
          <p:nvPr/>
        </p:nvSpPr>
        <p:spPr>
          <a:xfrm>
            <a:off x="406400" y="54102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来年度の課題
（環境と体制整備）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2A53C4D-27CA-513B-3AA2-D79B0B4A68FF}"/>
              </a:ext>
            </a:extLst>
          </p:cNvPr>
          <p:cNvSpPr txBox="1"/>
          <p:nvPr/>
        </p:nvSpPr>
        <p:spPr>
          <a:xfrm>
            <a:off x="2692400" y="5054600"/>
            <a:ext cx="9042400" cy="111825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スタッフの一致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来場者側で「血管年齢（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）・筋肉量測定（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）」に人気が集中し「順路表示やバインダー・靴ベラ」の要望が出たことと、スタッフ側で「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区画での混雑・待合椅子不足」「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30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分待ちによる受付中止」「人員不足・休憩未確保（問題あり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）」が挙がったことは表裏一体である。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結論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来年度は「① 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区画への拡大」「② 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台体制と病院紹介パネル・広報誌の持参」「③ 誘導係・各部署スタッフの増員（休憩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時間確保）」を行い、健康教室と連動して着実に当院の知名度を向上させる。</a:t>
            </a:r>
          </a:p>
        </p:txBody>
      </p:sp>
    </p:spTree>
    <p:extLst>
      <p:ext uri="{BB962C8B-B14F-4D97-AF65-F5344CB8AC3E}">
        <p14:creationId xmlns:p14="http://schemas.microsoft.com/office/powerpoint/2010/main" val="2849355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6005</Words>
  <Application>Microsoft Office PowerPoint</Application>
  <PresentationFormat>ユーザー設定</PresentationFormat>
  <Paragraphs>352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憲幸 保科</dc:creator>
  <cp:lastModifiedBy>憲幸 保科</cp:lastModifiedBy>
  <cp:revision>1</cp:revision>
  <dcterms:created xsi:type="dcterms:W3CDTF">2026-10-20T23:54:11Z</dcterms:created>
  <dcterms:modified xsi:type="dcterms:W3CDTF">2026-10-20T23:54:12Z</dcterms:modified>
</cp:coreProperties>
</file>