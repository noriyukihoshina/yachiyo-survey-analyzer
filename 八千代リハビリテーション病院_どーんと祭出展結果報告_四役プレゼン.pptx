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52E10DE-3523-8F7C-F5BB-447AECF9F83A}"/>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5E67445-CB1D-B337-1FF9-210D3719863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A42BBAD-39E4-34D9-6AE3-74E932DA74CA}"/>
              </a:ext>
            </a:extLst>
          </p:cNvPr>
          <p:cNvSpPr>
            <a:spLocks noGrp="1"/>
          </p:cNvSpPr>
          <p:nvPr>
            <p:ph type="dt" sz="half" idx="10"/>
          </p:nvPr>
        </p:nvSpPr>
        <p:spPr/>
        <p:txBody>
          <a:bodyPr/>
          <a:lstStyle/>
          <a:p>
            <a:fld id="{4A2EBAD6-4578-449F-B89C-89E298A81FF8}"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47F56988-BE72-DD59-C9A9-FA3BB4D9638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70EE102-FD97-EDC3-630C-F3A2E1F0BFF7}"/>
              </a:ext>
            </a:extLst>
          </p:cNvPr>
          <p:cNvSpPr>
            <a:spLocks noGrp="1"/>
          </p:cNvSpPr>
          <p:nvPr>
            <p:ph type="sldNum" sz="quarter" idx="12"/>
          </p:nvPr>
        </p:nvSpPr>
        <p:spPr/>
        <p:txBody>
          <a:bodyPr/>
          <a:lstStyle/>
          <a:p>
            <a:fld id="{CF450A52-149D-4776-927D-97EC40C5C6AF}" type="slidenum">
              <a:rPr kumimoji="1" lang="ja-JP" altLang="en-US" smtClean="0"/>
              <a:t>‹#›</a:t>
            </a:fld>
            <a:endParaRPr kumimoji="1" lang="ja-JP" altLang="en-US"/>
          </a:p>
        </p:txBody>
      </p:sp>
    </p:spTree>
    <p:extLst>
      <p:ext uri="{BB962C8B-B14F-4D97-AF65-F5344CB8AC3E}">
        <p14:creationId xmlns:p14="http://schemas.microsoft.com/office/powerpoint/2010/main" val="30553330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D9E1003-7E3B-1F17-9690-FEA8F3071856}"/>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36F654CD-242E-1FD7-4C01-20F67821B2B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858F681-4D0D-024F-56C9-FC971D924E35}"/>
              </a:ext>
            </a:extLst>
          </p:cNvPr>
          <p:cNvSpPr>
            <a:spLocks noGrp="1"/>
          </p:cNvSpPr>
          <p:nvPr>
            <p:ph type="dt" sz="half" idx="10"/>
          </p:nvPr>
        </p:nvSpPr>
        <p:spPr/>
        <p:txBody>
          <a:bodyPr/>
          <a:lstStyle/>
          <a:p>
            <a:fld id="{4A2EBAD6-4578-449F-B89C-89E298A81FF8}"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54A1B5BF-EF77-3811-9F5A-6123A98A251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B253503-7064-5DE8-CED1-FA6BE9041929}"/>
              </a:ext>
            </a:extLst>
          </p:cNvPr>
          <p:cNvSpPr>
            <a:spLocks noGrp="1"/>
          </p:cNvSpPr>
          <p:nvPr>
            <p:ph type="sldNum" sz="quarter" idx="12"/>
          </p:nvPr>
        </p:nvSpPr>
        <p:spPr/>
        <p:txBody>
          <a:bodyPr/>
          <a:lstStyle/>
          <a:p>
            <a:fld id="{CF450A52-149D-4776-927D-97EC40C5C6AF}" type="slidenum">
              <a:rPr kumimoji="1" lang="ja-JP" altLang="en-US" smtClean="0"/>
              <a:t>‹#›</a:t>
            </a:fld>
            <a:endParaRPr kumimoji="1" lang="ja-JP" altLang="en-US"/>
          </a:p>
        </p:txBody>
      </p:sp>
    </p:spTree>
    <p:extLst>
      <p:ext uri="{BB962C8B-B14F-4D97-AF65-F5344CB8AC3E}">
        <p14:creationId xmlns:p14="http://schemas.microsoft.com/office/powerpoint/2010/main" val="39413947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50285B3-D60C-B908-4DF9-1DE7A784FE4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197DB6B-D3A2-932F-6822-9D3311CD2AF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E3571842-8609-AFA1-22AD-0F16E2C0C741}"/>
              </a:ext>
            </a:extLst>
          </p:cNvPr>
          <p:cNvSpPr>
            <a:spLocks noGrp="1"/>
          </p:cNvSpPr>
          <p:nvPr>
            <p:ph type="dt" sz="half" idx="10"/>
          </p:nvPr>
        </p:nvSpPr>
        <p:spPr/>
        <p:txBody>
          <a:bodyPr/>
          <a:lstStyle/>
          <a:p>
            <a:fld id="{4A2EBAD6-4578-449F-B89C-89E298A81FF8}"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9192B616-552B-73C6-91F8-AF0FF75601D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CD31834-1118-56FD-84B7-F2F4EEA2FF35}"/>
              </a:ext>
            </a:extLst>
          </p:cNvPr>
          <p:cNvSpPr>
            <a:spLocks noGrp="1"/>
          </p:cNvSpPr>
          <p:nvPr>
            <p:ph type="sldNum" sz="quarter" idx="12"/>
          </p:nvPr>
        </p:nvSpPr>
        <p:spPr/>
        <p:txBody>
          <a:bodyPr/>
          <a:lstStyle/>
          <a:p>
            <a:fld id="{CF450A52-149D-4776-927D-97EC40C5C6AF}" type="slidenum">
              <a:rPr kumimoji="1" lang="ja-JP" altLang="en-US" smtClean="0"/>
              <a:t>‹#›</a:t>
            </a:fld>
            <a:endParaRPr kumimoji="1" lang="ja-JP" altLang="en-US"/>
          </a:p>
        </p:txBody>
      </p:sp>
    </p:spTree>
    <p:extLst>
      <p:ext uri="{BB962C8B-B14F-4D97-AF65-F5344CB8AC3E}">
        <p14:creationId xmlns:p14="http://schemas.microsoft.com/office/powerpoint/2010/main" val="3426619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2C70F0-B801-E038-0BAB-AE0377A1428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782E9F19-05FD-CF77-60BC-5555969D09AD}"/>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ADEE2928-56FC-BDF9-1ABA-3E185C815B3A}"/>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695B7340-C67E-5164-F4FD-8CBE4B7635D4}"/>
              </a:ext>
            </a:extLst>
          </p:cNvPr>
          <p:cNvSpPr>
            <a:spLocks noGrp="1"/>
          </p:cNvSpPr>
          <p:nvPr>
            <p:ph type="dt" sz="half" idx="10"/>
          </p:nvPr>
        </p:nvSpPr>
        <p:spPr/>
        <p:txBody>
          <a:bodyPr/>
          <a:lstStyle/>
          <a:p>
            <a:fld id="{4A2EBAD6-4578-449F-B89C-89E298A81FF8}" type="datetimeFigureOut">
              <a:rPr kumimoji="1" lang="ja-JP" altLang="en-US" smtClean="0"/>
              <a:t>2026/10/21</a:t>
            </a:fld>
            <a:endParaRPr kumimoji="1" lang="ja-JP" altLang="en-US"/>
          </a:p>
        </p:txBody>
      </p:sp>
      <p:sp>
        <p:nvSpPr>
          <p:cNvPr id="6" name="フッター プレースホルダー 5">
            <a:extLst>
              <a:ext uri="{FF2B5EF4-FFF2-40B4-BE49-F238E27FC236}">
                <a16:creationId xmlns:a16="http://schemas.microsoft.com/office/drawing/2014/main" id="{C22BB101-4556-275B-0736-4BDF995C4F6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E936112-6750-B219-197F-9DCAE556C533}"/>
              </a:ext>
            </a:extLst>
          </p:cNvPr>
          <p:cNvSpPr>
            <a:spLocks noGrp="1"/>
          </p:cNvSpPr>
          <p:nvPr>
            <p:ph type="sldNum" sz="quarter" idx="12"/>
          </p:nvPr>
        </p:nvSpPr>
        <p:spPr/>
        <p:txBody>
          <a:bodyPr/>
          <a:lstStyle/>
          <a:p>
            <a:fld id="{CF450A52-149D-4776-927D-97EC40C5C6AF}" type="slidenum">
              <a:rPr kumimoji="1" lang="ja-JP" altLang="en-US" smtClean="0"/>
              <a:t>‹#›</a:t>
            </a:fld>
            <a:endParaRPr kumimoji="1" lang="ja-JP" altLang="en-US"/>
          </a:p>
        </p:txBody>
      </p:sp>
    </p:spTree>
    <p:extLst>
      <p:ext uri="{BB962C8B-B14F-4D97-AF65-F5344CB8AC3E}">
        <p14:creationId xmlns:p14="http://schemas.microsoft.com/office/powerpoint/2010/main" val="155409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52FD4C-4B59-43DB-CF8E-A820046F5C0F}"/>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EB38CFF-D37F-5978-11C1-C6E1165E273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A4A7D445-184E-028E-502A-51239A2DD6DA}"/>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EF13B7B-D46C-8BD4-C30E-F9E3E6E4BF7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C8AC44E7-9F8A-AFEB-DAA1-A61E109ECAB8}"/>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FF15D6B-956A-0249-7D15-E0A31BFEA003}"/>
              </a:ext>
            </a:extLst>
          </p:cNvPr>
          <p:cNvSpPr>
            <a:spLocks noGrp="1"/>
          </p:cNvSpPr>
          <p:nvPr>
            <p:ph type="dt" sz="half" idx="10"/>
          </p:nvPr>
        </p:nvSpPr>
        <p:spPr/>
        <p:txBody>
          <a:bodyPr/>
          <a:lstStyle/>
          <a:p>
            <a:fld id="{4A2EBAD6-4578-449F-B89C-89E298A81FF8}" type="datetimeFigureOut">
              <a:rPr kumimoji="1" lang="ja-JP" altLang="en-US" smtClean="0"/>
              <a:t>2026/10/21</a:t>
            </a:fld>
            <a:endParaRPr kumimoji="1" lang="ja-JP" altLang="en-US"/>
          </a:p>
        </p:txBody>
      </p:sp>
      <p:sp>
        <p:nvSpPr>
          <p:cNvPr id="8" name="フッター プレースホルダー 7">
            <a:extLst>
              <a:ext uri="{FF2B5EF4-FFF2-40B4-BE49-F238E27FC236}">
                <a16:creationId xmlns:a16="http://schemas.microsoft.com/office/drawing/2014/main" id="{932338E1-3D35-8423-A67E-F4C2B14C530D}"/>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DB56C12C-7F1E-3660-FFD5-DF170362C356}"/>
              </a:ext>
            </a:extLst>
          </p:cNvPr>
          <p:cNvSpPr>
            <a:spLocks noGrp="1"/>
          </p:cNvSpPr>
          <p:nvPr>
            <p:ph type="sldNum" sz="quarter" idx="12"/>
          </p:nvPr>
        </p:nvSpPr>
        <p:spPr/>
        <p:txBody>
          <a:bodyPr/>
          <a:lstStyle/>
          <a:p>
            <a:fld id="{CF450A52-149D-4776-927D-97EC40C5C6AF}" type="slidenum">
              <a:rPr kumimoji="1" lang="ja-JP" altLang="en-US" smtClean="0"/>
              <a:t>‹#›</a:t>
            </a:fld>
            <a:endParaRPr kumimoji="1" lang="ja-JP" altLang="en-US"/>
          </a:p>
        </p:txBody>
      </p:sp>
    </p:spTree>
    <p:extLst>
      <p:ext uri="{BB962C8B-B14F-4D97-AF65-F5344CB8AC3E}">
        <p14:creationId xmlns:p14="http://schemas.microsoft.com/office/powerpoint/2010/main" val="3725329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9DDE36-510E-4732-3B21-FED7A60348F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5637605A-7F92-B4AA-10A9-DADDEDEB9EF9}"/>
              </a:ext>
            </a:extLst>
          </p:cNvPr>
          <p:cNvSpPr>
            <a:spLocks noGrp="1"/>
          </p:cNvSpPr>
          <p:nvPr>
            <p:ph type="dt" sz="half" idx="10"/>
          </p:nvPr>
        </p:nvSpPr>
        <p:spPr/>
        <p:txBody>
          <a:bodyPr/>
          <a:lstStyle/>
          <a:p>
            <a:fld id="{4A2EBAD6-4578-449F-B89C-89E298A81FF8}" type="datetimeFigureOut">
              <a:rPr kumimoji="1" lang="ja-JP" altLang="en-US" smtClean="0"/>
              <a:t>2026/10/21</a:t>
            </a:fld>
            <a:endParaRPr kumimoji="1" lang="ja-JP" altLang="en-US"/>
          </a:p>
        </p:txBody>
      </p:sp>
      <p:sp>
        <p:nvSpPr>
          <p:cNvPr id="4" name="フッター プレースホルダー 3">
            <a:extLst>
              <a:ext uri="{FF2B5EF4-FFF2-40B4-BE49-F238E27FC236}">
                <a16:creationId xmlns:a16="http://schemas.microsoft.com/office/drawing/2014/main" id="{9AE03844-D7EB-7DA2-3F16-2E093CD48C70}"/>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045FEEEC-7DD7-261A-6898-F1BF3A19670A}"/>
              </a:ext>
            </a:extLst>
          </p:cNvPr>
          <p:cNvSpPr>
            <a:spLocks noGrp="1"/>
          </p:cNvSpPr>
          <p:nvPr>
            <p:ph type="sldNum" sz="quarter" idx="12"/>
          </p:nvPr>
        </p:nvSpPr>
        <p:spPr/>
        <p:txBody>
          <a:bodyPr/>
          <a:lstStyle/>
          <a:p>
            <a:fld id="{CF450A52-149D-4776-927D-97EC40C5C6AF}" type="slidenum">
              <a:rPr kumimoji="1" lang="ja-JP" altLang="en-US" smtClean="0"/>
              <a:t>‹#›</a:t>
            </a:fld>
            <a:endParaRPr kumimoji="1" lang="ja-JP" altLang="en-US"/>
          </a:p>
        </p:txBody>
      </p:sp>
    </p:spTree>
    <p:extLst>
      <p:ext uri="{BB962C8B-B14F-4D97-AF65-F5344CB8AC3E}">
        <p14:creationId xmlns:p14="http://schemas.microsoft.com/office/powerpoint/2010/main" val="14027807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6BF8DFF-A689-3486-FA47-7D633757D934}"/>
              </a:ext>
            </a:extLst>
          </p:cNvPr>
          <p:cNvSpPr>
            <a:spLocks noGrp="1"/>
          </p:cNvSpPr>
          <p:nvPr>
            <p:ph type="dt" sz="half" idx="10"/>
          </p:nvPr>
        </p:nvSpPr>
        <p:spPr/>
        <p:txBody>
          <a:bodyPr/>
          <a:lstStyle/>
          <a:p>
            <a:fld id="{4A2EBAD6-4578-449F-B89C-89E298A81FF8}" type="datetimeFigureOut">
              <a:rPr kumimoji="1" lang="ja-JP" altLang="en-US" smtClean="0"/>
              <a:t>2026/10/21</a:t>
            </a:fld>
            <a:endParaRPr kumimoji="1" lang="ja-JP" altLang="en-US"/>
          </a:p>
        </p:txBody>
      </p:sp>
      <p:sp>
        <p:nvSpPr>
          <p:cNvPr id="3" name="フッター プレースホルダー 2">
            <a:extLst>
              <a:ext uri="{FF2B5EF4-FFF2-40B4-BE49-F238E27FC236}">
                <a16:creationId xmlns:a16="http://schemas.microsoft.com/office/drawing/2014/main" id="{0FA33460-1616-A3E1-71AB-293939CE8D0F}"/>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1963680-7566-C167-C27A-11994AC5C826}"/>
              </a:ext>
            </a:extLst>
          </p:cNvPr>
          <p:cNvSpPr>
            <a:spLocks noGrp="1"/>
          </p:cNvSpPr>
          <p:nvPr>
            <p:ph type="sldNum" sz="quarter" idx="12"/>
          </p:nvPr>
        </p:nvSpPr>
        <p:spPr/>
        <p:txBody>
          <a:bodyPr/>
          <a:lstStyle/>
          <a:p>
            <a:fld id="{CF450A52-149D-4776-927D-97EC40C5C6AF}" type="slidenum">
              <a:rPr kumimoji="1" lang="ja-JP" altLang="en-US" smtClean="0"/>
              <a:t>‹#›</a:t>
            </a:fld>
            <a:endParaRPr kumimoji="1" lang="ja-JP" altLang="en-US"/>
          </a:p>
        </p:txBody>
      </p:sp>
    </p:spTree>
    <p:extLst>
      <p:ext uri="{BB962C8B-B14F-4D97-AF65-F5344CB8AC3E}">
        <p14:creationId xmlns:p14="http://schemas.microsoft.com/office/powerpoint/2010/main" val="29902827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BE14F04-0601-8268-5A9E-F45E5A3D943C}"/>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2B53A54-2E60-F779-D75D-FD0C4DB05ED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2840F73A-BD8D-18C1-76E0-E06087E43E8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61448DB2-F357-C5FF-3EE0-E91499211B5C}"/>
              </a:ext>
            </a:extLst>
          </p:cNvPr>
          <p:cNvSpPr>
            <a:spLocks noGrp="1"/>
          </p:cNvSpPr>
          <p:nvPr>
            <p:ph type="dt" sz="half" idx="10"/>
          </p:nvPr>
        </p:nvSpPr>
        <p:spPr/>
        <p:txBody>
          <a:bodyPr/>
          <a:lstStyle/>
          <a:p>
            <a:fld id="{4A2EBAD6-4578-449F-B89C-89E298A81FF8}" type="datetimeFigureOut">
              <a:rPr kumimoji="1" lang="ja-JP" altLang="en-US" smtClean="0"/>
              <a:t>2026/10/21</a:t>
            </a:fld>
            <a:endParaRPr kumimoji="1" lang="ja-JP" altLang="en-US"/>
          </a:p>
        </p:txBody>
      </p:sp>
      <p:sp>
        <p:nvSpPr>
          <p:cNvPr id="6" name="フッター プレースホルダー 5">
            <a:extLst>
              <a:ext uri="{FF2B5EF4-FFF2-40B4-BE49-F238E27FC236}">
                <a16:creationId xmlns:a16="http://schemas.microsoft.com/office/drawing/2014/main" id="{5BF10BD3-8543-8FB3-618A-64ED551115D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1FC9751-4493-49B7-6AAD-B8E16A80D3A6}"/>
              </a:ext>
            </a:extLst>
          </p:cNvPr>
          <p:cNvSpPr>
            <a:spLocks noGrp="1"/>
          </p:cNvSpPr>
          <p:nvPr>
            <p:ph type="sldNum" sz="quarter" idx="12"/>
          </p:nvPr>
        </p:nvSpPr>
        <p:spPr/>
        <p:txBody>
          <a:bodyPr/>
          <a:lstStyle/>
          <a:p>
            <a:fld id="{CF450A52-149D-4776-927D-97EC40C5C6AF}" type="slidenum">
              <a:rPr kumimoji="1" lang="ja-JP" altLang="en-US" smtClean="0"/>
              <a:t>‹#›</a:t>
            </a:fld>
            <a:endParaRPr kumimoji="1" lang="ja-JP" altLang="en-US"/>
          </a:p>
        </p:txBody>
      </p:sp>
    </p:spTree>
    <p:extLst>
      <p:ext uri="{BB962C8B-B14F-4D97-AF65-F5344CB8AC3E}">
        <p14:creationId xmlns:p14="http://schemas.microsoft.com/office/powerpoint/2010/main" val="9996399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CA0802D-90BB-960F-BB96-1536CDDD5BFE}"/>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533A107-8935-766A-1451-7BA0A93D030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216073D-67AF-2A34-132A-330E11A80F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F6D7041-B628-A6C4-7FBD-376DE799A09A}"/>
              </a:ext>
            </a:extLst>
          </p:cNvPr>
          <p:cNvSpPr>
            <a:spLocks noGrp="1"/>
          </p:cNvSpPr>
          <p:nvPr>
            <p:ph type="dt" sz="half" idx="10"/>
          </p:nvPr>
        </p:nvSpPr>
        <p:spPr/>
        <p:txBody>
          <a:bodyPr/>
          <a:lstStyle/>
          <a:p>
            <a:fld id="{4A2EBAD6-4578-449F-B89C-89E298A81FF8}" type="datetimeFigureOut">
              <a:rPr kumimoji="1" lang="ja-JP" altLang="en-US" smtClean="0"/>
              <a:t>2026/10/21</a:t>
            </a:fld>
            <a:endParaRPr kumimoji="1" lang="ja-JP" altLang="en-US"/>
          </a:p>
        </p:txBody>
      </p:sp>
      <p:sp>
        <p:nvSpPr>
          <p:cNvPr id="6" name="フッター プレースホルダー 5">
            <a:extLst>
              <a:ext uri="{FF2B5EF4-FFF2-40B4-BE49-F238E27FC236}">
                <a16:creationId xmlns:a16="http://schemas.microsoft.com/office/drawing/2014/main" id="{A28E9A19-B157-7A67-D1BD-6B8AE1ACF79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BCA59C8-F02C-140C-19C3-DF7FFD394FD7}"/>
              </a:ext>
            </a:extLst>
          </p:cNvPr>
          <p:cNvSpPr>
            <a:spLocks noGrp="1"/>
          </p:cNvSpPr>
          <p:nvPr>
            <p:ph type="sldNum" sz="quarter" idx="12"/>
          </p:nvPr>
        </p:nvSpPr>
        <p:spPr/>
        <p:txBody>
          <a:bodyPr/>
          <a:lstStyle/>
          <a:p>
            <a:fld id="{CF450A52-149D-4776-927D-97EC40C5C6AF}" type="slidenum">
              <a:rPr kumimoji="1" lang="ja-JP" altLang="en-US" smtClean="0"/>
              <a:t>‹#›</a:t>
            </a:fld>
            <a:endParaRPr kumimoji="1" lang="ja-JP" altLang="en-US"/>
          </a:p>
        </p:txBody>
      </p:sp>
    </p:spTree>
    <p:extLst>
      <p:ext uri="{BB962C8B-B14F-4D97-AF65-F5344CB8AC3E}">
        <p14:creationId xmlns:p14="http://schemas.microsoft.com/office/powerpoint/2010/main" val="21050436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B0C3005-DE70-950D-FAB2-F568660D469F}"/>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B970C6DF-1137-0342-BA5A-960DC933A6A4}"/>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F95C757-274F-9D59-19BF-CC3801E6383B}"/>
              </a:ext>
            </a:extLst>
          </p:cNvPr>
          <p:cNvSpPr>
            <a:spLocks noGrp="1"/>
          </p:cNvSpPr>
          <p:nvPr>
            <p:ph type="dt" sz="half" idx="10"/>
          </p:nvPr>
        </p:nvSpPr>
        <p:spPr/>
        <p:txBody>
          <a:bodyPr/>
          <a:lstStyle/>
          <a:p>
            <a:fld id="{4A2EBAD6-4578-449F-B89C-89E298A81FF8}"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6C2826BC-A02C-7144-71D8-0452254DDB0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08993AD-4E24-C78F-A400-4C2F68E75A32}"/>
              </a:ext>
            </a:extLst>
          </p:cNvPr>
          <p:cNvSpPr>
            <a:spLocks noGrp="1"/>
          </p:cNvSpPr>
          <p:nvPr>
            <p:ph type="sldNum" sz="quarter" idx="12"/>
          </p:nvPr>
        </p:nvSpPr>
        <p:spPr/>
        <p:txBody>
          <a:bodyPr/>
          <a:lstStyle/>
          <a:p>
            <a:fld id="{CF450A52-149D-4776-927D-97EC40C5C6AF}" type="slidenum">
              <a:rPr kumimoji="1" lang="ja-JP" altLang="en-US" smtClean="0"/>
              <a:t>‹#›</a:t>
            </a:fld>
            <a:endParaRPr kumimoji="1" lang="ja-JP" altLang="en-US"/>
          </a:p>
        </p:txBody>
      </p:sp>
    </p:spTree>
    <p:extLst>
      <p:ext uri="{BB962C8B-B14F-4D97-AF65-F5344CB8AC3E}">
        <p14:creationId xmlns:p14="http://schemas.microsoft.com/office/powerpoint/2010/main" val="12425507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2E3A6A9-9827-3660-D564-C98B7345D67F}"/>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BEAB2790-FB7B-79ED-615E-4157EC40F9A3}"/>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5FA901D-BD04-3205-9F68-2DC78B44E88F}"/>
              </a:ext>
            </a:extLst>
          </p:cNvPr>
          <p:cNvSpPr>
            <a:spLocks noGrp="1"/>
          </p:cNvSpPr>
          <p:nvPr>
            <p:ph type="dt" sz="half" idx="10"/>
          </p:nvPr>
        </p:nvSpPr>
        <p:spPr/>
        <p:txBody>
          <a:bodyPr/>
          <a:lstStyle/>
          <a:p>
            <a:fld id="{4A2EBAD6-4578-449F-B89C-89E298A81FF8}"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5F11220E-7BA5-E0FE-BD33-137C1D5E2E2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179B897-F6DE-DEE1-B25B-E49ACB3DC2EC}"/>
              </a:ext>
            </a:extLst>
          </p:cNvPr>
          <p:cNvSpPr>
            <a:spLocks noGrp="1"/>
          </p:cNvSpPr>
          <p:nvPr>
            <p:ph type="sldNum" sz="quarter" idx="12"/>
          </p:nvPr>
        </p:nvSpPr>
        <p:spPr/>
        <p:txBody>
          <a:bodyPr/>
          <a:lstStyle/>
          <a:p>
            <a:fld id="{CF450A52-149D-4776-927D-97EC40C5C6AF}" type="slidenum">
              <a:rPr kumimoji="1" lang="ja-JP" altLang="en-US" smtClean="0"/>
              <a:t>‹#›</a:t>
            </a:fld>
            <a:endParaRPr kumimoji="1" lang="ja-JP" altLang="en-US"/>
          </a:p>
        </p:txBody>
      </p:sp>
    </p:spTree>
    <p:extLst>
      <p:ext uri="{BB962C8B-B14F-4D97-AF65-F5344CB8AC3E}">
        <p14:creationId xmlns:p14="http://schemas.microsoft.com/office/powerpoint/2010/main" val="32431048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77C6E5D-7DA6-34CB-597B-91D4FF37216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C91343E-52D0-5DE9-B908-BF370CCF6AA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BB19E1C-CEA8-2B8A-6C55-1F064386F9D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A2EBAD6-4578-449F-B89C-89E298A81FF8}"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70D29063-2479-5D97-E8D7-C4BA5A3B955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3D57CEEF-B8F2-837E-30ED-1C2342D8B7C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F450A52-149D-4776-927D-97EC40C5C6AF}" type="slidenum">
              <a:rPr kumimoji="1" lang="ja-JP" altLang="en-US" smtClean="0"/>
              <a:t>‹#›</a:t>
            </a:fld>
            <a:endParaRPr kumimoji="1" lang="ja-JP" altLang="en-US"/>
          </a:p>
        </p:txBody>
      </p:sp>
    </p:spTree>
    <p:extLst>
      <p:ext uri="{BB962C8B-B14F-4D97-AF65-F5344CB8AC3E}">
        <p14:creationId xmlns:p14="http://schemas.microsoft.com/office/powerpoint/2010/main" val="15260990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0C67BDE7-F43C-005C-3B62-4F4965FE1ACD}"/>
              </a:ext>
            </a:extLst>
          </p:cNvPr>
          <p:cNvSpPr/>
          <p:nvPr/>
        </p:nvSpPr>
        <p:spPr>
          <a:xfrm>
            <a:off x="0" y="0"/>
            <a:ext cx="12192000" cy="6858000"/>
          </a:xfrm>
          <a:prstGeom prst="rect">
            <a:avLst/>
          </a:prstGeom>
          <a:solidFill>
            <a:srgbClr val="F8FA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14181D3F-10F4-1A47-04DD-ECF1CCE676B7}"/>
              </a:ext>
            </a:extLst>
          </p:cNvPr>
          <p:cNvSpPr/>
          <p:nvPr/>
        </p:nvSpPr>
        <p:spPr>
          <a:xfrm>
            <a:off x="0" y="0"/>
            <a:ext cx="12192000" cy="1498600"/>
          </a:xfrm>
          <a:prstGeom prst="rect">
            <a:avLst/>
          </a:prstGeom>
          <a:solidFill>
            <a:srgbClr val="0F234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正方形/長方形 3">
            <a:extLst>
              <a:ext uri="{FF2B5EF4-FFF2-40B4-BE49-F238E27FC236}">
                <a16:creationId xmlns:a16="http://schemas.microsoft.com/office/drawing/2014/main" id="{A6CF3C49-EB92-262B-7C51-90910A5C2C69}"/>
              </a:ext>
            </a:extLst>
          </p:cNvPr>
          <p:cNvSpPr/>
          <p:nvPr/>
        </p:nvSpPr>
        <p:spPr>
          <a:xfrm>
            <a:off x="0" y="1447800"/>
            <a:ext cx="12192000" cy="63500"/>
          </a:xfrm>
          <a:prstGeom prst="rect">
            <a:avLst/>
          </a:prstGeom>
          <a:solidFill>
            <a:srgbClr val="0D948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687FF1DC-DA4B-5E15-8C81-5DE99E9E2B55}"/>
              </a:ext>
            </a:extLst>
          </p:cNvPr>
          <p:cNvSpPr txBox="1"/>
          <p:nvPr/>
        </p:nvSpPr>
        <p:spPr>
          <a:xfrm>
            <a:off x="457200" y="228600"/>
            <a:ext cx="11176000" cy="266740"/>
          </a:xfrm>
          <a:prstGeom prst="rect">
            <a:avLst/>
          </a:prstGeom>
          <a:noFill/>
        </p:spPr>
        <p:txBody>
          <a:bodyPr vert="horz" wrap="square" lIns="50800" tIns="25400" rIns="50800" bIns="25400" rtlCol="0">
            <a:spAutoFit/>
          </a:bodyPr>
          <a:lstStyle/>
          <a:p>
            <a:r>
              <a:rPr kumimoji="1" lang="ja-JP" altLang="en-US" sz="1400" b="1">
                <a:solidFill>
                  <a:srgbClr val="93C5FD"/>
                </a:solidFill>
                <a:latin typeface="Meiryo UI" panose="020B0604030504040204" pitchFamily="50" charset="-128"/>
                <a:ea typeface="Meiryo UI" panose="020B0604030504040204" pitchFamily="50" charset="-128"/>
              </a:rPr>
              <a:t>八千代リハビリテーション病院｜四役報告資料（</a:t>
            </a:r>
            <a:r>
              <a:rPr kumimoji="1" lang="en-US" altLang="ja-JP" sz="1400" b="1">
                <a:solidFill>
                  <a:srgbClr val="93C5FD"/>
                </a:solidFill>
                <a:latin typeface="Meiryo UI" panose="020B0604030504040204" pitchFamily="50" charset="-128"/>
                <a:ea typeface="Meiryo UI" panose="020B0604030504040204" pitchFamily="50" charset="-128"/>
              </a:rPr>
              <a:t>2026</a:t>
            </a:r>
            <a:r>
              <a:rPr kumimoji="1" lang="ja-JP" altLang="en-US" sz="1400" b="1">
                <a:solidFill>
                  <a:srgbClr val="93C5FD"/>
                </a:solidFill>
                <a:latin typeface="Meiryo UI" panose="020B0604030504040204" pitchFamily="50" charset="-128"/>
                <a:ea typeface="Meiryo UI" panose="020B0604030504040204" pitchFamily="50" charset="-128"/>
              </a:rPr>
              <a:t>年</a:t>
            </a:r>
            <a:r>
              <a:rPr kumimoji="1" lang="en-US" altLang="ja-JP" sz="1400" b="1">
                <a:solidFill>
                  <a:srgbClr val="93C5FD"/>
                </a:solidFill>
                <a:latin typeface="Meiryo UI" panose="020B0604030504040204" pitchFamily="50" charset="-128"/>
                <a:ea typeface="Meiryo UI" panose="020B0604030504040204" pitchFamily="50" charset="-128"/>
              </a:rPr>
              <a:t>10</a:t>
            </a:r>
            <a:r>
              <a:rPr kumimoji="1" lang="ja-JP" altLang="en-US" sz="1400" b="1">
                <a:solidFill>
                  <a:srgbClr val="93C5FD"/>
                </a:solidFill>
                <a:latin typeface="Meiryo UI" panose="020B0604030504040204" pitchFamily="50" charset="-128"/>
                <a:ea typeface="Meiryo UI" panose="020B0604030504040204" pitchFamily="50" charset="-128"/>
              </a:rPr>
              <a:t>月</a:t>
            </a:r>
            <a:r>
              <a:rPr kumimoji="1" lang="en-US" altLang="ja-JP" sz="1400" b="1">
                <a:solidFill>
                  <a:srgbClr val="93C5FD"/>
                </a:solidFill>
                <a:latin typeface="Meiryo UI" panose="020B0604030504040204" pitchFamily="50" charset="-128"/>
                <a:ea typeface="Meiryo UI" panose="020B0604030504040204" pitchFamily="50" charset="-128"/>
              </a:rPr>
              <a:t>17</a:t>
            </a:r>
            <a:r>
              <a:rPr kumimoji="1" lang="ja-JP" altLang="en-US" sz="1400" b="1">
                <a:solidFill>
                  <a:srgbClr val="93C5FD"/>
                </a:solidFill>
                <a:latin typeface="Meiryo UI" panose="020B0604030504040204" pitchFamily="50" charset="-128"/>
                <a:ea typeface="Meiryo UI" panose="020B0604030504040204" pitchFamily="50" charset="-128"/>
              </a:rPr>
              <a:t>日・</a:t>
            </a:r>
            <a:r>
              <a:rPr kumimoji="1" lang="en-US" altLang="ja-JP" sz="1400" b="1">
                <a:solidFill>
                  <a:srgbClr val="93C5FD"/>
                </a:solidFill>
                <a:latin typeface="Meiryo UI" panose="020B0604030504040204" pitchFamily="50" charset="-128"/>
                <a:ea typeface="Meiryo UI" panose="020B0604030504040204" pitchFamily="50" charset="-128"/>
              </a:rPr>
              <a:t>18</a:t>
            </a:r>
            <a:r>
              <a:rPr kumimoji="1" lang="ja-JP" altLang="en-US" sz="1400" b="1">
                <a:solidFill>
                  <a:srgbClr val="93C5FD"/>
                </a:solidFill>
                <a:latin typeface="Meiryo UI" panose="020B0604030504040204" pitchFamily="50" charset="-128"/>
                <a:ea typeface="Meiryo UI" panose="020B0604030504040204" pitchFamily="50" charset="-128"/>
              </a:rPr>
              <a:t>日 実施）</a:t>
            </a:r>
          </a:p>
        </p:txBody>
      </p:sp>
      <p:sp>
        <p:nvSpPr>
          <p:cNvPr id="6" name="テキスト ボックス 5">
            <a:extLst>
              <a:ext uri="{FF2B5EF4-FFF2-40B4-BE49-F238E27FC236}">
                <a16:creationId xmlns:a16="http://schemas.microsoft.com/office/drawing/2014/main" id="{54D74C57-51C4-8687-7FD9-4987AA75C8F7}"/>
              </a:ext>
            </a:extLst>
          </p:cNvPr>
          <p:cNvSpPr txBox="1"/>
          <p:nvPr/>
        </p:nvSpPr>
        <p:spPr>
          <a:xfrm>
            <a:off x="457200" y="609600"/>
            <a:ext cx="11176000" cy="482183"/>
          </a:xfrm>
          <a:prstGeom prst="rect">
            <a:avLst/>
          </a:prstGeom>
          <a:noFill/>
        </p:spPr>
        <p:txBody>
          <a:bodyPr vert="horz" wrap="square" lIns="50800" tIns="25400" rIns="50800" bIns="25400" rtlCol="0">
            <a:spAutoFit/>
          </a:bodyPr>
          <a:lstStyle/>
          <a:p>
            <a:r>
              <a:rPr kumimoji="1" lang="ja-JP" altLang="en-US" sz="2800" b="1">
                <a:solidFill>
                  <a:srgbClr val="FFFFFF"/>
                </a:solidFill>
                <a:latin typeface="Meiryo UI" panose="020B0604030504040204" pitchFamily="50" charset="-128"/>
                <a:ea typeface="Meiryo UI" panose="020B0604030504040204" pitchFamily="50" charset="-128"/>
              </a:rPr>
              <a:t>八千代市産業祭（どーんと祭）出展結果 報告書</a:t>
            </a:r>
          </a:p>
        </p:txBody>
      </p:sp>
      <p:sp>
        <p:nvSpPr>
          <p:cNvPr id="7" name="四角形: 角を丸くする 6">
            <a:extLst>
              <a:ext uri="{FF2B5EF4-FFF2-40B4-BE49-F238E27FC236}">
                <a16:creationId xmlns:a16="http://schemas.microsoft.com/office/drawing/2014/main" id="{A7F6BC56-64C0-6B5D-6473-1DDC74C497D3}"/>
              </a:ext>
            </a:extLst>
          </p:cNvPr>
          <p:cNvSpPr/>
          <p:nvPr/>
        </p:nvSpPr>
        <p:spPr>
          <a:xfrm>
            <a:off x="406400" y="1701800"/>
            <a:ext cx="3657600" cy="1676400"/>
          </a:xfrm>
          <a:prstGeom prst="roundRect">
            <a:avLst>
              <a:gd name="adj" fmla="val 6000"/>
            </a:avLst>
          </a:prstGeom>
          <a:solidFill>
            <a:srgbClr val="FFFFFF"/>
          </a:solidFill>
          <a:ln w="15240">
            <a:solidFill>
              <a:srgbClr val="BFDB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76A63339-1576-51B3-B6C5-84F6B769CEE1}"/>
              </a:ext>
            </a:extLst>
          </p:cNvPr>
          <p:cNvSpPr/>
          <p:nvPr/>
        </p:nvSpPr>
        <p:spPr>
          <a:xfrm>
            <a:off x="406400" y="1701800"/>
            <a:ext cx="3657600" cy="101600"/>
          </a:xfrm>
          <a:prstGeom prst="rect">
            <a:avLst/>
          </a:prstGeom>
          <a:solidFill>
            <a:srgbClr val="1E40A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A78CB8B8-4923-E048-C810-7A76AEDA16E6}"/>
              </a:ext>
            </a:extLst>
          </p:cNvPr>
          <p:cNvSpPr txBox="1"/>
          <p:nvPr/>
        </p:nvSpPr>
        <p:spPr>
          <a:xfrm>
            <a:off x="584200" y="1879600"/>
            <a:ext cx="3302000" cy="243656"/>
          </a:xfrm>
          <a:prstGeom prst="rect">
            <a:avLst/>
          </a:prstGeom>
          <a:noFill/>
        </p:spPr>
        <p:txBody>
          <a:bodyPr vert="horz" wrap="square" lIns="50800" tIns="25400" rIns="50800" bIns="25400" rtlCol="0">
            <a:spAutoFit/>
          </a:bodyPr>
          <a:lstStyle/>
          <a:p>
            <a:r>
              <a:rPr kumimoji="1" lang="ja-JP" altLang="en-US" sz="1250" b="1">
                <a:solidFill>
                  <a:srgbClr val="475569"/>
                </a:solidFill>
                <a:latin typeface="Meiryo UI" panose="020B0604030504040204" pitchFamily="50" charset="-128"/>
                <a:ea typeface="Meiryo UI" panose="020B0604030504040204" pitchFamily="50" charset="-128"/>
              </a:rPr>
              <a:t>① アンケート有効回答数（目標</a:t>
            </a:r>
            <a:r>
              <a:rPr kumimoji="1" lang="en-US" altLang="ja-JP" sz="1250" b="1">
                <a:solidFill>
                  <a:srgbClr val="475569"/>
                </a:solidFill>
                <a:latin typeface="Meiryo UI" panose="020B0604030504040204" pitchFamily="50" charset="-128"/>
                <a:ea typeface="Meiryo UI" panose="020B0604030504040204" pitchFamily="50" charset="-128"/>
              </a:rPr>
              <a:t>50</a:t>
            </a:r>
            <a:r>
              <a:rPr kumimoji="1" lang="ja-JP" altLang="en-US" sz="1250" b="1">
                <a:solidFill>
                  <a:srgbClr val="475569"/>
                </a:solidFill>
                <a:latin typeface="Meiryo UI" panose="020B0604030504040204" pitchFamily="50" charset="-128"/>
                <a:ea typeface="Meiryo UI" panose="020B0604030504040204" pitchFamily="50" charset="-128"/>
              </a:rPr>
              <a:t>名）</a:t>
            </a:r>
          </a:p>
        </p:txBody>
      </p:sp>
      <p:sp>
        <p:nvSpPr>
          <p:cNvPr id="10" name="テキスト ボックス 9">
            <a:extLst>
              <a:ext uri="{FF2B5EF4-FFF2-40B4-BE49-F238E27FC236}">
                <a16:creationId xmlns:a16="http://schemas.microsoft.com/office/drawing/2014/main" id="{1C76D14D-249D-59E7-4E59-1C830D8E3ED0}"/>
              </a:ext>
            </a:extLst>
          </p:cNvPr>
          <p:cNvSpPr txBox="1"/>
          <p:nvPr/>
        </p:nvSpPr>
        <p:spPr>
          <a:xfrm>
            <a:off x="584200" y="2184400"/>
            <a:ext cx="3302000" cy="482183"/>
          </a:xfrm>
          <a:prstGeom prst="rect">
            <a:avLst/>
          </a:prstGeom>
          <a:noFill/>
        </p:spPr>
        <p:txBody>
          <a:bodyPr vert="horz" wrap="square" lIns="50800" tIns="25400" rIns="50800" bIns="25400" rtlCol="0">
            <a:spAutoFit/>
          </a:bodyPr>
          <a:lstStyle/>
          <a:p>
            <a:r>
              <a:rPr kumimoji="1" lang="en-US" altLang="ja-JP" sz="2800" b="1">
                <a:solidFill>
                  <a:srgbClr val="1E40AF"/>
                </a:solidFill>
                <a:latin typeface="Meiryo UI" panose="020B0604030504040204" pitchFamily="50" charset="-128"/>
                <a:ea typeface="Meiryo UI" panose="020B0604030504040204" pitchFamily="50" charset="-128"/>
              </a:rPr>
              <a:t>236 </a:t>
            </a:r>
            <a:r>
              <a:rPr kumimoji="1" lang="ja-JP" altLang="en-US" sz="2800" b="1">
                <a:solidFill>
                  <a:srgbClr val="1E40AF"/>
                </a:solidFill>
                <a:latin typeface="Meiryo UI" panose="020B0604030504040204" pitchFamily="50" charset="-128"/>
                <a:ea typeface="Meiryo UI" panose="020B0604030504040204" pitchFamily="50" charset="-128"/>
              </a:rPr>
              <a:t>名（</a:t>
            </a:r>
            <a:r>
              <a:rPr kumimoji="1" lang="en-US" altLang="ja-JP" sz="2800" b="1">
                <a:solidFill>
                  <a:srgbClr val="1E40AF"/>
                </a:solidFill>
                <a:latin typeface="Meiryo UI" panose="020B0604030504040204" pitchFamily="50" charset="-128"/>
                <a:ea typeface="Meiryo UI" panose="020B0604030504040204" pitchFamily="50" charset="-128"/>
              </a:rPr>
              <a:t>4.7</a:t>
            </a:r>
            <a:r>
              <a:rPr kumimoji="1" lang="ja-JP" altLang="en-US" sz="2800" b="1">
                <a:solidFill>
                  <a:srgbClr val="1E40AF"/>
                </a:solidFill>
                <a:latin typeface="Meiryo UI" panose="020B0604030504040204" pitchFamily="50" charset="-128"/>
                <a:ea typeface="Meiryo UI" panose="020B0604030504040204" pitchFamily="50" charset="-128"/>
              </a:rPr>
              <a:t>倍）</a:t>
            </a:r>
          </a:p>
        </p:txBody>
      </p:sp>
      <p:sp>
        <p:nvSpPr>
          <p:cNvPr id="11" name="テキスト ボックス 10">
            <a:extLst>
              <a:ext uri="{FF2B5EF4-FFF2-40B4-BE49-F238E27FC236}">
                <a16:creationId xmlns:a16="http://schemas.microsoft.com/office/drawing/2014/main" id="{BCA2ECC6-3B58-9EA9-F65F-C73F84A708A3}"/>
              </a:ext>
            </a:extLst>
          </p:cNvPr>
          <p:cNvSpPr txBox="1"/>
          <p:nvPr/>
        </p:nvSpPr>
        <p:spPr>
          <a:xfrm>
            <a:off x="584200" y="2844800"/>
            <a:ext cx="3302000" cy="389850"/>
          </a:xfrm>
          <a:prstGeom prst="rect">
            <a:avLst/>
          </a:prstGeom>
          <a:noFill/>
        </p:spPr>
        <p:txBody>
          <a:bodyPr vert="horz" wrap="square" lIns="50800" tIns="25400" rIns="50800" bIns="25400" rtlCol="0">
            <a:spAutoFit/>
          </a:bodyPr>
          <a:lstStyle/>
          <a:p>
            <a:r>
              <a:rPr kumimoji="1" lang="ja-JP" altLang="en-US" sz="1100">
                <a:solidFill>
                  <a:srgbClr val="0F172A"/>
                </a:solidFill>
                <a:latin typeface="Meiryo UI" panose="020B0604030504040204" pitchFamily="50" charset="-128"/>
                <a:ea typeface="Meiryo UI" panose="020B0604030504040204" pitchFamily="50" charset="-128"/>
              </a:rPr>
              <a:t>達成率 </a:t>
            </a:r>
            <a:r>
              <a:rPr kumimoji="1" lang="en-US" altLang="ja-JP" sz="1100">
                <a:solidFill>
                  <a:srgbClr val="0F172A"/>
                </a:solidFill>
                <a:latin typeface="Meiryo UI" panose="020B0604030504040204" pitchFamily="50" charset="-128"/>
                <a:ea typeface="Meiryo UI" panose="020B0604030504040204" pitchFamily="50" charset="-128"/>
              </a:rPr>
              <a:t>472.0%</a:t>
            </a:r>
            <a:r>
              <a:rPr kumimoji="1" lang="ja-JP" altLang="en-US" sz="1100">
                <a:solidFill>
                  <a:srgbClr val="0F172A"/>
                </a:solidFill>
                <a:latin typeface="Meiryo UI" panose="020B0604030504040204" pitchFamily="50" charset="-128"/>
                <a:ea typeface="Meiryo UI" panose="020B0604030504040204" pitchFamily="50" charset="-128"/>
              </a:rPr>
              <a:t>（</a:t>
            </a:r>
            <a:r>
              <a:rPr kumimoji="1" lang="en-US" altLang="ja-JP" sz="1100">
                <a:solidFill>
                  <a:srgbClr val="0F172A"/>
                </a:solidFill>
                <a:latin typeface="Meiryo UI" panose="020B0604030504040204" pitchFamily="50" charset="-128"/>
                <a:ea typeface="Meiryo UI" panose="020B0604030504040204" pitchFamily="50" charset="-128"/>
              </a:rPr>
              <a:t>1</a:t>
            </a:r>
            <a:r>
              <a:rPr kumimoji="1" lang="ja-JP" altLang="en-US" sz="1100">
                <a:solidFill>
                  <a:srgbClr val="0F172A"/>
                </a:solidFill>
                <a:latin typeface="Meiryo UI" panose="020B0604030504040204" pitchFamily="50" charset="-128"/>
                <a:ea typeface="Meiryo UI" panose="020B0604030504040204" pitchFamily="50" charset="-128"/>
              </a:rPr>
              <a:t>日目</a:t>
            </a:r>
            <a:r>
              <a:rPr kumimoji="1" lang="en-US" altLang="ja-JP" sz="1100">
                <a:solidFill>
                  <a:srgbClr val="0F172A"/>
                </a:solidFill>
                <a:latin typeface="Meiryo UI" panose="020B0604030504040204" pitchFamily="50" charset="-128"/>
                <a:ea typeface="Meiryo UI" panose="020B0604030504040204" pitchFamily="50" charset="-128"/>
              </a:rPr>
              <a:t>:106</a:t>
            </a:r>
            <a:r>
              <a:rPr kumimoji="1" lang="ja-JP" altLang="en-US" sz="1100">
                <a:solidFill>
                  <a:srgbClr val="0F172A"/>
                </a:solidFill>
                <a:latin typeface="Meiryo UI" panose="020B0604030504040204" pitchFamily="50" charset="-128"/>
                <a:ea typeface="Meiryo UI" panose="020B0604030504040204" pitchFamily="50" charset="-128"/>
              </a:rPr>
              <a:t>名 </a:t>
            </a:r>
            <a:r>
              <a:rPr kumimoji="1" lang="en-US" altLang="ja-JP" sz="1100">
                <a:solidFill>
                  <a:srgbClr val="0F172A"/>
                </a:solidFill>
                <a:latin typeface="Meiryo UI" panose="020B0604030504040204" pitchFamily="50" charset="-128"/>
                <a:ea typeface="Meiryo UI" panose="020B0604030504040204" pitchFamily="50" charset="-128"/>
              </a:rPr>
              <a:t>/ 2</a:t>
            </a:r>
            <a:r>
              <a:rPr kumimoji="1" lang="ja-JP" altLang="en-US" sz="1100">
                <a:solidFill>
                  <a:srgbClr val="0F172A"/>
                </a:solidFill>
                <a:latin typeface="Meiryo UI" panose="020B0604030504040204" pitchFamily="50" charset="-128"/>
                <a:ea typeface="Meiryo UI" panose="020B0604030504040204" pitchFamily="50" charset="-128"/>
              </a:rPr>
              <a:t>日目</a:t>
            </a:r>
            <a:r>
              <a:rPr kumimoji="1" lang="en-US" altLang="ja-JP" sz="1100">
                <a:solidFill>
                  <a:srgbClr val="0F172A"/>
                </a:solidFill>
                <a:latin typeface="Meiryo UI" panose="020B0604030504040204" pitchFamily="50" charset="-128"/>
                <a:ea typeface="Meiryo UI" panose="020B0604030504040204" pitchFamily="50" charset="-128"/>
              </a:rPr>
              <a:t>:130</a:t>
            </a:r>
            <a:r>
              <a:rPr kumimoji="1" lang="ja-JP" altLang="en-US" sz="1100">
                <a:solidFill>
                  <a:srgbClr val="0F172A"/>
                </a:solidFill>
                <a:latin typeface="Meiryo UI" panose="020B0604030504040204" pitchFamily="50" charset="-128"/>
                <a:ea typeface="Meiryo UI" panose="020B0604030504040204" pitchFamily="50" charset="-128"/>
              </a:rPr>
              <a:t>名）
</a:t>
            </a:r>
            <a:r>
              <a:rPr kumimoji="1" lang="en-US" altLang="ja-JP" sz="1100">
                <a:solidFill>
                  <a:srgbClr val="0F172A"/>
                </a:solidFill>
                <a:latin typeface="Meiryo UI" panose="020B0604030504040204" pitchFamily="50" charset="-128"/>
                <a:ea typeface="Meiryo UI" panose="020B0604030504040204" pitchFamily="50" charset="-128"/>
              </a:rPr>
              <a:t>※</a:t>
            </a:r>
            <a:r>
              <a:rPr kumimoji="1" lang="ja-JP" altLang="en-US" sz="1100">
                <a:solidFill>
                  <a:srgbClr val="0F172A"/>
                </a:solidFill>
                <a:latin typeface="Meiryo UI" panose="020B0604030504040204" pitchFamily="50" charset="-128"/>
                <a:ea typeface="Meiryo UI" panose="020B0604030504040204" pitchFamily="50" charset="-128"/>
              </a:rPr>
              <a:t>白紙除外後の確定有効回答数</a:t>
            </a:r>
          </a:p>
        </p:txBody>
      </p:sp>
      <p:sp>
        <p:nvSpPr>
          <p:cNvPr id="12" name="四角形: 角を丸くする 11">
            <a:extLst>
              <a:ext uri="{FF2B5EF4-FFF2-40B4-BE49-F238E27FC236}">
                <a16:creationId xmlns:a16="http://schemas.microsoft.com/office/drawing/2014/main" id="{5981550D-C396-D52E-0B7A-626CFC2D9D86}"/>
              </a:ext>
            </a:extLst>
          </p:cNvPr>
          <p:cNvSpPr/>
          <p:nvPr/>
        </p:nvSpPr>
        <p:spPr>
          <a:xfrm>
            <a:off x="4267200" y="1701800"/>
            <a:ext cx="3657600" cy="1676400"/>
          </a:xfrm>
          <a:prstGeom prst="roundRect">
            <a:avLst>
              <a:gd name="adj" fmla="val 6000"/>
            </a:avLst>
          </a:prstGeom>
          <a:solidFill>
            <a:srgbClr val="FFFFFF"/>
          </a:solidFill>
          <a:ln w="15240">
            <a:solidFill>
              <a:srgbClr val="99F6E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41E2965F-4E32-4E37-9AF4-EC8D4B2ECD80}"/>
              </a:ext>
            </a:extLst>
          </p:cNvPr>
          <p:cNvSpPr/>
          <p:nvPr/>
        </p:nvSpPr>
        <p:spPr>
          <a:xfrm>
            <a:off x="4267200" y="1701800"/>
            <a:ext cx="3657600" cy="101600"/>
          </a:xfrm>
          <a:prstGeom prst="rect">
            <a:avLst/>
          </a:prstGeom>
          <a:solidFill>
            <a:srgbClr val="0D948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D8DDC90D-B62F-2714-883A-031F46AE9E76}"/>
              </a:ext>
            </a:extLst>
          </p:cNvPr>
          <p:cNvSpPr txBox="1"/>
          <p:nvPr/>
        </p:nvSpPr>
        <p:spPr>
          <a:xfrm>
            <a:off x="4445000" y="1879600"/>
            <a:ext cx="3302000" cy="243656"/>
          </a:xfrm>
          <a:prstGeom prst="rect">
            <a:avLst/>
          </a:prstGeom>
          <a:noFill/>
        </p:spPr>
        <p:txBody>
          <a:bodyPr vert="horz" wrap="square" lIns="50800" tIns="25400" rIns="50800" bIns="25400" rtlCol="0">
            <a:spAutoFit/>
          </a:bodyPr>
          <a:lstStyle/>
          <a:p>
            <a:r>
              <a:rPr kumimoji="1" lang="ja-JP" altLang="en-US" sz="1250" b="1">
                <a:solidFill>
                  <a:srgbClr val="475569"/>
                </a:solidFill>
                <a:latin typeface="Meiryo UI" panose="020B0604030504040204" pitchFamily="50" charset="-128"/>
                <a:ea typeface="Meiryo UI" panose="020B0604030504040204" pitchFamily="50" charset="-128"/>
              </a:rPr>
              <a:t>② 当院の今後の利用・検討意向</a:t>
            </a:r>
          </a:p>
        </p:txBody>
      </p:sp>
      <p:sp>
        <p:nvSpPr>
          <p:cNvPr id="15" name="テキスト ボックス 14">
            <a:extLst>
              <a:ext uri="{FF2B5EF4-FFF2-40B4-BE49-F238E27FC236}">
                <a16:creationId xmlns:a16="http://schemas.microsoft.com/office/drawing/2014/main" id="{01B231D8-C5B4-9E48-DBF7-BA9D9B74078A}"/>
              </a:ext>
            </a:extLst>
          </p:cNvPr>
          <p:cNvSpPr txBox="1"/>
          <p:nvPr/>
        </p:nvSpPr>
        <p:spPr>
          <a:xfrm>
            <a:off x="4445000" y="2184400"/>
            <a:ext cx="3302000" cy="482183"/>
          </a:xfrm>
          <a:prstGeom prst="rect">
            <a:avLst/>
          </a:prstGeom>
          <a:noFill/>
        </p:spPr>
        <p:txBody>
          <a:bodyPr vert="horz" wrap="square" lIns="50800" tIns="25400" rIns="50800" bIns="25400" rtlCol="0">
            <a:spAutoFit/>
          </a:bodyPr>
          <a:lstStyle/>
          <a:p>
            <a:r>
              <a:rPr kumimoji="1" lang="en-US" altLang="ja-JP" sz="2800" b="1">
                <a:solidFill>
                  <a:srgbClr val="0D9488"/>
                </a:solidFill>
                <a:latin typeface="Meiryo UI" panose="020B0604030504040204" pitchFamily="50" charset="-128"/>
                <a:ea typeface="Meiryo UI" panose="020B0604030504040204" pitchFamily="50" charset="-128"/>
              </a:rPr>
              <a:t>90.3 %</a:t>
            </a:r>
            <a:r>
              <a:rPr kumimoji="1" lang="ja-JP" altLang="en-US" sz="2800" b="1">
                <a:solidFill>
                  <a:srgbClr val="0D9488"/>
                </a:solidFill>
                <a:latin typeface="Meiryo UI" panose="020B0604030504040204" pitchFamily="50" charset="-128"/>
                <a:ea typeface="Meiryo UI" panose="020B0604030504040204" pitchFamily="50" charset="-128"/>
              </a:rPr>
              <a:t>（</a:t>
            </a:r>
            <a:r>
              <a:rPr kumimoji="1" lang="en-US" altLang="ja-JP" sz="2800" b="1">
                <a:solidFill>
                  <a:srgbClr val="0D9488"/>
                </a:solidFill>
                <a:latin typeface="Meiryo UI" panose="020B0604030504040204" pitchFamily="50" charset="-128"/>
                <a:ea typeface="Meiryo UI" panose="020B0604030504040204" pitchFamily="50" charset="-128"/>
              </a:rPr>
              <a:t>213</a:t>
            </a:r>
            <a:r>
              <a:rPr kumimoji="1" lang="ja-JP" altLang="en-US" sz="2800" b="1">
                <a:solidFill>
                  <a:srgbClr val="0D9488"/>
                </a:solidFill>
                <a:latin typeface="Meiryo UI" panose="020B0604030504040204" pitchFamily="50" charset="-128"/>
                <a:ea typeface="Meiryo UI" panose="020B0604030504040204" pitchFamily="50" charset="-128"/>
              </a:rPr>
              <a:t>名）</a:t>
            </a:r>
          </a:p>
        </p:txBody>
      </p:sp>
      <p:sp>
        <p:nvSpPr>
          <p:cNvPr id="16" name="テキスト ボックス 15">
            <a:extLst>
              <a:ext uri="{FF2B5EF4-FFF2-40B4-BE49-F238E27FC236}">
                <a16:creationId xmlns:a16="http://schemas.microsoft.com/office/drawing/2014/main" id="{E879C71C-70CC-3FBA-1D31-DE5299E3BCC4}"/>
              </a:ext>
            </a:extLst>
          </p:cNvPr>
          <p:cNvSpPr txBox="1"/>
          <p:nvPr/>
        </p:nvSpPr>
        <p:spPr>
          <a:xfrm>
            <a:off x="4445000" y="2844800"/>
            <a:ext cx="3302000" cy="389850"/>
          </a:xfrm>
          <a:prstGeom prst="rect">
            <a:avLst/>
          </a:prstGeom>
          <a:noFill/>
        </p:spPr>
        <p:txBody>
          <a:bodyPr vert="horz" wrap="square" lIns="50800" tIns="25400" rIns="50800" bIns="25400" rtlCol="0">
            <a:spAutoFit/>
          </a:bodyPr>
          <a:lstStyle/>
          <a:p>
            <a:r>
              <a:rPr kumimoji="1" lang="ja-JP" altLang="en-US" sz="1100">
                <a:solidFill>
                  <a:srgbClr val="0F172A"/>
                </a:solidFill>
                <a:latin typeface="Meiryo UI" panose="020B0604030504040204" pitchFamily="50" charset="-128"/>
                <a:ea typeface="Meiryo UI" panose="020B0604030504040204" pitchFamily="50" charset="-128"/>
              </a:rPr>
              <a:t>「ぜひ利用したい」</a:t>
            </a:r>
            <a:r>
              <a:rPr kumimoji="1" lang="en-US" altLang="ja-JP" sz="1100">
                <a:solidFill>
                  <a:srgbClr val="0F172A"/>
                </a:solidFill>
                <a:latin typeface="Meiryo UI" panose="020B0604030504040204" pitchFamily="50" charset="-128"/>
                <a:ea typeface="Meiryo UI" panose="020B0604030504040204" pitchFamily="50" charset="-128"/>
              </a:rPr>
              <a:t>25.4%</a:t>
            </a:r>
            <a:r>
              <a:rPr kumimoji="1" lang="ja-JP" altLang="en-US" sz="1100">
                <a:solidFill>
                  <a:srgbClr val="0F172A"/>
                </a:solidFill>
                <a:latin typeface="Meiryo UI" panose="020B0604030504040204" pitchFamily="50" charset="-128"/>
                <a:ea typeface="Meiryo UI" panose="020B0604030504040204" pitchFamily="50" charset="-128"/>
              </a:rPr>
              <a:t>（</a:t>
            </a:r>
            <a:r>
              <a:rPr kumimoji="1" lang="en-US" altLang="ja-JP" sz="1100">
                <a:solidFill>
                  <a:srgbClr val="0F172A"/>
                </a:solidFill>
                <a:latin typeface="Meiryo UI" panose="020B0604030504040204" pitchFamily="50" charset="-128"/>
                <a:ea typeface="Meiryo UI" panose="020B0604030504040204" pitchFamily="50" charset="-128"/>
              </a:rPr>
              <a:t>60</a:t>
            </a:r>
            <a:r>
              <a:rPr kumimoji="1" lang="ja-JP" altLang="en-US" sz="1100">
                <a:solidFill>
                  <a:srgbClr val="0F172A"/>
                </a:solidFill>
                <a:latin typeface="Meiryo UI" panose="020B0604030504040204" pitchFamily="50" charset="-128"/>
                <a:ea typeface="Meiryo UI" panose="020B0604030504040204" pitchFamily="50" charset="-128"/>
              </a:rPr>
              <a:t>名）
＋「候補として検討」</a:t>
            </a:r>
            <a:r>
              <a:rPr kumimoji="1" lang="en-US" altLang="ja-JP" sz="1100">
                <a:solidFill>
                  <a:srgbClr val="0F172A"/>
                </a:solidFill>
                <a:latin typeface="Meiryo UI" panose="020B0604030504040204" pitchFamily="50" charset="-128"/>
                <a:ea typeface="Meiryo UI" panose="020B0604030504040204" pitchFamily="50" charset="-128"/>
              </a:rPr>
              <a:t>64.8%</a:t>
            </a:r>
            <a:r>
              <a:rPr kumimoji="1" lang="ja-JP" altLang="en-US" sz="1100">
                <a:solidFill>
                  <a:srgbClr val="0F172A"/>
                </a:solidFill>
                <a:latin typeface="Meiryo UI" panose="020B0604030504040204" pitchFamily="50" charset="-128"/>
                <a:ea typeface="Meiryo UI" panose="020B0604030504040204" pitchFamily="50" charset="-128"/>
              </a:rPr>
              <a:t>（</a:t>
            </a:r>
            <a:r>
              <a:rPr kumimoji="1" lang="en-US" altLang="ja-JP" sz="1100">
                <a:solidFill>
                  <a:srgbClr val="0F172A"/>
                </a:solidFill>
                <a:latin typeface="Meiryo UI" panose="020B0604030504040204" pitchFamily="50" charset="-128"/>
                <a:ea typeface="Meiryo UI" panose="020B0604030504040204" pitchFamily="50" charset="-128"/>
              </a:rPr>
              <a:t>153</a:t>
            </a:r>
            <a:r>
              <a:rPr kumimoji="1" lang="ja-JP" altLang="en-US" sz="1100">
                <a:solidFill>
                  <a:srgbClr val="0F172A"/>
                </a:solidFill>
                <a:latin typeface="Meiryo UI" panose="020B0604030504040204" pitchFamily="50" charset="-128"/>
                <a:ea typeface="Meiryo UI" panose="020B0604030504040204" pitchFamily="50" charset="-128"/>
              </a:rPr>
              <a:t>名）</a:t>
            </a:r>
          </a:p>
        </p:txBody>
      </p:sp>
      <p:sp>
        <p:nvSpPr>
          <p:cNvPr id="17" name="四角形: 角を丸くする 16">
            <a:extLst>
              <a:ext uri="{FF2B5EF4-FFF2-40B4-BE49-F238E27FC236}">
                <a16:creationId xmlns:a16="http://schemas.microsoft.com/office/drawing/2014/main" id="{6FB1ACA0-DBEA-21E7-2435-D2AEC5D71525}"/>
              </a:ext>
            </a:extLst>
          </p:cNvPr>
          <p:cNvSpPr/>
          <p:nvPr/>
        </p:nvSpPr>
        <p:spPr>
          <a:xfrm>
            <a:off x="8128000" y="1701800"/>
            <a:ext cx="3657600" cy="1676400"/>
          </a:xfrm>
          <a:prstGeom prst="roundRect">
            <a:avLst>
              <a:gd name="adj" fmla="val 6000"/>
            </a:avLst>
          </a:prstGeom>
          <a:solidFill>
            <a:srgbClr val="FFFFFF"/>
          </a:solidFill>
          <a:ln w="15240">
            <a:solidFill>
              <a:srgbClr val="FDE68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正方形/長方形 17">
            <a:extLst>
              <a:ext uri="{FF2B5EF4-FFF2-40B4-BE49-F238E27FC236}">
                <a16:creationId xmlns:a16="http://schemas.microsoft.com/office/drawing/2014/main" id="{6C454B2D-C8F2-31E3-4073-2B36FB3346DA}"/>
              </a:ext>
            </a:extLst>
          </p:cNvPr>
          <p:cNvSpPr/>
          <p:nvPr/>
        </p:nvSpPr>
        <p:spPr>
          <a:xfrm>
            <a:off x="8128000" y="1701800"/>
            <a:ext cx="3657600" cy="101600"/>
          </a:xfrm>
          <a:prstGeom prst="rect">
            <a:avLst/>
          </a:prstGeom>
          <a:solidFill>
            <a:srgbClr val="D9770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DE4218AC-C312-A02C-D2FD-5E6C5A31CC2B}"/>
              </a:ext>
            </a:extLst>
          </p:cNvPr>
          <p:cNvSpPr txBox="1"/>
          <p:nvPr/>
        </p:nvSpPr>
        <p:spPr>
          <a:xfrm>
            <a:off x="8305800" y="1879600"/>
            <a:ext cx="3302000" cy="243656"/>
          </a:xfrm>
          <a:prstGeom prst="rect">
            <a:avLst/>
          </a:prstGeom>
          <a:noFill/>
        </p:spPr>
        <p:txBody>
          <a:bodyPr vert="horz" wrap="square" lIns="50800" tIns="25400" rIns="50800" bIns="25400" rtlCol="0">
            <a:spAutoFit/>
          </a:bodyPr>
          <a:lstStyle/>
          <a:p>
            <a:r>
              <a:rPr kumimoji="1" lang="zh-TW" altLang="en-US" sz="1250" b="1">
                <a:solidFill>
                  <a:srgbClr val="475569"/>
                </a:solidFill>
                <a:latin typeface="Meiryo UI" panose="020B0604030504040204" pitchFamily="50" charset="-128"/>
                <a:ea typeface="Meiryo UI" panose="020B0604030504040204" pitchFamily="50" charset="-128"/>
              </a:rPr>
              <a:t>③ 新規認知獲得 ＆ 広域集客</a:t>
            </a:r>
            <a:endParaRPr kumimoji="1" lang="ja-JP" altLang="en-US" sz="1250" b="1">
              <a:solidFill>
                <a:srgbClr val="475569"/>
              </a:solidFill>
              <a:latin typeface="Meiryo UI" panose="020B0604030504040204" pitchFamily="50" charset="-128"/>
              <a:ea typeface="Meiryo UI" panose="020B0604030504040204" pitchFamily="50" charset="-128"/>
            </a:endParaRPr>
          </a:p>
        </p:txBody>
      </p:sp>
      <p:sp>
        <p:nvSpPr>
          <p:cNvPr id="20" name="テキスト ボックス 19">
            <a:extLst>
              <a:ext uri="{FF2B5EF4-FFF2-40B4-BE49-F238E27FC236}">
                <a16:creationId xmlns:a16="http://schemas.microsoft.com/office/drawing/2014/main" id="{6A577D16-37F3-5F02-B436-83D0E993467B}"/>
              </a:ext>
            </a:extLst>
          </p:cNvPr>
          <p:cNvSpPr txBox="1"/>
          <p:nvPr/>
        </p:nvSpPr>
        <p:spPr>
          <a:xfrm>
            <a:off x="8305800" y="2209800"/>
            <a:ext cx="3403600" cy="420628"/>
          </a:xfrm>
          <a:prstGeom prst="rect">
            <a:avLst/>
          </a:prstGeom>
          <a:noFill/>
        </p:spPr>
        <p:txBody>
          <a:bodyPr vert="horz" wrap="square" lIns="50800" tIns="25400" rIns="50800" bIns="25400" rtlCol="0">
            <a:spAutoFit/>
          </a:bodyPr>
          <a:lstStyle/>
          <a:p>
            <a:r>
              <a:rPr kumimoji="1" lang="en-US" altLang="ja-JP" sz="2400" b="1">
                <a:solidFill>
                  <a:srgbClr val="D97706"/>
                </a:solidFill>
                <a:latin typeface="Meiryo UI" panose="020B0604030504040204" pitchFamily="50" charset="-128"/>
                <a:ea typeface="Meiryo UI" panose="020B0604030504040204" pitchFamily="50" charset="-128"/>
              </a:rPr>
              <a:t>28.4 %</a:t>
            </a:r>
            <a:r>
              <a:rPr kumimoji="1" lang="ja-JP" altLang="en-US" sz="2400" b="1">
                <a:solidFill>
                  <a:srgbClr val="D97706"/>
                </a:solidFill>
                <a:latin typeface="Meiryo UI" panose="020B0604030504040204" pitchFamily="50" charset="-128"/>
                <a:ea typeface="Meiryo UI" panose="020B0604030504040204" pitchFamily="50" charset="-128"/>
              </a:rPr>
              <a:t>（新規</a:t>
            </a:r>
            <a:r>
              <a:rPr kumimoji="1" lang="en-US" altLang="ja-JP" sz="2400" b="1">
                <a:solidFill>
                  <a:srgbClr val="D97706"/>
                </a:solidFill>
                <a:latin typeface="Meiryo UI" panose="020B0604030504040204" pitchFamily="50" charset="-128"/>
                <a:ea typeface="Meiryo UI" panose="020B0604030504040204" pitchFamily="50" charset="-128"/>
              </a:rPr>
              <a:t>67</a:t>
            </a:r>
            <a:r>
              <a:rPr kumimoji="1" lang="ja-JP" altLang="en-US" sz="2400" b="1">
                <a:solidFill>
                  <a:srgbClr val="D97706"/>
                </a:solidFill>
                <a:latin typeface="Meiryo UI" panose="020B0604030504040204" pitchFamily="50" charset="-128"/>
                <a:ea typeface="Meiryo UI" panose="020B0604030504040204" pitchFamily="50" charset="-128"/>
              </a:rPr>
              <a:t>名）</a:t>
            </a:r>
          </a:p>
        </p:txBody>
      </p:sp>
      <p:sp>
        <p:nvSpPr>
          <p:cNvPr id="21" name="テキスト ボックス 20">
            <a:extLst>
              <a:ext uri="{FF2B5EF4-FFF2-40B4-BE49-F238E27FC236}">
                <a16:creationId xmlns:a16="http://schemas.microsoft.com/office/drawing/2014/main" id="{77763D9A-223D-1A6B-7B1E-42F9A1D340A7}"/>
              </a:ext>
            </a:extLst>
          </p:cNvPr>
          <p:cNvSpPr txBox="1"/>
          <p:nvPr/>
        </p:nvSpPr>
        <p:spPr>
          <a:xfrm>
            <a:off x="8305800" y="2844800"/>
            <a:ext cx="3302000" cy="389850"/>
          </a:xfrm>
          <a:prstGeom prst="rect">
            <a:avLst/>
          </a:prstGeom>
          <a:noFill/>
        </p:spPr>
        <p:txBody>
          <a:bodyPr vert="horz" wrap="square" lIns="50800" tIns="25400" rIns="50800" bIns="25400" rtlCol="0">
            <a:spAutoFit/>
          </a:bodyPr>
          <a:lstStyle/>
          <a:p>
            <a:r>
              <a:rPr kumimoji="1" lang="ja-JP" altLang="en-US" sz="1100">
                <a:solidFill>
                  <a:srgbClr val="0F172A"/>
                </a:solidFill>
                <a:latin typeface="Meiryo UI" panose="020B0604030504040204" pitchFamily="50" charset="-128"/>
                <a:ea typeface="Meiryo UI" panose="020B0604030504040204" pitchFamily="50" charset="-128"/>
              </a:rPr>
              <a:t>「今日初めて当院を知った」が約</a:t>
            </a:r>
            <a:r>
              <a:rPr kumimoji="1" lang="en-US" altLang="ja-JP" sz="1100">
                <a:solidFill>
                  <a:srgbClr val="0F172A"/>
                </a:solidFill>
                <a:latin typeface="Meiryo UI" panose="020B0604030504040204" pitchFamily="50" charset="-128"/>
                <a:ea typeface="Meiryo UI" panose="020B0604030504040204" pitchFamily="50" charset="-128"/>
              </a:rPr>
              <a:t>3</a:t>
            </a:r>
            <a:r>
              <a:rPr kumimoji="1" lang="ja-JP" altLang="en-US" sz="1100">
                <a:solidFill>
                  <a:srgbClr val="0F172A"/>
                </a:solidFill>
                <a:latin typeface="Meiryo UI" panose="020B0604030504040204" pitchFamily="50" charset="-128"/>
                <a:ea typeface="Meiryo UI" panose="020B0604030504040204" pitchFamily="50" charset="-128"/>
              </a:rPr>
              <a:t>割
八千代市内 </a:t>
            </a:r>
            <a:r>
              <a:rPr kumimoji="1" lang="en-US" altLang="ja-JP" sz="1100">
                <a:solidFill>
                  <a:srgbClr val="0F172A"/>
                </a:solidFill>
                <a:latin typeface="Meiryo UI" panose="020B0604030504040204" pitchFamily="50" charset="-128"/>
                <a:ea typeface="Meiryo UI" panose="020B0604030504040204" pitchFamily="50" charset="-128"/>
              </a:rPr>
              <a:t>72.5% </a:t>
            </a:r>
            <a:r>
              <a:rPr kumimoji="1" lang="ja-JP" altLang="en-US" sz="1100">
                <a:solidFill>
                  <a:srgbClr val="0F172A"/>
                </a:solidFill>
                <a:latin typeface="Meiryo UI" panose="020B0604030504040204" pitchFamily="50" charset="-128"/>
                <a:ea typeface="Meiryo UI" panose="020B0604030504040204" pitchFamily="50" charset="-128"/>
              </a:rPr>
              <a:t>／ 市外 </a:t>
            </a:r>
            <a:r>
              <a:rPr kumimoji="1" lang="en-US" altLang="ja-JP" sz="1100">
                <a:solidFill>
                  <a:srgbClr val="0F172A"/>
                </a:solidFill>
                <a:latin typeface="Meiryo UI" panose="020B0604030504040204" pitchFamily="50" charset="-128"/>
                <a:ea typeface="Meiryo UI" panose="020B0604030504040204" pitchFamily="50" charset="-128"/>
              </a:rPr>
              <a:t>26.3%</a:t>
            </a:r>
            <a:r>
              <a:rPr kumimoji="1" lang="ja-JP" altLang="en-US" sz="1100">
                <a:solidFill>
                  <a:srgbClr val="0F172A"/>
                </a:solidFill>
                <a:latin typeface="Meiryo UI" panose="020B0604030504040204" pitchFamily="50" charset="-128"/>
                <a:ea typeface="Meiryo UI" panose="020B0604030504040204" pitchFamily="50" charset="-128"/>
              </a:rPr>
              <a:t>（</a:t>
            </a:r>
            <a:r>
              <a:rPr kumimoji="1" lang="en-US" altLang="ja-JP" sz="1100">
                <a:solidFill>
                  <a:srgbClr val="0F172A"/>
                </a:solidFill>
                <a:latin typeface="Meiryo UI" panose="020B0604030504040204" pitchFamily="50" charset="-128"/>
                <a:ea typeface="Meiryo UI" panose="020B0604030504040204" pitchFamily="50" charset="-128"/>
              </a:rPr>
              <a:t>62</a:t>
            </a:r>
            <a:r>
              <a:rPr kumimoji="1" lang="ja-JP" altLang="en-US" sz="1100">
                <a:solidFill>
                  <a:srgbClr val="0F172A"/>
                </a:solidFill>
                <a:latin typeface="Meiryo UI" panose="020B0604030504040204" pitchFamily="50" charset="-128"/>
                <a:ea typeface="Meiryo UI" panose="020B0604030504040204" pitchFamily="50" charset="-128"/>
              </a:rPr>
              <a:t>名）</a:t>
            </a:r>
          </a:p>
        </p:txBody>
      </p:sp>
      <p:sp>
        <p:nvSpPr>
          <p:cNvPr id="22" name="四角形: 角を丸くする 21">
            <a:extLst>
              <a:ext uri="{FF2B5EF4-FFF2-40B4-BE49-F238E27FC236}">
                <a16:creationId xmlns:a16="http://schemas.microsoft.com/office/drawing/2014/main" id="{4250C05D-6A06-29F1-BBDA-D31CBD2D0D19}"/>
              </a:ext>
            </a:extLst>
          </p:cNvPr>
          <p:cNvSpPr/>
          <p:nvPr/>
        </p:nvSpPr>
        <p:spPr>
          <a:xfrm>
            <a:off x="406400" y="3581400"/>
            <a:ext cx="11379200" cy="2946400"/>
          </a:xfrm>
          <a:prstGeom prst="roundRect">
            <a:avLst>
              <a:gd name="adj" fmla="val 6000"/>
            </a:avLst>
          </a:prstGeom>
          <a:solidFill>
            <a:srgbClr val="FFFFFF"/>
          </a:solidFill>
          <a:ln w="15240">
            <a:solidFill>
              <a:srgbClr val="BFDB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61BCF464-3D66-BB91-5B34-D19E2C0CC99D}"/>
              </a:ext>
            </a:extLst>
          </p:cNvPr>
          <p:cNvSpPr/>
          <p:nvPr/>
        </p:nvSpPr>
        <p:spPr>
          <a:xfrm>
            <a:off x="406400" y="3581400"/>
            <a:ext cx="11379200" cy="457200"/>
          </a:xfrm>
          <a:prstGeom prst="rect">
            <a:avLst/>
          </a:prstGeom>
          <a:solidFill>
            <a:srgbClr val="0F234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D8A4C659-CA63-BBB4-CF41-CD7F43AFAF7E}"/>
              </a:ext>
            </a:extLst>
          </p:cNvPr>
          <p:cNvSpPr txBox="1"/>
          <p:nvPr/>
        </p:nvSpPr>
        <p:spPr>
          <a:xfrm>
            <a:off x="609600" y="3644900"/>
            <a:ext cx="10922000" cy="266740"/>
          </a:xfrm>
          <a:prstGeom prst="rect">
            <a:avLst/>
          </a:prstGeom>
          <a:noFill/>
        </p:spPr>
        <p:txBody>
          <a:bodyPr vert="horz" wrap="square" lIns="50800" tIns="25400" rIns="50800" bIns="25400" rtlCol="0">
            <a:spAutoFit/>
          </a:bodyPr>
          <a:lstStyle/>
          <a:p>
            <a:r>
              <a:rPr kumimoji="1" lang="ja-JP" altLang="en-US" sz="1400" b="1">
                <a:solidFill>
                  <a:srgbClr val="FFFFFF"/>
                </a:solidFill>
                <a:latin typeface="Meiryo UI" panose="020B0604030504040204" pitchFamily="50" charset="-128"/>
                <a:ea typeface="Meiryo UI" panose="020B0604030504040204" pitchFamily="50" charset="-128"/>
              </a:rPr>
              <a:t>📋 出展結果 総括サマリー（簡易報告書）</a:t>
            </a:r>
          </a:p>
        </p:txBody>
      </p:sp>
      <p:sp>
        <p:nvSpPr>
          <p:cNvPr id="25" name="テキスト ボックス 24">
            <a:extLst>
              <a:ext uri="{FF2B5EF4-FFF2-40B4-BE49-F238E27FC236}">
                <a16:creationId xmlns:a16="http://schemas.microsoft.com/office/drawing/2014/main" id="{591BED0C-FC65-A30F-70A3-BFA861CA19E2}"/>
              </a:ext>
            </a:extLst>
          </p:cNvPr>
          <p:cNvSpPr txBox="1"/>
          <p:nvPr/>
        </p:nvSpPr>
        <p:spPr>
          <a:xfrm>
            <a:off x="609600" y="4140200"/>
            <a:ext cx="10972800" cy="1928733"/>
          </a:xfrm>
          <a:prstGeom prst="rect">
            <a:avLst/>
          </a:prstGeom>
          <a:noFill/>
        </p:spPr>
        <p:txBody>
          <a:bodyPr vert="horz" wrap="square" lIns="50800" tIns="25400" rIns="50800" bIns="25400" rtlCol="0">
            <a:spAutoFit/>
          </a:bodyPr>
          <a:lstStyle/>
          <a:p>
            <a:r>
              <a:rPr kumimoji="1" lang="ja-JP" altLang="en-US" sz="1220">
                <a:solidFill>
                  <a:srgbClr val="0F172A"/>
                </a:solidFill>
                <a:latin typeface="Meiryo UI" panose="020B0604030504040204" pitchFamily="50" charset="-128"/>
                <a:ea typeface="Meiryo UI" panose="020B0604030504040204" pitchFamily="50" charset="-128"/>
              </a:rPr>
              <a:t>■ 目的と全体成果：</a:t>
            </a:r>
            <a:r>
              <a:rPr kumimoji="1" lang="en-US" altLang="ja-JP" sz="1220">
                <a:solidFill>
                  <a:srgbClr val="0F172A"/>
                </a:solidFill>
                <a:latin typeface="Meiryo UI" panose="020B0604030504040204" pitchFamily="50" charset="-128"/>
                <a:ea typeface="Meiryo UI" panose="020B0604030504040204" pitchFamily="50" charset="-128"/>
              </a:rPr>
              <a:t>10</a:t>
            </a:r>
            <a:r>
              <a:rPr kumimoji="1" lang="ja-JP" altLang="en-US" sz="1220">
                <a:solidFill>
                  <a:srgbClr val="0F172A"/>
                </a:solidFill>
                <a:latin typeface="Meiryo UI" panose="020B0604030504040204" pitchFamily="50" charset="-128"/>
                <a:ea typeface="Meiryo UI" panose="020B0604030504040204" pitchFamily="50" charset="-128"/>
              </a:rPr>
              <a:t>月</a:t>
            </a:r>
            <a:r>
              <a:rPr kumimoji="1" lang="en-US" altLang="ja-JP" sz="1220">
                <a:solidFill>
                  <a:srgbClr val="0F172A"/>
                </a:solidFill>
                <a:latin typeface="Meiryo UI" panose="020B0604030504040204" pitchFamily="50" charset="-128"/>
                <a:ea typeface="Meiryo UI" panose="020B0604030504040204" pitchFamily="50" charset="-128"/>
              </a:rPr>
              <a:t>17</a:t>
            </a:r>
            <a:r>
              <a:rPr kumimoji="1" lang="ja-JP" altLang="en-US" sz="1220">
                <a:solidFill>
                  <a:srgbClr val="0F172A"/>
                </a:solidFill>
                <a:latin typeface="Meiryo UI" panose="020B0604030504040204" pitchFamily="50" charset="-128"/>
                <a:ea typeface="Meiryo UI" panose="020B0604030504040204" pitchFamily="50" charset="-128"/>
              </a:rPr>
              <a:t>日・</a:t>
            </a:r>
            <a:r>
              <a:rPr kumimoji="1" lang="en-US" altLang="ja-JP" sz="1220">
                <a:solidFill>
                  <a:srgbClr val="0F172A"/>
                </a:solidFill>
                <a:latin typeface="Meiryo UI" panose="020B0604030504040204" pitchFamily="50" charset="-128"/>
                <a:ea typeface="Meiryo UI" panose="020B0604030504040204" pitchFamily="50" charset="-128"/>
              </a:rPr>
              <a:t>18</a:t>
            </a:r>
            <a:r>
              <a:rPr kumimoji="1" lang="ja-JP" altLang="en-US" sz="1220">
                <a:solidFill>
                  <a:srgbClr val="0F172A"/>
                </a:solidFill>
                <a:latin typeface="Meiryo UI" panose="020B0604030504040204" pitchFamily="50" charset="-128"/>
                <a:ea typeface="Meiryo UI" panose="020B0604030504040204" pitchFamily="50" charset="-128"/>
              </a:rPr>
              <a:t>日の</a:t>
            </a:r>
            <a:r>
              <a:rPr kumimoji="1" lang="en-US" altLang="ja-JP" sz="1220">
                <a:solidFill>
                  <a:srgbClr val="0F172A"/>
                </a:solidFill>
                <a:latin typeface="Meiryo UI" panose="020B0604030504040204" pitchFamily="50" charset="-128"/>
                <a:ea typeface="Meiryo UI" panose="020B0604030504040204" pitchFamily="50" charset="-128"/>
              </a:rPr>
              <a:t>2</a:t>
            </a:r>
            <a:r>
              <a:rPr kumimoji="1" lang="ja-JP" altLang="en-US" sz="1220">
                <a:solidFill>
                  <a:srgbClr val="0F172A"/>
                </a:solidFill>
                <a:latin typeface="Meiryo UI" panose="020B0604030504040204" pitchFamily="50" charset="-128"/>
                <a:ea typeface="Meiryo UI" panose="020B0604030504040204" pitchFamily="50" charset="-128"/>
              </a:rPr>
              <a:t>日間、病院認知度向上と地域貢献を目的に産業祭へ初出展した。アンケート有効回答数は </a:t>
            </a:r>
            <a:r>
              <a:rPr kumimoji="1" lang="en-US" altLang="ja-JP" sz="1220">
                <a:solidFill>
                  <a:srgbClr val="0F172A"/>
                </a:solidFill>
                <a:latin typeface="Meiryo UI" panose="020B0604030504040204" pitchFamily="50" charset="-128"/>
                <a:ea typeface="Meiryo UI" panose="020B0604030504040204" pitchFamily="50" charset="-128"/>
              </a:rPr>
              <a:t>236</a:t>
            </a:r>
            <a:r>
              <a:rPr kumimoji="1" lang="ja-JP" altLang="en-US" sz="1220">
                <a:solidFill>
                  <a:srgbClr val="0F172A"/>
                </a:solidFill>
                <a:latin typeface="Meiryo UI" panose="020B0604030504040204" pitchFamily="50" charset="-128"/>
                <a:ea typeface="Meiryo UI" panose="020B0604030504040204" pitchFamily="50" charset="-128"/>
              </a:rPr>
              <a:t>名（</a:t>
            </a:r>
            <a:r>
              <a:rPr kumimoji="1" lang="en-US" altLang="ja-JP" sz="1220">
                <a:solidFill>
                  <a:srgbClr val="0F172A"/>
                </a:solidFill>
                <a:latin typeface="Meiryo UI" panose="020B0604030504040204" pitchFamily="50" charset="-128"/>
                <a:ea typeface="Meiryo UI" panose="020B0604030504040204" pitchFamily="50" charset="-128"/>
              </a:rPr>
              <a:t>1</a:t>
            </a:r>
            <a:r>
              <a:rPr kumimoji="1" lang="ja-JP" altLang="en-US" sz="1220">
                <a:solidFill>
                  <a:srgbClr val="0F172A"/>
                </a:solidFill>
                <a:latin typeface="Meiryo UI" panose="020B0604030504040204" pitchFamily="50" charset="-128"/>
                <a:ea typeface="Meiryo UI" panose="020B0604030504040204" pitchFamily="50" charset="-128"/>
              </a:rPr>
              <a:t>日目</a:t>
            </a:r>
            <a:r>
              <a:rPr kumimoji="1" lang="en-US" altLang="ja-JP" sz="1220">
                <a:solidFill>
                  <a:srgbClr val="0F172A"/>
                </a:solidFill>
                <a:latin typeface="Meiryo UI" panose="020B0604030504040204" pitchFamily="50" charset="-128"/>
                <a:ea typeface="Meiryo UI" panose="020B0604030504040204" pitchFamily="50" charset="-128"/>
              </a:rPr>
              <a:t>106</a:t>
            </a:r>
            <a:r>
              <a:rPr kumimoji="1" lang="ja-JP" altLang="en-US" sz="1220">
                <a:solidFill>
                  <a:srgbClr val="0F172A"/>
                </a:solidFill>
                <a:latin typeface="Meiryo UI" panose="020B0604030504040204" pitchFamily="50" charset="-128"/>
                <a:ea typeface="Meiryo UI" panose="020B0604030504040204" pitchFamily="50" charset="-128"/>
              </a:rPr>
              <a:t>名・</a:t>
            </a:r>
            <a:r>
              <a:rPr kumimoji="1" lang="en-US" altLang="ja-JP" sz="1220">
                <a:solidFill>
                  <a:srgbClr val="0F172A"/>
                </a:solidFill>
                <a:latin typeface="Meiryo UI" panose="020B0604030504040204" pitchFamily="50" charset="-128"/>
                <a:ea typeface="Meiryo UI" panose="020B0604030504040204" pitchFamily="50" charset="-128"/>
              </a:rPr>
              <a:t>2</a:t>
            </a:r>
            <a:r>
              <a:rPr kumimoji="1" lang="ja-JP" altLang="en-US" sz="1220">
                <a:solidFill>
                  <a:srgbClr val="0F172A"/>
                </a:solidFill>
                <a:latin typeface="Meiryo UI" panose="020B0604030504040204" pitchFamily="50" charset="-128"/>
                <a:ea typeface="Meiryo UI" panose="020B0604030504040204" pitchFamily="50" charset="-128"/>
              </a:rPr>
              <a:t>日目</a:t>
            </a:r>
            <a:r>
              <a:rPr kumimoji="1" lang="en-US" altLang="ja-JP" sz="1220">
                <a:solidFill>
                  <a:srgbClr val="0F172A"/>
                </a:solidFill>
                <a:latin typeface="Meiryo UI" panose="020B0604030504040204" pitchFamily="50" charset="-128"/>
                <a:ea typeface="Meiryo UI" panose="020B0604030504040204" pitchFamily="50" charset="-128"/>
              </a:rPr>
              <a:t>130</a:t>
            </a:r>
            <a:r>
              <a:rPr kumimoji="1" lang="ja-JP" altLang="en-US" sz="1220">
                <a:solidFill>
                  <a:srgbClr val="0F172A"/>
                </a:solidFill>
                <a:latin typeface="Meiryo UI" panose="020B0604030504040204" pitchFamily="50" charset="-128"/>
                <a:ea typeface="Meiryo UI" panose="020B0604030504040204" pitchFamily="50" charset="-128"/>
              </a:rPr>
              <a:t>名）に達し、起案目標</a:t>
            </a:r>
            <a:r>
              <a:rPr kumimoji="1" lang="en-US" altLang="ja-JP" sz="1220">
                <a:solidFill>
                  <a:srgbClr val="0F172A"/>
                </a:solidFill>
                <a:latin typeface="Meiryo UI" panose="020B0604030504040204" pitchFamily="50" charset="-128"/>
                <a:ea typeface="Meiryo UI" panose="020B0604030504040204" pitchFamily="50" charset="-128"/>
              </a:rPr>
              <a:t>50</a:t>
            </a:r>
            <a:r>
              <a:rPr kumimoji="1" lang="ja-JP" altLang="en-US" sz="1220">
                <a:solidFill>
                  <a:srgbClr val="0F172A"/>
                </a:solidFill>
                <a:latin typeface="Meiryo UI" panose="020B0604030504040204" pitchFamily="50" charset="-128"/>
                <a:ea typeface="Meiryo UI" panose="020B0604030504040204" pitchFamily="50" charset="-128"/>
              </a:rPr>
              <a:t>名の約</a:t>
            </a:r>
            <a:r>
              <a:rPr kumimoji="1" lang="en-US" altLang="ja-JP" sz="1220">
                <a:solidFill>
                  <a:srgbClr val="0F172A"/>
                </a:solidFill>
                <a:latin typeface="Meiryo UI" panose="020B0604030504040204" pitchFamily="50" charset="-128"/>
                <a:ea typeface="Meiryo UI" panose="020B0604030504040204" pitchFamily="50" charset="-128"/>
              </a:rPr>
              <a:t>4.7</a:t>
            </a:r>
            <a:r>
              <a:rPr kumimoji="1" lang="ja-JP" altLang="en-US" sz="1220">
                <a:solidFill>
                  <a:srgbClr val="0F172A"/>
                </a:solidFill>
                <a:latin typeface="Meiryo UI" panose="020B0604030504040204" pitchFamily="50" charset="-128"/>
                <a:ea typeface="Meiryo UI" panose="020B0604030504040204" pitchFamily="50" charset="-128"/>
              </a:rPr>
              <a:t>倍（達成率</a:t>
            </a:r>
            <a:r>
              <a:rPr kumimoji="1" lang="en-US" altLang="ja-JP" sz="1220">
                <a:solidFill>
                  <a:srgbClr val="0F172A"/>
                </a:solidFill>
                <a:latin typeface="Meiryo UI" panose="020B0604030504040204" pitchFamily="50" charset="-128"/>
                <a:ea typeface="Meiryo UI" panose="020B0604030504040204" pitchFamily="50" charset="-128"/>
              </a:rPr>
              <a:t>472%</a:t>
            </a:r>
            <a:r>
              <a:rPr kumimoji="1" lang="ja-JP" altLang="en-US" sz="1220">
                <a:solidFill>
                  <a:srgbClr val="0F172A"/>
                </a:solidFill>
                <a:latin typeface="Meiryo UI" panose="020B0604030504040204" pitchFamily="50" charset="-128"/>
                <a:ea typeface="Meiryo UI" panose="020B0604030504040204" pitchFamily="50" charset="-128"/>
              </a:rPr>
              <a:t>）と想定を大きく上回る成果を収めた。
■ 来場者属性と反応：来場者は八千代市内</a:t>
            </a:r>
            <a:r>
              <a:rPr kumimoji="1" lang="en-US" altLang="ja-JP" sz="1220">
                <a:solidFill>
                  <a:srgbClr val="0F172A"/>
                </a:solidFill>
                <a:latin typeface="Meiryo UI" panose="020B0604030504040204" pitchFamily="50" charset="-128"/>
                <a:ea typeface="Meiryo UI" panose="020B0604030504040204" pitchFamily="50" charset="-128"/>
              </a:rPr>
              <a:t>72.5%</a:t>
            </a:r>
            <a:r>
              <a:rPr kumimoji="1" lang="ja-JP" altLang="en-US" sz="1220">
                <a:solidFill>
                  <a:srgbClr val="0F172A"/>
                </a:solidFill>
                <a:latin typeface="Meiryo UI" panose="020B0604030504040204" pitchFamily="50" charset="-128"/>
                <a:ea typeface="Meiryo UI" panose="020B0604030504040204" pitchFamily="50" charset="-128"/>
              </a:rPr>
              <a:t>、市外</a:t>
            </a:r>
            <a:r>
              <a:rPr kumimoji="1" lang="en-US" altLang="ja-JP" sz="1220">
                <a:solidFill>
                  <a:srgbClr val="0F172A"/>
                </a:solidFill>
                <a:latin typeface="Meiryo UI" panose="020B0604030504040204" pitchFamily="50" charset="-128"/>
                <a:ea typeface="Meiryo UI" panose="020B0604030504040204" pitchFamily="50" charset="-128"/>
              </a:rPr>
              <a:t>26.3%</a:t>
            </a:r>
            <a:r>
              <a:rPr kumimoji="1" lang="ja-JP" altLang="en-US" sz="1220">
                <a:solidFill>
                  <a:srgbClr val="0F172A"/>
                </a:solidFill>
                <a:latin typeface="Meiryo UI" panose="020B0604030504040204" pitchFamily="50" charset="-128"/>
                <a:ea typeface="Meiryo UI" panose="020B0604030504040204" pitchFamily="50" charset="-128"/>
              </a:rPr>
              <a:t>と広域に及び、</a:t>
            </a:r>
            <a:r>
              <a:rPr kumimoji="1" lang="en-US" altLang="ja-JP" sz="1220">
                <a:solidFill>
                  <a:srgbClr val="0F172A"/>
                </a:solidFill>
                <a:latin typeface="Meiryo UI" panose="020B0604030504040204" pitchFamily="50" charset="-128"/>
                <a:ea typeface="Meiryo UI" panose="020B0604030504040204" pitchFamily="50" charset="-128"/>
              </a:rPr>
              <a:t>1</a:t>
            </a:r>
            <a:r>
              <a:rPr kumimoji="1" lang="ja-JP" altLang="en-US" sz="1220">
                <a:solidFill>
                  <a:srgbClr val="0F172A"/>
                </a:solidFill>
                <a:latin typeface="Meiryo UI" panose="020B0604030504040204" pitchFamily="50" charset="-128"/>
                <a:ea typeface="Meiryo UI" panose="020B0604030504040204" pitchFamily="50" charset="-128"/>
              </a:rPr>
              <a:t>日目は</a:t>
            </a:r>
            <a:r>
              <a:rPr kumimoji="1" lang="en-US" altLang="ja-JP" sz="1220">
                <a:solidFill>
                  <a:srgbClr val="0F172A"/>
                </a:solidFill>
                <a:latin typeface="Meiryo UI" panose="020B0604030504040204" pitchFamily="50" charset="-128"/>
                <a:ea typeface="Meiryo UI" panose="020B0604030504040204" pitchFamily="50" charset="-128"/>
              </a:rPr>
              <a:t>60</a:t>
            </a:r>
            <a:r>
              <a:rPr kumimoji="1" lang="ja-JP" altLang="en-US" sz="1220">
                <a:solidFill>
                  <a:srgbClr val="0F172A"/>
                </a:solidFill>
                <a:latin typeface="Meiryo UI" panose="020B0604030504040204" pitchFamily="50" charset="-128"/>
                <a:ea typeface="Meiryo UI" panose="020B0604030504040204" pitchFamily="50" charset="-128"/>
              </a:rPr>
              <a:t>代以上のシニア層中心（</a:t>
            </a:r>
            <a:r>
              <a:rPr kumimoji="1" lang="en-US" altLang="ja-JP" sz="1220">
                <a:solidFill>
                  <a:srgbClr val="0F172A"/>
                </a:solidFill>
                <a:latin typeface="Meiryo UI" panose="020B0604030504040204" pitchFamily="50" charset="-128"/>
                <a:ea typeface="Meiryo UI" panose="020B0604030504040204" pitchFamily="50" charset="-128"/>
              </a:rPr>
              <a:t>52.8%</a:t>
            </a:r>
            <a:r>
              <a:rPr kumimoji="1" lang="ja-JP" altLang="en-US" sz="1220">
                <a:solidFill>
                  <a:srgbClr val="0F172A"/>
                </a:solidFill>
                <a:latin typeface="Meiryo UI" panose="020B0604030504040204" pitchFamily="50" charset="-128"/>
                <a:ea typeface="Meiryo UI" panose="020B0604030504040204" pitchFamily="50" charset="-128"/>
              </a:rPr>
              <a:t>）、</a:t>
            </a:r>
            <a:r>
              <a:rPr kumimoji="1" lang="en-US" altLang="ja-JP" sz="1220">
                <a:solidFill>
                  <a:srgbClr val="0F172A"/>
                </a:solidFill>
                <a:latin typeface="Meiryo UI" panose="020B0604030504040204" pitchFamily="50" charset="-128"/>
                <a:ea typeface="Meiryo UI" panose="020B0604030504040204" pitchFamily="50" charset="-128"/>
              </a:rPr>
              <a:t>2</a:t>
            </a:r>
            <a:r>
              <a:rPr kumimoji="1" lang="ja-JP" altLang="en-US" sz="1220">
                <a:solidFill>
                  <a:srgbClr val="0F172A"/>
                </a:solidFill>
                <a:latin typeface="Meiryo UI" panose="020B0604030504040204" pitchFamily="50" charset="-128"/>
                <a:ea typeface="Meiryo UI" panose="020B0604030504040204" pitchFamily="50" charset="-128"/>
              </a:rPr>
              <a:t>日目は</a:t>
            </a:r>
            <a:r>
              <a:rPr kumimoji="1" lang="en-US" altLang="ja-JP" sz="1220">
                <a:solidFill>
                  <a:srgbClr val="0F172A"/>
                </a:solidFill>
                <a:latin typeface="Meiryo UI" panose="020B0604030504040204" pitchFamily="50" charset="-128"/>
                <a:ea typeface="Meiryo UI" panose="020B0604030504040204" pitchFamily="50" charset="-128"/>
              </a:rPr>
              <a:t>40</a:t>
            </a:r>
            <a:r>
              <a:rPr kumimoji="1" lang="ja-JP" altLang="en-US" sz="1220">
                <a:solidFill>
                  <a:srgbClr val="0F172A"/>
                </a:solidFill>
                <a:latin typeface="Meiryo UI" panose="020B0604030504040204" pitchFamily="50" charset="-128"/>
                <a:ea typeface="Meiryo UI" panose="020B0604030504040204" pitchFamily="50" charset="-128"/>
              </a:rPr>
              <a:t>代以下の若年・子育て世代が倍増（</a:t>
            </a:r>
            <a:r>
              <a:rPr kumimoji="1" lang="en-US" altLang="ja-JP" sz="1220">
                <a:solidFill>
                  <a:srgbClr val="0F172A"/>
                </a:solidFill>
                <a:latin typeface="Meiryo UI" panose="020B0604030504040204" pitchFamily="50" charset="-128"/>
                <a:ea typeface="Meiryo UI" panose="020B0604030504040204" pitchFamily="50" charset="-128"/>
              </a:rPr>
              <a:t>19.8%→32.3%</a:t>
            </a:r>
            <a:r>
              <a:rPr kumimoji="1" lang="ja-JP" altLang="en-US" sz="1220">
                <a:solidFill>
                  <a:srgbClr val="0F172A"/>
                </a:solidFill>
                <a:latin typeface="Meiryo UI" panose="020B0604030504040204" pitchFamily="50" charset="-128"/>
                <a:ea typeface="Meiryo UI" panose="020B0604030504040204" pitchFamily="50" charset="-128"/>
              </a:rPr>
              <a:t>）した。体験では「血管年齢測定（</a:t>
            </a:r>
            <a:r>
              <a:rPr kumimoji="1" lang="en-US" altLang="ja-JP" sz="1220">
                <a:solidFill>
                  <a:srgbClr val="0F172A"/>
                </a:solidFill>
                <a:latin typeface="Meiryo UI" panose="020B0604030504040204" pitchFamily="50" charset="-128"/>
                <a:ea typeface="Meiryo UI" panose="020B0604030504040204" pitchFamily="50" charset="-128"/>
              </a:rPr>
              <a:t>72.9%</a:t>
            </a:r>
            <a:r>
              <a:rPr kumimoji="1" lang="ja-JP" altLang="en-US" sz="1220">
                <a:solidFill>
                  <a:srgbClr val="0F172A"/>
                </a:solidFill>
                <a:latin typeface="Meiryo UI" panose="020B0604030504040204" pitchFamily="50" charset="-128"/>
                <a:ea typeface="Meiryo UI" panose="020B0604030504040204" pitchFamily="50" charset="-128"/>
              </a:rPr>
              <a:t>）」「筋肉量測定（</a:t>
            </a:r>
            <a:r>
              <a:rPr kumimoji="1" lang="en-US" altLang="ja-JP" sz="1220">
                <a:solidFill>
                  <a:srgbClr val="0F172A"/>
                </a:solidFill>
                <a:latin typeface="Meiryo UI" panose="020B0604030504040204" pitchFamily="50" charset="-128"/>
                <a:ea typeface="Meiryo UI" panose="020B0604030504040204" pitchFamily="50" charset="-128"/>
              </a:rPr>
              <a:t>66.5%</a:t>
            </a:r>
            <a:r>
              <a:rPr kumimoji="1" lang="ja-JP" altLang="en-US" sz="1220">
                <a:solidFill>
                  <a:srgbClr val="0F172A"/>
                </a:solidFill>
                <a:latin typeface="Meiryo UI" panose="020B0604030504040204" pitchFamily="50" charset="-128"/>
                <a:ea typeface="Meiryo UI" panose="020B0604030504040204" pitchFamily="50" charset="-128"/>
              </a:rPr>
              <a:t>）」が特に好評で、「当院を今日初めて知った」新規層が</a:t>
            </a:r>
            <a:r>
              <a:rPr kumimoji="1" lang="en-US" altLang="ja-JP" sz="1220">
                <a:solidFill>
                  <a:srgbClr val="0F172A"/>
                </a:solidFill>
                <a:latin typeface="Meiryo UI" panose="020B0604030504040204" pitchFamily="50" charset="-128"/>
                <a:ea typeface="Meiryo UI" panose="020B0604030504040204" pitchFamily="50" charset="-128"/>
              </a:rPr>
              <a:t>28.4%</a:t>
            </a:r>
            <a:r>
              <a:rPr kumimoji="1" lang="ja-JP" altLang="en-US" sz="1220">
                <a:solidFill>
                  <a:srgbClr val="0F172A"/>
                </a:solidFill>
                <a:latin typeface="Meiryo UI" panose="020B0604030504040204" pitchFamily="50" charset="-128"/>
                <a:ea typeface="Meiryo UI" panose="020B0604030504040204" pitchFamily="50" charset="-128"/>
              </a:rPr>
              <a:t>（</a:t>
            </a:r>
            <a:r>
              <a:rPr kumimoji="1" lang="en-US" altLang="ja-JP" sz="1220">
                <a:solidFill>
                  <a:srgbClr val="0F172A"/>
                </a:solidFill>
                <a:latin typeface="Meiryo UI" panose="020B0604030504040204" pitchFamily="50" charset="-128"/>
                <a:ea typeface="Meiryo UI" panose="020B0604030504040204" pitchFamily="50" charset="-128"/>
              </a:rPr>
              <a:t>67</a:t>
            </a:r>
            <a:r>
              <a:rPr kumimoji="1" lang="ja-JP" altLang="en-US" sz="1220">
                <a:solidFill>
                  <a:srgbClr val="0F172A"/>
                </a:solidFill>
                <a:latin typeface="Meiryo UI" panose="020B0604030504040204" pitchFamily="50" charset="-128"/>
                <a:ea typeface="Meiryo UI" panose="020B0604030504040204" pitchFamily="50" charset="-128"/>
              </a:rPr>
              <a:t>名）、万が一の際に当院を「利用・検討したい」層は </a:t>
            </a:r>
            <a:r>
              <a:rPr kumimoji="1" lang="en-US" altLang="ja-JP" sz="1220">
                <a:solidFill>
                  <a:srgbClr val="0F172A"/>
                </a:solidFill>
                <a:latin typeface="Meiryo UI" panose="020B0604030504040204" pitchFamily="50" charset="-128"/>
                <a:ea typeface="Meiryo UI" panose="020B0604030504040204" pitchFamily="50" charset="-128"/>
              </a:rPr>
              <a:t>90.3%</a:t>
            </a:r>
            <a:r>
              <a:rPr kumimoji="1" lang="ja-JP" altLang="en-US" sz="1220">
                <a:solidFill>
                  <a:srgbClr val="0F172A"/>
                </a:solidFill>
                <a:latin typeface="Meiryo UI" panose="020B0604030504040204" pitchFamily="50" charset="-128"/>
                <a:ea typeface="Meiryo UI" panose="020B0604030504040204" pitchFamily="50" charset="-128"/>
              </a:rPr>
              <a:t>（</a:t>
            </a:r>
            <a:r>
              <a:rPr kumimoji="1" lang="en-US" altLang="ja-JP" sz="1220">
                <a:solidFill>
                  <a:srgbClr val="0F172A"/>
                </a:solidFill>
                <a:latin typeface="Meiryo UI" panose="020B0604030504040204" pitchFamily="50" charset="-128"/>
                <a:ea typeface="Meiryo UI" panose="020B0604030504040204" pitchFamily="50" charset="-128"/>
              </a:rPr>
              <a:t>213</a:t>
            </a:r>
            <a:r>
              <a:rPr kumimoji="1" lang="ja-JP" altLang="en-US" sz="1220">
                <a:solidFill>
                  <a:srgbClr val="0F172A"/>
                </a:solidFill>
                <a:latin typeface="Meiryo UI" panose="020B0604030504040204" pitchFamily="50" charset="-128"/>
                <a:ea typeface="Meiryo UI" panose="020B0604030504040204" pitchFamily="50" charset="-128"/>
              </a:rPr>
              <a:t>名）に上った。また地域の健康課題は「転倒予防（</a:t>
            </a:r>
            <a:r>
              <a:rPr kumimoji="1" lang="en-US" altLang="ja-JP" sz="1220">
                <a:solidFill>
                  <a:srgbClr val="0F172A"/>
                </a:solidFill>
                <a:latin typeface="Meiryo UI" panose="020B0604030504040204" pitchFamily="50" charset="-128"/>
                <a:ea typeface="Meiryo UI" panose="020B0604030504040204" pitchFamily="50" charset="-128"/>
              </a:rPr>
              <a:t>39.4%</a:t>
            </a:r>
            <a:r>
              <a:rPr kumimoji="1" lang="ja-JP" altLang="en-US" sz="1220">
                <a:solidFill>
                  <a:srgbClr val="0F172A"/>
                </a:solidFill>
                <a:latin typeface="Meiryo UI" panose="020B0604030504040204" pitchFamily="50" charset="-128"/>
                <a:ea typeface="Meiryo UI" panose="020B0604030504040204" pitchFamily="50" charset="-128"/>
              </a:rPr>
              <a:t>）」「栄養（</a:t>
            </a:r>
            <a:r>
              <a:rPr kumimoji="1" lang="en-US" altLang="ja-JP" sz="1220">
                <a:solidFill>
                  <a:srgbClr val="0F172A"/>
                </a:solidFill>
                <a:latin typeface="Meiryo UI" panose="020B0604030504040204" pitchFamily="50" charset="-128"/>
                <a:ea typeface="Meiryo UI" panose="020B0604030504040204" pitchFamily="50" charset="-128"/>
              </a:rPr>
              <a:t>33.5%</a:t>
            </a:r>
            <a:r>
              <a:rPr kumimoji="1" lang="ja-JP" altLang="en-US" sz="1220">
                <a:solidFill>
                  <a:srgbClr val="0F172A"/>
                </a:solidFill>
                <a:latin typeface="Meiryo UI" panose="020B0604030504040204" pitchFamily="50" charset="-128"/>
                <a:ea typeface="Meiryo UI" panose="020B0604030504040204" pitchFamily="50" charset="-128"/>
              </a:rPr>
              <a:t>）」「認知機能（</a:t>
            </a:r>
            <a:r>
              <a:rPr kumimoji="1" lang="en-US" altLang="ja-JP" sz="1220">
                <a:solidFill>
                  <a:srgbClr val="0F172A"/>
                </a:solidFill>
                <a:latin typeface="Meiryo UI" panose="020B0604030504040204" pitchFamily="50" charset="-128"/>
                <a:ea typeface="Meiryo UI" panose="020B0604030504040204" pitchFamily="50" charset="-128"/>
              </a:rPr>
              <a:t>33.1%</a:t>
            </a:r>
            <a:r>
              <a:rPr kumimoji="1" lang="ja-JP" altLang="en-US" sz="1220">
                <a:solidFill>
                  <a:srgbClr val="0F172A"/>
                </a:solidFill>
                <a:latin typeface="Meiryo UI" panose="020B0604030504040204" pitchFamily="50" charset="-128"/>
                <a:ea typeface="Meiryo UI" panose="020B0604030504040204" pitchFamily="50" charset="-128"/>
              </a:rPr>
              <a:t>）」「介護・終活（</a:t>
            </a:r>
            <a:r>
              <a:rPr kumimoji="1" lang="en-US" altLang="ja-JP" sz="1220">
                <a:solidFill>
                  <a:srgbClr val="0F172A"/>
                </a:solidFill>
                <a:latin typeface="Meiryo UI" panose="020B0604030504040204" pitchFamily="50" charset="-128"/>
                <a:ea typeface="Meiryo UI" panose="020B0604030504040204" pitchFamily="50" charset="-128"/>
              </a:rPr>
              <a:t>30.1%</a:t>
            </a:r>
            <a:r>
              <a:rPr kumimoji="1" lang="ja-JP" altLang="en-US" sz="1220">
                <a:solidFill>
                  <a:srgbClr val="0F172A"/>
                </a:solidFill>
                <a:latin typeface="Meiryo UI" panose="020B0604030504040204" pitchFamily="50" charset="-128"/>
                <a:ea typeface="Meiryo UI" panose="020B0604030504040204" pitchFamily="50" charset="-128"/>
              </a:rPr>
              <a:t>）」が各</a:t>
            </a:r>
            <a:r>
              <a:rPr kumimoji="1" lang="en-US" altLang="ja-JP" sz="1220">
                <a:solidFill>
                  <a:srgbClr val="0F172A"/>
                </a:solidFill>
                <a:latin typeface="Meiryo UI" panose="020B0604030504040204" pitchFamily="50" charset="-128"/>
                <a:ea typeface="Meiryo UI" panose="020B0604030504040204" pitchFamily="50" charset="-128"/>
              </a:rPr>
              <a:t>3</a:t>
            </a:r>
            <a:r>
              <a:rPr kumimoji="1" lang="ja-JP" altLang="en-US" sz="1220">
                <a:solidFill>
                  <a:srgbClr val="0F172A"/>
                </a:solidFill>
                <a:latin typeface="Meiryo UI" panose="020B0604030504040204" pitchFamily="50" charset="-128"/>
                <a:ea typeface="Meiryo UI" panose="020B0604030504040204" pitchFamily="50" charset="-128"/>
              </a:rPr>
              <a:t>割超と高く、今後の健康教室の有力テーマが明確となった。
■ 来期に向けた課題：一方、</a:t>
            </a:r>
            <a:r>
              <a:rPr kumimoji="1" lang="en-US" altLang="ja-JP" sz="1220">
                <a:solidFill>
                  <a:srgbClr val="0F172A"/>
                </a:solidFill>
                <a:latin typeface="Meiryo UI" panose="020B0604030504040204" pitchFamily="50" charset="-128"/>
                <a:ea typeface="Meiryo UI" panose="020B0604030504040204" pitchFamily="50" charset="-128"/>
              </a:rPr>
              <a:t>3</a:t>
            </a:r>
            <a:r>
              <a:rPr kumimoji="1" lang="ja-JP" altLang="en-US" sz="1220">
                <a:solidFill>
                  <a:srgbClr val="0F172A"/>
                </a:solidFill>
                <a:latin typeface="Meiryo UI" panose="020B0604030504040204" pitchFamily="50" charset="-128"/>
                <a:ea typeface="Meiryo UI" panose="020B0604030504040204" pitchFamily="50" charset="-128"/>
              </a:rPr>
              <a:t>区画では常時混雑し測定制限も生じたため、参加スタッフ全員（</a:t>
            </a:r>
            <a:r>
              <a:rPr kumimoji="1" lang="en-US" altLang="ja-JP" sz="1220">
                <a:solidFill>
                  <a:srgbClr val="0F172A"/>
                </a:solidFill>
                <a:latin typeface="Meiryo UI" panose="020B0604030504040204" pitchFamily="50" charset="-128"/>
                <a:ea typeface="Meiryo UI" panose="020B0604030504040204" pitchFamily="50" charset="-128"/>
              </a:rPr>
              <a:t>100%</a:t>
            </a:r>
            <a:r>
              <a:rPr kumimoji="1" lang="ja-JP" altLang="en-US" sz="1220">
                <a:solidFill>
                  <a:srgbClr val="0F172A"/>
                </a:solidFill>
                <a:latin typeface="Meiryo UI" panose="020B0604030504040204" pitchFamily="50" charset="-128"/>
                <a:ea typeface="Meiryo UI" panose="020B0604030504040204" pitchFamily="50" charset="-128"/>
              </a:rPr>
              <a:t>）が「参加して良かった」と回答しつつも</a:t>
            </a:r>
            <a:r>
              <a:rPr kumimoji="1" lang="en-US" altLang="ja-JP" sz="1220">
                <a:solidFill>
                  <a:srgbClr val="0F172A"/>
                </a:solidFill>
                <a:latin typeface="Meiryo UI" panose="020B0604030504040204" pitchFamily="50" charset="-128"/>
                <a:ea typeface="Meiryo UI" panose="020B0604030504040204" pitchFamily="50" charset="-128"/>
              </a:rPr>
              <a:t>75%</a:t>
            </a:r>
            <a:r>
              <a:rPr kumimoji="1" lang="ja-JP" altLang="en-US" sz="1220">
                <a:solidFill>
                  <a:srgbClr val="0F172A"/>
                </a:solidFill>
                <a:latin typeface="Meiryo UI" panose="020B0604030504040204" pitchFamily="50" charset="-128"/>
                <a:ea typeface="Meiryo UI" panose="020B0604030504040204" pitchFamily="50" charset="-128"/>
              </a:rPr>
              <a:t>が人員・スペース不足を挙げた。来期は「</a:t>
            </a:r>
            <a:r>
              <a:rPr kumimoji="1" lang="en-US" altLang="ja-JP" sz="1220">
                <a:solidFill>
                  <a:srgbClr val="0F172A"/>
                </a:solidFill>
                <a:latin typeface="Meiryo UI" panose="020B0604030504040204" pitchFamily="50" charset="-128"/>
                <a:ea typeface="Meiryo UI" panose="020B0604030504040204" pitchFamily="50" charset="-128"/>
              </a:rPr>
              <a:t>4</a:t>
            </a:r>
            <a:r>
              <a:rPr kumimoji="1" lang="ja-JP" altLang="en-US" sz="1220">
                <a:solidFill>
                  <a:srgbClr val="0F172A"/>
                </a:solidFill>
                <a:latin typeface="Meiryo UI" panose="020B0604030504040204" pitchFamily="50" charset="-128"/>
                <a:ea typeface="Meiryo UI" panose="020B0604030504040204" pitchFamily="50" charset="-128"/>
              </a:rPr>
              <a:t>区画への拡大」と「誘導・測定スタッフの増員（休憩確保）」を課題としたい。</a:t>
            </a:r>
          </a:p>
        </p:txBody>
      </p:sp>
    </p:spTree>
    <p:extLst>
      <p:ext uri="{BB962C8B-B14F-4D97-AF65-F5344CB8AC3E}">
        <p14:creationId xmlns:p14="http://schemas.microsoft.com/office/powerpoint/2010/main" val="40418802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CADDFCB-7356-7233-66C5-B728250D8A21}"/>
              </a:ext>
            </a:extLst>
          </p:cNvPr>
          <p:cNvSpPr/>
          <p:nvPr/>
        </p:nvSpPr>
        <p:spPr>
          <a:xfrm>
            <a:off x="0" y="0"/>
            <a:ext cx="12192000" cy="6858000"/>
          </a:xfrm>
          <a:prstGeom prst="rect">
            <a:avLst/>
          </a:prstGeom>
          <a:solidFill>
            <a:srgbClr val="F8FA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0258BCB0-6757-8C9D-F794-46572FDE6466}"/>
              </a:ext>
            </a:extLst>
          </p:cNvPr>
          <p:cNvSpPr/>
          <p:nvPr/>
        </p:nvSpPr>
        <p:spPr>
          <a:xfrm>
            <a:off x="0" y="0"/>
            <a:ext cx="12192000" cy="711200"/>
          </a:xfrm>
          <a:prstGeom prst="rect">
            <a:avLst/>
          </a:prstGeom>
          <a:solidFill>
            <a:srgbClr val="0F234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6A1C34F5-B5F4-0206-3D7A-E1AFA0C8B654}"/>
              </a:ext>
            </a:extLst>
          </p:cNvPr>
          <p:cNvSpPr/>
          <p:nvPr/>
        </p:nvSpPr>
        <p:spPr>
          <a:xfrm>
            <a:off x="304800" y="152400"/>
            <a:ext cx="1397000" cy="406400"/>
          </a:xfrm>
          <a:prstGeom prst="roundRect">
            <a:avLst>
              <a:gd name="adj" fmla="val 6000"/>
            </a:avLst>
          </a:prstGeom>
          <a:solidFill>
            <a:srgbClr val="0D9488"/>
          </a:solidFill>
          <a:ln w="1524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80861B86-83A1-6367-6F03-B411BD4E4BC6}"/>
              </a:ext>
            </a:extLst>
          </p:cNvPr>
          <p:cNvSpPr txBox="1"/>
          <p:nvPr/>
        </p:nvSpPr>
        <p:spPr>
          <a:xfrm>
            <a:off x="304800" y="190500"/>
            <a:ext cx="1397000" cy="235962"/>
          </a:xfrm>
          <a:prstGeom prst="rect">
            <a:avLst/>
          </a:prstGeom>
          <a:noFill/>
        </p:spPr>
        <p:txBody>
          <a:bodyPr vert="horz" wrap="square" lIns="50800" tIns="25400" rIns="50800" bIns="25400" rtlCol="0">
            <a:spAutoFit/>
          </a:bodyPr>
          <a:lstStyle/>
          <a:p>
            <a:pPr algn="ctr"/>
            <a:r>
              <a:rPr kumimoji="1" lang="zh-CN" altLang="en-US" sz="1200" b="1">
                <a:solidFill>
                  <a:srgbClr val="FFFFFF"/>
                </a:solidFill>
                <a:latin typeface="Meiryo UI" panose="020B0604030504040204" pitchFamily="50" charset="-128"/>
                <a:ea typeface="Meiryo UI" panose="020B0604030504040204" pitchFamily="50" charset="-128"/>
              </a:rPr>
              <a:t>基本属性分析</a:t>
            </a:r>
            <a:endParaRPr kumimoji="1" lang="ja-JP" altLang="en-US" sz="1200" b="1">
              <a:solidFill>
                <a:srgbClr val="FFFFFF"/>
              </a:solidFill>
              <a:latin typeface="Meiryo UI" panose="020B0604030504040204" pitchFamily="50" charset="-128"/>
              <a:ea typeface="Meiryo UI" panose="020B0604030504040204" pitchFamily="50" charset="-128"/>
            </a:endParaRPr>
          </a:p>
        </p:txBody>
      </p:sp>
      <p:sp>
        <p:nvSpPr>
          <p:cNvPr id="6" name="テキスト ボックス 5">
            <a:extLst>
              <a:ext uri="{FF2B5EF4-FFF2-40B4-BE49-F238E27FC236}">
                <a16:creationId xmlns:a16="http://schemas.microsoft.com/office/drawing/2014/main" id="{7CF5C647-0BAB-5B7A-EF1F-1B6A0793DBA3}"/>
              </a:ext>
            </a:extLst>
          </p:cNvPr>
          <p:cNvSpPr txBox="1"/>
          <p:nvPr/>
        </p:nvSpPr>
        <p:spPr>
          <a:xfrm>
            <a:off x="1854200" y="139700"/>
            <a:ext cx="8636000" cy="359073"/>
          </a:xfrm>
          <a:prstGeom prst="rect">
            <a:avLst/>
          </a:prstGeom>
          <a:noFill/>
        </p:spPr>
        <p:txBody>
          <a:bodyPr vert="horz" wrap="square" lIns="50800" tIns="25400" rIns="50800" bIns="25400" rtlCol="0">
            <a:spAutoFit/>
          </a:bodyPr>
          <a:lstStyle/>
          <a:p>
            <a:r>
              <a:rPr kumimoji="1" lang="ja-JP" altLang="en-US" sz="2000" b="1">
                <a:solidFill>
                  <a:srgbClr val="FFFFFF"/>
                </a:solidFill>
                <a:latin typeface="Meiryo UI" panose="020B0604030504040204" pitchFamily="50" charset="-128"/>
                <a:ea typeface="Meiryo UI" panose="020B0604030504040204" pitchFamily="50" charset="-128"/>
              </a:rPr>
              <a:t>来場者の年齢層（</a:t>
            </a:r>
            <a:r>
              <a:rPr kumimoji="1" lang="en-US" altLang="ja-JP" sz="2000" b="1">
                <a:solidFill>
                  <a:srgbClr val="FFFFFF"/>
                </a:solidFill>
                <a:latin typeface="Meiryo UI" panose="020B0604030504040204" pitchFamily="50" charset="-128"/>
                <a:ea typeface="Meiryo UI" panose="020B0604030504040204" pitchFamily="50" charset="-128"/>
              </a:rPr>
              <a:t>1</a:t>
            </a:r>
            <a:r>
              <a:rPr kumimoji="1" lang="ja-JP" altLang="en-US" sz="2000" b="1">
                <a:solidFill>
                  <a:srgbClr val="FFFFFF"/>
                </a:solidFill>
                <a:latin typeface="Meiryo UI" panose="020B0604030504040204" pitchFamily="50" charset="-128"/>
                <a:ea typeface="Meiryo UI" panose="020B0604030504040204" pitchFamily="50" charset="-128"/>
              </a:rPr>
              <a:t>日目 </a:t>
            </a:r>
            <a:r>
              <a:rPr kumimoji="1" lang="en-US" altLang="ja-JP" sz="2000" b="1">
                <a:solidFill>
                  <a:srgbClr val="FFFFFF"/>
                </a:solidFill>
                <a:latin typeface="Meiryo UI" panose="020B0604030504040204" pitchFamily="50" charset="-128"/>
                <a:ea typeface="Meiryo UI" panose="020B0604030504040204" pitchFamily="50" charset="-128"/>
              </a:rPr>
              <a:t>vs 2</a:t>
            </a:r>
            <a:r>
              <a:rPr kumimoji="1" lang="ja-JP" altLang="en-US" sz="2000" b="1">
                <a:solidFill>
                  <a:srgbClr val="FFFFFF"/>
                </a:solidFill>
                <a:latin typeface="Meiryo UI" panose="020B0604030504040204" pitchFamily="50" charset="-128"/>
                <a:ea typeface="Meiryo UI" panose="020B0604030504040204" pitchFamily="50" charset="-128"/>
              </a:rPr>
              <a:t>日目）・お住まい・性別</a:t>
            </a:r>
          </a:p>
        </p:txBody>
      </p:sp>
      <p:sp>
        <p:nvSpPr>
          <p:cNvPr id="7" name="テキスト ボックス 6">
            <a:extLst>
              <a:ext uri="{FF2B5EF4-FFF2-40B4-BE49-F238E27FC236}">
                <a16:creationId xmlns:a16="http://schemas.microsoft.com/office/drawing/2014/main" id="{0571A064-B033-0D48-1434-C6B7937295F1}"/>
              </a:ext>
            </a:extLst>
          </p:cNvPr>
          <p:cNvSpPr txBox="1"/>
          <p:nvPr/>
        </p:nvSpPr>
        <p:spPr>
          <a:xfrm>
            <a:off x="10541000" y="203200"/>
            <a:ext cx="1346200" cy="235962"/>
          </a:xfrm>
          <a:prstGeom prst="rect">
            <a:avLst/>
          </a:prstGeom>
          <a:noFill/>
        </p:spPr>
        <p:txBody>
          <a:bodyPr vert="horz" wrap="square" lIns="50800" tIns="25400" rIns="50800" bIns="25400" rtlCol="0">
            <a:spAutoFit/>
          </a:bodyPr>
          <a:lstStyle/>
          <a:p>
            <a:pPr algn="r"/>
            <a:r>
              <a:rPr kumimoji="1" lang="en-US" altLang="ja-JP" sz="1200" b="1">
                <a:solidFill>
                  <a:srgbClr val="CBD5E1"/>
                </a:solidFill>
                <a:latin typeface="Meiryo UI" panose="020B0604030504040204" pitchFamily="50" charset="-128"/>
                <a:ea typeface="Meiryo UI" panose="020B0604030504040204" pitchFamily="50" charset="-128"/>
              </a:rPr>
              <a:t>P. 2 / 5</a:t>
            </a:r>
            <a:endParaRPr kumimoji="1" lang="ja-JP" altLang="en-US" sz="1200" b="1">
              <a:solidFill>
                <a:srgbClr val="CBD5E1"/>
              </a:solidFill>
              <a:latin typeface="Meiryo UI" panose="020B0604030504040204" pitchFamily="50" charset="-128"/>
              <a:ea typeface="Meiryo UI" panose="020B0604030504040204" pitchFamily="50" charset="-128"/>
            </a:endParaRPr>
          </a:p>
        </p:txBody>
      </p:sp>
      <p:sp>
        <p:nvSpPr>
          <p:cNvPr id="8" name="四角形: 角を丸くする 7">
            <a:extLst>
              <a:ext uri="{FF2B5EF4-FFF2-40B4-BE49-F238E27FC236}">
                <a16:creationId xmlns:a16="http://schemas.microsoft.com/office/drawing/2014/main" id="{EC52EDC2-EF12-222D-470D-D049375100A7}"/>
              </a:ext>
            </a:extLst>
          </p:cNvPr>
          <p:cNvSpPr/>
          <p:nvPr/>
        </p:nvSpPr>
        <p:spPr>
          <a:xfrm>
            <a:off x="304800" y="863600"/>
            <a:ext cx="11582400" cy="584200"/>
          </a:xfrm>
          <a:prstGeom prst="roundRect">
            <a:avLst>
              <a:gd name="adj" fmla="val 6000"/>
            </a:avLst>
          </a:prstGeom>
          <a:solidFill>
            <a:srgbClr val="EFF6FF"/>
          </a:solidFill>
          <a:ln w="15240">
            <a:solidFill>
              <a:srgbClr val="BFDB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535D7386-11D5-057F-7DAD-B7927EB288D2}"/>
              </a:ext>
            </a:extLst>
          </p:cNvPr>
          <p:cNvSpPr/>
          <p:nvPr/>
        </p:nvSpPr>
        <p:spPr>
          <a:xfrm>
            <a:off x="304800" y="863600"/>
            <a:ext cx="101600" cy="584200"/>
          </a:xfrm>
          <a:prstGeom prst="rect">
            <a:avLst/>
          </a:prstGeom>
          <a:solidFill>
            <a:srgbClr val="1E40A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96876710-E64E-5437-ABF1-9C3D53B81F94}"/>
              </a:ext>
            </a:extLst>
          </p:cNvPr>
          <p:cNvSpPr txBox="1"/>
          <p:nvPr/>
        </p:nvSpPr>
        <p:spPr>
          <a:xfrm>
            <a:off x="533400" y="939800"/>
            <a:ext cx="11226800" cy="259045"/>
          </a:xfrm>
          <a:prstGeom prst="rect">
            <a:avLst/>
          </a:prstGeom>
          <a:noFill/>
        </p:spPr>
        <p:txBody>
          <a:bodyPr vert="horz" wrap="square" lIns="50800" tIns="25400" rIns="50800" bIns="25400" rtlCol="0">
            <a:spAutoFit/>
          </a:bodyPr>
          <a:lstStyle/>
          <a:p>
            <a:r>
              <a:rPr kumimoji="1" lang="en-US" altLang="ja-JP" sz="1350" b="1">
                <a:solidFill>
                  <a:srgbClr val="0F2342"/>
                </a:solidFill>
                <a:latin typeface="Meiryo UI" panose="020B0604030504040204" pitchFamily="50" charset="-128"/>
                <a:ea typeface="Meiryo UI" panose="020B0604030504040204" pitchFamily="50" charset="-128"/>
              </a:rPr>
              <a:t>1</a:t>
            </a:r>
            <a:r>
              <a:rPr kumimoji="1" lang="ja-JP" altLang="en-US" sz="1350" b="1">
                <a:solidFill>
                  <a:srgbClr val="0F2342"/>
                </a:solidFill>
                <a:latin typeface="Meiryo UI" panose="020B0604030504040204" pitchFamily="50" charset="-128"/>
                <a:ea typeface="Meiryo UI" panose="020B0604030504040204" pitchFamily="50" charset="-128"/>
              </a:rPr>
              <a:t>日目は</a:t>
            </a:r>
            <a:r>
              <a:rPr kumimoji="1" lang="en-US" altLang="ja-JP" sz="1350" b="1">
                <a:solidFill>
                  <a:srgbClr val="0F2342"/>
                </a:solidFill>
                <a:latin typeface="Meiryo UI" panose="020B0604030504040204" pitchFamily="50" charset="-128"/>
                <a:ea typeface="Meiryo UI" panose="020B0604030504040204" pitchFamily="50" charset="-128"/>
              </a:rPr>
              <a:t>60</a:t>
            </a:r>
            <a:r>
              <a:rPr kumimoji="1" lang="ja-JP" altLang="en-US" sz="1350" b="1">
                <a:solidFill>
                  <a:srgbClr val="0F2342"/>
                </a:solidFill>
                <a:latin typeface="Meiryo UI" panose="020B0604030504040204" pitchFamily="50" charset="-128"/>
                <a:ea typeface="Meiryo UI" panose="020B0604030504040204" pitchFamily="50" charset="-128"/>
              </a:rPr>
              <a:t>代以上のシニア層中心（</a:t>
            </a:r>
            <a:r>
              <a:rPr kumimoji="1" lang="en-US" altLang="ja-JP" sz="1350" b="1">
                <a:solidFill>
                  <a:srgbClr val="0F2342"/>
                </a:solidFill>
                <a:latin typeface="Meiryo UI" panose="020B0604030504040204" pitchFamily="50" charset="-128"/>
                <a:ea typeface="Meiryo UI" panose="020B0604030504040204" pitchFamily="50" charset="-128"/>
              </a:rPr>
              <a:t>52.8%</a:t>
            </a:r>
            <a:r>
              <a:rPr kumimoji="1" lang="ja-JP" altLang="en-US" sz="1350" b="1">
                <a:solidFill>
                  <a:srgbClr val="0F2342"/>
                </a:solidFill>
                <a:latin typeface="Meiryo UI" panose="020B0604030504040204" pitchFamily="50" charset="-128"/>
                <a:ea typeface="Meiryo UI" panose="020B0604030504040204" pitchFamily="50" charset="-128"/>
              </a:rPr>
              <a:t>）、</a:t>
            </a:r>
            <a:r>
              <a:rPr kumimoji="1" lang="en-US" altLang="ja-JP" sz="1350" b="1">
                <a:solidFill>
                  <a:srgbClr val="0F2342"/>
                </a:solidFill>
                <a:latin typeface="Meiryo UI" panose="020B0604030504040204" pitchFamily="50" charset="-128"/>
                <a:ea typeface="Meiryo UI" panose="020B0604030504040204" pitchFamily="50" charset="-128"/>
              </a:rPr>
              <a:t>2</a:t>
            </a:r>
            <a:r>
              <a:rPr kumimoji="1" lang="ja-JP" altLang="en-US" sz="1350" b="1">
                <a:solidFill>
                  <a:srgbClr val="0F2342"/>
                </a:solidFill>
                <a:latin typeface="Meiryo UI" panose="020B0604030504040204" pitchFamily="50" charset="-128"/>
                <a:ea typeface="Meiryo UI" panose="020B0604030504040204" pitchFamily="50" charset="-128"/>
              </a:rPr>
              <a:t>日目は</a:t>
            </a:r>
            <a:r>
              <a:rPr kumimoji="1" lang="en-US" altLang="ja-JP" sz="1350" b="1">
                <a:solidFill>
                  <a:srgbClr val="0F2342"/>
                </a:solidFill>
                <a:latin typeface="Meiryo UI" panose="020B0604030504040204" pitchFamily="50" charset="-128"/>
                <a:ea typeface="Meiryo UI" panose="020B0604030504040204" pitchFamily="50" charset="-128"/>
              </a:rPr>
              <a:t>40</a:t>
            </a:r>
            <a:r>
              <a:rPr kumimoji="1" lang="ja-JP" altLang="en-US" sz="1350" b="1">
                <a:solidFill>
                  <a:srgbClr val="0F2342"/>
                </a:solidFill>
                <a:latin typeface="Meiryo UI" panose="020B0604030504040204" pitchFamily="50" charset="-128"/>
                <a:ea typeface="Meiryo UI" panose="020B0604030504040204" pitchFamily="50" charset="-128"/>
              </a:rPr>
              <a:t>代以下の若年・子育て世代が倍増（</a:t>
            </a:r>
            <a:r>
              <a:rPr kumimoji="1" lang="en-US" altLang="ja-JP" sz="1350" b="1">
                <a:solidFill>
                  <a:srgbClr val="0F2342"/>
                </a:solidFill>
                <a:latin typeface="Meiryo UI" panose="020B0604030504040204" pitchFamily="50" charset="-128"/>
                <a:ea typeface="Meiryo UI" panose="020B0604030504040204" pitchFamily="50" charset="-128"/>
              </a:rPr>
              <a:t>19.8%→32.3%</a:t>
            </a:r>
            <a:r>
              <a:rPr kumimoji="1" lang="ja-JP" altLang="en-US" sz="1350" b="1">
                <a:solidFill>
                  <a:srgbClr val="0F2342"/>
                </a:solidFill>
                <a:latin typeface="Meiryo UI" panose="020B0604030504040204" pitchFamily="50" charset="-128"/>
                <a:ea typeface="Meiryo UI" panose="020B0604030504040204" pitchFamily="50" charset="-128"/>
              </a:rPr>
              <a:t>）！</a:t>
            </a:r>
          </a:p>
        </p:txBody>
      </p:sp>
      <p:sp>
        <p:nvSpPr>
          <p:cNvPr id="11" name="四角形: 角を丸くする 10">
            <a:extLst>
              <a:ext uri="{FF2B5EF4-FFF2-40B4-BE49-F238E27FC236}">
                <a16:creationId xmlns:a16="http://schemas.microsoft.com/office/drawing/2014/main" id="{293B1317-AB1E-4BF2-8656-C6D3DBD41CD1}"/>
              </a:ext>
            </a:extLst>
          </p:cNvPr>
          <p:cNvSpPr/>
          <p:nvPr/>
        </p:nvSpPr>
        <p:spPr>
          <a:xfrm>
            <a:off x="304800" y="1600200"/>
            <a:ext cx="6731000" cy="4953000"/>
          </a:xfrm>
          <a:prstGeom prst="roundRect">
            <a:avLst>
              <a:gd name="adj" fmla="val 6000"/>
            </a:avLst>
          </a:prstGeom>
          <a:solidFill>
            <a:srgbClr val="FFFFFF"/>
          </a:solidFill>
          <a:ln w="15240">
            <a:solidFill>
              <a:srgbClr val="BFDB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649E23B2-C44F-A51A-B8CF-8E4A1BC075DC}"/>
              </a:ext>
            </a:extLst>
          </p:cNvPr>
          <p:cNvSpPr txBox="1"/>
          <p:nvPr/>
        </p:nvSpPr>
        <p:spPr>
          <a:xfrm>
            <a:off x="508000" y="1727200"/>
            <a:ext cx="6350000" cy="282129"/>
          </a:xfrm>
          <a:prstGeom prst="rect">
            <a:avLst/>
          </a:prstGeom>
          <a:noFill/>
        </p:spPr>
        <p:txBody>
          <a:bodyPr vert="horz" wrap="square" lIns="50800" tIns="25400" rIns="50800" bIns="25400" rtlCol="0">
            <a:spAutoFit/>
          </a:bodyPr>
          <a:lstStyle/>
          <a:p>
            <a:r>
              <a:rPr kumimoji="1" lang="ja-JP" altLang="en-US" sz="1500" b="1">
                <a:solidFill>
                  <a:srgbClr val="0F2342"/>
                </a:solidFill>
                <a:latin typeface="Meiryo UI" panose="020B0604030504040204" pitchFamily="50" charset="-128"/>
                <a:ea typeface="Meiryo UI" panose="020B0604030504040204" pitchFamily="50" charset="-128"/>
              </a:rPr>
              <a:t>📊 年代別の来場変化（</a:t>
            </a:r>
            <a:r>
              <a:rPr kumimoji="1" lang="en-US" altLang="ja-JP" sz="1500" b="1">
                <a:solidFill>
                  <a:srgbClr val="0F2342"/>
                </a:solidFill>
                <a:latin typeface="Meiryo UI" panose="020B0604030504040204" pitchFamily="50" charset="-128"/>
                <a:ea typeface="Meiryo UI" panose="020B0604030504040204" pitchFamily="50" charset="-128"/>
              </a:rPr>
              <a:t>1</a:t>
            </a:r>
            <a:r>
              <a:rPr kumimoji="1" lang="ja-JP" altLang="en-US" sz="1500" b="1">
                <a:solidFill>
                  <a:srgbClr val="0F2342"/>
                </a:solidFill>
                <a:latin typeface="Meiryo UI" panose="020B0604030504040204" pitchFamily="50" charset="-128"/>
                <a:ea typeface="Meiryo UI" panose="020B0604030504040204" pitchFamily="50" charset="-128"/>
              </a:rPr>
              <a:t>日目：</a:t>
            </a:r>
            <a:r>
              <a:rPr kumimoji="1" lang="en-US" altLang="ja-JP" sz="1500" b="1">
                <a:solidFill>
                  <a:srgbClr val="0F2342"/>
                </a:solidFill>
                <a:latin typeface="Meiryo UI" panose="020B0604030504040204" pitchFamily="50" charset="-128"/>
                <a:ea typeface="Meiryo UI" panose="020B0604030504040204" pitchFamily="50" charset="-128"/>
              </a:rPr>
              <a:t>106</a:t>
            </a:r>
            <a:r>
              <a:rPr kumimoji="1" lang="ja-JP" altLang="en-US" sz="1500" b="1">
                <a:solidFill>
                  <a:srgbClr val="0F2342"/>
                </a:solidFill>
                <a:latin typeface="Meiryo UI" panose="020B0604030504040204" pitchFamily="50" charset="-128"/>
                <a:ea typeface="Meiryo UI" panose="020B0604030504040204" pitchFamily="50" charset="-128"/>
              </a:rPr>
              <a:t>名 </a:t>
            </a:r>
            <a:r>
              <a:rPr kumimoji="1" lang="en-US" altLang="ja-JP" sz="1500" b="1">
                <a:solidFill>
                  <a:srgbClr val="0F2342"/>
                </a:solidFill>
                <a:latin typeface="Meiryo UI" panose="020B0604030504040204" pitchFamily="50" charset="-128"/>
                <a:ea typeface="Meiryo UI" panose="020B0604030504040204" pitchFamily="50" charset="-128"/>
              </a:rPr>
              <a:t>vs 2</a:t>
            </a:r>
            <a:r>
              <a:rPr kumimoji="1" lang="ja-JP" altLang="en-US" sz="1500" b="1">
                <a:solidFill>
                  <a:srgbClr val="0F2342"/>
                </a:solidFill>
                <a:latin typeface="Meiryo UI" panose="020B0604030504040204" pitchFamily="50" charset="-128"/>
                <a:ea typeface="Meiryo UI" panose="020B0604030504040204" pitchFamily="50" charset="-128"/>
              </a:rPr>
              <a:t>日目：</a:t>
            </a:r>
            <a:r>
              <a:rPr kumimoji="1" lang="en-US" altLang="ja-JP" sz="1500" b="1">
                <a:solidFill>
                  <a:srgbClr val="0F2342"/>
                </a:solidFill>
                <a:latin typeface="Meiryo UI" panose="020B0604030504040204" pitchFamily="50" charset="-128"/>
                <a:ea typeface="Meiryo UI" panose="020B0604030504040204" pitchFamily="50" charset="-128"/>
              </a:rPr>
              <a:t>130</a:t>
            </a:r>
            <a:r>
              <a:rPr kumimoji="1" lang="ja-JP" altLang="en-US" sz="1500" b="1">
                <a:solidFill>
                  <a:srgbClr val="0F2342"/>
                </a:solidFill>
                <a:latin typeface="Meiryo UI" panose="020B0604030504040204" pitchFamily="50" charset="-128"/>
                <a:ea typeface="Meiryo UI" panose="020B0604030504040204" pitchFamily="50" charset="-128"/>
              </a:rPr>
              <a:t>名）</a:t>
            </a:r>
          </a:p>
        </p:txBody>
      </p:sp>
      <p:sp>
        <p:nvSpPr>
          <p:cNvPr id="13" name="テキスト ボックス 12">
            <a:extLst>
              <a:ext uri="{FF2B5EF4-FFF2-40B4-BE49-F238E27FC236}">
                <a16:creationId xmlns:a16="http://schemas.microsoft.com/office/drawing/2014/main" id="{9FE7BA2D-1015-89A5-05BC-75D14D817CFC}"/>
              </a:ext>
            </a:extLst>
          </p:cNvPr>
          <p:cNvSpPr txBox="1"/>
          <p:nvPr/>
        </p:nvSpPr>
        <p:spPr>
          <a:xfrm>
            <a:off x="508000" y="2082800"/>
            <a:ext cx="6350000" cy="220573"/>
          </a:xfrm>
          <a:prstGeom prst="rect">
            <a:avLst/>
          </a:prstGeom>
          <a:noFill/>
        </p:spPr>
        <p:txBody>
          <a:bodyPr vert="horz" wrap="square" lIns="50800" tIns="25400" rIns="50800" bIns="25400" rtlCol="0">
            <a:spAutoFit/>
          </a:bodyPr>
          <a:lstStyle/>
          <a:p>
            <a:r>
              <a:rPr kumimoji="1" lang="en-US" altLang="ja-JP" sz="1100">
                <a:solidFill>
                  <a:srgbClr val="475569"/>
                </a:solidFill>
                <a:latin typeface="Meiryo UI" panose="020B0604030504040204" pitchFamily="50" charset="-128"/>
                <a:ea typeface="Meiryo UI" panose="020B0604030504040204" pitchFamily="50" charset="-128"/>
              </a:rPr>
              <a:t>※2</a:t>
            </a:r>
            <a:r>
              <a:rPr kumimoji="1" lang="ja-JP" altLang="en-US" sz="1100">
                <a:solidFill>
                  <a:srgbClr val="475569"/>
                </a:solidFill>
                <a:latin typeface="Meiryo UI" panose="020B0604030504040204" pitchFamily="50" charset="-128"/>
                <a:ea typeface="Meiryo UI" panose="020B0604030504040204" pitchFamily="50" charset="-128"/>
              </a:rPr>
              <a:t>日目は</a:t>
            </a:r>
            <a:r>
              <a:rPr kumimoji="1" lang="en-US" altLang="ja-JP" sz="1100">
                <a:solidFill>
                  <a:srgbClr val="475569"/>
                </a:solidFill>
                <a:latin typeface="Meiryo UI" panose="020B0604030504040204" pitchFamily="50" charset="-128"/>
                <a:ea typeface="Meiryo UI" panose="020B0604030504040204" pitchFamily="50" charset="-128"/>
              </a:rPr>
              <a:t>40</a:t>
            </a:r>
            <a:r>
              <a:rPr kumimoji="1" lang="ja-JP" altLang="en-US" sz="1100">
                <a:solidFill>
                  <a:srgbClr val="475569"/>
                </a:solidFill>
                <a:latin typeface="Meiryo UI" panose="020B0604030504040204" pitchFamily="50" charset="-128"/>
                <a:ea typeface="Meiryo UI" panose="020B0604030504040204" pitchFamily="50" charset="-128"/>
              </a:rPr>
              <a:t>歳代が </a:t>
            </a:r>
            <a:r>
              <a:rPr kumimoji="1" lang="en-US" altLang="ja-JP" sz="1100">
                <a:solidFill>
                  <a:srgbClr val="475569"/>
                </a:solidFill>
                <a:latin typeface="Meiryo UI" panose="020B0604030504040204" pitchFamily="50" charset="-128"/>
                <a:ea typeface="Meiryo UI" panose="020B0604030504040204" pitchFamily="50" charset="-128"/>
              </a:rPr>
              <a:t>8.5% → 18.5%</a:t>
            </a:r>
            <a:r>
              <a:rPr kumimoji="1" lang="ja-JP" altLang="en-US" sz="1100">
                <a:solidFill>
                  <a:srgbClr val="475569"/>
                </a:solidFill>
                <a:latin typeface="Meiryo UI" panose="020B0604030504040204" pitchFamily="50" charset="-128"/>
                <a:ea typeface="Meiryo UI" panose="020B0604030504040204" pitchFamily="50" charset="-128"/>
              </a:rPr>
              <a:t>（</a:t>
            </a:r>
            <a:r>
              <a:rPr kumimoji="1" lang="en-US" altLang="ja-JP" sz="1100">
                <a:solidFill>
                  <a:srgbClr val="475569"/>
                </a:solidFill>
                <a:latin typeface="Meiryo UI" panose="020B0604030504040204" pitchFamily="50" charset="-128"/>
                <a:ea typeface="Meiryo UI" panose="020B0604030504040204" pitchFamily="50" charset="-128"/>
              </a:rPr>
              <a:t>9</a:t>
            </a:r>
            <a:r>
              <a:rPr kumimoji="1" lang="ja-JP" altLang="en-US" sz="1100">
                <a:solidFill>
                  <a:srgbClr val="475569"/>
                </a:solidFill>
                <a:latin typeface="Meiryo UI" panose="020B0604030504040204" pitchFamily="50" charset="-128"/>
                <a:ea typeface="Meiryo UI" panose="020B0604030504040204" pitchFamily="50" charset="-128"/>
              </a:rPr>
              <a:t>名→</a:t>
            </a:r>
            <a:r>
              <a:rPr kumimoji="1" lang="en-US" altLang="ja-JP" sz="1100">
                <a:solidFill>
                  <a:srgbClr val="475569"/>
                </a:solidFill>
                <a:latin typeface="Meiryo UI" panose="020B0604030504040204" pitchFamily="50" charset="-128"/>
                <a:ea typeface="Meiryo UI" panose="020B0604030504040204" pitchFamily="50" charset="-128"/>
              </a:rPr>
              <a:t>24</a:t>
            </a:r>
            <a:r>
              <a:rPr kumimoji="1" lang="ja-JP" altLang="en-US" sz="1100">
                <a:solidFill>
                  <a:srgbClr val="475569"/>
                </a:solidFill>
                <a:latin typeface="Meiryo UI" panose="020B0604030504040204" pitchFamily="50" charset="-128"/>
                <a:ea typeface="Meiryo UI" panose="020B0604030504040204" pitchFamily="50" charset="-128"/>
              </a:rPr>
              <a:t>名）と</a:t>
            </a:r>
            <a:r>
              <a:rPr kumimoji="1" lang="en-US" altLang="ja-JP" sz="1100">
                <a:solidFill>
                  <a:srgbClr val="475569"/>
                </a:solidFill>
                <a:latin typeface="Meiryo UI" panose="020B0604030504040204" pitchFamily="50" charset="-128"/>
                <a:ea typeface="Meiryo UI" panose="020B0604030504040204" pitchFamily="50" charset="-128"/>
              </a:rPr>
              <a:t>2.7</a:t>
            </a:r>
            <a:r>
              <a:rPr kumimoji="1" lang="ja-JP" altLang="en-US" sz="1100">
                <a:solidFill>
                  <a:srgbClr val="475569"/>
                </a:solidFill>
                <a:latin typeface="Meiryo UI" panose="020B0604030504040204" pitchFamily="50" charset="-128"/>
                <a:ea typeface="Meiryo UI" panose="020B0604030504040204" pitchFamily="50" charset="-128"/>
              </a:rPr>
              <a:t>倍に急増し、家族連れが多数来場</a:t>
            </a:r>
          </a:p>
        </p:txBody>
      </p:sp>
      <p:graphicFrame>
        <p:nvGraphicFramePr>
          <p:cNvPr id="14" name="表 13">
            <a:extLst>
              <a:ext uri="{FF2B5EF4-FFF2-40B4-BE49-F238E27FC236}">
                <a16:creationId xmlns:a16="http://schemas.microsoft.com/office/drawing/2014/main" id="{E27D0A08-CEC0-95F5-42DD-32356F0C3E20}"/>
              </a:ext>
            </a:extLst>
          </p:cNvPr>
          <p:cNvGraphicFramePr>
            <a:graphicFrameLocks noGrp="1"/>
          </p:cNvGraphicFramePr>
          <p:nvPr>
            <p:extLst>
              <p:ext uri="{D42A27DB-BD31-4B8C-83A1-F6EECF244321}">
                <p14:modId xmlns:p14="http://schemas.microsoft.com/office/powerpoint/2010/main" val="2797819640"/>
              </p:ext>
            </p:extLst>
          </p:nvPr>
        </p:nvGraphicFramePr>
        <p:xfrm>
          <a:off x="508000" y="2438400"/>
          <a:ext cx="6324600" cy="2921000"/>
        </p:xfrm>
        <a:graphic>
          <a:graphicData uri="http://schemas.openxmlformats.org/drawingml/2006/table">
            <a:tbl>
              <a:tblPr firstRow="1" bandRow="1">
                <a:tableStyleId>{5C22544A-7EE6-4342-B048-85BDC9FD1C3A}</a:tableStyleId>
              </a:tblPr>
              <a:tblGrid>
                <a:gridCol w="1581150">
                  <a:extLst>
                    <a:ext uri="{9D8B030D-6E8A-4147-A177-3AD203B41FA5}">
                      <a16:colId xmlns:a16="http://schemas.microsoft.com/office/drawing/2014/main" val="596245833"/>
                    </a:ext>
                  </a:extLst>
                </a:gridCol>
                <a:gridCol w="1581150">
                  <a:extLst>
                    <a:ext uri="{9D8B030D-6E8A-4147-A177-3AD203B41FA5}">
                      <a16:colId xmlns:a16="http://schemas.microsoft.com/office/drawing/2014/main" val="3785510188"/>
                    </a:ext>
                  </a:extLst>
                </a:gridCol>
                <a:gridCol w="1581150">
                  <a:extLst>
                    <a:ext uri="{9D8B030D-6E8A-4147-A177-3AD203B41FA5}">
                      <a16:colId xmlns:a16="http://schemas.microsoft.com/office/drawing/2014/main" val="1476897141"/>
                    </a:ext>
                  </a:extLst>
                </a:gridCol>
                <a:gridCol w="1581150">
                  <a:extLst>
                    <a:ext uri="{9D8B030D-6E8A-4147-A177-3AD203B41FA5}">
                      <a16:colId xmlns:a16="http://schemas.microsoft.com/office/drawing/2014/main" val="514672337"/>
                    </a:ext>
                  </a:extLst>
                </a:gridCol>
              </a:tblGrid>
              <a:tr h="417286">
                <a:tc>
                  <a:txBody>
                    <a:bodyPr/>
                    <a:lstStyle/>
                    <a:p>
                      <a:r>
                        <a:rPr kumimoji="1" lang="ja-JP" altLang="en-US" sz="1150" b="1">
                          <a:solidFill>
                            <a:srgbClr val="FFFFFF"/>
                          </a:solidFill>
                          <a:ea typeface="Meiryo UI" panose="020B0604030504040204" pitchFamily="50" charset="-128"/>
                        </a:rPr>
                        <a:t>年代区分</a:t>
                      </a:r>
                    </a:p>
                  </a:txBody>
                  <a:tcPr>
                    <a:solidFill>
                      <a:srgbClr val="0F2342"/>
                    </a:solidFill>
                  </a:tcPr>
                </a:tc>
                <a:tc>
                  <a:txBody>
                    <a:bodyPr/>
                    <a:lstStyle/>
                    <a:p>
                      <a:r>
                        <a:rPr kumimoji="1" lang="ja-JP" altLang="en-US" sz="1150" b="1">
                          <a:solidFill>
                            <a:srgbClr val="FFFFFF"/>
                          </a:solidFill>
                          <a:ea typeface="Meiryo UI" panose="020B0604030504040204" pitchFamily="50" charset="-128"/>
                        </a:rPr>
                        <a:t>全体 </a:t>
                      </a:r>
                      <a:r>
                        <a:rPr kumimoji="1" lang="en-US" altLang="ja-JP" sz="1150" b="1">
                          <a:solidFill>
                            <a:srgbClr val="FFFFFF"/>
                          </a:solidFill>
                          <a:ea typeface="Meiryo UI" panose="020B0604030504040204" pitchFamily="50" charset="-128"/>
                        </a:rPr>
                        <a:t>(236</a:t>
                      </a:r>
                      <a:r>
                        <a:rPr kumimoji="1" lang="ja-JP" altLang="en-US" sz="1150" b="1">
                          <a:solidFill>
                            <a:srgbClr val="FFFFFF"/>
                          </a:solidFill>
                          <a:ea typeface="Meiryo UI" panose="020B0604030504040204" pitchFamily="50" charset="-128"/>
                        </a:rPr>
                        <a:t>名</a:t>
                      </a:r>
                      <a:r>
                        <a:rPr kumimoji="1" lang="en-US" altLang="ja-JP" sz="1150" b="1">
                          <a:solidFill>
                            <a:srgbClr val="FFFFFF"/>
                          </a:solidFill>
                          <a:ea typeface="Meiryo UI" panose="020B0604030504040204" pitchFamily="50" charset="-128"/>
                        </a:rPr>
                        <a:t>)</a:t>
                      </a:r>
                      <a:endParaRPr kumimoji="1" lang="ja-JP" altLang="en-US" sz="1150" b="1">
                        <a:solidFill>
                          <a:srgbClr val="FFFFFF"/>
                        </a:solidFill>
                        <a:ea typeface="Meiryo UI" panose="020B0604030504040204" pitchFamily="50" charset="-128"/>
                      </a:endParaRPr>
                    </a:p>
                  </a:txBody>
                  <a:tcPr>
                    <a:solidFill>
                      <a:srgbClr val="0F2342"/>
                    </a:solidFill>
                  </a:tcPr>
                </a:tc>
                <a:tc>
                  <a:txBody>
                    <a:bodyPr/>
                    <a:lstStyle/>
                    <a:p>
                      <a:r>
                        <a:rPr kumimoji="1" lang="en-US" altLang="ja-JP" sz="1150" b="1">
                          <a:solidFill>
                            <a:srgbClr val="FFFFFF"/>
                          </a:solidFill>
                          <a:ea typeface="Meiryo UI" panose="020B0604030504040204" pitchFamily="50" charset="-128"/>
                        </a:rPr>
                        <a:t>1</a:t>
                      </a:r>
                      <a:r>
                        <a:rPr kumimoji="1" lang="ja-JP" altLang="en-US" sz="1150" b="1">
                          <a:solidFill>
                            <a:srgbClr val="FFFFFF"/>
                          </a:solidFill>
                          <a:ea typeface="Meiryo UI" panose="020B0604030504040204" pitchFamily="50" charset="-128"/>
                        </a:rPr>
                        <a:t>日目 </a:t>
                      </a:r>
                      <a:r>
                        <a:rPr kumimoji="1" lang="en-US" altLang="ja-JP" sz="1150" b="1">
                          <a:solidFill>
                            <a:srgbClr val="FFFFFF"/>
                          </a:solidFill>
                          <a:ea typeface="Meiryo UI" panose="020B0604030504040204" pitchFamily="50" charset="-128"/>
                        </a:rPr>
                        <a:t>(106</a:t>
                      </a:r>
                      <a:r>
                        <a:rPr kumimoji="1" lang="ja-JP" altLang="en-US" sz="1150" b="1">
                          <a:solidFill>
                            <a:srgbClr val="FFFFFF"/>
                          </a:solidFill>
                          <a:ea typeface="Meiryo UI" panose="020B0604030504040204" pitchFamily="50" charset="-128"/>
                        </a:rPr>
                        <a:t>名</a:t>
                      </a:r>
                      <a:r>
                        <a:rPr kumimoji="1" lang="en-US" altLang="ja-JP" sz="1150" b="1">
                          <a:solidFill>
                            <a:srgbClr val="FFFFFF"/>
                          </a:solidFill>
                          <a:ea typeface="Meiryo UI" panose="020B0604030504040204" pitchFamily="50" charset="-128"/>
                        </a:rPr>
                        <a:t>)</a:t>
                      </a:r>
                      <a:endParaRPr kumimoji="1" lang="ja-JP" altLang="en-US" sz="1150" b="1">
                        <a:solidFill>
                          <a:srgbClr val="FFFFFF"/>
                        </a:solidFill>
                        <a:ea typeface="Meiryo UI" panose="020B0604030504040204" pitchFamily="50" charset="-128"/>
                      </a:endParaRPr>
                    </a:p>
                  </a:txBody>
                  <a:tcPr>
                    <a:solidFill>
                      <a:srgbClr val="0F2342"/>
                    </a:solidFill>
                  </a:tcPr>
                </a:tc>
                <a:tc>
                  <a:txBody>
                    <a:bodyPr/>
                    <a:lstStyle/>
                    <a:p>
                      <a:r>
                        <a:rPr kumimoji="1" lang="en-US" altLang="ja-JP" sz="1150" b="1">
                          <a:solidFill>
                            <a:srgbClr val="FFFFFF"/>
                          </a:solidFill>
                          <a:ea typeface="Meiryo UI" panose="020B0604030504040204" pitchFamily="50" charset="-128"/>
                        </a:rPr>
                        <a:t>2</a:t>
                      </a:r>
                      <a:r>
                        <a:rPr kumimoji="1" lang="ja-JP" altLang="en-US" sz="1150" b="1">
                          <a:solidFill>
                            <a:srgbClr val="FFFFFF"/>
                          </a:solidFill>
                          <a:ea typeface="Meiryo UI" panose="020B0604030504040204" pitchFamily="50" charset="-128"/>
                        </a:rPr>
                        <a:t>日目 </a:t>
                      </a:r>
                      <a:r>
                        <a:rPr kumimoji="1" lang="en-US" altLang="ja-JP" sz="1150" b="1">
                          <a:solidFill>
                            <a:srgbClr val="FFFFFF"/>
                          </a:solidFill>
                          <a:ea typeface="Meiryo UI" panose="020B0604030504040204" pitchFamily="50" charset="-128"/>
                        </a:rPr>
                        <a:t>(130</a:t>
                      </a:r>
                      <a:r>
                        <a:rPr kumimoji="1" lang="ja-JP" altLang="en-US" sz="1150" b="1">
                          <a:solidFill>
                            <a:srgbClr val="FFFFFF"/>
                          </a:solidFill>
                          <a:ea typeface="Meiryo UI" panose="020B0604030504040204" pitchFamily="50" charset="-128"/>
                        </a:rPr>
                        <a:t>名</a:t>
                      </a:r>
                      <a:r>
                        <a:rPr kumimoji="1" lang="en-US" altLang="ja-JP" sz="1150" b="1">
                          <a:solidFill>
                            <a:srgbClr val="FFFFFF"/>
                          </a:solidFill>
                          <a:ea typeface="Meiryo UI" panose="020B0604030504040204" pitchFamily="50" charset="-128"/>
                        </a:rPr>
                        <a:t>)</a:t>
                      </a:r>
                      <a:endParaRPr kumimoji="1" lang="ja-JP" altLang="en-US" sz="1150" b="1">
                        <a:solidFill>
                          <a:srgbClr val="FFFFFF"/>
                        </a:solidFill>
                        <a:ea typeface="Meiryo UI" panose="020B0604030504040204" pitchFamily="50" charset="-128"/>
                      </a:endParaRPr>
                    </a:p>
                  </a:txBody>
                  <a:tcPr>
                    <a:solidFill>
                      <a:srgbClr val="0F2342"/>
                    </a:solidFill>
                  </a:tcPr>
                </a:tc>
                <a:extLst>
                  <a:ext uri="{0D108BD9-81ED-4DB2-BD59-A6C34878D82A}">
                    <a16:rowId xmlns:a16="http://schemas.microsoft.com/office/drawing/2014/main" val="4011756272"/>
                  </a:ext>
                </a:extLst>
              </a:tr>
              <a:tr h="417286">
                <a:tc>
                  <a:txBody>
                    <a:bodyPr/>
                    <a:lstStyle/>
                    <a:p>
                      <a:r>
                        <a:rPr kumimoji="1" lang="en-US" altLang="zh-TW" sz="1100" b="0">
                          <a:solidFill>
                            <a:srgbClr val="0F172A"/>
                          </a:solidFill>
                          <a:ea typeface="Meiryo UI" panose="020B0604030504040204" pitchFamily="50" charset="-128"/>
                        </a:rPr>
                        <a:t>10〜30</a:t>
                      </a:r>
                      <a:r>
                        <a:rPr kumimoji="1" lang="zh-TW" altLang="en-US" sz="1100" b="0">
                          <a:solidFill>
                            <a:srgbClr val="0F172A"/>
                          </a:solidFill>
                          <a:ea typeface="Meiryo UI" panose="020B0604030504040204" pitchFamily="50" charset="-128"/>
                        </a:rPr>
                        <a:t>歳代（若年層）</a:t>
                      </a:r>
                      <a:endParaRPr kumimoji="1" lang="ja-JP" altLang="en-US" sz="1100" b="0">
                        <a:solidFill>
                          <a:srgbClr val="0F172A"/>
                        </a:solidFill>
                        <a:ea typeface="Meiryo UI" panose="020B0604030504040204" pitchFamily="50" charset="-128"/>
                      </a:endParaRPr>
                    </a:p>
                  </a:txBody>
                  <a:tcPr>
                    <a:solidFill>
                      <a:srgbClr val="FFFFFF"/>
                    </a:solidFill>
                  </a:tcPr>
                </a:tc>
                <a:tc>
                  <a:txBody>
                    <a:bodyPr/>
                    <a:lstStyle/>
                    <a:p>
                      <a:r>
                        <a:rPr kumimoji="1" lang="en-US" altLang="ja-JP" sz="1100" b="0">
                          <a:solidFill>
                            <a:srgbClr val="0F172A"/>
                          </a:solidFill>
                          <a:ea typeface="Meiryo UI" panose="020B0604030504040204" pitchFamily="50" charset="-128"/>
                        </a:rPr>
                        <a:t>30</a:t>
                      </a:r>
                      <a:r>
                        <a:rPr kumimoji="1" lang="ja-JP" altLang="en-US" sz="1100" b="0">
                          <a:solidFill>
                            <a:srgbClr val="0F172A"/>
                          </a:solidFill>
                          <a:ea typeface="Meiryo UI" panose="020B0604030504040204" pitchFamily="50" charset="-128"/>
                        </a:rPr>
                        <a:t>名 </a:t>
                      </a:r>
                      <a:r>
                        <a:rPr kumimoji="1" lang="en-US" altLang="ja-JP" sz="1100" b="0">
                          <a:solidFill>
                            <a:srgbClr val="0F172A"/>
                          </a:solidFill>
                          <a:ea typeface="Meiryo UI" panose="020B0604030504040204" pitchFamily="50" charset="-128"/>
                        </a:rPr>
                        <a:t>(12.7%)</a:t>
                      </a:r>
                      <a:endParaRPr kumimoji="1" lang="ja-JP" altLang="en-US" sz="1100" b="0">
                        <a:solidFill>
                          <a:srgbClr val="0F172A"/>
                        </a:solidFill>
                        <a:ea typeface="Meiryo UI" panose="020B0604030504040204" pitchFamily="50" charset="-128"/>
                      </a:endParaRPr>
                    </a:p>
                  </a:txBody>
                  <a:tcPr>
                    <a:solidFill>
                      <a:srgbClr val="FFFFFF"/>
                    </a:solidFill>
                  </a:tcPr>
                </a:tc>
                <a:tc>
                  <a:txBody>
                    <a:bodyPr/>
                    <a:lstStyle/>
                    <a:p>
                      <a:r>
                        <a:rPr kumimoji="1" lang="en-US" altLang="ja-JP" sz="1100" b="0">
                          <a:solidFill>
                            <a:srgbClr val="0F172A"/>
                          </a:solidFill>
                          <a:ea typeface="Meiryo UI" panose="020B0604030504040204" pitchFamily="50" charset="-128"/>
                        </a:rPr>
                        <a:t>12</a:t>
                      </a:r>
                      <a:r>
                        <a:rPr kumimoji="1" lang="ja-JP" altLang="en-US" sz="1100" b="0">
                          <a:solidFill>
                            <a:srgbClr val="0F172A"/>
                          </a:solidFill>
                          <a:ea typeface="Meiryo UI" panose="020B0604030504040204" pitchFamily="50" charset="-128"/>
                        </a:rPr>
                        <a:t>名 </a:t>
                      </a:r>
                      <a:r>
                        <a:rPr kumimoji="1" lang="en-US" altLang="ja-JP" sz="1100" b="0">
                          <a:solidFill>
                            <a:srgbClr val="0F172A"/>
                          </a:solidFill>
                          <a:ea typeface="Meiryo UI" panose="020B0604030504040204" pitchFamily="50" charset="-128"/>
                        </a:rPr>
                        <a:t>(11.3%)</a:t>
                      </a:r>
                      <a:endParaRPr kumimoji="1" lang="ja-JP" altLang="en-US" sz="1100" b="0">
                        <a:solidFill>
                          <a:srgbClr val="0F172A"/>
                        </a:solidFill>
                        <a:ea typeface="Meiryo UI" panose="020B0604030504040204" pitchFamily="50" charset="-128"/>
                      </a:endParaRPr>
                    </a:p>
                  </a:txBody>
                  <a:tcPr>
                    <a:solidFill>
                      <a:srgbClr val="FFFFFF"/>
                    </a:solidFill>
                  </a:tcPr>
                </a:tc>
                <a:tc>
                  <a:txBody>
                    <a:bodyPr/>
                    <a:lstStyle/>
                    <a:p>
                      <a:r>
                        <a:rPr kumimoji="1" lang="en-US" altLang="ja-JP" sz="1100" b="0">
                          <a:solidFill>
                            <a:srgbClr val="0F172A"/>
                          </a:solidFill>
                          <a:ea typeface="Meiryo UI" panose="020B0604030504040204" pitchFamily="50" charset="-128"/>
                        </a:rPr>
                        <a:t>18</a:t>
                      </a:r>
                      <a:r>
                        <a:rPr kumimoji="1" lang="ja-JP" altLang="en-US" sz="1100" b="0">
                          <a:solidFill>
                            <a:srgbClr val="0F172A"/>
                          </a:solidFill>
                          <a:ea typeface="Meiryo UI" panose="020B0604030504040204" pitchFamily="50" charset="-128"/>
                        </a:rPr>
                        <a:t>名 </a:t>
                      </a:r>
                      <a:r>
                        <a:rPr kumimoji="1" lang="en-US" altLang="ja-JP" sz="1100" b="0">
                          <a:solidFill>
                            <a:srgbClr val="0F172A"/>
                          </a:solidFill>
                          <a:ea typeface="Meiryo UI" panose="020B0604030504040204" pitchFamily="50" charset="-128"/>
                        </a:rPr>
                        <a:t>(13.8%) ▲</a:t>
                      </a:r>
                      <a:endParaRPr kumimoji="1" lang="ja-JP" altLang="en-US" sz="1100" b="0">
                        <a:solidFill>
                          <a:srgbClr val="0F172A"/>
                        </a:solidFill>
                        <a:ea typeface="Meiryo UI" panose="020B0604030504040204" pitchFamily="50" charset="-128"/>
                      </a:endParaRPr>
                    </a:p>
                  </a:txBody>
                  <a:tcPr>
                    <a:solidFill>
                      <a:srgbClr val="FFFFFF"/>
                    </a:solidFill>
                  </a:tcPr>
                </a:tc>
                <a:extLst>
                  <a:ext uri="{0D108BD9-81ED-4DB2-BD59-A6C34878D82A}">
                    <a16:rowId xmlns:a16="http://schemas.microsoft.com/office/drawing/2014/main" val="3261707169"/>
                  </a:ext>
                </a:extLst>
              </a:tr>
              <a:tr h="417286">
                <a:tc>
                  <a:txBody>
                    <a:bodyPr/>
                    <a:lstStyle/>
                    <a:p>
                      <a:r>
                        <a:rPr kumimoji="1" lang="en-US" altLang="ja-JP" sz="1100" b="1">
                          <a:solidFill>
                            <a:srgbClr val="0F172A"/>
                          </a:solidFill>
                          <a:ea typeface="Meiryo UI" panose="020B0604030504040204" pitchFamily="50" charset="-128"/>
                        </a:rPr>
                        <a:t>40</a:t>
                      </a:r>
                      <a:r>
                        <a:rPr kumimoji="1" lang="ja-JP" altLang="en-US" sz="1100" b="1">
                          <a:solidFill>
                            <a:srgbClr val="0F172A"/>
                          </a:solidFill>
                          <a:ea typeface="Meiryo UI" panose="020B0604030504040204" pitchFamily="50" charset="-128"/>
                        </a:rPr>
                        <a:t>歳代（子育て世代）</a:t>
                      </a:r>
                    </a:p>
                  </a:txBody>
                  <a:tcPr>
                    <a:solidFill>
                      <a:srgbClr val="FFFBEB"/>
                    </a:solidFill>
                  </a:tcPr>
                </a:tc>
                <a:tc>
                  <a:txBody>
                    <a:bodyPr/>
                    <a:lstStyle/>
                    <a:p>
                      <a:r>
                        <a:rPr kumimoji="1" lang="en-US" altLang="ja-JP" sz="1100" b="1">
                          <a:solidFill>
                            <a:srgbClr val="0F172A"/>
                          </a:solidFill>
                          <a:ea typeface="Meiryo UI" panose="020B0604030504040204" pitchFamily="50" charset="-128"/>
                        </a:rPr>
                        <a:t>33</a:t>
                      </a:r>
                      <a:r>
                        <a:rPr kumimoji="1" lang="ja-JP" altLang="en-US" sz="1100" b="1">
                          <a:solidFill>
                            <a:srgbClr val="0F172A"/>
                          </a:solidFill>
                          <a:ea typeface="Meiryo UI" panose="020B0604030504040204" pitchFamily="50" charset="-128"/>
                        </a:rPr>
                        <a:t>名 </a:t>
                      </a:r>
                      <a:r>
                        <a:rPr kumimoji="1" lang="en-US" altLang="ja-JP" sz="1100" b="1">
                          <a:solidFill>
                            <a:srgbClr val="0F172A"/>
                          </a:solidFill>
                          <a:ea typeface="Meiryo UI" panose="020B0604030504040204" pitchFamily="50" charset="-128"/>
                        </a:rPr>
                        <a:t>(14.0%)</a:t>
                      </a:r>
                      <a:endParaRPr kumimoji="1" lang="ja-JP" altLang="en-US" sz="1100" b="1">
                        <a:solidFill>
                          <a:srgbClr val="0F172A"/>
                        </a:solidFill>
                        <a:ea typeface="Meiryo UI" panose="020B0604030504040204" pitchFamily="50" charset="-128"/>
                      </a:endParaRPr>
                    </a:p>
                  </a:txBody>
                  <a:tcPr>
                    <a:solidFill>
                      <a:srgbClr val="FFFBEB"/>
                    </a:solidFill>
                  </a:tcPr>
                </a:tc>
                <a:tc>
                  <a:txBody>
                    <a:bodyPr/>
                    <a:lstStyle/>
                    <a:p>
                      <a:r>
                        <a:rPr kumimoji="1" lang="en-US" altLang="ja-JP" sz="1100" b="1">
                          <a:solidFill>
                            <a:srgbClr val="0F172A"/>
                          </a:solidFill>
                          <a:ea typeface="Meiryo UI" panose="020B0604030504040204" pitchFamily="50" charset="-128"/>
                        </a:rPr>
                        <a:t>9</a:t>
                      </a:r>
                      <a:r>
                        <a:rPr kumimoji="1" lang="ja-JP" altLang="en-US" sz="1100" b="1">
                          <a:solidFill>
                            <a:srgbClr val="0F172A"/>
                          </a:solidFill>
                          <a:ea typeface="Meiryo UI" panose="020B0604030504040204" pitchFamily="50" charset="-128"/>
                        </a:rPr>
                        <a:t>名 </a:t>
                      </a:r>
                      <a:r>
                        <a:rPr kumimoji="1" lang="en-US" altLang="ja-JP" sz="1100" b="1">
                          <a:solidFill>
                            <a:srgbClr val="0F172A"/>
                          </a:solidFill>
                          <a:ea typeface="Meiryo UI" panose="020B0604030504040204" pitchFamily="50" charset="-128"/>
                        </a:rPr>
                        <a:t>(8.5%)</a:t>
                      </a:r>
                      <a:endParaRPr kumimoji="1" lang="ja-JP" altLang="en-US" sz="1100" b="1">
                        <a:solidFill>
                          <a:srgbClr val="0F172A"/>
                        </a:solidFill>
                        <a:ea typeface="Meiryo UI" panose="020B0604030504040204" pitchFamily="50" charset="-128"/>
                      </a:endParaRPr>
                    </a:p>
                  </a:txBody>
                  <a:tcPr>
                    <a:solidFill>
                      <a:srgbClr val="FFFBEB"/>
                    </a:solidFill>
                  </a:tcPr>
                </a:tc>
                <a:tc>
                  <a:txBody>
                    <a:bodyPr/>
                    <a:lstStyle/>
                    <a:p>
                      <a:r>
                        <a:rPr kumimoji="1" lang="en-US" altLang="ja-JP" sz="1100" b="1">
                          <a:solidFill>
                            <a:srgbClr val="B91C1C"/>
                          </a:solidFill>
                          <a:ea typeface="Meiryo UI" panose="020B0604030504040204" pitchFamily="50" charset="-128"/>
                        </a:rPr>
                        <a:t>24</a:t>
                      </a:r>
                      <a:r>
                        <a:rPr kumimoji="1" lang="ja-JP" altLang="en-US" sz="1100" b="1">
                          <a:solidFill>
                            <a:srgbClr val="B91C1C"/>
                          </a:solidFill>
                          <a:ea typeface="Meiryo UI" panose="020B0604030504040204" pitchFamily="50" charset="-128"/>
                        </a:rPr>
                        <a:t>名 </a:t>
                      </a:r>
                      <a:r>
                        <a:rPr kumimoji="1" lang="en-US" altLang="ja-JP" sz="1100" b="1">
                          <a:solidFill>
                            <a:srgbClr val="B91C1C"/>
                          </a:solidFill>
                          <a:ea typeface="Meiryo UI" panose="020B0604030504040204" pitchFamily="50" charset="-128"/>
                        </a:rPr>
                        <a:t>(18.5%) ▲2.7</a:t>
                      </a:r>
                      <a:r>
                        <a:rPr kumimoji="1" lang="ja-JP" altLang="en-US" sz="1100" b="1">
                          <a:solidFill>
                            <a:srgbClr val="B91C1C"/>
                          </a:solidFill>
                          <a:ea typeface="Meiryo UI" panose="020B0604030504040204" pitchFamily="50" charset="-128"/>
                        </a:rPr>
                        <a:t>倍</a:t>
                      </a:r>
                    </a:p>
                  </a:txBody>
                  <a:tcPr>
                    <a:solidFill>
                      <a:srgbClr val="FFFBEB"/>
                    </a:solidFill>
                  </a:tcPr>
                </a:tc>
                <a:extLst>
                  <a:ext uri="{0D108BD9-81ED-4DB2-BD59-A6C34878D82A}">
                    <a16:rowId xmlns:a16="http://schemas.microsoft.com/office/drawing/2014/main" val="322717588"/>
                  </a:ext>
                </a:extLst>
              </a:tr>
              <a:tr h="417286">
                <a:tc>
                  <a:txBody>
                    <a:bodyPr/>
                    <a:lstStyle/>
                    <a:p>
                      <a:r>
                        <a:rPr kumimoji="1" lang="en-US" altLang="zh-TW" sz="1100" b="1">
                          <a:solidFill>
                            <a:srgbClr val="0F172A"/>
                          </a:solidFill>
                          <a:ea typeface="Meiryo UI" panose="020B0604030504040204" pitchFamily="50" charset="-128"/>
                        </a:rPr>
                        <a:t>50</a:t>
                      </a:r>
                      <a:r>
                        <a:rPr kumimoji="1" lang="zh-TW" altLang="en-US" sz="1100" b="1">
                          <a:solidFill>
                            <a:srgbClr val="0F172A"/>
                          </a:solidFill>
                          <a:ea typeface="Meiryo UI" panose="020B0604030504040204" pitchFamily="50" charset="-128"/>
                        </a:rPr>
                        <a:t>歳代（最多層）</a:t>
                      </a:r>
                      <a:endParaRPr kumimoji="1" lang="ja-JP" altLang="en-US" sz="1100" b="1">
                        <a:solidFill>
                          <a:srgbClr val="0F172A"/>
                        </a:solidFill>
                        <a:ea typeface="Meiryo UI" panose="020B0604030504040204" pitchFamily="50" charset="-128"/>
                      </a:endParaRPr>
                    </a:p>
                  </a:txBody>
                  <a:tcPr>
                    <a:solidFill>
                      <a:srgbClr val="FFFFFF"/>
                    </a:solidFill>
                  </a:tcPr>
                </a:tc>
                <a:tc>
                  <a:txBody>
                    <a:bodyPr/>
                    <a:lstStyle/>
                    <a:p>
                      <a:r>
                        <a:rPr kumimoji="1" lang="en-US" altLang="ja-JP" sz="1100" b="1">
                          <a:solidFill>
                            <a:srgbClr val="0F172A"/>
                          </a:solidFill>
                          <a:ea typeface="Meiryo UI" panose="020B0604030504040204" pitchFamily="50" charset="-128"/>
                        </a:rPr>
                        <a:t>62</a:t>
                      </a:r>
                      <a:r>
                        <a:rPr kumimoji="1" lang="ja-JP" altLang="en-US" sz="1100" b="1">
                          <a:solidFill>
                            <a:srgbClr val="0F172A"/>
                          </a:solidFill>
                          <a:ea typeface="Meiryo UI" panose="020B0604030504040204" pitchFamily="50" charset="-128"/>
                        </a:rPr>
                        <a:t>名 </a:t>
                      </a:r>
                      <a:r>
                        <a:rPr kumimoji="1" lang="en-US" altLang="ja-JP" sz="1100" b="1">
                          <a:solidFill>
                            <a:srgbClr val="0F172A"/>
                          </a:solidFill>
                          <a:ea typeface="Meiryo UI" panose="020B0604030504040204" pitchFamily="50" charset="-128"/>
                        </a:rPr>
                        <a:t>(26.3%)</a:t>
                      </a:r>
                      <a:endParaRPr kumimoji="1" lang="ja-JP" altLang="en-US" sz="1100" b="1">
                        <a:solidFill>
                          <a:srgbClr val="0F172A"/>
                        </a:solidFill>
                        <a:ea typeface="Meiryo UI" panose="020B0604030504040204" pitchFamily="50" charset="-128"/>
                      </a:endParaRPr>
                    </a:p>
                  </a:txBody>
                  <a:tcPr>
                    <a:solidFill>
                      <a:srgbClr val="FFFFFF"/>
                    </a:solidFill>
                  </a:tcPr>
                </a:tc>
                <a:tc>
                  <a:txBody>
                    <a:bodyPr/>
                    <a:lstStyle/>
                    <a:p>
                      <a:r>
                        <a:rPr kumimoji="1" lang="en-US" altLang="ja-JP" sz="1100" b="1">
                          <a:solidFill>
                            <a:srgbClr val="0F172A"/>
                          </a:solidFill>
                          <a:ea typeface="Meiryo UI" panose="020B0604030504040204" pitchFamily="50" charset="-128"/>
                        </a:rPr>
                        <a:t>28</a:t>
                      </a:r>
                      <a:r>
                        <a:rPr kumimoji="1" lang="ja-JP" altLang="en-US" sz="1100" b="1">
                          <a:solidFill>
                            <a:srgbClr val="0F172A"/>
                          </a:solidFill>
                          <a:ea typeface="Meiryo UI" panose="020B0604030504040204" pitchFamily="50" charset="-128"/>
                        </a:rPr>
                        <a:t>名 </a:t>
                      </a:r>
                      <a:r>
                        <a:rPr kumimoji="1" lang="en-US" altLang="ja-JP" sz="1100" b="1">
                          <a:solidFill>
                            <a:srgbClr val="0F172A"/>
                          </a:solidFill>
                          <a:ea typeface="Meiryo UI" panose="020B0604030504040204" pitchFamily="50" charset="-128"/>
                        </a:rPr>
                        <a:t>(26.4%)</a:t>
                      </a:r>
                      <a:endParaRPr kumimoji="1" lang="ja-JP" altLang="en-US" sz="1100" b="1">
                        <a:solidFill>
                          <a:srgbClr val="0F172A"/>
                        </a:solidFill>
                        <a:ea typeface="Meiryo UI" panose="020B0604030504040204" pitchFamily="50" charset="-128"/>
                      </a:endParaRPr>
                    </a:p>
                  </a:txBody>
                  <a:tcPr>
                    <a:solidFill>
                      <a:srgbClr val="FFFFFF"/>
                    </a:solidFill>
                  </a:tcPr>
                </a:tc>
                <a:tc>
                  <a:txBody>
                    <a:bodyPr/>
                    <a:lstStyle/>
                    <a:p>
                      <a:r>
                        <a:rPr kumimoji="1" lang="en-US" altLang="ja-JP" sz="1100" b="1">
                          <a:solidFill>
                            <a:srgbClr val="0F172A"/>
                          </a:solidFill>
                          <a:ea typeface="Meiryo UI" panose="020B0604030504040204" pitchFamily="50" charset="-128"/>
                        </a:rPr>
                        <a:t>34</a:t>
                      </a:r>
                      <a:r>
                        <a:rPr kumimoji="1" lang="ja-JP" altLang="en-US" sz="1100" b="1">
                          <a:solidFill>
                            <a:srgbClr val="0F172A"/>
                          </a:solidFill>
                          <a:ea typeface="Meiryo UI" panose="020B0604030504040204" pitchFamily="50" charset="-128"/>
                        </a:rPr>
                        <a:t>名 </a:t>
                      </a:r>
                      <a:r>
                        <a:rPr kumimoji="1" lang="en-US" altLang="ja-JP" sz="1100" b="1">
                          <a:solidFill>
                            <a:srgbClr val="0F172A"/>
                          </a:solidFill>
                          <a:ea typeface="Meiryo UI" panose="020B0604030504040204" pitchFamily="50" charset="-128"/>
                        </a:rPr>
                        <a:t>(26.2%)</a:t>
                      </a:r>
                      <a:endParaRPr kumimoji="1" lang="ja-JP" altLang="en-US" sz="1100" b="1">
                        <a:solidFill>
                          <a:srgbClr val="0F172A"/>
                        </a:solidFill>
                        <a:ea typeface="Meiryo UI" panose="020B0604030504040204" pitchFamily="50" charset="-128"/>
                      </a:endParaRPr>
                    </a:p>
                  </a:txBody>
                  <a:tcPr>
                    <a:solidFill>
                      <a:srgbClr val="FFFFFF"/>
                    </a:solidFill>
                  </a:tcPr>
                </a:tc>
                <a:extLst>
                  <a:ext uri="{0D108BD9-81ED-4DB2-BD59-A6C34878D82A}">
                    <a16:rowId xmlns:a16="http://schemas.microsoft.com/office/drawing/2014/main" val="1447098900"/>
                  </a:ext>
                </a:extLst>
              </a:tr>
              <a:tr h="417286">
                <a:tc>
                  <a:txBody>
                    <a:bodyPr/>
                    <a:lstStyle/>
                    <a:p>
                      <a:r>
                        <a:rPr kumimoji="1" lang="en-US" altLang="ja-JP" sz="1100" b="0">
                          <a:solidFill>
                            <a:srgbClr val="0F172A"/>
                          </a:solidFill>
                          <a:ea typeface="Meiryo UI" panose="020B0604030504040204" pitchFamily="50" charset="-128"/>
                        </a:rPr>
                        <a:t>60〜70</a:t>
                      </a:r>
                      <a:r>
                        <a:rPr kumimoji="1" lang="ja-JP" altLang="en-US" sz="1100" b="0">
                          <a:solidFill>
                            <a:srgbClr val="0F172A"/>
                          </a:solidFill>
                          <a:ea typeface="Meiryo UI" panose="020B0604030504040204" pitchFamily="50" charset="-128"/>
                        </a:rPr>
                        <a:t>歳代（シニア層）</a:t>
                      </a:r>
                    </a:p>
                  </a:txBody>
                  <a:tcPr>
                    <a:solidFill>
                      <a:srgbClr val="F8FAFC"/>
                    </a:solidFill>
                  </a:tcPr>
                </a:tc>
                <a:tc>
                  <a:txBody>
                    <a:bodyPr/>
                    <a:lstStyle/>
                    <a:p>
                      <a:r>
                        <a:rPr kumimoji="1" lang="en-US" altLang="ja-JP" sz="1100" b="0">
                          <a:solidFill>
                            <a:srgbClr val="0F172A"/>
                          </a:solidFill>
                          <a:ea typeface="Meiryo UI" panose="020B0604030504040204" pitchFamily="50" charset="-128"/>
                        </a:rPr>
                        <a:t>81</a:t>
                      </a:r>
                      <a:r>
                        <a:rPr kumimoji="1" lang="ja-JP" altLang="en-US" sz="1100" b="0">
                          <a:solidFill>
                            <a:srgbClr val="0F172A"/>
                          </a:solidFill>
                          <a:ea typeface="Meiryo UI" panose="020B0604030504040204" pitchFamily="50" charset="-128"/>
                        </a:rPr>
                        <a:t>名 </a:t>
                      </a:r>
                      <a:r>
                        <a:rPr kumimoji="1" lang="en-US" altLang="ja-JP" sz="1100" b="0">
                          <a:solidFill>
                            <a:srgbClr val="0F172A"/>
                          </a:solidFill>
                          <a:ea typeface="Meiryo UI" panose="020B0604030504040204" pitchFamily="50" charset="-128"/>
                        </a:rPr>
                        <a:t>(34.3%)</a:t>
                      </a:r>
                      <a:endParaRPr kumimoji="1" lang="ja-JP" altLang="en-US" sz="1100" b="0">
                        <a:solidFill>
                          <a:srgbClr val="0F172A"/>
                        </a:solidFill>
                        <a:ea typeface="Meiryo UI" panose="020B0604030504040204" pitchFamily="50" charset="-128"/>
                      </a:endParaRPr>
                    </a:p>
                  </a:txBody>
                  <a:tcPr>
                    <a:solidFill>
                      <a:srgbClr val="F8FAFC"/>
                    </a:solidFill>
                  </a:tcPr>
                </a:tc>
                <a:tc>
                  <a:txBody>
                    <a:bodyPr/>
                    <a:lstStyle/>
                    <a:p>
                      <a:r>
                        <a:rPr kumimoji="1" lang="en-US" altLang="ja-JP" sz="1100" b="0">
                          <a:solidFill>
                            <a:srgbClr val="0F172A"/>
                          </a:solidFill>
                          <a:ea typeface="Meiryo UI" panose="020B0604030504040204" pitchFamily="50" charset="-128"/>
                        </a:rPr>
                        <a:t>40</a:t>
                      </a:r>
                      <a:r>
                        <a:rPr kumimoji="1" lang="ja-JP" altLang="en-US" sz="1100" b="0">
                          <a:solidFill>
                            <a:srgbClr val="0F172A"/>
                          </a:solidFill>
                          <a:ea typeface="Meiryo UI" panose="020B0604030504040204" pitchFamily="50" charset="-128"/>
                        </a:rPr>
                        <a:t>名 </a:t>
                      </a:r>
                      <a:r>
                        <a:rPr kumimoji="1" lang="en-US" altLang="ja-JP" sz="1100" b="0">
                          <a:solidFill>
                            <a:srgbClr val="0F172A"/>
                          </a:solidFill>
                          <a:ea typeface="Meiryo UI" panose="020B0604030504040204" pitchFamily="50" charset="-128"/>
                        </a:rPr>
                        <a:t>(37.7%)</a:t>
                      </a:r>
                      <a:endParaRPr kumimoji="1" lang="ja-JP" altLang="en-US" sz="1100" b="0">
                        <a:solidFill>
                          <a:srgbClr val="0F172A"/>
                        </a:solidFill>
                        <a:ea typeface="Meiryo UI" panose="020B0604030504040204" pitchFamily="50" charset="-128"/>
                      </a:endParaRPr>
                    </a:p>
                  </a:txBody>
                  <a:tcPr>
                    <a:solidFill>
                      <a:srgbClr val="F8FAFC"/>
                    </a:solidFill>
                  </a:tcPr>
                </a:tc>
                <a:tc>
                  <a:txBody>
                    <a:bodyPr/>
                    <a:lstStyle/>
                    <a:p>
                      <a:r>
                        <a:rPr kumimoji="1" lang="en-US" altLang="ja-JP" sz="1100" b="0">
                          <a:solidFill>
                            <a:srgbClr val="0F172A"/>
                          </a:solidFill>
                          <a:ea typeface="Meiryo UI" panose="020B0604030504040204" pitchFamily="50" charset="-128"/>
                        </a:rPr>
                        <a:t>41</a:t>
                      </a:r>
                      <a:r>
                        <a:rPr kumimoji="1" lang="ja-JP" altLang="en-US" sz="1100" b="0">
                          <a:solidFill>
                            <a:srgbClr val="0F172A"/>
                          </a:solidFill>
                          <a:ea typeface="Meiryo UI" panose="020B0604030504040204" pitchFamily="50" charset="-128"/>
                        </a:rPr>
                        <a:t>名 </a:t>
                      </a:r>
                      <a:r>
                        <a:rPr kumimoji="1" lang="en-US" altLang="ja-JP" sz="1100" b="0">
                          <a:solidFill>
                            <a:srgbClr val="0F172A"/>
                          </a:solidFill>
                          <a:ea typeface="Meiryo UI" panose="020B0604030504040204" pitchFamily="50" charset="-128"/>
                        </a:rPr>
                        <a:t>(31.5%)</a:t>
                      </a:r>
                      <a:endParaRPr kumimoji="1" lang="ja-JP" altLang="en-US" sz="1100" b="0">
                        <a:solidFill>
                          <a:srgbClr val="0F172A"/>
                        </a:solidFill>
                        <a:ea typeface="Meiryo UI" panose="020B0604030504040204" pitchFamily="50" charset="-128"/>
                      </a:endParaRPr>
                    </a:p>
                  </a:txBody>
                  <a:tcPr>
                    <a:solidFill>
                      <a:srgbClr val="F8FAFC"/>
                    </a:solidFill>
                  </a:tcPr>
                </a:tc>
                <a:extLst>
                  <a:ext uri="{0D108BD9-81ED-4DB2-BD59-A6C34878D82A}">
                    <a16:rowId xmlns:a16="http://schemas.microsoft.com/office/drawing/2014/main" val="3717638263"/>
                  </a:ext>
                </a:extLst>
              </a:tr>
              <a:tr h="417286">
                <a:tc>
                  <a:txBody>
                    <a:bodyPr/>
                    <a:lstStyle/>
                    <a:p>
                      <a:r>
                        <a:rPr kumimoji="1" lang="en-US" altLang="zh-TW" sz="1100" b="0">
                          <a:solidFill>
                            <a:srgbClr val="0F172A"/>
                          </a:solidFill>
                          <a:ea typeface="Meiryo UI" panose="020B0604030504040204" pitchFamily="50" charset="-128"/>
                        </a:rPr>
                        <a:t>80〜90</a:t>
                      </a:r>
                      <a:r>
                        <a:rPr kumimoji="1" lang="zh-TW" altLang="en-US" sz="1100" b="0">
                          <a:solidFill>
                            <a:srgbClr val="0F172A"/>
                          </a:solidFill>
                          <a:ea typeface="Meiryo UI" panose="020B0604030504040204" pitchFamily="50" charset="-128"/>
                        </a:rPr>
                        <a:t>歳代（高齢層）</a:t>
                      </a:r>
                      <a:endParaRPr kumimoji="1" lang="ja-JP" altLang="en-US" sz="1100" b="0">
                        <a:solidFill>
                          <a:srgbClr val="0F172A"/>
                        </a:solidFill>
                        <a:ea typeface="Meiryo UI" panose="020B0604030504040204" pitchFamily="50" charset="-128"/>
                      </a:endParaRPr>
                    </a:p>
                  </a:txBody>
                  <a:tcPr>
                    <a:solidFill>
                      <a:srgbClr val="FFFFFF"/>
                    </a:solidFill>
                  </a:tcPr>
                </a:tc>
                <a:tc>
                  <a:txBody>
                    <a:bodyPr/>
                    <a:lstStyle/>
                    <a:p>
                      <a:r>
                        <a:rPr kumimoji="1" lang="en-US" altLang="ja-JP" sz="1100" b="0">
                          <a:solidFill>
                            <a:srgbClr val="0F172A"/>
                          </a:solidFill>
                          <a:ea typeface="Meiryo UI" panose="020B0604030504040204" pitchFamily="50" charset="-128"/>
                        </a:rPr>
                        <a:t>27</a:t>
                      </a:r>
                      <a:r>
                        <a:rPr kumimoji="1" lang="ja-JP" altLang="en-US" sz="1100" b="0">
                          <a:solidFill>
                            <a:srgbClr val="0F172A"/>
                          </a:solidFill>
                          <a:ea typeface="Meiryo UI" panose="020B0604030504040204" pitchFamily="50" charset="-128"/>
                        </a:rPr>
                        <a:t>名 </a:t>
                      </a:r>
                      <a:r>
                        <a:rPr kumimoji="1" lang="en-US" altLang="ja-JP" sz="1100" b="0">
                          <a:solidFill>
                            <a:srgbClr val="0F172A"/>
                          </a:solidFill>
                          <a:ea typeface="Meiryo UI" panose="020B0604030504040204" pitchFamily="50" charset="-128"/>
                        </a:rPr>
                        <a:t>(11.4%)</a:t>
                      </a:r>
                      <a:endParaRPr kumimoji="1" lang="ja-JP" altLang="en-US" sz="1100" b="0">
                        <a:solidFill>
                          <a:srgbClr val="0F172A"/>
                        </a:solidFill>
                        <a:ea typeface="Meiryo UI" panose="020B0604030504040204" pitchFamily="50" charset="-128"/>
                      </a:endParaRPr>
                    </a:p>
                  </a:txBody>
                  <a:tcPr>
                    <a:solidFill>
                      <a:srgbClr val="FFFFFF"/>
                    </a:solidFill>
                  </a:tcPr>
                </a:tc>
                <a:tc>
                  <a:txBody>
                    <a:bodyPr/>
                    <a:lstStyle/>
                    <a:p>
                      <a:r>
                        <a:rPr kumimoji="1" lang="en-US" altLang="ja-JP" sz="1100" b="0">
                          <a:solidFill>
                            <a:srgbClr val="0F172A"/>
                          </a:solidFill>
                          <a:ea typeface="Meiryo UI" panose="020B0604030504040204" pitchFamily="50" charset="-128"/>
                        </a:rPr>
                        <a:t>16</a:t>
                      </a:r>
                      <a:r>
                        <a:rPr kumimoji="1" lang="ja-JP" altLang="en-US" sz="1100" b="0">
                          <a:solidFill>
                            <a:srgbClr val="0F172A"/>
                          </a:solidFill>
                          <a:ea typeface="Meiryo UI" panose="020B0604030504040204" pitchFamily="50" charset="-128"/>
                        </a:rPr>
                        <a:t>名 </a:t>
                      </a:r>
                      <a:r>
                        <a:rPr kumimoji="1" lang="en-US" altLang="ja-JP" sz="1100" b="0">
                          <a:solidFill>
                            <a:srgbClr val="0F172A"/>
                          </a:solidFill>
                          <a:ea typeface="Meiryo UI" panose="020B0604030504040204" pitchFamily="50" charset="-128"/>
                        </a:rPr>
                        <a:t>(15.1%)</a:t>
                      </a:r>
                      <a:endParaRPr kumimoji="1" lang="ja-JP" altLang="en-US" sz="1100" b="0">
                        <a:solidFill>
                          <a:srgbClr val="0F172A"/>
                        </a:solidFill>
                        <a:ea typeface="Meiryo UI" panose="020B0604030504040204" pitchFamily="50" charset="-128"/>
                      </a:endParaRPr>
                    </a:p>
                  </a:txBody>
                  <a:tcPr>
                    <a:solidFill>
                      <a:srgbClr val="FFFFFF"/>
                    </a:solidFill>
                  </a:tcPr>
                </a:tc>
                <a:tc>
                  <a:txBody>
                    <a:bodyPr/>
                    <a:lstStyle/>
                    <a:p>
                      <a:r>
                        <a:rPr kumimoji="1" lang="en-US" altLang="ja-JP" sz="1100" b="0">
                          <a:solidFill>
                            <a:srgbClr val="0F172A"/>
                          </a:solidFill>
                          <a:ea typeface="Meiryo UI" panose="020B0604030504040204" pitchFamily="50" charset="-128"/>
                        </a:rPr>
                        <a:t>11</a:t>
                      </a:r>
                      <a:r>
                        <a:rPr kumimoji="1" lang="ja-JP" altLang="en-US" sz="1100" b="0">
                          <a:solidFill>
                            <a:srgbClr val="0F172A"/>
                          </a:solidFill>
                          <a:ea typeface="Meiryo UI" panose="020B0604030504040204" pitchFamily="50" charset="-128"/>
                        </a:rPr>
                        <a:t>名 </a:t>
                      </a:r>
                      <a:r>
                        <a:rPr kumimoji="1" lang="en-US" altLang="ja-JP" sz="1100" b="0">
                          <a:solidFill>
                            <a:srgbClr val="0F172A"/>
                          </a:solidFill>
                          <a:ea typeface="Meiryo UI" panose="020B0604030504040204" pitchFamily="50" charset="-128"/>
                        </a:rPr>
                        <a:t>(8.5%) ▼</a:t>
                      </a:r>
                      <a:endParaRPr kumimoji="1" lang="ja-JP" altLang="en-US" sz="1100" b="0">
                        <a:solidFill>
                          <a:srgbClr val="0F172A"/>
                        </a:solidFill>
                        <a:ea typeface="Meiryo UI" panose="020B0604030504040204" pitchFamily="50" charset="-128"/>
                      </a:endParaRPr>
                    </a:p>
                  </a:txBody>
                  <a:tcPr>
                    <a:solidFill>
                      <a:srgbClr val="FFFFFF"/>
                    </a:solidFill>
                  </a:tcPr>
                </a:tc>
                <a:extLst>
                  <a:ext uri="{0D108BD9-81ED-4DB2-BD59-A6C34878D82A}">
                    <a16:rowId xmlns:a16="http://schemas.microsoft.com/office/drawing/2014/main" val="1855786669"/>
                  </a:ext>
                </a:extLst>
              </a:tr>
              <a:tr h="417286">
                <a:tc>
                  <a:txBody>
                    <a:bodyPr/>
                    <a:lstStyle/>
                    <a:p>
                      <a:r>
                        <a:rPr kumimoji="1" lang="ja-JP" altLang="en-US" sz="1100" b="0">
                          <a:solidFill>
                            <a:srgbClr val="0F172A"/>
                          </a:solidFill>
                          <a:ea typeface="Meiryo UI" panose="020B0604030504040204" pitchFamily="50" charset="-128"/>
                        </a:rPr>
                        <a:t>未記入</a:t>
                      </a:r>
                    </a:p>
                  </a:txBody>
                  <a:tcPr>
                    <a:solidFill>
                      <a:srgbClr val="F8FAFC"/>
                    </a:solidFill>
                  </a:tcPr>
                </a:tc>
                <a:tc>
                  <a:txBody>
                    <a:bodyPr/>
                    <a:lstStyle/>
                    <a:p>
                      <a:r>
                        <a:rPr kumimoji="1" lang="en-US" altLang="ja-JP" sz="1100" b="0">
                          <a:solidFill>
                            <a:srgbClr val="0F172A"/>
                          </a:solidFill>
                          <a:ea typeface="Meiryo UI" panose="020B0604030504040204" pitchFamily="50" charset="-128"/>
                        </a:rPr>
                        <a:t>3</a:t>
                      </a:r>
                      <a:r>
                        <a:rPr kumimoji="1" lang="ja-JP" altLang="en-US" sz="1100" b="0">
                          <a:solidFill>
                            <a:srgbClr val="0F172A"/>
                          </a:solidFill>
                          <a:ea typeface="Meiryo UI" panose="020B0604030504040204" pitchFamily="50" charset="-128"/>
                        </a:rPr>
                        <a:t>名 </a:t>
                      </a:r>
                      <a:r>
                        <a:rPr kumimoji="1" lang="en-US" altLang="ja-JP" sz="1100" b="0">
                          <a:solidFill>
                            <a:srgbClr val="0F172A"/>
                          </a:solidFill>
                          <a:ea typeface="Meiryo UI" panose="020B0604030504040204" pitchFamily="50" charset="-128"/>
                        </a:rPr>
                        <a:t>(1.3%)</a:t>
                      </a:r>
                      <a:endParaRPr kumimoji="1" lang="ja-JP" altLang="en-US" sz="1100" b="0">
                        <a:solidFill>
                          <a:srgbClr val="0F172A"/>
                        </a:solidFill>
                        <a:ea typeface="Meiryo UI" panose="020B0604030504040204" pitchFamily="50" charset="-128"/>
                      </a:endParaRPr>
                    </a:p>
                  </a:txBody>
                  <a:tcPr>
                    <a:solidFill>
                      <a:srgbClr val="F8FAFC"/>
                    </a:solidFill>
                  </a:tcPr>
                </a:tc>
                <a:tc>
                  <a:txBody>
                    <a:bodyPr/>
                    <a:lstStyle/>
                    <a:p>
                      <a:r>
                        <a:rPr kumimoji="1" lang="en-US" altLang="ja-JP" sz="1100" b="0">
                          <a:solidFill>
                            <a:srgbClr val="0F172A"/>
                          </a:solidFill>
                          <a:ea typeface="Meiryo UI" panose="020B0604030504040204" pitchFamily="50" charset="-128"/>
                        </a:rPr>
                        <a:t>1</a:t>
                      </a:r>
                      <a:r>
                        <a:rPr kumimoji="1" lang="ja-JP" altLang="en-US" sz="1100" b="0">
                          <a:solidFill>
                            <a:srgbClr val="0F172A"/>
                          </a:solidFill>
                          <a:ea typeface="Meiryo UI" panose="020B0604030504040204" pitchFamily="50" charset="-128"/>
                        </a:rPr>
                        <a:t>名 </a:t>
                      </a:r>
                      <a:r>
                        <a:rPr kumimoji="1" lang="en-US" altLang="ja-JP" sz="1100" b="0">
                          <a:solidFill>
                            <a:srgbClr val="0F172A"/>
                          </a:solidFill>
                          <a:ea typeface="Meiryo UI" panose="020B0604030504040204" pitchFamily="50" charset="-128"/>
                        </a:rPr>
                        <a:t>(0.9%)</a:t>
                      </a:r>
                      <a:endParaRPr kumimoji="1" lang="ja-JP" altLang="en-US" sz="1100" b="0">
                        <a:solidFill>
                          <a:srgbClr val="0F172A"/>
                        </a:solidFill>
                        <a:ea typeface="Meiryo UI" panose="020B0604030504040204" pitchFamily="50" charset="-128"/>
                      </a:endParaRPr>
                    </a:p>
                  </a:txBody>
                  <a:tcPr>
                    <a:solidFill>
                      <a:srgbClr val="F8FAFC"/>
                    </a:solidFill>
                  </a:tcPr>
                </a:tc>
                <a:tc>
                  <a:txBody>
                    <a:bodyPr/>
                    <a:lstStyle/>
                    <a:p>
                      <a:r>
                        <a:rPr kumimoji="1" lang="en-US" altLang="ja-JP" sz="1100" b="0">
                          <a:solidFill>
                            <a:srgbClr val="0F172A"/>
                          </a:solidFill>
                          <a:ea typeface="Meiryo UI" panose="020B0604030504040204" pitchFamily="50" charset="-128"/>
                        </a:rPr>
                        <a:t>2</a:t>
                      </a:r>
                      <a:r>
                        <a:rPr kumimoji="1" lang="ja-JP" altLang="en-US" sz="1100" b="0">
                          <a:solidFill>
                            <a:srgbClr val="0F172A"/>
                          </a:solidFill>
                          <a:ea typeface="Meiryo UI" panose="020B0604030504040204" pitchFamily="50" charset="-128"/>
                        </a:rPr>
                        <a:t>名 </a:t>
                      </a:r>
                      <a:r>
                        <a:rPr kumimoji="1" lang="en-US" altLang="ja-JP" sz="1100" b="0">
                          <a:solidFill>
                            <a:srgbClr val="0F172A"/>
                          </a:solidFill>
                          <a:ea typeface="Meiryo UI" panose="020B0604030504040204" pitchFamily="50" charset="-128"/>
                        </a:rPr>
                        <a:t>(1.5%)</a:t>
                      </a:r>
                      <a:endParaRPr kumimoji="1" lang="ja-JP" altLang="en-US" sz="1100" b="0">
                        <a:solidFill>
                          <a:srgbClr val="0F172A"/>
                        </a:solidFill>
                        <a:ea typeface="Meiryo UI" panose="020B0604030504040204" pitchFamily="50" charset="-128"/>
                      </a:endParaRPr>
                    </a:p>
                  </a:txBody>
                  <a:tcPr>
                    <a:solidFill>
                      <a:srgbClr val="F8FAFC"/>
                    </a:solidFill>
                  </a:tcPr>
                </a:tc>
                <a:extLst>
                  <a:ext uri="{0D108BD9-81ED-4DB2-BD59-A6C34878D82A}">
                    <a16:rowId xmlns:a16="http://schemas.microsoft.com/office/drawing/2014/main" val="3704840315"/>
                  </a:ext>
                </a:extLst>
              </a:tr>
            </a:tbl>
          </a:graphicData>
        </a:graphic>
      </p:graphicFrame>
      <p:sp>
        <p:nvSpPr>
          <p:cNvPr id="15" name="四角形: 角を丸くする 14">
            <a:extLst>
              <a:ext uri="{FF2B5EF4-FFF2-40B4-BE49-F238E27FC236}">
                <a16:creationId xmlns:a16="http://schemas.microsoft.com/office/drawing/2014/main" id="{81DC1093-F494-11D9-1445-EA54B086303D}"/>
              </a:ext>
            </a:extLst>
          </p:cNvPr>
          <p:cNvSpPr/>
          <p:nvPr/>
        </p:nvSpPr>
        <p:spPr>
          <a:xfrm>
            <a:off x="508000" y="5613400"/>
            <a:ext cx="6324600" cy="736600"/>
          </a:xfrm>
          <a:prstGeom prst="roundRect">
            <a:avLst>
              <a:gd name="adj" fmla="val 6000"/>
            </a:avLst>
          </a:prstGeom>
          <a:solidFill>
            <a:srgbClr val="F0FDFA"/>
          </a:solidFill>
          <a:ln w="15240">
            <a:solidFill>
              <a:srgbClr val="99F6E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96D9856B-FC9D-20DD-0D3B-24B576E3805E}"/>
              </a:ext>
            </a:extLst>
          </p:cNvPr>
          <p:cNvSpPr txBox="1"/>
          <p:nvPr/>
        </p:nvSpPr>
        <p:spPr>
          <a:xfrm>
            <a:off x="660400" y="5689600"/>
            <a:ext cx="6045200" cy="396006"/>
          </a:xfrm>
          <a:prstGeom prst="rect">
            <a:avLst/>
          </a:prstGeom>
          <a:noFill/>
        </p:spPr>
        <p:txBody>
          <a:bodyPr vert="horz" wrap="square" lIns="50800" tIns="25400" rIns="50800" bIns="25400" rtlCol="0">
            <a:spAutoFit/>
          </a:bodyPr>
          <a:lstStyle/>
          <a:p>
            <a:r>
              <a:rPr kumimoji="1" lang="ja-JP" altLang="en-US" sz="1120" b="1">
                <a:solidFill>
                  <a:srgbClr val="0F172A"/>
                </a:solidFill>
                <a:latin typeface="Meiryo UI" panose="020B0604030504040204" pitchFamily="50" charset="-128"/>
                <a:ea typeface="Meiryo UI" panose="020B0604030504040204" pitchFamily="50" charset="-128"/>
              </a:rPr>
              <a:t>💡 アナリスト考察：</a:t>
            </a:r>
            <a:r>
              <a:rPr kumimoji="1" lang="en-US" altLang="ja-JP" sz="1120" b="1">
                <a:solidFill>
                  <a:srgbClr val="0F172A"/>
                </a:solidFill>
                <a:latin typeface="Meiryo UI" panose="020B0604030504040204" pitchFamily="50" charset="-128"/>
                <a:ea typeface="Meiryo UI" panose="020B0604030504040204" pitchFamily="50" charset="-128"/>
              </a:rPr>
              <a:t>1</a:t>
            </a:r>
            <a:r>
              <a:rPr kumimoji="1" lang="ja-JP" altLang="en-US" sz="1120" b="1">
                <a:solidFill>
                  <a:srgbClr val="0F172A"/>
                </a:solidFill>
                <a:latin typeface="Meiryo UI" panose="020B0604030504040204" pitchFamily="50" charset="-128"/>
                <a:ea typeface="Meiryo UI" panose="020B0604030504040204" pitchFamily="50" charset="-128"/>
              </a:rPr>
              <a:t>日目は健康意識の高い</a:t>
            </a:r>
            <a:r>
              <a:rPr kumimoji="1" lang="en-US" altLang="ja-JP" sz="1120" b="1">
                <a:solidFill>
                  <a:srgbClr val="0F172A"/>
                </a:solidFill>
                <a:latin typeface="Meiryo UI" panose="020B0604030504040204" pitchFamily="50" charset="-128"/>
                <a:ea typeface="Meiryo UI" panose="020B0604030504040204" pitchFamily="50" charset="-128"/>
              </a:rPr>
              <a:t>60</a:t>
            </a:r>
            <a:r>
              <a:rPr kumimoji="1" lang="ja-JP" altLang="en-US" sz="1120" b="1">
                <a:solidFill>
                  <a:srgbClr val="0F172A"/>
                </a:solidFill>
                <a:latin typeface="Meiryo UI" panose="020B0604030504040204" pitchFamily="50" charset="-128"/>
                <a:ea typeface="Meiryo UI" panose="020B0604030504040204" pitchFamily="50" charset="-128"/>
              </a:rPr>
              <a:t>代以上が過半数（</a:t>
            </a:r>
            <a:r>
              <a:rPr kumimoji="1" lang="en-US" altLang="ja-JP" sz="1120" b="1">
                <a:solidFill>
                  <a:srgbClr val="0F172A"/>
                </a:solidFill>
                <a:latin typeface="Meiryo UI" panose="020B0604030504040204" pitchFamily="50" charset="-128"/>
                <a:ea typeface="Meiryo UI" panose="020B0604030504040204" pitchFamily="50" charset="-128"/>
              </a:rPr>
              <a:t>52.8%</a:t>
            </a:r>
            <a:r>
              <a:rPr kumimoji="1" lang="ja-JP" altLang="en-US" sz="1120" b="1">
                <a:solidFill>
                  <a:srgbClr val="0F172A"/>
                </a:solidFill>
                <a:latin typeface="Meiryo UI" panose="020B0604030504040204" pitchFamily="50" charset="-128"/>
                <a:ea typeface="Meiryo UI" panose="020B0604030504040204" pitchFamily="50" charset="-128"/>
              </a:rPr>
              <a:t>）。</a:t>
            </a:r>
            <a:r>
              <a:rPr kumimoji="1" lang="en-US" altLang="ja-JP" sz="1120" b="1">
                <a:solidFill>
                  <a:srgbClr val="0F172A"/>
                </a:solidFill>
                <a:latin typeface="Meiryo UI" panose="020B0604030504040204" pitchFamily="50" charset="-128"/>
                <a:ea typeface="Meiryo UI" panose="020B0604030504040204" pitchFamily="50" charset="-128"/>
              </a:rPr>
              <a:t>2</a:t>
            </a:r>
            <a:r>
              <a:rPr kumimoji="1" lang="ja-JP" altLang="en-US" sz="1120" b="1">
                <a:solidFill>
                  <a:srgbClr val="0F172A"/>
                </a:solidFill>
                <a:latin typeface="Meiryo UI" panose="020B0604030504040204" pitchFamily="50" charset="-128"/>
                <a:ea typeface="Meiryo UI" panose="020B0604030504040204" pitchFamily="50" charset="-128"/>
              </a:rPr>
              <a:t>日目は</a:t>
            </a:r>
            <a:r>
              <a:rPr kumimoji="1" lang="en-US" altLang="ja-JP" sz="1120" b="1">
                <a:solidFill>
                  <a:srgbClr val="0F172A"/>
                </a:solidFill>
                <a:latin typeface="Meiryo UI" panose="020B0604030504040204" pitchFamily="50" charset="-128"/>
                <a:ea typeface="Meiryo UI" panose="020B0604030504040204" pitchFamily="50" charset="-128"/>
              </a:rPr>
              <a:t>40</a:t>
            </a:r>
            <a:r>
              <a:rPr kumimoji="1" lang="ja-JP" altLang="en-US" sz="1120" b="1">
                <a:solidFill>
                  <a:srgbClr val="0F172A"/>
                </a:solidFill>
                <a:latin typeface="Meiryo UI" panose="020B0604030504040204" pitchFamily="50" charset="-128"/>
                <a:ea typeface="Meiryo UI" panose="020B0604030504040204" pitchFamily="50" charset="-128"/>
              </a:rPr>
              <a:t>代以下が</a:t>
            </a:r>
            <a:r>
              <a:rPr kumimoji="1" lang="en-US" altLang="ja-JP" sz="1120" b="1">
                <a:solidFill>
                  <a:srgbClr val="0F172A"/>
                </a:solidFill>
                <a:latin typeface="Meiryo UI" panose="020B0604030504040204" pitchFamily="50" charset="-128"/>
                <a:ea typeface="Meiryo UI" panose="020B0604030504040204" pitchFamily="50" charset="-128"/>
              </a:rPr>
              <a:t>32.3%</a:t>
            </a:r>
            <a:r>
              <a:rPr kumimoji="1" lang="ja-JP" altLang="en-US" sz="1120" b="1">
                <a:solidFill>
                  <a:srgbClr val="0F172A"/>
                </a:solidFill>
                <a:latin typeface="Meiryo UI" panose="020B0604030504040204" pitchFamily="50" charset="-128"/>
                <a:ea typeface="Meiryo UI" panose="020B0604030504040204" pitchFamily="50" charset="-128"/>
              </a:rPr>
              <a:t>（</a:t>
            </a:r>
            <a:r>
              <a:rPr kumimoji="1" lang="en-US" altLang="ja-JP" sz="1120" b="1">
                <a:solidFill>
                  <a:srgbClr val="0F172A"/>
                </a:solidFill>
                <a:latin typeface="Meiryo UI" panose="020B0604030504040204" pitchFamily="50" charset="-128"/>
                <a:ea typeface="Meiryo UI" panose="020B0604030504040204" pitchFamily="50" charset="-128"/>
              </a:rPr>
              <a:t>42</a:t>
            </a:r>
            <a:r>
              <a:rPr kumimoji="1" lang="ja-JP" altLang="en-US" sz="1120" b="1">
                <a:solidFill>
                  <a:srgbClr val="0F172A"/>
                </a:solidFill>
                <a:latin typeface="Meiryo UI" panose="020B0604030504040204" pitchFamily="50" charset="-128"/>
                <a:ea typeface="Meiryo UI" panose="020B0604030504040204" pitchFamily="50" charset="-128"/>
              </a:rPr>
              <a:t>名）へと倍増し、親世代の介護・入院を支えるキーパーソン層へ直接アプローチできた。</a:t>
            </a:r>
          </a:p>
        </p:txBody>
      </p:sp>
      <p:sp>
        <p:nvSpPr>
          <p:cNvPr id="17" name="四角形: 角を丸くする 16">
            <a:extLst>
              <a:ext uri="{FF2B5EF4-FFF2-40B4-BE49-F238E27FC236}">
                <a16:creationId xmlns:a16="http://schemas.microsoft.com/office/drawing/2014/main" id="{6D6C9208-885A-AED4-53E3-5A6684F716D7}"/>
              </a:ext>
            </a:extLst>
          </p:cNvPr>
          <p:cNvSpPr/>
          <p:nvPr/>
        </p:nvSpPr>
        <p:spPr>
          <a:xfrm>
            <a:off x="7239000" y="1600200"/>
            <a:ext cx="4648200" cy="2565400"/>
          </a:xfrm>
          <a:prstGeom prst="roundRect">
            <a:avLst>
              <a:gd name="adj" fmla="val 6000"/>
            </a:avLst>
          </a:prstGeom>
          <a:solidFill>
            <a:srgbClr val="FFFFFF"/>
          </a:solidFill>
          <a:ln w="15240">
            <a:solidFill>
              <a:srgbClr val="BFDB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45A1EC6F-0C60-DE20-4324-7A82729CC5C0}"/>
              </a:ext>
            </a:extLst>
          </p:cNvPr>
          <p:cNvSpPr txBox="1"/>
          <p:nvPr/>
        </p:nvSpPr>
        <p:spPr>
          <a:xfrm>
            <a:off x="7442200" y="1727200"/>
            <a:ext cx="4241800" cy="282129"/>
          </a:xfrm>
          <a:prstGeom prst="rect">
            <a:avLst/>
          </a:prstGeom>
          <a:noFill/>
        </p:spPr>
        <p:txBody>
          <a:bodyPr vert="horz" wrap="square" lIns="50800" tIns="25400" rIns="50800" bIns="25400" rtlCol="0">
            <a:spAutoFit/>
          </a:bodyPr>
          <a:lstStyle/>
          <a:p>
            <a:r>
              <a:rPr kumimoji="1" lang="ja-JP" altLang="en-US" sz="1500" b="1">
                <a:solidFill>
                  <a:srgbClr val="0F2342"/>
                </a:solidFill>
                <a:latin typeface="Meiryo UI" panose="020B0604030504040204" pitchFamily="50" charset="-128"/>
                <a:ea typeface="Meiryo UI" panose="020B0604030504040204" pitchFamily="50" charset="-128"/>
              </a:rPr>
              <a:t>🏠 お住まい内訳（広域集客効果）</a:t>
            </a:r>
          </a:p>
        </p:txBody>
      </p:sp>
      <p:sp>
        <p:nvSpPr>
          <p:cNvPr id="19" name="テキスト ボックス 18">
            <a:extLst>
              <a:ext uri="{FF2B5EF4-FFF2-40B4-BE49-F238E27FC236}">
                <a16:creationId xmlns:a16="http://schemas.microsoft.com/office/drawing/2014/main" id="{0A6507FE-3BC9-D44D-DA7E-02D12E4E7F0A}"/>
              </a:ext>
            </a:extLst>
          </p:cNvPr>
          <p:cNvSpPr txBox="1"/>
          <p:nvPr/>
        </p:nvSpPr>
        <p:spPr>
          <a:xfrm>
            <a:off x="7442200" y="2184400"/>
            <a:ext cx="12192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八千代市内</a:t>
            </a:r>
          </a:p>
        </p:txBody>
      </p:sp>
      <p:sp>
        <p:nvSpPr>
          <p:cNvPr id="20" name="正方形/長方形 19">
            <a:extLst>
              <a:ext uri="{FF2B5EF4-FFF2-40B4-BE49-F238E27FC236}">
                <a16:creationId xmlns:a16="http://schemas.microsoft.com/office/drawing/2014/main" id="{BFC91BDA-767C-7EBC-1F47-1604D1FE7B42}"/>
              </a:ext>
            </a:extLst>
          </p:cNvPr>
          <p:cNvSpPr/>
          <p:nvPr/>
        </p:nvSpPr>
        <p:spPr>
          <a:xfrm>
            <a:off x="8737600" y="2222500"/>
            <a:ext cx="16510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552E02DB-866C-7EDD-D007-FBEF6BAF3438}"/>
              </a:ext>
            </a:extLst>
          </p:cNvPr>
          <p:cNvSpPr/>
          <p:nvPr/>
        </p:nvSpPr>
        <p:spPr>
          <a:xfrm>
            <a:off x="8737600" y="2222500"/>
            <a:ext cx="1193800" cy="228600"/>
          </a:xfrm>
          <a:prstGeom prst="rect">
            <a:avLst/>
          </a:prstGeom>
          <a:solidFill>
            <a:srgbClr val="1E40A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0E311874-C625-0EF0-5B61-72E7B7989D70}"/>
              </a:ext>
            </a:extLst>
          </p:cNvPr>
          <p:cNvSpPr txBox="1"/>
          <p:nvPr/>
        </p:nvSpPr>
        <p:spPr>
          <a:xfrm>
            <a:off x="10490200" y="21844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171</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(72.5%)</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23" name="テキスト ボックス 22">
            <a:extLst>
              <a:ext uri="{FF2B5EF4-FFF2-40B4-BE49-F238E27FC236}">
                <a16:creationId xmlns:a16="http://schemas.microsoft.com/office/drawing/2014/main" id="{60938630-47A2-16A8-B3E4-DBD15024DCB4}"/>
              </a:ext>
            </a:extLst>
          </p:cNvPr>
          <p:cNvSpPr txBox="1"/>
          <p:nvPr/>
        </p:nvSpPr>
        <p:spPr>
          <a:xfrm>
            <a:off x="7442200" y="2590800"/>
            <a:ext cx="12192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八千代市外</a:t>
            </a:r>
          </a:p>
        </p:txBody>
      </p:sp>
      <p:sp>
        <p:nvSpPr>
          <p:cNvPr id="24" name="正方形/長方形 23">
            <a:extLst>
              <a:ext uri="{FF2B5EF4-FFF2-40B4-BE49-F238E27FC236}">
                <a16:creationId xmlns:a16="http://schemas.microsoft.com/office/drawing/2014/main" id="{38E3FEE0-479F-D62F-D9F5-FD636C64D5B5}"/>
              </a:ext>
            </a:extLst>
          </p:cNvPr>
          <p:cNvSpPr/>
          <p:nvPr/>
        </p:nvSpPr>
        <p:spPr>
          <a:xfrm>
            <a:off x="8737600" y="2628900"/>
            <a:ext cx="16510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a:extLst>
              <a:ext uri="{FF2B5EF4-FFF2-40B4-BE49-F238E27FC236}">
                <a16:creationId xmlns:a16="http://schemas.microsoft.com/office/drawing/2014/main" id="{C0B0BB9E-F7E8-BBA1-EAA1-8E588294E692}"/>
              </a:ext>
            </a:extLst>
          </p:cNvPr>
          <p:cNvSpPr/>
          <p:nvPr/>
        </p:nvSpPr>
        <p:spPr>
          <a:xfrm>
            <a:off x="8737600" y="2628900"/>
            <a:ext cx="431800" cy="228600"/>
          </a:xfrm>
          <a:prstGeom prst="rect">
            <a:avLst/>
          </a:prstGeom>
          <a:solidFill>
            <a:srgbClr val="0D948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9374F62E-56B1-737C-B1CC-8DCB8138DDB8}"/>
              </a:ext>
            </a:extLst>
          </p:cNvPr>
          <p:cNvSpPr txBox="1"/>
          <p:nvPr/>
        </p:nvSpPr>
        <p:spPr>
          <a:xfrm>
            <a:off x="10490200" y="25908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62</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(26.3%)</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27" name="テキスト ボックス 26">
            <a:extLst>
              <a:ext uri="{FF2B5EF4-FFF2-40B4-BE49-F238E27FC236}">
                <a16:creationId xmlns:a16="http://schemas.microsoft.com/office/drawing/2014/main" id="{AAB2D77E-D706-B45D-59BF-ADBADF2151DD}"/>
              </a:ext>
            </a:extLst>
          </p:cNvPr>
          <p:cNvSpPr txBox="1"/>
          <p:nvPr/>
        </p:nvSpPr>
        <p:spPr>
          <a:xfrm>
            <a:off x="7442200" y="2997200"/>
            <a:ext cx="12192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未記入</a:t>
            </a:r>
          </a:p>
        </p:txBody>
      </p:sp>
      <p:sp>
        <p:nvSpPr>
          <p:cNvPr id="28" name="正方形/長方形 27">
            <a:extLst>
              <a:ext uri="{FF2B5EF4-FFF2-40B4-BE49-F238E27FC236}">
                <a16:creationId xmlns:a16="http://schemas.microsoft.com/office/drawing/2014/main" id="{FBD12F88-55E8-4EFE-03D7-24FDAFB4E11F}"/>
              </a:ext>
            </a:extLst>
          </p:cNvPr>
          <p:cNvSpPr/>
          <p:nvPr/>
        </p:nvSpPr>
        <p:spPr>
          <a:xfrm>
            <a:off x="8737600" y="3035300"/>
            <a:ext cx="16510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正方形/長方形 28">
            <a:extLst>
              <a:ext uri="{FF2B5EF4-FFF2-40B4-BE49-F238E27FC236}">
                <a16:creationId xmlns:a16="http://schemas.microsoft.com/office/drawing/2014/main" id="{1F41E91C-00AC-653A-2DA2-79D65E8F724F}"/>
              </a:ext>
            </a:extLst>
          </p:cNvPr>
          <p:cNvSpPr/>
          <p:nvPr/>
        </p:nvSpPr>
        <p:spPr>
          <a:xfrm>
            <a:off x="8737600" y="3035300"/>
            <a:ext cx="76200" cy="228600"/>
          </a:xfrm>
          <a:prstGeom prst="rect">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398AF93C-924E-BD72-9E11-CBA10F0A4944}"/>
              </a:ext>
            </a:extLst>
          </p:cNvPr>
          <p:cNvSpPr txBox="1"/>
          <p:nvPr/>
        </p:nvSpPr>
        <p:spPr>
          <a:xfrm>
            <a:off x="10490200" y="29972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3</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(1.3%)</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31" name="テキスト ボックス 30">
            <a:extLst>
              <a:ext uri="{FF2B5EF4-FFF2-40B4-BE49-F238E27FC236}">
                <a16:creationId xmlns:a16="http://schemas.microsoft.com/office/drawing/2014/main" id="{0E65D714-3F54-500B-FDE1-8B095D33E14F}"/>
              </a:ext>
            </a:extLst>
          </p:cNvPr>
          <p:cNvSpPr txBox="1"/>
          <p:nvPr/>
        </p:nvSpPr>
        <p:spPr>
          <a:xfrm>
            <a:off x="7442200" y="3429000"/>
            <a:ext cx="4292600" cy="559127"/>
          </a:xfrm>
          <a:prstGeom prst="rect">
            <a:avLst/>
          </a:prstGeom>
          <a:noFill/>
        </p:spPr>
        <p:txBody>
          <a:bodyPr vert="horz" wrap="square" lIns="50800" tIns="25400" rIns="50800" bIns="25400" rtlCol="0">
            <a:spAutoFit/>
          </a:bodyPr>
          <a:lstStyle/>
          <a:p>
            <a:r>
              <a:rPr kumimoji="1" lang="ja-JP" altLang="en-US" sz="1100">
                <a:solidFill>
                  <a:srgbClr val="0F172A"/>
                </a:solidFill>
                <a:latin typeface="Meiryo UI" panose="020B0604030504040204" pitchFamily="50" charset="-128"/>
                <a:ea typeface="Meiryo UI" panose="020B0604030504040204" pitchFamily="50" charset="-128"/>
              </a:rPr>
              <a:t>・</a:t>
            </a:r>
            <a:r>
              <a:rPr kumimoji="1" lang="en-US" altLang="ja-JP" sz="1100">
                <a:solidFill>
                  <a:srgbClr val="0F172A"/>
                </a:solidFill>
                <a:latin typeface="Meiryo UI" panose="020B0604030504040204" pitchFamily="50" charset="-128"/>
                <a:ea typeface="Meiryo UI" panose="020B0604030504040204" pitchFamily="50" charset="-128"/>
              </a:rPr>
              <a:t>1</a:t>
            </a:r>
            <a:r>
              <a:rPr kumimoji="1" lang="ja-JP" altLang="en-US" sz="1100">
                <a:solidFill>
                  <a:srgbClr val="0F172A"/>
                </a:solidFill>
                <a:latin typeface="Meiryo UI" panose="020B0604030504040204" pitchFamily="50" charset="-128"/>
                <a:ea typeface="Meiryo UI" panose="020B0604030504040204" pitchFamily="50" charset="-128"/>
              </a:rPr>
              <a:t>日目：市内 </a:t>
            </a:r>
            <a:r>
              <a:rPr kumimoji="1" lang="en-US" altLang="ja-JP" sz="1100">
                <a:solidFill>
                  <a:srgbClr val="0F172A"/>
                </a:solidFill>
                <a:latin typeface="Meiryo UI" panose="020B0604030504040204" pitchFamily="50" charset="-128"/>
                <a:ea typeface="Meiryo UI" panose="020B0604030504040204" pitchFamily="50" charset="-128"/>
              </a:rPr>
              <a:t>70.8%(75</a:t>
            </a:r>
            <a:r>
              <a:rPr kumimoji="1" lang="ja-JP" altLang="en-US" sz="1100">
                <a:solidFill>
                  <a:srgbClr val="0F172A"/>
                </a:solidFill>
                <a:latin typeface="Meiryo UI" panose="020B0604030504040204" pitchFamily="50" charset="-128"/>
                <a:ea typeface="Meiryo UI" panose="020B0604030504040204" pitchFamily="50" charset="-128"/>
              </a:rPr>
              <a:t>名</a:t>
            </a:r>
            <a:r>
              <a:rPr kumimoji="1" lang="en-US" altLang="ja-JP" sz="1100">
                <a:solidFill>
                  <a:srgbClr val="0F172A"/>
                </a:solidFill>
                <a:latin typeface="Meiryo UI" panose="020B0604030504040204" pitchFamily="50" charset="-128"/>
                <a:ea typeface="Meiryo UI" panose="020B0604030504040204" pitchFamily="50" charset="-128"/>
              </a:rPr>
              <a:t>) </a:t>
            </a:r>
            <a:r>
              <a:rPr kumimoji="1" lang="ja-JP" altLang="en-US" sz="1100">
                <a:solidFill>
                  <a:srgbClr val="0F172A"/>
                </a:solidFill>
                <a:latin typeface="Meiryo UI" panose="020B0604030504040204" pitchFamily="50" charset="-128"/>
                <a:ea typeface="Meiryo UI" panose="020B0604030504040204" pitchFamily="50" charset="-128"/>
              </a:rPr>
              <a:t>／ 市外 </a:t>
            </a:r>
            <a:r>
              <a:rPr kumimoji="1" lang="en-US" altLang="ja-JP" sz="1100">
                <a:solidFill>
                  <a:srgbClr val="0F172A"/>
                </a:solidFill>
                <a:latin typeface="Meiryo UI" panose="020B0604030504040204" pitchFamily="50" charset="-128"/>
                <a:ea typeface="Meiryo UI" panose="020B0604030504040204" pitchFamily="50" charset="-128"/>
              </a:rPr>
              <a:t>27.4%(29</a:t>
            </a:r>
            <a:r>
              <a:rPr kumimoji="1" lang="ja-JP" altLang="en-US" sz="1100">
                <a:solidFill>
                  <a:srgbClr val="0F172A"/>
                </a:solidFill>
                <a:latin typeface="Meiryo UI" panose="020B0604030504040204" pitchFamily="50" charset="-128"/>
                <a:ea typeface="Meiryo UI" panose="020B0604030504040204" pitchFamily="50" charset="-128"/>
              </a:rPr>
              <a:t>名</a:t>
            </a:r>
            <a:r>
              <a:rPr kumimoji="1" lang="en-US" altLang="ja-JP" sz="1100">
                <a:solidFill>
                  <a:srgbClr val="0F172A"/>
                </a:solidFill>
                <a:latin typeface="Meiryo UI" panose="020B0604030504040204" pitchFamily="50" charset="-128"/>
                <a:ea typeface="Meiryo UI" panose="020B0604030504040204" pitchFamily="50" charset="-128"/>
              </a:rPr>
              <a:t>)
</a:t>
            </a:r>
            <a:r>
              <a:rPr kumimoji="1" lang="ja-JP" altLang="en-US" sz="1100">
                <a:solidFill>
                  <a:srgbClr val="0F172A"/>
                </a:solidFill>
                <a:latin typeface="Meiryo UI" panose="020B0604030504040204" pitchFamily="50" charset="-128"/>
                <a:ea typeface="Meiryo UI" panose="020B0604030504040204" pitchFamily="50" charset="-128"/>
              </a:rPr>
              <a:t>・</a:t>
            </a:r>
            <a:r>
              <a:rPr kumimoji="1" lang="en-US" altLang="ja-JP" sz="1100">
                <a:solidFill>
                  <a:srgbClr val="0F172A"/>
                </a:solidFill>
                <a:latin typeface="Meiryo UI" panose="020B0604030504040204" pitchFamily="50" charset="-128"/>
                <a:ea typeface="Meiryo UI" panose="020B0604030504040204" pitchFamily="50" charset="-128"/>
              </a:rPr>
              <a:t>2</a:t>
            </a:r>
            <a:r>
              <a:rPr kumimoji="1" lang="ja-JP" altLang="en-US" sz="1100">
                <a:solidFill>
                  <a:srgbClr val="0F172A"/>
                </a:solidFill>
                <a:latin typeface="Meiryo UI" panose="020B0604030504040204" pitchFamily="50" charset="-128"/>
                <a:ea typeface="Meiryo UI" panose="020B0604030504040204" pitchFamily="50" charset="-128"/>
              </a:rPr>
              <a:t>日目：市内 </a:t>
            </a:r>
            <a:r>
              <a:rPr kumimoji="1" lang="en-US" altLang="ja-JP" sz="1100">
                <a:solidFill>
                  <a:srgbClr val="0F172A"/>
                </a:solidFill>
                <a:latin typeface="Meiryo UI" panose="020B0604030504040204" pitchFamily="50" charset="-128"/>
                <a:ea typeface="Meiryo UI" panose="020B0604030504040204" pitchFamily="50" charset="-128"/>
              </a:rPr>
              <a:t>73.8%(96</a:t>
            </a:r>
            <a:r>
              <a:rPr kumimoji="1" lang="ja-JP" altLang="en-US" sz="1100">
                <a:solidFill>
                  <a:srgbClr val="0F172A"/>
                </a:solidFill>
                <a:latin typeface="Meiryo UI" panose="020B0604030504040204" pitchFamily="50" charset="-128"/>
                <a:ea typeface="Meiryo UI" panose="020B0604030504040204" pitchFamily="50" charset="-128"/>
              </a:rPr>
              <a:t>名</a:t>
            </a:r>
            <a:r>
              <a:rPr kumimoji="1" lang="en-US" altLang="ja-JP" sz="1100">
                <a:solidFill>
                  <a:srgbClr val="0F172A"/>
                </a:solidFill>
                <a:latin typeface="Meiryo UI" panose="020B0604030504040204" pitchFamily="50" charset="-128"/>
                <a:ea typeface="Meiryo UI" panose="020B0604030504040204" pitchFamily="50" charset="-128"/>
              </a:rPr>
              <a:t>) </a:t>
            </a:r>
            <a:r>
              <a:rPr kumimoji="1" lang="ja-JP" altLang="en-US" sz="1100">
                <a:solidFill>
                  <a:srgbClr val="0F172A"/>
                </a:solidFill>
                <a:latin typeface="Meiryo UI" panose="020B0604030504040204" pitchFamily="50" charset="-128"/>
                <a:ea typeface="Meiryo UI" panose="020B0604030504040204" pitchFamily="50" charset="-128"/>
              </a:rPr>
              <a:t>／ 市外 </a:t>
            </a:r>
            <a:r>
              <a:rPr kumimoji="1" lang="en-US" altLang="ja-JP" sz="1100">
                <a:solidFill>
                  <a:srgbClr val="0F172A"/>
                </a:solidFill>
                <a:latin typeface="Meiryo UI" panose="020B0604030504040204" pitchFamily="50" charset="-128"/>
                <a:ea typeface="Meiryo UI" panose="020B0604030504040204" pitchFamily="50" charset="-128"/>
              </a:rPr>
              <a:t>25.4%(33</a:t>
            </a:r>
            <a:r>
              <a:rPr kumimoji="1" lang="ja-JP" altLang="en-US" sz="1100">
                <a:solidFill>
                  <a:srgbClr val="0F172A"/>
                </a:solidFill>
                <a:latin typeface="Meiryo UI" panose="020B0604030504040204" pitchFamily="50" charset="-128"/>
                <a:ea typeface="Meiryo UI" panose="020B0604030504040204" pitchFamily="50" charset="-128"/>
              </a:rPr>
              <a:t>名</a:t>
            </a:r>
            <a:r>
              <a:rPr kumimoji="1" lang="en-US" altLang="ja-JP" sz="1100">
                <a:solidFill>
                  <a:srgbClr val="0F172A"/>
                </a:solidFill>
                <a:latin typeface="Meiryo UI" panose="020B0604030504040204" pitchFamily="50" charset="-128"/>
                <a:ea typeface="Meiryo UI" panose="020B0604030504040204" pitchFamily="50" charset="-128"/>
              </a:rPr>
              <a:t>)
</a:t>
            </a:r>
            <a:r>
              <a:rPr kumimoji="1" lang="ja-JP" altLang="en-US" sz="1100">
                <a:solidFill>
                  <a:srgbClr val="0F172A"/>
                </a:solidFill>
                <a:latin typeface="Meiryo UI" panose="020B0604030504040204" pitchFamily="50" charset="-128"/>
                <a:ea typeface="Meiryo UI" panose="020B0604030504040204" pitchFamily="50" charset="-128"/>
              </a:rPr>
              <a:t>👉 全体の約</a:t>
            </a:r>
            <a:r>
              <a:rPr kumimoji="1" lang="en-US" altLang="ja-JP" sz="1100">
                <a:solidFill>
                  <a:srgbClr val="0F172A"/>
                </a:solidFill>
                <a:latin typeface="Meiryo UI" panose="020B0604030504040204" pitchFamily="50" charset="-128"/>
                <a:ea typeface="Meiryo UI" panose="020B0604030504040204" pitchFamily="50" charset="-128"/>
              </a:rPr>
              <a:t>4</a:t>
            </a:r>
            <a:r>
              <a:rPr kumimoji="1" lang="ja-JP" altLang="en-US" sz="1100">
                <a:solidFill>
                  <a:srgbClr val="0F172A"/>
                </a:solidFill>
                <a:latin typeface="Meiryo UI" panose="020B0604030504040204" pitchFamily="50" charset="-128"/>
                <a:ea typeface="Meiryo UI" panose="020B0604030504040204" pitchFamily="50" charset="-128"/>
              </a:rPr>
              <a:t>人に</a:t>
            </a:r>
            <a:r>
              <a:rPr kumimoji="1" lang="en-US" altLang="ja-JP" sz="1100">
                <a:solidFill>
                  <a:srgbClr val="0F172A"/>
                </a:solidFill>
                <a:latin typeface="Meiryo UI" panose="020B0604030504040204" pitchFamily="50" charset="-128"/>
                <a:ea typeface="Meiryo UI" panose="020B0604030504040204" pitchFamily="50" charset="-128"/>
              </a:rPr>
              <a:t>1</a:t>
            </a:r>
            <a:r>
              <a:rPr kumimoji="1" lang="ja-JP" altLang="en-US" sz="1100">
                <a:solidFill>
                  <a:srgbClr val="0F172A"/>
                </a:solidFill>
                <a:latin typeface="Meiryo UI" panose="020B0604030504040204" pitchFamily="50" charset="-128"/>
                <a:ea typeface="Meiryo UI" panose="020B0604030504040204" pitchFamily="50" charset="-128"/>
              </a:rPr>
              <a:t>人（</a:t>
            </a:r>
            <a:r>
              <a:rPr kumimoji="1" lang="en-US" altLang="ja-JP" sz="1100">
                <a:solidFill>
                  <a:srgbClr val="0F172A"/>
                </a:solidFill>
                <a:latin typeface="Meiryo UI" panose="020B0604030504040204" pitchFamily="50" charset="-128"/>
                <a:ea typeface="Meiryo UI" panose="020B0604030504040204" pitchFamily="50" charset="-128"/>
              </a:rPr>
              <a:t>62</a:t>
            </a:r>
            <a:r>
              <a:rPr kumimoji="1" lang="ja-JP" altLang="en-US" sz="1100">
                <a:solidFill>
                  <a:srgbClr val="0F172A"/>
                </a:solidFill>
                <a:latin typeface="Meiryo UI" panose="020B0604030504040204" pitchFamily="50" charset="-128"/>
                <a:ea typeface="Meiryo UI" panose="020B0604030504040204" pitchFamily="50" charset="-128"/>
              </a:rPr>
              <a:t>名）が市外からの広域来場！</a:t>
            </a:r>
          </a:p>
        </p:txBody>
      </p:sp>
      <p:sp>
        <p:nvSpPr>
          <p:cNvPr id="32" name="四角形: 角を丸くする 31">
            <a:extLst>
              <a:ext uri="{FF2B5EF4-FFF2-40B4-BE49-F238E27FC236}">
                <a16:creationId xmlns:a16="http://schemas.microsoft.com/office/drawing/2014/main" id="{D6131303-9CBD-F133-FE76-6F2ED883D122}"/>
              </a:ext>
            </a:extLst>
          </p:cNvPr>
          <p:cNvSpPr/>
          <p:nvPr/>
        </p:nvSpPr>
        <p:spPr>
          <a:xfrm>
            <a:off x="7239000" y="4343400"/>
            <a:ext cx="4648200" cy="2209800"/>
          </a:xfrm>
          <a:prstGeom prst="roundRect">
            <a:avLst>
              <a:gd name="adj" fmla="val 6000"/>
            </a:avLst>
          </a:prstGeom>
          <a:solidFill>
            <a:srgbClr val="FFFFFF"/>
          </a:solidFill>
          <a:ln w="15240">
            <a:solidFill>
              <a:srgbClr val="BFDB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3A182AF2-492F-3BBE-5C8F-6F0A0B7AEBD4}"/>
              </a:ext>
            </a:extLst>
          </p:cNvPr>
          <p:cNvSpPr txBox="1"/>
          <p:nvPr/>
        </p:nvSpPr>
        <p:spPr>
          <a:xfrm>
            <a:off x="7442200" y="4470400"/>
            <a:ext cx="4241800" cy="282129"/>
          </a:xfrm>
          <a:prstGeom prst="rect">
            <a:avLst/>
          </a:prstGeom>
          <a:noFill/>
        </p:spPr>
        <p:txBody>
          <a:bodyPr vert="horz" wrap="square" lIns="50800" tIns="25400" rIns="50800" bIns="25400" rtlCol="0">
            <a:spAutoFit/>
          </a:bodyPr>
          <a:lstStyle/>
          <a:p>
            <a:r>
              <a:rPr kumimoji="1" lang="ja-JP" altLang="en-US" sz="1500" b="1">
                <a:solidFill>
                  <a:srgbClr val="0F2342"/>
                </a:solidFill>
                <a:latin typeface="Meiryo UI" panose="020B0604030504040204" pitchFamily="50" charset="-128"/>
                <a:ea typeface="Meiryo UI" panose="020B0604030504040204" pitchFamily="50" charset="-128"/>
              </a:rPr>
              <a:t>🚻 性別内訳（全</a:t>
            </a:r>
            <a:r>
              <a:rPr kumimoji="1" lang="en-US" altLang="ja-JP" sz="1500" b="1">
                <a:solidFill>
                  <a:srgbClr val="0F2342"/>
                </a:solidFill>
                <a:latin typeface="Meiryo UI" panose="020B0604030504040204" pitchFamily="50" charset="-128"/>
                <a:ea typeface="Meiryo UI" panose="020B0604030504040204" pitchFamily="50" charset="-128"/>
              </a:rPr>
              <a:t>236</a:t>
            </a:r>
            <a:r>
              <a:rPr kumimoji="1" lang="ja-JP" altLang="en-US" sz="1500" b="1">
                <a:solidFill>
                  <a:srgbClr val="0F2342"/>
                </a:solidFill>
                <a:latin typeface="Meiryo UI" panose="020B0604030504040204" pitchFamily="50" charset="-128"/>
                <a:ea typeface="Meiryo UI" panose="020B0604030504040204" pitchFamily="50" charset="-128"/>
              </a:rPr>
              <a:t>名）</a:t>
            </a:r>
          </a:p>
        </p:txBody>
      </p:sp>
      <p:sp>
        <p:nvSpPr>
          <p:cNvPr id="34" name="テキスト ボックス 33">
            <a:extLst>
              <a:ext uri="{FF2B5EF4-FFF2-40B4-BE49-F238E27FC236}">
                <a16:creationId xmlns:a16="http://schemas.microsoft.com/office/drawing/2014/main" id="{BBCF7E06-4ABF-891F-BF8E-1F9AED64114A}"/>
              </a:ext>
            </a:extLst>
          </p:cNvPr>
          <p:cNvSpPr txBox="1"/>
          <p:nvPr/>
        </p:nvSpPr>
        <p:spPr>
          <a:xfrm>
            <a:off x="7442200" y="4927600"/>
            <a:ext cx="12192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女性</a:t>
            </a:r>
          </a:p>
        </p:txBody>
      </p:sp>
      <p:sp>
        <p:nvSpPr>
          <p:cNvPr id="35" name="正方形/長方形 34">
            <a:extLst>
              <a:ext uri="{FF2B5EF4-FFF2-40B4-BE49-F238E27FC236}">
                <a16:creationId xmlns:a16="http://schemas.microsoft.com/office/drawing/2014/main" id="{1E3D4B5E-5006-EE38-A593-38AFCB890600}"/>
              </a:ext>
            </a:extLst>
          </p:cNvPr>
          <p:cNvSpPr/>
          <p:nvPr/>
        </p:nvSpPr>
        <p:spPr>
          <a:xfrm>
            <a:off x="8737600" y="4965700"/>
            <a:ext cx="16510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正方形/長方形 35">
            <a:extLst>
              <a:ext uri="{FF2B5EF4-FFF2-40B4-BE49-F238E27FC236}">
                <a16:creationId xmlns:a16="http://schemas.microsoft.com/office/drawing/2014/main" id="{C7C13475-7D23-5D23-A806-67D5F8176FB2}"/>
              </a:ext>
            </a:extLst>
          </p:cNvPr>
          <p:cNvSpPr/>
          <p:nvPr/>
        </p:nvSpPr>
        <p:spPr>
          <a:xfrm>
            <a:off x="8737600" y="4965700"/>
            <a:ext cx="1066800" cy="228600"/>
          </a:xfrm>
          <a:prstGeom prst="rect">
            <a:avLst/>
          </a:prstGeom>
          <a:solidFill>
            <a:srgbClr val="DB277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テキスト ボックス 36">
            <a:extLst>
              <a:ext uri="{FF2B5EF4-FFF2-40B4-BE49-F238E27FC236}">
                <a16:creationId xmlns:a16="http://schemas.microsoft.com/office/drawing/2014/main" id="{FC50E7E5-7D3A-1C08-E912-2D754BE5FCFB}"/>
              </a:ext>
            </a:extLst>
          </p:cNvPr>
          <p:cNvSpPr txBox="1"/>
          <p:nvPr/>
        </p:nvSpPr>
        <p:spPr>
          <a:xfrm>
            <a:off x="10490200" y="49276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153</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(64.8%)</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38" name="テキスト ボックス 37">
            <a:extLst>
              <a:ext uri="{FF2B5EF4-FFF2-40B4-BE49-F238E27FC236}">
                <a16:creationId xmlns:a16="http://schemas.microsoft.com/office/drawing/2014/main" id="{6A1C2E4F-D895-1C9C-B361-03F81386DA1B}"/>
              </a:ext>
            </a:extLst>
          </p:cNvPr>
          <p:cNvSpPr txBox="1"/>
          <p:nvPr/>
        </p:nvSpPr>
        <p:spPr>
          <a:xfrm>
            <a:off x="7442200" y="5334000"/>
            <a:ext cx="12192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男性</a:t>
            </a:r>
          </a:p>
        </p:txBody>
      </p:sp>
      <p:sp>
        <p:nvSpPr>
          <p:cNvPr id="39" name="正方形/長方形 38">
            <a:extLst>
              <a:ext uri="{FF2B5EF4-FFF2-40B4-BE49-F238E27FC236}">
                <a16:creationId xmlns:a16="http://schemas.microsoft.com/office/drawing/2014/main" id="{51CBECD2-7AC4-112C-15DB-59AF7E10603C}"/>
              </a:ext>
            </a:extLst>
          </p:cNvPr>
          <p:cNvSpPr/>
          <p:nvPr/>
        </p:nvSpPr>
        <p:spPr>
          <a:xfrm>
            <a:off x="8737600" y="5372100"/>
            <a:ext cx="16510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正方形/長方形 39">
            <a:extLst>
              <a:ext uri="{FF2B5EF4-FFF2-40B4-BE49-F238E27FC236}">
                <a16:creationId xmlns:a16="http://schemas.microsoft.com/office/drawing/2014/main" id="{36367BBF-FDC3-F559-A7CF-8996A5C032A4}"/>
              </a:ext>
            </a:extLst>
          </p:cNvPr>
          <p:cNvSpPr/>
          <p:nvPr/>
        </p:nvSpPr>
        <p:spPr>
          <a:xfrm>
            <a:off x="8737600" y="5372100"/>
            <a:ext cx="571500" cy="228600"/>
          </a:xfrm>
          <a:prstGeom prst="rect">
            <a:avLst/>
          </a:prstGeom>
          <a:solidFill>
            <a:srgbClr val="1E40A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FA883201-2023-ADA2-5CEF-BA5D8BFE70F0}"/>
              </a:ext>
            </a:extLst>
          </p:cNvPr>
          <p:cNvSpPr txBox="1"/>
          <p:nvPr/>
        </p:nvSpPr>
        <p:spPr>
          <a:xfrm>
            <a:off x="10490200" y="53340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81</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(34.3%)</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42" name="テキスト ボックス 41">
            <a:extLst>
              <a:ext uri="{FF2B5EF4-FFF2-40B4-BE49-F238E27FC236}">
                <a16:creationId xmlns:a16="http://schemas.microsoft.com/office/drawing/2014/main" id="{E0AEA245-85A0-3250-66FB-3A0CB476E01E}"/>
              </a:ext>
            </a:extLst>
          </p:cNvPr>
          <p:cNvSpPr txBox="1"/>
          <p:nvPr/>
        </p:nvSpPr>
        <p:spPr>
          <a:xfrm>
            <a:off x="7442200" y="5791200"/>
            <a:ext cx="4292600" cy="389850"/>
          </a:xfrm>
          <a:prstGeom prst="rect">
            <a:avLst/>
          </a:prstGeom>
          <a:noFill/>
        </p:spPr>
        <p:txBody>
          <a:bodyPr vert="horz" wrap="square" lIns="50800" tIns="25400" rIns="50800" bIns="25400" rtlCol="0">
            <a:spAutoFit/>
          </a:bodyPr>
          <a:lstStyle/>
          <a:p>
            <a:r>
              <a:rPr kumimoji="1" lang="ja-JP" altLang="en-US" sz="1100">
                <a:solidFill>
                  <a:srgbClr val="0F172A"/>
                </a:solidFill>
                <a:latin typeface="Meiryo UI" panose="020B0604030504040204" pitchFamily="50" charset="-128"/>
                <a:ea typeface="Meiryo UI" panose="020B0604030504040204" pitchFamily="50" charset="-128"/>
              </a:rPr>
              <a:t>・女性が約</a:t>
            </a:r>
            <a:r>
              <a:rPr kumimoji="1" lang="en-US" altLang="ja-JP" sz="1100">
                <a:solidFill>
                  <a:srgbClr val="0F172A"/>
                </a:solidFill>
                <a:latin typeface="Meiryo UI" panose="020B0604030504040204" pitchFamily="50" charset="-128"/>
                <a:ea typeface="Meiryo UI" panose="020B0604030504040204" pitchFamily="50" charset="-128"/>
              </a:rPr>
              <a:t>65%</a:t>
            </a:r>
            <a:r>
              <a:rPr kumimoji="1" lang="ja-JP" altLang="en-US" sz="1100">
                <a:solidFill>
                  <a:srgbClr val="0F172A"/>
                </a:solidFill>
                <a:latin typeface="Meiryo UI" panose="020B0604030504040204" pitchFamily="50" charset="-128"/>
                <a:ea typeface="Meiryo UI" panose="020B0604030504040204" pitchFamily="50" charset="-128"/>
              </a:rPr>
              <a:t>（</a:t>
            </a:r>
            <a:r>
              <a:rPr kumimoji="1" lang="en-US" altLang="ja-JP" sz="1100">
                <a:solidFill>
                  <a:srgbClr val="0F172A"/>
                </a:solidFill>
                <a:latin typeface="Meiryo UI" panose="020B0604030504040204" pitchFamily="50" charset="-128"/>
                <a:ea typeface="Meiryo UI" panose="020B0604030504040204" pitchFamily="50" charset="-128"/>
              </a:rPr>
              <a:t>1</a:t>
            </a:r>
            <a:r>
              <a:rPr kumimoji="1" lang="ja-JP" altLang="en-US" sz="1100">
                <a:solidFill>
                  <a:srgbClr val="0F172A"/>
                </a:solidFill>
                <a:latin typeface="Meiryo UI" panose="020B0604030504040204" pitchFamily="50" charset="-128"/>
                <a:ea typeface="Meiryo UI" panose="020B0604030504040204" pitchFamily="50" charset="-128"/>
              </a:rPr>
              <a:t>日目</a:t>
            </a:r>
            <a:r>
              <a:rPr kumimoji="1" lang="en-US" altLang="ja-JP" sz="1100">
                <a:solidFill>
                  <a:srgbClr val="0F172A"/>
                </a:solidFill>
                <a:latin typeface="Meiryo UI" panose="020B0604030504040204" pitchFamily="50" charset="-128"/>
                <a:ea typeface="Meiryo UI" panose="020B0604030504040204" pitchFamily="50" charset="-128"/>
              </a:rPr>
              <a:t>62.3% → 2</a:t>
            </a:r>
            <a:r>
              <a:rPr kumimoji="1" lang="ja-JP" altLang="en-US" sz="1100">
                <a:solidFill>
                  <a:srgbClr val="0F172A"/>
                </a:solidFill>
                <a:latin typeface="Meiryo UI" panose="020B0604030504040204" pitchFamily="50" charset="-128"/>
                <a:ea typeface="Meiryo UI" panose="020B0604030504040204" pitchFamily="50" charset="-128"/>
              </a:rPr>
              <a:t>日目</a:t>
            </a:r>
            <a:r>
              <a:rPr kumimoji="1" lang="en-US" altLang="ja-JP" sz="1100">
                <a:solidFill>
                  <a:srgbClr val="0F172A"/>
                </a:solidFill>
                <a:latin typeface="Meiryo UI" panose="020B0604030504040204" pitchFamily="50" charset="-128"/>
                <a:ea typeface="Meiryo UI" panose="020B0604030504040204" pitchFamily="50" charset="-128"/>
              </a:rPr>
              <a:t>66.9%</a:t>
            </a:r>
            <a:r>
              <a:rPr kumimoji="1" lang="ja-JP" altLang="en-US" sz="1100">
                <a:solidFill>
                  <a:srgbClr val="0F172A"/>
                </a:solidFill>
                <a:latin typeface="Meiryo UI" panose="020B0604030504040204" pitchFamily="50" charset="-128"/>
                <a:ea typeface="Meiryo UI" panose="020B0604030504040204" pitchFamily="50" charset="-128"/>
              </a:rPr>
              <a:t>）を占め、家族の健康管理や栄養・測定への関心が非常に高い。</a:t>
            </a:r>
          </a:p>
        </p:txBody>
      </p:sp>
    </p:spTree>
    <p:extLst>
      <p:ext uri="{BB962C8B-B14F-4D97-AF65-F5344CB8AC3E}">
        <p14:creationId xmlns:p14="http://schemas.microsoft.com/office/powerpoint/2010/main" val="15320007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04692F91-9849-437F-EF96-1EA3273FB6AE}"/>
              </a:ext>
            </a:extLst>
          </p:cNvPr>
          <p:cNvSpPr/>
          <p:nvPr/>
        </p:nvSpPr>
        <p:spPr>
          <a:xfrm>
            <a:off x="0" y="0"/>
            <a:ext cx="12192000" cy="6858000"/>
          </a:xfrm>
          <a:prstGeom prst="rect">
            <a:avLst/>
          </a:prstGeom>
          <a:solidFill>
            <a:srgbClr val="F8FA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D7CC17CD-CA64-DBD1-1C63-779920275E4F}"/>
              </a:ext>
            </a:extLst>
          </p:cNvPr>
          <p:cNvSpPr/>
          <p:nvPr/>
        </p:nvSpPr>
        <p:spPr>
          <a:xfrm>
            <a:off x="0" y="0"/>
            <a:ext cx="12192000" cy="711200"/>
          </a:xfrm>
          <a:prstGeom prst="rect">
            <a:avLst/>
          </a:prstGeom>
          <a:solidFill>
            <a:srgbClr val="0F234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E69B3976-1FCC-E6D0-6BF8-921B0B469300}"/>
              </a:ext>
            </a:extLst>
          </p:cNvPr>
          <p:cNvSpPr/>
          <p:nvPr/>
        </p:nvSpPr>
        <p:spPr>
          <a:xfrm>
            <a:off x="304800" y="152400"/>
            <a:ext cx="1397000" cy="406400"/>
          </a:xfrm>
          <a:prstGeom prst="roundRect">
            <a:avLst>
              <a:gd name="adj" fmla="val 6000"/>
            </a:avLst>
          </a:prstGeom>
          <a:solidFill>
            <a:srgbClr val="0D9488"/>
          </a:solidFill>
          <a:ln w="1524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B2AEF05-7DF1-EA3F-6232-9CFCD532595F}"/>
              </a:ext>
            </a:extLst>
          </p:cNvPr>
          <p:cNvSpPr txBox="1"/>
          <p:nvPr/>
        </p:nvSpPr>
        <p:spPr>
          <a:xfrm>
            <a:off x="304800" y="190500"/>
            <a:ext cx="1397000" cy="235962"/>
          </a:xfrm>
          <a:prstGeom prst="rect">
            <a:avLst/>
          </a:prstGeom>
          <a:noFill/>
        </p:spPr>
        <p:txBody>
          <a:bodyPr vert="horz" wrap="square" lIns="50800" tIns="25400" rIns="50800" bIns="25400" rtlCol="0">
            <a:spAutoFit/>
          </a:bodyPr>
          <a:lstStyle/>
          <a:p>
            <a:pPr algn="ctr"/>
            <a:r>
              <a:rPr kumimoji="1" lang="en-US" altLang="ja-JP" sz="1200" b="1">
                <a:solidFill>
                  <a:srgbClr val="FFFFFF"/>
                </a:solidFill>
                <a:latin typeface="Meiryo UI" panose="020B0604030504040204" pitchFamily="50" charset="-128"/>
                <a:ea typeface="Meiryo UI" panose="020B0604030504040204" pitchFamily="50" charset="-128"/>
              </a:rPr>
              <a:t>Q1</a:t>
            </a:r>
            <a:r>
              <a:rPr kumimoji="1" lang="ja-JP" altLang="en-US" sz="1200" b="1">
                <a:solidFill>
                  <a:srgbClr val="FFFFFF"/>
                </a:solidFill>
                <a:latin typeface="Meiryo UI" panose="020B0604030504040204" pitchFamily="50" charset="-128"/>
                <a:ea typeface="Meiryo UI" panose="020B0604030504040204" pitchFamily="50" charset="-128"/>
              </a:rPr>
              <a:t>・</a:t>
            </a:r>
            <a:r>
              <a:rPr kumimoji="1" lang="en-US" altLang="ja-JP" sz="1200" b="1">
                <a:solidFill>
                  <a:srgbClr val="FFFFFF"/>
                </a:solidFill>
                <a:latin typeface="Meiryo UI" panose="020B0604030504040204" pitchFamily="50" charset="-128"/>
                <a:ea typeface="Meiryo UI" panose="020B0604030504040204" pitchFamily="50" charset="-128"/>
              </a:rPr>
              <a:t>Q2</a:t>
            </a:r>
            <a:r>
              <a:rPr kumimoji="1" lang="ja-JP" altLang="en-US" sz="1200" b="1">
                <a:solidFill>
                  <a:srgbClr val="FFFFFF"/>
                </a:solidFill>
                <a:latin typeface="Meiryo UI" panose="020B0604030504040204" pitchFamily="50" charset="-128"/>
                <a:ea typeface="Meiryo UI" panose="020B0604030504040204" pitchFamily="50" charset="-128"/>
              </a:rPr>
              <a:t>・</a:t>
            </a:r>
            <a:r>
              <a:rPr kumimoji="1" lang="en-US" altLang="ja-JP" sz="1200" b="1">
                <a:solidFill>
                  <a:srgbClr val="FFFFFF"/>
                </a:solidFill>
                <a:latin typeface="Meiryo UI" panose="020B0604030504040204" pitchFamily="50" charset="-128"/>
                <a:ea typeface="Meiryo UI" panose="020B0604030504040204" pitchFamily="50" charset="-128"/>
              </a:rPr>
              <a:t>Q3 </a:t>
            </a:r>
            <a:r>
              <a:rPr kumimoji="1" lang="ja-JP" altLang="en-US" sz="1200" b="1">
                <a:solidFill>
                  <a:srgbClr val="FFFFFF"/>
                </a:solidFill>
                <a:latin typeface="Meiryo UI" panose="020B0604030504040204" pitchFamily="50" charset="-128"/>
                <a:ea typeface="Meiryo UI" panose="020B0604030504040204" pitchFamily="50" charset="-128"/>
              </a:rPr>
              <a:t>分析</a:t>
            </a:r>
          </a:p>
        </p:txBody>
      </p:sp>
      <p:sp>
        <p:nvSpPr>
          <p:cNvPr id="6" name="テキスト ボックス 5">
            <a:extLst>
              <a:ext uri="{FF2B5EF4-FFF2-40B4-BE49-F238E27FC236}">
                <a16:creationId xmlns:a16="http://schemas.microsoft.com/office/drawing/2014/main" id="{A97B4E77-B9C6-838A-682A-B946B920EBAF}"/>
              </a:ext>
            </a:extLst>
          </p:cNvPr>
          <p:cNvSpPr txBox="1"/>
          <p:nvPr/>
        </p:nvSpPr>
        <p:spPr>
          <a:xfrm>
            <a:off x="1854200" y="139700"/>
            <a:ext cx="8636000" cy="359073"/>
          </a:xfrm>
          <a:prstGeom prst="rect">
            <a:avLst/>
          </a:prstGeom>
          <a:noFill/>
        </p:spPr>
        <p:txBody>
          <a:bodyPr vert="horz" wrap="square" lIns="50800" tIns="25400" rIns="50800" bIns="25400" rtlCol="0">
            <a:spAutoFit/>
          </a:bodyPr>
          <a:lstStyle/>
          <a:p>
            <a:r>
              <a:rPr kumimoji="1" lang="ja-JP" altLang="en-US" sz="2000" b="1">
                <a:solidFill>
                  <a:srgbClr val="FFFFFF"/>
                </a:solidFill>
                <a:latin typeface="Meiryo UI" panose="020B0604030504040204" pitchFamily="50" charset="-128"/>
                <a:ea typeface="Meiryo UI" panose="020B0604030504040204" pitchFamily="50" charset="-128"/>
              </a:rPr>
              <a:t>ブース体験評価（</a:t>
            </a:r>
            <a:r>
              <a:rPr kumimoji="1" lang="en-US" altLang="ja-JP" sz="2000" b="1">
                <a:solidFill>
                  <a:srgbClr val="FFFFFF"/>
                </a:solidFill>
                <a:latin typeface="Meiryo UI" panose="020B0604030504040204" pitchFamily="50" charset="-128"/>
                <a:ea typeface="Meiryo UI" panose="020B0604030504040204" pitchFamily="50" charset="-128"/>
              </a:rPr>
              <a:t>Q1</a:t>
            </a:r>
            <a:r>
              <a:rPr kumimoji="1" lang="ja-JP" altLang="en-US" sz="2000" b="1">
                <a:solidFill>
                  <a:srgbClr val="FFFFFF"/>
                </a:solidFill>
                <a:latin typeface="Meiryo UI" panose="020B0604030504040204" pitchFamily="50" charset="-128"/>
                <a:ea typeface="Meiryo UI" panose="020B0604030504040204" pitchFamily="50" charset="-128"/>
              </a:rPr>
              <a:t>）と 当院認知度（</a:t>
            </a:r>
            <a:r>
              <a:rPr kumimoji="1" lang="en-US" altLang="ja-JP" sz="2000" b="1">
                <a:solidFill>
                  <a:srgbClr val="FFFFFF"/>
                </a:solidFill>
                <a:latin typeface="Meiryo UI" panose="020B0604030504040204" pitchFamily="50" charset="-128"/>
                <a:ea typeface="Meiryo UI" panose="020B0604030504040204" pitchFamily="50" charset="-128"/>
              </a:rPr>
              <a:t>Q2</a:t>
            </a:r>
            <a:r>
              <a:rPr kumimoji="1" lang="ja-JP" altLang="en-US" sz="2000" b="1">
                <a:solidFill>
                  <a:srgbClr val="FFFFFF"/>
                </a:solidFill>
                <a:latin typeface="Meiryo UI" panose="020B0604030504040204" pitchFamily="50" charset="-128"/>
                <a:ea typeface="Meiryo UI" panose="020B0604030504040204" pitchFamily="50" charset="-128"/>
              </a:rPr>
              <a:t>）・利用意向（</a:t>
            </a:r>
            <a:r>
              <a:rPr kumimoji="1" lang="en-US" altLang="ja-JP" sz="2000" b="1">
                <a:solidFill>
                  <a:srgbClr val="FFFFFF"/>
                </a:solidFill>
                <a:latin typeface="Meiryo UI" panose="020B0604030504040204" pitchFamily="50" charset="-128"/>
                <a:ea typeface="Meiryo UI" panose="020B0604030504040204" pitchFamily="50" charset="-128"/>
              </a:rPr>
              <a:t>Q3</a:t>
            </a:r>
            <a:r>
              <a:rPr kumimoji="1" lang="ja-JP" altLang="en-US" sz="2000" b="1">
                <a:solidFill>
                  <a:srgbClr val="FFFFFF"/>
                </a:solidFill>
                <a:latin typeface="Meiryo UI" panose="020B0604030504040204" pitchFamily="50" charset="-128"/>
                <a:ea typeface="Meiryo UI" panose="020B0604030504040204" pitchFamily="50" charset="-128"/>
              </a:rPr>
              <a:t>）</a:t>
            </a:r>
          </a:p>
        </p:txBody>
      </p:sp>
      <p:sp>
        <p:nvSpPr>
          <p:cNvPr id="7" name="テキスト ボックス 6">
            <a:extLst>
              <a:ext uri="{FF2B5EF4-FFF2-40B4-BE49-F238E27FC236}">
                <a16:creationId xmlns:a16="http://schemas.microsoft.com/office/drawing/2014/main" id="{1AA97B03-896B-17DA-E2E7-B8A4D23BFA0B}"/>
              </a:ext>
            </a:extLst>
          </p:cNvPr>
          <p:cNvSpPr txBox="1"/>
          <p:nvPr/>
        </p:nvSpPr>
        <p:spPr>
          <a:xfrm>
            <a:off x="10541000" y="203200"/>
            <a:ext cx="1346200" cy="235962"/>
          </a:xfrm>
          <a:prstGeom prst="rect">
            <a:avLst/>
          </a:prstGeom>
          <a:noFill/>
        </p:spPr>
        <p:txBody>
          <a:bodyPr vert="horz" wrap="square" lIns="50800" tIns="25400" rIns="50800" bIns="25400" rtlCol="0">
            <a:spAutoFit/>
          </a:bodyPr>
          <a:lstStyle/>
          <a:p>
            <a:pPr algn="r"/>
            <a:r>
              <a:rPr kumimoji="1" lang="en-US" altLang="ja-JP" sz="1200" b="1">
                <a:solidFill>
                  <a:srgbClr val="CBD5E1"/>
                </a:solidFill>
                <a:latin typeface="Meiryo UI" panose="020B0604030504040204" pitchFamily="50" charset="-128"/>
                <a:ea typeface="Meiryo UI" panose="020B0604030504040204" pitchFamily="50" charset="-128"/>
              </a:rPr>
              <a:t>P. 3 / 5</a:t>
            </a:r>
            <a:endParaRPr kumimoji="1" lang="ja-JP" altLang="en-US" sz="1200" b="1">
              <a:solidFill>
                <a:srgbClr val="CBD5E1"/>
              </a:solidFill>
              <a:latin typeface="Meiryo UI" panose="020B0604030504040204" pitchFamily="50" charset="-128"/>
              <a:ea typeface="Meiryo UI" panose="020B0604030504040204" pitchFamily="50" charset="-128"/>
            </a:endParaRPr>
          </a:p>
        </p:txBody>
      </p:sp>
      <p:sp>
        <p:nvSpPr>
          <p:cNvPr id="8" name="四角形: 角を丸くする 7">
            <a:extLst>
              <a:ext uri="{FF2B5EF4-FFF2-40B4-BE49-F238E27FC236}">
                <a16:creationId xmlns:a16="http://schemas.microsoft.com/office/drawing/2014/main" id="{E60A70A8-E799-70A6-A8D3-4111D50FB066}"/>
              </a:ext>
            </a:extLst>
          </p:cNvPr>
          <p:cNvSpPr/>
          <p:nvPr/>
        </p:nvSpPr>
        <p:spPr>
          <a:xfrm>
            <a:off x="304800" y="863600"/>
            <a:ext cx="11582400" cy="584200"/>
          </a:xfrm>
          <a:prstGeom prst="roundRect">
            <a:avLst>
              <a:gd name="adj" fmla="val 6000"/>
            </a:avLst>
          </a:prstGeom>
          <a:solidFill>
            <a:srgbClr val="EFF6FF"/>
          </a:solidFill>
          <a:ln w="15240">
            <a:solidFill>
              <a:srgbClr val="BFDB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FE76C9DC-D1E2-BCDC-6362-46152CD414B6}"/>
              </a:ext>
            </a:extLst>
          </p:cNvPr>
          <p:cNvSpPr/>
          <p:nvPr/>
        </p:nvSpPr>
        <p:spPr>
          <a:xfrm>
            <a:off x="304800" y="863600"/>
            <a:ext cx="101600" cy="584200"/>
          </a:xfrm>
          <a:prstGeom prst="rect">
            <a:avLst/>
          </a:prstGeom>
          <a:solidFill>
            <a:srgbClr val="1E40A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18171753-A33B-A879-CB67-8B7D46D75910}"/>
              </a:ext>
            </a:extLst>
          </p:cNvPr>
          <p:cNvSpPr txBox="1"/>
          <p:nvPr/>
        </p:nvSpPr>
        <p:spPr>
          <a:xfrm>
            <a:off x="533400" y="939800"/>
            <a:ext cx="11226800" cy="259045"/>
          </a:xfrm>
          <a:prstGeom prst="rect">
            <a:avLst/>
          </a:prstGeom>
          <a:noFill/>
        </p:spPr>
        <p:txBody>
          <a:bodyPr vert="horz" wrap="square" lIns="50800" tIns="25400" rIns="50800" bIns="25400" rtlCol="0">
            <a:spAutoFit/>
          </a:bodyPr>
          <a:lstStyle/>
          <a:p>
            <a:r>
              <a:rPr kumimoji="1" lang="ja-JP" altLang="en-US" sz="1350" b="1">
                <a:solidFill>
                  <a:srgbClr val="0F2342"/>
                </a:solidFill>
                <a:latin typeface="Meiryo UI" panose="020B0604030504040204" pitchFamily="50" charset="-128"/>
                <a:ea typeface="Meiryo UI" panose="020B0604030504040204" pitchFamily="50" charset="-128"/>
              </a:rPr>
              <a:t>「血管年齢測定</a:t>
            </a:r>
            <a:r>
              <a:rPr kumimoji="1" lang="en-US" altLang="ja-JP" sz="1350" b="1">
                <a:solidFill>
                  <a:srgbClr val="0F2342"/>
                </a:solidFill>
                <a:latin typeface="Meiryo UI" panose="020B0604030504040204" pitchFamily="50" charset="-128"/>
                <a:ea typeface="Meiryo UI" panose="020B0604030504040204" pitchFamily="50" charset="-128"/>
              </a:rPr>
              <a:t>(72.9%)</a:t>
            </a:r>
            <a:r>
              <a:rPr kumimoji="1" lang="ja-JP" altLang="en-US" sz="1350" b="1">
                <a:solidFill>
                  <a:srgbClr val="0F2342"/>
                </a:solidFill>
                <a:latin typeface="Meiryo UI" panose="020B0604030504040204" pitchFamily="50" charset="-128"/>
                <a:ea typeface="Meiryo UI" panose="020B0604030504040204" pitchFamily="50" charset="-128"/>
              </a:rPr>
              <a:t>」「筋肉量測定</a:t>
            </a:r>
            <a:r>
              <a:rPr kumimoji="1" lang="en-US" altLang="ja-JP" sz="1350" b="1">
                <a:solidFill>
                  <a:srgbClr val="0F2342"/>
                </a:solidFill>
                <a:latin typeface="Meiryo UI" panose="020B0604030504040204" pitchFamily="50" charset="-128"/>
                <a:ea typeface="Meiryo UI" panose="020B0604030504040204" pitchFamily="50" charset="-128"/>
              </a:rPr>
              <a:t>(66.5%)</a:t>
            </a:r>
            <a:r>
              <a:rPr kumimoji="1" lang="ja-JP" altLang="en-US" sz="1350" b="1">
                <a:solidFill>
                  <a:srgbClr val="0F2342"/>
                </a:solidFill>
                <a:latin typeface="Meiryo UI" panose="020B0604030504040204" pitchFamily="50" charset="-128"/>
                <a:ea typeface="Meiryo UI" panose="020B0604030504040204" pitchFamily="50" charset="-128"/>
              </a:rPr>
              <a:t>」が集客を牽引し、新規認知</a:t>
            </a:r>
            <a:r>
              <a:rPr kumimoji="1" lang="en-US" altLang="ja-JP" sz="1350" b="1">
                <a:solidFill>
                  <a:srgbClr val="0F2342"/>
                </a:solidFill>
                <a:latin typeface="Meiryo UI" panose="020B0604030504040204" pitchFamily="50" charset="-128"/>
                <a:ea typeface="Meiryo UI" panose="020B0604030504040204" pitchFamily="50" charset="-128"/>
              </a:rPr>
              <a:t>28.4%</a:t>
            </a:r>
            <a:r>
              <a:rPr kumimoji="1" lang="ja-JP" altLang="en-US" sz="1350" b="1">
                <a:solidFill>
                  <a:srgbClr val="0F2342"/>
                </a:solidFill>
                <a:latin typeface="Meiryo UI" panose="020B0604030504040204" pitchFamily="50" charset="-128"/>
                <a:ea typeface="Meiryo UI" panose="020B0604030504040204" pitchFamily="50" charset="-128"/>
              </a:rPr>
              <a:t>・利用意向</a:t>
            </a:r>
            <a:r>
              <a:rPr kumimoji="1" lang="en-US" altLang="ja-JP" sz="1350" b="1">
                <a:solidFill>
                  <a:srgbClr val="0F2342"/>
                </a:solidFill>
                <a:latin typeface="Meiryo UI" panose="020B0604030504040204" pitchFamily="50" charset="-128"/>
                <a:ea typeface="Meiryo UI" panose="020B0604030504040204" pitchFamily="50" charset="-128"/>
              </a:rPr>
              <a:t>90.3%</a:t>
            </a:r>
            <a:r>
              <a:rPr kumimoji="1" lang="ja-JP" altLang="en-US" sz="1350" b="1">
                <a:solidFill>
                  <a:srgbClr val="0F2342"/>
                </a:solidFill>
                <a:latin typeface="Meiryo UI" panose="020B0604030504040204" pitchFamily="50" charset="-128"/>
                <a:ea typeface="Meiryo UI" panose="020B0604030504040204" pitchFamily="50" charset="-128"/>
              </a:rPr>
              <a:t>を獲得！</a:t>
            </a:r>
          </a:p>
        </p:txBody>
      </p:sp>
      <p:sp>
        <p:nvSpPr>
          <p:cNvPr id="11" name="四角形: 角を丸くする 10">
            <a:extLst>
              <a:ext uri="{FF2B5EF4-FFF2-40B4-BE49-F238E27FC236}">
                <a16:creationId xmlns:a16="http://schemas.microsoft.com/office/drawing/2014/main" id="{AA4E4363-2548-9B26-1864-120A05E5F4CE}"/>
              </a:ext>
            </a:extLst>
          </p:cNvPr>
          <p:cNvSpPr/>
          <p:nvPr/>
        </p:nvSpPr>
        <p:spPr>
          <a:xfrm>
            <a:off x="304800" y="1600200"/>
            <a:ext cx="5715000" cy="4953000"/>
          </a:xfrm>
          <a:prstGeom prst="roundRect">
            <a:avLst>
              <a:gd name="adj" fmla="val 6000"/>
            </a:avLst>
          </a:prstGeom>
          <a:solidFill>
            <a:srgbClr val="FFFFFF"/>
          </a:solidFill>
          <a:ln w="15240">
            <a:solidFill>
              <a:srgbClr val="BFDB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F55E170E-1FCC-AD56-83A0-5724ED2A76DB}"/>
              </a:ext>
            </a:extLst>
          </p:cNvPr>
          <p:cNvSpPr txBox="1"/>
          <p:nvPr/>
        </p:nvSpPr>
        <p:spPr>
          <a:xfrm>
            <a:off x="508000" y="1727200"/>
            <a:ext cx="5334000" cy="282129"/>
          </a:xfrm>
          <a:prstGeom prst="rect">
            <a:avLst/>
          </a:prstGeom>
          <a:noFill/>
        </p:spPr>
        <p:txBody>
          <a:bodyPr vert="horz" wrap="square" lIns="50800" tIns="25400" rIns="50800" bIns="25400" rtlCol="0">
            <a:spAutoFit/>
          </a:bodyPr>
          <a:lstStyle/>
          <a:p>
            <a:r>
              <a:rPr kumimoji="1" lang="ja-JP" altLang="en-US" sz="1500" b="1">
                <a:solidFill>
                  <a:srgbClr val="0F2342"/>
                </a:solidFill>
                <a:latin typeface="Meiryo UI" panose="020B0604030504040204" pitchFamily="50" charset="-128"/>
                <a:ea typeface="Meiryo UI" panose="020B0604030504040204" pitchFamily="50" charset="-128"/>
              </a:rPr>
              <a:t>🩺 </a:t>
            </a:r>
            <a:r>
              <a:rPr kumimoji="1" lang="en-US" altLang="ja-JP" sz="1500" b="1">
                <a:solidFill>
                  <a:srgbClr val="0F2342"/>
                </a:solidFill>
                <a:latin typeface="Meiryo UI" panose="020B0604030504040204" pitchFamily="50" charset="-128"/>
                <a:ea typeface="Meiryo UI" panose="020B0604030504040204" pitchFamily="50" charset="-128"/>
              </a:rPr>
              <a:t>Q1. </a:t>
            </a:r>
            <a:r>
              <a:rPr kumimoji="1" lang="ja-JP" altLang="en-US" sz="1500" b="1">
                <a:solidFill>
                  <a:srgbClr val="0F2342"/>
                </a:solidFill>
                <a:latin typeface="Meiryo UI" panose="020B0604030504040204" pitchFamily="50" charset="-128"/>
                <a:ea typeface="Meiryo UI" panose="020B0604030504040204" pitchFamily="50" charset="-128"/>
              </a:rPr>
              <a:t>本日参考になった内容（複数回答）</a:t>
            </a:r>
          </a:p>
        </p:txBody>
      </p:sp>
      <p:sp>
        <p:nvSpPr>
          <p:cNvPr id="13" name="テキスト ボックス 12">
            <a:extLst>
              <a:ext uri="{FF2B5EF4-FFF2-40B4-BE49-F238E27FC236}">
                <a16:creationId xmlns:a16="http://schemas.microsoft.com/office/drawing/2014/main" id="{1AE5B9A4-F806-0665-6AFB-A84612E6628A}"/>
              </a:ext>
            </a:extLst>
          </p:cNvPr>
          <p:cNvSpPr txBox="1"/>
          <p:nvPr/>
        </p:nvSpPr>
        <p:spPr>
          <a:xfrm>
            <a:off x="508000" y="2286000"/>
            <a:ext cx="1879600" cy="243656"/>
          </a:xfrm>
          <a:prstGeom prst="rect">
            <a:avLst/>
          </a:prstGeom>
          <a:noFill/>
        </p:spPr>
        <p:txBody>
          <a:bodyPr vert="horz" wrap="square" lIns="50800" tIns="25400" rIns="50800" bIns="25400" rtlCol="0">
            <a:spAutoFit/>
          </a:bodyPr>
          <a:lstStyle/>
          <a:p>
            <a:r>
              <a:rPr kumimoji="1" lang="zh-TW" altLang="en-US" sz="1250" b="1">
                <a:solidFill>
                  <a:srgbClr val="0F172A"/>
                </a:solidFill>
                <a:latin typeface="Meiryo UI" panose="020B0604030504040204" pitchFamily="50" charset="-128"/>
                <a:ea typeface="Meiryo UI" panose="020B0604030504040204" pitchFamily="50" charset="-128"/>
              </a:rPr>
              <a:t>① 血管年齢測定</a:t>
            </a:r>
            <a:endParaRPr kumimoji="1" lang="ja-JP" altLang="en-US" sz="1250" b="1">
              <a:solidFill>
                <a:srgbClr val="0F172A"/>
              </a:solidFill>
              <a:latin typeface="Meiryo UI" panose="020B0604030504040204" pitchFamily="50" charset="-128"/>
              <a:ea typeface="Meiryo UI" panose="020B0604030504040204" pitchFamily="50" charset="-128"/>
            </a:endParaRPr>
          </a:p>
        </p:txBody>
      </p:sp>
      <p:sp>
        <p:nvSpPr>
          <p:cNvPr id="14" name="正方形/長方形 13">
            <a:extLst>
              <a:ext uri="{FF2B5EF4-FFF2-40B4-BE49-F238E27FC236}">
                <a16:creationId xmlns:a16="http://schemas.microsoft.com/office/drawing/2014/main" id="{B2E027CA-5F9D-57DD-AB4D-916304AA9D6E}"/>
              </a:ext>
            </a:extLst>
          </p:cNvPr>
          <p:cNvSpPr/>
          <p:nvPr/>
        </p:nvSpPr>
        <p:spPr>
          <a:xfrm>
            <a:off x="2463800" y="2324100"/>
            <a:ext cx="20320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7C2B08E3-E592-5B0A-E5A9-A3E18C3A6F00}"/>
              </a:ext>
            </a:extLst>
          </p:cNvPr>
          <p:cNvSpPr/>
          <p:nvPr/>
        </p:nvSpPr>
        <p:spPr>
          <a:xfrm>
            <a:off x="2463800" y="2324100"/>
            <a:ext cx="1485900" cy="228600"/>
          </a:xfrm>
          <a:prstGeom prst="rect">
            <a:avLst/>
          </a:prstGeom>
          <a:solidFill>
            <a:srgbClr val="1E40A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A0AA6100-21D9-86FE-583A-1D5B41514A8A}"/>
              </a:ext>
            </a:extLst>
          </p:cNvPr>
          <p:cNvSpPr txBox="1"/>
          <p:nvPr/>
        </p:nvSpPr>
        <p:spPr>
          <a:xfrm>
            <a:off x="4597400" y="22860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172</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(72.9%)</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17" name="テキスト ボックス 16">
            <a:extLst>
              <a:ext uri="{FF2B5EF4-FFF2-40B4-BE49-F238E27FC236}">
                <a16:creationId xmlns:a16="http://schemas.microsoft.com/office/drawing/2014/main" id="{C72F3D95-49DC-37BA-F677-5885355EEA9B}"/>
              </a:ext>
            </a:extLst>
          </p:cNvPr>
          <p:cNvSpPr txBox="1"/>
          <p:nvPr/>
        </p:nvSpPr>
        <p:spPr>
          <a:xfrm>
            <a:off x="508000" y="2768600"/>
            <a:ext cx="18796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② 筋肉量測定</a:t>
            </a:r>
            <a:r>
              <a:rPr kumimoji="1" lang="en-US" altLang="ja-JP" sz="1250" b="1">
                <a:solidFill>
                  <a:srgbClr val="0F172A"/>
                </a:solidFill>
                <a:latin typeface="Meiryo UI" panose="020B0604030504040204" pitchFamily="50" charset="-128"/>
                <a:ea typeface="Meiryo UI" panose="020B0604030504040204" pitchFamily="50" charset="-128"/>
              </a:rPr>
              <a:t>(InBody)</a:t>
            </a:r>
            <a:endParaRPr kumimoji="1" lang="ja-JP" altLang="en-US" sz="1250" b="1">
              <a:solidFill>
                <a:srgbClr val="0F172A"/>
              </a:solidFill>
              <a:latin typeface="Meiryo UI" panose="020B0604030504040204" pitchFamily="50" charset="-128"/>
              <a:ea typeface="Meiryo UI" panose="020B0604030504040204" pitchFamily="50" charset="-128"/>
            </a:endParaRPr>
          </a:p>
        </p:txBody>
      </p:sp>
      <p:sp>
        <p:nvSpPr>
          <p:cNvPr id="18" name="正方形/長方形 17">
            <a:extLst>
              <a:ext uri="{FF2B5EF4-FFF2-40B4-BE49-F238E27FC236}">
                <a16:creationId xmlns:a16="http://schemas.microsoft.com/office/drawing/2014/main" id="{EB704214-1BC5-487F-424A-0B9D56859CCD}"/>
              </a:ext>
            </a:extLst>
          </p:cNvPr>
          <p:cNvSpPr/>
          <p:nvPr/>
        </p:nvSpPr>
        <p:spPr>
          <a:xfrm>
            <a:off x="2463800" y="2806700"/>
            <a:ext cx="20320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CB435E9F-3149-DF86-D4A6-E2798C509589}"/>
              </a:ext>
            </a:extLst>
          </p:cNvPr>
          <p:cNvSpPr/>
          <p:nvPr/>
        </p:nvSpPr>
        <p:spPr>
          <a:xfrm>
            <a:off x="2463800" y="2806700"/>
            <a:ext cx="1346200" cy="228600"/>
          </a:xfrm>
          <a:prstGeom prst="rect">
            <a:avLst/>
          </a:prstGeom>
          <a:solidFill>
            <a:srgbClr val="0D948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2FC427B3-134D-0169-DDB5-7714E9F2D68B}"/>
              </a:ext>
            </a:extLst>
          </p:cNvPr>
          <p:cNvSpPr txBox="1"/>
          <p:nvPr/>
        </p:nvSpPr>
        <p:spPr>
          <a:xfrm>
            <a:off x="4597400" y="27686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157</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(66.5%)</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21" name="テキスト ボックス 20">
            <a:extLst>
              <a:ext uri="{FF2B5EF4-FFF2-40B4-BE49-F238E27FC236}">
                <a16:creationId xmlns:a16="http://schemas.microsoft.com/office/drawing/2014/main" id="{724D72C8-8C19-450F-AC65-01A99EC9C5E4}"/>
              </a:ext>
            </a:extLst>
          </p:cNvPr>
          <p:cNvSpPr txBox="1"/>
          <p:nvPr/>
        </p:nvSpPr>
        <p:spPr>
          <a:xfrm>
            <a:off x="508000" y="3251200"/>
            <a:ext cx="18796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③ 栄養レッスン</a:t>
            </a:r>
          </a:p>
        </p:txBody>
      </p:sp>
      <p:sp>
        <p:nvSpPr>
          <p:cNvPr id="22" name="正方形/長方形 21">
            <a:extLst>
              <a:ext uri="{FF2B5EF4-FFF2-40B4-BE49-F238E27FC236}">
                <a16:creationId xmlns:a16="http://schemas.microsoft.com/office/drawing/2014/main" id="{DA296E1C-D78D-53D6-14EF-3B863A71A2EB}"/>
              </a:ext>
            </a:extLst>
          </p:cNvPr>
          <p:cNvSpPr/>
          <p:nvPr/>
        </p:nvSpPr>
        <p:spPr>
          <a:xfrm>
            <a:off x="2463800" y="3289300"/>
            <a:ext cx="20320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407A896E-DBB7-2FF0-091C-F07AFDF67EF4}"/>
              </a:ext>
            </a:extLst>
          </p:cNvPr>
          <p:cNvSpPr/>
          <p:nvPr/>
        </p:nvSpPr>
        <p:spPr>
          <a:xfrm>
            <a:off x="2463800" y="3289300"/>
            <a:ext cx="495300" cy="228600"/>
          </a:xfrm>
          <a:prstGeom prst="rect">
            <a:avLst/>
          </a:prstGeom>
          <a:solidFill>
            <a:srgbClr val="D9770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C62A2DC5-F3A3-8E41-ACC0-11BCB9CEC752}"/>
              </a:ext>
            </a:extLst>
          </p:cNvPr>
          <p:cNvSpPr txBox="1"/>
          <p:nvPr/>
        </p:nvSpPr>
        <p:spPr>
          <a:xfrm>
            <a:off x="4597400" y="32512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57</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(24.2%)</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25" name="テキスト ボックス 24">
            <a:extLst>
              <a:ext uri="{FF2B5EF4-FFF2-40B4-BE49-F238E27FC236}">
                <a16:creationId xmlns:a16="http://schemas.microsoft.com/office/drawing/2014/main" id="{3CA23D12-8FF6-F81A-0B17-2FE4C8DC211C}"/>
              </a:ext>
            </a:extLst>
          </p:cNvPr>
          <p:cNvSpPr txBox="1"/>
          <p:nvPr/>
        </p:nvSpPr>
        <p:spPr>
          <a:xfrm>
            <a:off x="508000" y="3733800"/>
            <a:ext cx="18796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④ 人生会議</a:t>
            </a:r>
            <a:r>
              <a:rPr kumimoji="1" lang="en-US" altLang="ja-JP" sz="1250" b="1">
                <a:solidFill>
                  <a:srgbClr val="0F172A"/>
                </a:solidFill>
                <a:latin typeface="Meiryo UI" panose="020B0604030504040204" pitchFamily="50" charset="-128"/>
                <a:ea typeface="Meiryo UI" panose="020B0604030504040204" pitchFamily="50" charset="-128"/>
              </a:rPr>
              <a:t>(</a:t>
            </a:r>
            <a:r>
              <a:rPr kumimoji="1" lang="ja-JP" altLang="en-US" sz="1250" b="1">
                <a:solidFill>
                  <a:srgbClr val="0F172A"/>
                </a:solidFill>
                <a:latin typeface="Meiryo UI" panose="020B0604030504040204" pitchFamily="50" charset="-128"/>
                <a:ea typeface="Meiryo UI" panose="020B0604030504040204" pitchFamily="50" charset="-128"/>
              </a:rPr>
              <a:t>終活</a:t>
            </a:r>
            <a:r>
              <a:rPr kumimoji="1" lang="en-US" altLang="ja-JP" sz="1250" b="1">
                <a:solidFill>
                  <a:srgbClr val="0F172A"/>
                </a:solidFill>
                <a:latin typeface="Meiryo UI" panose="020B0604030504040204" pitchFamily="50" charset="-128"/>
                <a:ea typeface="Meiryo UI" panose="020B0604030504040204" pitchFamily="50" charset="-128"/>
              </a:rPr>
              <a:t>)</a:t>
            </a:r>
            <a:r>
              <a:rPr kumimoji="1" lang="ja-JP" altLang="en-US" sz="1250" b="1">
                <a:solidFill>
                  <a:srgbClr val="0F172A"/>
                </a:solidFill>
                <a:latin typeface="Meiryo UI" panose="020B0604030504040204" pitchFamily="50" charset="-128"/>
                <a:ea typeface="Meiryo UI" panose="020B0604030504040204" pitchFamily="50" charset="-128"/>
              </a:rPr>
              <a:t>案内</a:t>
            </a:r>
          </a:p>
        </p:txBody>
      </p:sp>
      <p:sp>
        <p:nvSpPr>
          <p:cNvPr id="26" name="正方形/長方形 25">
            <a:extLst>
              <a:ext uri="{FF2B5EF4-FFF2-40B4-BE49-F238E27FC236}">
                <a16:creationId xmlns:a16="http://schemas.microsoft.com/office/drawing/2014/main" id="{1951DAC1-AF78-80B7-AED5-14E7A0AE42BB}"/>
              </a:ext>
            </a:extLst>
          </p:cNvPr>
          <p:cNvSpPr/>
          <p:nvPr/>
        </p:nvSpPr>
        <p:spPr>
          <a:xfrm>
            <a:off x="2463800" y="3771900"/>
            <a:ext cx="20320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正方形/長方形 26">
            <a:extLst>
              <a:ext uri="{FF2B5EF4-FFF2-40B4-BE49-F238E27FC236}">
                <a16:creationId xmlns:a16="http://schemas.microsoft.com/office/drawing/2014/main" id="{D7732EFA-9276-9C03-AF89-8ABBD7ECF442}"/>
              </a:ext>
            </a:extLst>
          </p:cNvPr>
          <p:cNvSpPr/>
          <p:nvPr/>
        </p:nvSpPr>
        <p:spPr>
          <a:xfrm>
            <a:off x="2463800" y="3771900"/>
            <a:ext cx="355600" cy="228600"/>
          </a:xfrm>
          <a:prstGeom prst="rect">
            <a:avLst/>
          </a:prstGeom>
          <a:solidFill>
            <a:srgbClr val="6D28D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74AFDD89-944F-2C77-C572-9BE536257292}"/>
              </a:ext>
            </a:extLst>
          </p:cNvPr>
          <p:cNvSpPr txBox="1"/>
          <p:nvPr/>
        </p:nvSpPr>
        <p:spPr>
          <a:xfrm>
            <a:off x="4597400" y="37338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41</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(17.4%)</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29" name="テキスト ボックス 28">
            <a:extLst>
              <a:ext uri="{FF2B5EF4-FFF2-40B4-BE49-F238E27FC236}">
                <a16:creationId xmlns:a16="http://schemas.microsoft.com/office/drawing/2014/main" id="{59F437DC-504E-CD1F-36E7-3465DB7F6E02}"/>
              </a:ext>
            </a:extLst>
          </p:cNvPr>
          <p:cNvSpPr txBox="1"/>
          <p:nvPr/>
        </p:nvSpPr>
        <p:spPr>
          <a:xfrm>
            <a:off x="508000" y="4216400"/>
            <a:ext cx="18796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⑤ お薬相談</a:t>
            </a:r>
          </a:p>
        </p:txBody>
      </p:sp>
      <p:sp>
        <p:nvSpPr>
          <p:cNvPr id="30" name="正方形/長方形 29">
            <a:extLst>
              <a:ext uri="{FF2B5EF4-FFF2-40B4-BE49-F238E27FC236}">
                <a16:creationId xmlns:a16="http://schemas.microsoft.com/office/drawing/2014/main" id="{8EE9FE9E-808B-420C-BB6C-2D48DEEBB673}"/>
              </a:ext>
            </a:extLst>
          </p:cNvPr>
          <p:cNvSpPr/>
          <p:nvPr/>
        </p:nvSpPr>
        <p:spPr>
          <a:xfrm>
            <a:off x="2463800" y="4254500"/>
            <a:ext cx="20320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a:extLst>
              <a:ext uri="{FF2B5EF4-FFF2-40B4-BE49-F238E27FC236}">
                <a16:creationId xmlns:a16="http://schemas.microsoft.com/office/drawing/2014/main" id="{025FC4FE-8ED1-5497-4A8A-5079312F0223}"/>
              </a:ext>
            </a:extLst>
          </p:cNvPr>
          <p:cNvSpPr/>
          <p:nvPr/>
        </p:nvSpPr>
        <p:spPr>
          <a:xfrm>
            <a:off x="2463800" y="4254500"/>
            <a:ext cx="279400" cy="228600"/>
          </a:xfrm>
          <a:prstGeom prst="rect">
            <a:avLst/>
          </a:prstGeom>
          <a:solidFill>
            <a:srgbClr val="4755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A70C4D83-092B-9E11-815A-411725D7DDF2}"/>
              </a:ext>
            </a:extLst>
          </p:cNvPr>
          <p:cNvSpPr txBox="1"/>
          <p:nvPr/>
        </p:nvSpPr>
        <p:spPr>
          <a:xfrm>
            <a:off x="4597400" y="42164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32</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(13.6%)</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33" name="四角形: 角を丸くする 32">
            <a:extLst>
              <a:ext uri="{FF2B5EF4-FFF2-40B4-BE49-F238E27FC236}">
                <a16:creationId xmlns:a16="http://schemas.microsoft.com/office/drawing/2014/main" id="{0DFC7EF2-B722-9A75-49A8-6A6EB5CE7943}"/>
              </a:ext>
            </a:extLst>
          </p:cNvPr>
          <p:cNvSpPr/>
          <p:nvPr/>
        </p:nvSpPr>
        <p:spPr>
          <a:xfrm>
            <a:off x="508000" y="4775200"/>
            <a:ext cx="5308600" cy="1549400"/>
          </a:xfrm>
          <a:prstGeom prst="roundRect">
            <a:avLst>
              <a:gd name="adj" fmla="val 6000"/>
            </a:avLst>
          </a:prstGeom>
          <a:solidFill>
            <a:srgbClr val="FFFBEB"/>
          </a:solidFill>
          <a:ln w="15240">
            <a:solidFill>
              <a:srgbClr val="FDE68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EF56994F-8D24-F6DC-54E8-EE51C391B03E}"/>
              </a:ext>
            </a:extLst>
          </p:cNvPr>
          <p:cNvSpPr txBox="1"/>
          <p:nvPr/>
        </p:nvSpPr>
        <p:spPr>
          <a:xfrm>
            <a:off x="660400" y="4876800"/>
            <a:ext cx="5029200" cy="897682"/>
          </a:xfrm>
          <a:prstGeom prst="rect">
            <a:avLst/>
          </a:prstGeom>
          <a:noFill/>
        </p:spPr>
        <p:txBody>
          <a:bodyPr vert="horz" wrap="square" lIns="50800" tIns="25400" rIns="50800" bIns="25400" rtlCol="0">
            <a:spAutoFit/>
          </a:bodyPr>
          <a:lstStyle/>
          <a:p>
            <a:r>
              <a:rPr kumimoji="1" lang="ja-JP" altLang="en-US" sz="1100">
                <a:solidFill>
                  <a:srgbClr val="0F172A"/>
                </a:solidFill>
                <a:latin typeface="Meiryo UI" panose="020B0604030504040204" pitchFamily="50" charset="-128"/>
                <a:ea typeface="Meiryo UI" panose="020B0604030504040204" pitchFamily="50" charset="-128"/>
              </a:rPr>
              <a:t>📌 重要ファクト（機会損失の発生）：
・血管年齢と筋肉量（</a:t>
            </a:r>
            <a:r>
              <a:rPr kumimoji="1" lang="en-US" altLang="ja-JP" sz="1100">
                <a:solidFill>
                  <a:srgbClr val="0F172A"/>
                </a:solidFill>
                <a:latin typeface="Meiryo UI" panose="020B0604030504040204" pitchFamily="50" charset="-128"/>
                <a:ea typeface="Meiryo UI" panose="020B0604030504040204" pitchFamily="50" charset="-128"/>
              </a:rPr>
              <a:t>InBody</a:t>
            </a:r>
            <a:r>
              <a:rPr kumimoji="1" lang="ja-JP" altLang="en-US" sz="1100">
                <a:solidFill>
                  <a:srgbClr val="0F172A"/>
                </a:solidFill>
                <a:latin typeface="Meiryo UI" panose="020B0604030504040204" pitchFamily="50" charset="-128"/>
                <a:ea typeface="Meiryo UI" panose="020B0604030504040204" pitchFamily="50" charset="-128"/>
              </a:rPr>
              <a:t>）が圧倒的な集客フックとして機能。
・ただし</a:t>
            </a:r>
            <a:r>
              <a:rPr kumimoji="1" lang="en-US" altLang="ja-JP" sz="1100">
                <a:solidFill>
                  <a:srgbClr val="0F172A"/>
                </a:solidFill>
                <a:latin typeface="Meiryo UI" panose="020B0604030504040204" pitchFamily="50" charset="-128"/>
                <a:ea typeface="Meiryo UI" panose="020B0604030504040204" pitchFamily="50" charset="-128"/>
              </a:rPr>
              <a:t>2</a:t>
            </a:r>
            <a:r>
              <a:rPr kumimoji="1" lang="ja-JP" altLang="en-US" sz="1100">
                <a:solidFill>
                  <a:srgbClr val="0F172A"/>
                </a:solidFill>
                <a:latin typeface="Meiryo UI" panose="020B0604030504040204" pitchFamily="50" charset="-128"/>
                <a:ea typeface="Meiryo UI" panose="020B0604030504040204" pitchFamily="50" charset="-128"/>
              </a:rPr>
              <a:t>日目は</a:t>
            </a:r>
            <a:r>
              <a:rPr kumimoji="1" lang="en-US" altLang="ja-JP" sz="1100">
                <a:solidFill>
                  <a:srgbClr val="0F172A"/>
                </a:solidFill>
                <a:latin typeface="Meiryo UI" panose="020B0604030504040204" pitchFamily="50" charset="-128"/>
                <a:ea typeface="Meiryo UI" panose="020B0604030504040204" pitchFamily="50" charset="-128"/>
              </a:rPr>
              <a:t>InBody</a:t>
            </a:r>
            <a:r>
              <a:rPr kumimoji="1" lang="ja-JP" altLang="en-US" sz="1100">
                <a:solidFill>
                  <a:srgbClr val="0F172A"/>
                </a:solidFill>
                <a:latin typeface="Meiryo UI" panose="020B0604030504040204" pitchFamily="50" charset="-128"/>
                <a:ea typeface="Meiryo UI" panose="020B0604030504040204" pitchFamily="50" charset="-128"/>
              </a:rPr>
              <a:t>希望者が殺到し、終盤に並ぶのを中止（入場制限）せざるを得なかったため、筋肉量測定の回答率が</a:t>
            </a:r>
            <a:r>
              <a:rPr kumimoji="1" lang="en-US" altLang="ja-JP" sz="1100">
                <a:solidFill>
                  <a:srgbClr val="0F172A"/>
                </a:solidFill>
                <a:latin typeface="Meiryo UI" panose="020B0604030504040204" pitchFamily="50" charset="-128"/>
                <a:ea typeface="Meiryo UI" panose="020B0604030504040204" pitchFamily="50" charset="-128"/>
              </a:rPr>
              <a:t>1</a:t>
            </a:r>
            <a:r>
              <a:rPr kumimoji="1" lang="ja-JP" altLang="en-US" sz="1100">
                <a:solidFill>
                  <a:srgbClr val="0F172A"/>
                </a:solidFill>
                <a:latin typeface="Meiryo UI" panose="020B0604030504040204" pitchFamily="50" charset="-128"/>
                <a:ea typeface="Meiryo UI" panose="020B0604030504040204" pitchFamily="50" charset="-128"/>
              </a:rPr>
              <a:t>日目</a:t>
            </a:r>
            <a:r>
              <a:rPr kumimoji="1" lang="en-US" altLang="ja-JP" sz="1100">
                <a:solidFill>
                  <a:srgbClr val="0F172A"/>
                </a:solidFill>
                <a:latin typeface="Meiryo UI" panose="020B0604030504040204" pitchFamily="50" charset="-128"/>
                <a:ea typeface="Meiryo UI" panose="020B0604030504040204" pitchFamily="50" charset="-128"/>
              </a:rPr>
              <a:t>(76.4%)→2</a:t>
            </a:r>
            <a:r>
              <a:rPr kumimoji="1" lang="ja-JP" altLang="en-US" sz="1100">
                <a:solidFill>
                  <a:srgbClr val="0F172A"/>
                </a:solidFill>
                <a:latin typeface="Meiryo UI" panose="020B0604030504040204" pitchFamily="50" charset="-128"/>
                <a:ea typeface="Meiryo UI" panose="020B0604030504040204" pitchFamily="50" charset="-128"/>
              </a:rPr>
              <a:t>日目</a:t>
            </a:r>
            <a:r>
              <a:rPr kumimoji="1" lang="en-US" altLang="ja-JP" sz="1100">
                <a:solidFill>
                  <a:srgbClr val="0F172A"/>
                </a:solidFill>
                <a:latin typeface="Meiryo UI" panose="020B0604030504040204" pitchFamily="50" charset="-128"/>
                <a:ea typeface="Meiryo UI" panose="020B0604030504040204" pitchFamily="50" charset="-128"/>
              </a:rPr>
              <a:t>(58.5%)</a:t>
            </a:r>
            <a:r>
              <a:rPr kumimoji="1" lang="ja-JP" altLang="en-US" sz="1100">
                <a:solidFill>
                  <a:srgbClr val="0F172A"/>
                </a:solidFill>
                <a:latin typeface="Meiryo UI" panose="020B0604030504040204" pitchFamily="50" charset="-128"/>
                <a:ea typeface="Meiryo UI" panose="020B0604030504040204" pitchFamily="50" charset="-128"/>
              </a:rPr>
              <a:t>へ低下。来期の「</a:t>
            </a:r>
            <a:r>
              <a:rPr kumimoji="1" lang="en-US" altLang="ja-JP" sz="1100">
                <a:solidFill>
                  <a:srgbClr val="0F172A"/>
                </a:solidFill>
                <a:latin typeface="Meiryo UI" panose="020B0604030504040204" pitchFamily="50" charset="-128"/>
                <a:ea typeface="Meiryo UI" panose="020B0604030504040204" pitchFamily="50" charset="-128"/>
              </a:rPr>
              <a:t>InBody 2</a:t>
            </a:r>
            <a:r>
              <a:rPr kumimoji="1" lang="ja-JP" altLang="en-US" sz="1100">
                <a:solidFill>
                  <a:srgbClr val="0F172A"/>
                </a:solidFill>
                <a:latin typeface="Meiryo UI" panose="020B0604030504040204" pitchFamily="50" charset="-128"/>
                <a:ea typeface="Meiryo UI" panose="020B0604030504040204" pitchFamily="50" charset="-128"/>
              </a:rPr>
              <a:t>台体制・</a:t>
            </a:r>
            <a:r>
              <a:rPr kumimoji="1" lang="en-US" altLang="ja-JP" sz="1100">
                <a:solidFill>
                  <a:srgbClr val="0F172A"/>
                </a:solidFill>
                <a:latin typeface="Meiryo UI" panose="020B0604030504040204" pitchFamily="50" charset="-128"/>
                <a:ea typeface="Meiryo UI" panose="020B0604030504040204" pitchFamily="50" charset="-128"/>
              </a:rPr>
              <a:t>4</a:t>
            </a:r>
            <a:r>
              <a:rPr kumimoji="1" lang="ja-JP" altLang="en-US" sz="1100">
                <a:solidFill>
                  <a:srgbClr val="0F172A"/>
                </a:solidFill>
                <a:latin typeface="Meiryo UI" panose="020B0604030504040204" pitchFamily="50" charset="-128"/>
                <a:ea typeface="Meiryo UI" panose="020B0604030504040204" pitchFamily="50" charset="-128"/>
              </a:rPr>
              <a:t>区画化」でさらなる伸びしろあり。</a:t>
            </a:r>
          </a:p>
        </p:txBody>
      </p:sp>
      <p:sp>
        <p:nvSpPr>
          <p:cNvPr id="35" name="四角形: 角を丸くする 34">
            <a:extLst>
              <a:ext uri="{FF2B5EF4-FFF2-40B4-BE49-F238E27FC236}">
                <a16:creationId xmlns:a16="http://schemas.microsoft.com/office/drawing/2014/main" id="{DE0E2401-EA49-20FC-1C71-610DE7B48E13}"/>
              </a:ext>
            </a:extLst>
          </p:cNvPr>
          <p:cNvSpPr/>
          <p:nvPr/>
        </p:nvSpPr>
        <p:spPr>
          <a:xfrm>
            <a:off x="6223000" y="1600200"/>
            <a:ext cx="5664200" cy="2387600"/>
          </a:xfrm>
          <a:prstGeom prst="roundRect">
            <a:avLst>
              <a:gd name="adj" fmla="val 6000"/>
            </a:avLst>
          </a:prstGeom>
          <a:solidFill>
            <a:srgbClr val="FFFFFF"/>
          </a:solidFill>
          <a:ln w="15240">
            <a:solidFill>
              <a:srgbClr val="BFDB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69F7E0B9-C0C5-FE73-8294-5F98331D0040}"/>
              </a:ext>
            </a:extLst>
          </p:cNvPr>
          <p:cNvSpPr txBox="1"/>
          <p:nvPr/>
        </p:nvSpPr>
        <p:spPr>
          <a:xfrm>
            <a:off x="6426200" y="1727200"/>
            <a:ext cx="5257800" cy="282129"/>
          </a:xfrm>
          <a:prstGeom prst="rect">
            <a:avLst/>
          </a:prstGeom>
          <a:noFill/>
        </p:spPr>
        <p:txBody>
          <a:bodyPr vert="horz" wrap="square" lIns="50800" tIns="25400" rIns="50800" bIns="25400" rtlCol="0">
            <a:spAutoFit/>
          </a:bodyPr>
          <a:lstStyle/>
          <a:p>
            <a:r>
              <a:rPr kumimoji="1" lang="ja-JP" altLang="en-US" sz="1500" b="1">
                <a:solidFill>
                  <a:srgbClr val="0F2342"/>
                </a:solidFill>
                <a:latin typeface="Meiryo UI" panose="020B0604030504040204" pitchFamily="50" charset="-128"/>
                <a:ea typeface="Meiryo UI" panose="020B0604030504040204" pitchFamily="50" charset="-128"/>
              </a:rPr>
              <a:t>🏥 </a:t>
            </a:r>
            <a:r>
              <a:rPr kumimoji="1" lang="en-US" altLang="ja-JP" sz="1500" b="1">
                <a:solidFill>
                  <a:srgbClr val="0F2342"/>
                </a:solidFill>
                <a:latin typeface="Meiryo UI" panose="020B0604030504040204" pitchFamily="50" charset="-128"/>
                <a:ea typeface="Meiryo UI" panose="020B0604030504040204" pitchFamily="50" charset="-128"/>
              </a:rPr>
              <a:t>Q2. </a:t>
            </a:r>
            <a:r>
              <a:rPr kumimoji="1" lang="ja-JP" altLang="en-US" sz="1500" b="1">
                <a:solidFill>
                  <a:srgbClr val="0F2342"/>
                </a:solidFill>
                <a:latin typeface="Meiryo UI" panose="020B0604030504040204" pitchFamily="50" charset="-128"/>
                <a:ea typeface="Meiryo UI" panose="020B0604030504040204" pitchFamily="50" charset="-128"/>
              </a:rPr>
              <a:t>これまで当院をご存知でしたか？</a:t>
            </a:r>
          </a:p>
        </p:txBody>
      </p:sp>
      <p:sp>
        <p:nvSpPr>
          <p:cNvPr id="37" name="テキスト ボックス 36">
            <a:extLst>
              <a:ext uri="{FF2B5EF4-FFF2-40B4-BE49-F238E27FC236}">
                <a16:creationId xmlns:a16="http://schemas.microsoft.com/office/drawing/2014/main" id="{590B44D3-8DD5-3178-D450-ADB02B6B64C7}"/>
              </a:ext>
            </a:extLst>
          </p:cNvPr>
          <p:cNvSpPr txBox="1"/>
          <p:nvPr/>
        </p:nvSpPr>
        <p:spPr>
          <a:xfrm>
            <a:off x="6426200" y="2184400"/>
            <a:ext cx="22225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名前や場所は知っている</a:t>
            </a:r>
          </a:p>
        </p:txBody>
      </p:sp>
      <p:sp>
        <p:nvSpPr>
          <p:cNvPr id="38" name="正方形/長方形 37">
            <a:extLst>
              <a:ext uri="{FF2B5EF4-FFF2-40B4-BE49-F238E27FC236}">
                <a16:creationId xmlns:a16="http://schemas.microsoft.com/office/drawing/2014/main" id="{11DCB7A2-2685-C9F1-88F1-2860D1680E81}"/>
              </a:ext>
            </a:extLst>
          </p:cNvPr>
          <p:cNvSpPr/>
          <p:nvPr/>
        </p:nvSpPr>
        <p:spPr>
          <a:xfrm>
            <a:off x="8724900" y="2222500"/>
            <a:ext cx="16510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正方形/長方形 38">
            <a:extLst>
              <a:ext uri="{FF2B5EF4-FFF2-40B4-BE49-F238E27FC236}">
                <a16:creationId xmlns:a16="http://schemas.microsoft.com/office/drawing/2014/main" id="{5CC13305-2DDA-B4F4-1D66-1A4D9C197702}"/>
              </a:ext>
            </a:extLst>
          </p:cNvPr>
          <p:cNvSpPr/>
          <p:nvPr/>
        </p:nvSpPr>
        <p:spPr>
          <a:xfrm>
            <a:off x="8724900" y="2222500"/>
            <a:ext cx="876300" cy="228600"/>
          </a:xfrm>
          <a:prstGeom prst="rect">
            <a:avLst/>
          </a:prstGeom>
          <a:solidFill>
            <a:srgbClr val="1E40A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FE7A6008-60C3-E1AB-5F3B-C9893B290D71}"/>
              </a:ext>
            </a:extLst>
          </p:cNvPr>
          <p:cNvSpPr txBox="1"/>
          <p:nvPr/>
        </p:nvSpPr>
        <p:spPr>
          <a:xfrm>
            <a:off x="10477500" y="21844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126</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(53.4%)</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41" name="テキスト ボックス 40">
            <a:extLst>
              <a:ext uri="{FF2B5EF4-FFF2-40B4-BE49-F238E27FC236}">
                <a16:creationId xmlns:a16="http://schemas.microsoft.com/office/drawing/2014/main" id="{CFB63245-4016-925E-1150-9CE5FC400ED0}"/>
              </a:ext>
            </a:extLst>
          </p:cNvPr>
          <p:cNvSpPr txBox="1"/>
          <p:nvPr/>
        </p:nvSpPr>
        <p:spPr>
          <a:xfrm>
            <a:off x="6426200" y="2590800"/>
            <a:ext cx="22225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今日初めて知った</a:t>
            </a:r>
            <a:r>
              <a:rPr kumimoji="1" lang="en-US" altLang="ja-JP" sz="1250" b="1">
                <a:solidFill>
                  <a:srgbClr val="0F172A"/>
                </a:solidFill>
                <a:latin typeface="Meiryo UI" panose="020B0604030504040204" pitchFamily="50" charset="-128"/>
                <a:ea typeface="Meiryo UI" panose="020B0604030504040204" pitchFamily="50" charset="-128"/>
              </a:rPr>
              <a:t>【</a:t>
            </a:r>
            <a:r>
              <a:rPr kumimoji="1" lang="ja-JP" altLang="en-US" sz="1250" b="1">
                <a:solidFill>
                  <a:srgbClr val="0F172A"/>
                </a:solidFill>
                <a:latin typeface="Meiryo UI" panose="020B0604030504040204" pitchFamily="50" charset="-128"/>
                <a:ea typeface="Meiryo UI" panose="020B0604030504040204" pitchFamily="50" charset="-128"/>
              </a:rPr>
              <a:t>新規</a:t>
            </a:r>
            <a:r>
              <a:rPr kumimoji="1" lang="en-US" altLang="ja-JP" sz="1250" b="1">
                <a:solidFill>
                  <a:srgbClr val="0F172A"/>
                </a:solidFill>
                <a:latin typeface="Meiryo UI" panose="020B0604030504040204" pitchFamily="50" charset="-128"/>
                <a:ea typeface="Meiryo UI" panose="020B0604030504040204" pitchFamily="50" charset="-128"/>
              </a:rPr>
              <a:t>】</a:t>
            </a:r>
            <a:endParaRPr kumimoji="1" lang="ja-JP" altLang="en-US" sz="1250" b="1">
              <a:solidFill>
                <a:srgbClr val="0F172A"/>
              </a:solidFill>
              <a:latin typeface="Meiryo UI" panose="020B0604030504040204" pitchFamily="50" charset="-128"/>
              <a:ea typeface="Meiryo UI" panose="020B0604030504040204" pitchFamily="50" charset="-128"/>
            </a:endParaRPr>
          </a:p>
        </p:txBody>
      </p:sp>
      <p:sp>
        <p:nvSpPr>
          <p:cNvPr id="42" name="正方形/長方形 41">
            <a:extLst>
              <a:ext uri="{FF2B5EF4-FFF2-40B4-BE49-F238E27FC236}">
                <a16:creationId xmlns:a16="http://schemas.microsoft.com/office/drawing/2014/main" id="{992220B7-67EB-895F-E7FA-BCA2AF6F67B1}"/>
              </a:ext>
            </a:extLst>
          </p:cNvPr>
          <p:cNvSpPr/>
          <p:nvPr/>
        </p:nvSpPr>
        <p:spPr>
          <a:xfrm>
            <a:off x="8724900" y="2628900"/>
            <a:ext cx="16510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正方形/長方形 42">
            <a:extLst>
              <a:ext uri="{FF2B5EF4-FFF2-40B4-BE49-F238E27FC236}">
                <a16:creationId xmlns:a16="http://schemas.microsoft.com/office/drawing/2014/main" id="{4DB4CDEB-1F82-5949-6A68-1942B39A3E60}"/>
              </a:ext>
            </a:extLst>
          </p:cNvPr>
          <p:cNvSpPr/>
          <p:nvPr/>
        </p:nvSpPr>
        <p:spPr>
          <a:xfrm>
            <a:off x="8724900" y="2628900"/>
            <a:ext cx="469900" cy="228600"/>
          </a:xfrm>
          <a:prstGeom prst="rect">
            <a:avLst/>
          </a:prstGeom>
          <a:solidFill>
            <a:srgbClr val="D9770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テキスト ボックス 43">
            <a:extLst>
              <a:ext uri="{FF2B5EF4-FFF2-40B4-BE49-F238E27FC236}">
                <a16:creationId xmlns:a16="http://schemas.microsoft.com/office/drawing/2014/main" id="{3D9629CE-E7BD-44A7-ADEE-B8B8EA063AD5}"/>
              </a:ext>
            </a:extLst>
          </p:cNvPr>
          <p:cNvSpPr txBox="1"/>
          <p:nvPr/>
        </p:nvSpPr>
        <p:spPr>
          <a:xfrm>
            <a:off x="10477500" y="25908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67</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(28.4%)</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45" name="テキスト ボックス 44">
            <a:extLst>
              <a:ext uri="{FF2B5EF4-FFF2-40B4-BE49-F238E27FC236}">
                <a16:creationId xmlns:a16="http://schemas.microsoft.com/office/drawing/2014/main" id="{26469A5C-181C-A9CB-8DCF-73D77A1F2D22}"/>
              </a:ext>
            </a:extLst>
          </p:cNvPr>
          <p:cNvSpPr txBox="1"/>
          <p:nvPr/>
        </p:nvSpPr>
        <p:spPr>
          <a:xfrm>
            <a:off x="6426200" y="2997200"/>
            <a:ext cx="22225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よく知っている</a:t>
            </a:r>
            <a:r>
              <a:rPr kumimoji="1" lang="en-US" altLang="ja-JP" sz="1250" b="1">
                <a:solidFill>
                  <a:srgbClr val="0F172A"/>
                </a:solidFill>
                <a:latin typeface="Meiryo UI" panose="020B0604030504040204" pitchFamily="50" charset="-128"/>
                <a:ea typeface="Meiryo UI" panose="020B0604030504040204" pitchFamily="50" charset="-128"/>
              </a:rPr>
              <a:t>(</a:t>
            </a:r>
            <a:r>
              <a:rPr kumimoji="1" lang="ja-JP" altLang="en-US" sz="1250" b="1">
                <a:solidFill>
                  <a:srgbClr val="0F172A"/>
                </a:solidFill>
                <a:latin typeface="Meiryo UI" panose="020B0604030504040204" pitchFamily="50" charset="-128"/>
                <a:ea typeface="Meiryo UI" panose="020B0604030504040204" pitchFamily="50" charset="-128"/>
              </a:rPr>
              <a:t>利用経験有</a:t>
            </a:r>
            <a:r>
              <a:rPr kumimoji="1" lang="en-US" altLang="ja-JP" sz="1250" b="1">
                <a:solidFill>
                  <a:srgbClr val="0F172A"/>
                </a:solidFill>
                <a:latin typeface="Meiryo UI" panose="020B0604030504040204" pitchFamily="50" charset="-128"/>
                <a:ea typeface="Meiryo UI" panose="020B0604030504040204" pitchFamily="50" charset="-128"/>
              </a:rPr>
              <a:t>)</a:t>
            </a:r>
            <a:endParaRPr kumimoji="1" lang="ja-JP" altLang="en-US" sz="1250" b="1">
              <a:solidFill>
                <a:srgbClr val="0F172A"/>
              </a:solidFill>
              <a:latin typeface="Meiryo UI" panose="020B0604030504040204" pitchFamily="50" charset="-128"/>
              <a:ea typeface="Meiryo UI" panose="020B0604030504040204" pitchFamily="50" charset="-128"/>
            </a:endParaRPr>
          </a:p>
        </p:txBody>
      </p:sp>
      <p:sp>
        <p:nvSpPr>
          <p:cNvPr id="46" name="正方形/長方形 45">
            <a:extLst>
              <a:ext uri="{FF2B5EF4-FFF2-40B4-BE49-F238E27FC236}">
                <a16:creationId xmlns:a16="http://schemas.microsoft.com/office/drawing/2014/main" id="{C8EA4AB9-4B5C-29D4-7D18-BE8E3EB96DDF}"/>
              </a:ext>
            </a:extLst>
          </p:cNvPr>
          <p:cNvSpPr/>
          <p:nvPr/>
        </p:nvSpPr>
        <p:spPr>
          <a:xfrm>
            <a:off x="8724900" y="3035300"/>
            <a:ext cx="16510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D3BE66A6-2EE8-22E0-CCEB-30253D04394F}"/>
              </a:ext>
            </a:extLst>
          </p:cNvPr>
          <p:cNvSpPr/>
          <p:nvPr/>
        </p:nvSpPr>
        <p:spPr>
          <a:xfrm>
            <a:off x="8724900" y="3035300"/>
            <a:ext cx="266700" cy="228600"/>
          </a:xfrm>
          <a:prstGeom prst="rect">
            <a:avLst/>
          </a:prstGeom>
          <a:solidFill>
            <a:srgbClr val="0D948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01AD8BA6-9F53-1D43-B483-400ABA953ED6}"/>
              </a:ext>
            </a:extLst>
          </p:cNvPr>
          <p:cNvSpPr txBox="1"/>
          <p:nvPr/>
        </p:nvSpPr>
        <p:spPr>
          <a:xfrm>
            <a:off x="10477500" y="29972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39</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(16.5%)</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49" name="テキスト ボックス 48">
            <a:extLst>
              <a:ext uri="{FF2B5EF4-FFF2-40B4-BE49-F238E27FC236}">
                <a16:creationId xmlns:a16="http://schemas.microsoft.com/office/drawing/2014/main" id="{739AD678-816F-ECE7-FB7C-44377FB91A1C}"/>
              </a:ext>
            </a:extLst>
          </p:cNvPr>
          <p:cNvSpPr txBox="1"/>
          <p:nvPr/>
        </p:nvSpPr>
        <p:spPr>
          <a:xfrm>
            <a:off x="6426200" y="3403600"/>
            <a:ext cx="5283200" cy="389850"/>
          </a:xfrm>
          <a:prstGeom prst="rect">
            <a:avLst/>
          </a:prstGeom>
          <a:noFill/>
        </p:spPr>
        <p:txBody>
          <a:bodyPr vert="horz" wrap="square" lIns="50800" tIns="25400" rIns="50800" bIns="25400" rtlCol="0">
            <a:spAutoFit/>
          </a:bodyPr>
          <a:lstStyle/>
          <a:p>
            <a:r>
              <a:rPr kumimoji="1" lang="en-US" altLang="ja-JP" sz="1100" b="1">
                <a:solidFill>
                  <a:srgbClr val="0F172A"/>
                </a:solidFill>
                <a:latin typeface="Meiryo UI" panose="020B0604030504040204" pitchFamily="50" charset="-128"/>
                <a:ea typeface="Meiryo UI" panose="020B0604030504040204" pitchFamily="50" charset="-128"/>
              </a:rPr>
              <a:t>※</a:t>
            </a:r>
            <a:r>
              <a:rPr kumimoji="1" lang="ja-JP" altLang="en-US" sz="1100" b="1">
                <a:solidFill>
                  <a:srgbClr val="0F172A"/>
                </a:solidFill>
                <a:latin typeface="Meiryo UI" panose="020B0604030504040204" pitchFamily="50" charset="-128"/>
                <a:ea typeface="Meiryo UI" panose="020B0604030504040204" pitchFamily="50" charset="-128"/>
              </a:rPr>
              <a:t>「今日初めて知った」</a:t>
            </a:r>
            <a:r>
              <a:rPr kumimoji="1" lang="en-US" altLang="ja-JP" sz="1100" b="1">
                <a:solidFill>
                  <a:srgbClr val="0F172A"/>
                </a:solidFill>
                <a:latin typeface="Meiryo UI" panose="020B0604030504040204" pitchFamily="50" charset="-128"/>
                <a:ea typeface="Meiryo UI" panose="020B0604030504040204" pitchFamily="50" charset="-128"/>
              </a:rPr>
              <a:t>67</a:t>
            </a:r>
            <a:r>
              <a:rPr kumimoji="1" lang="ja-JP" altLang="en-US" sz="1100" b="1">
                <a:solidFill>
                  <a:srgbClr val="0F172A"/>
                </a:solidFill>
                <a:latin typeface="Meiryo UI" panose="020B0604030504040204" pitchFamily="50" charset="-128"/>
                <a:ea typeface="Meiryo UI" panose="020B0604030504040204" pitchFamily="50" charset="-128"/>
              </a:rPr>
              <a:t>名（</a:t>
            </a:r>
            <a:r>
              <a:rPr kumimoji="1" lang="en-US" altLang="ja-JP" sz="1100" b="1">
                <a:solidFill>
                  <a:srgbClr val="0F172A"/>
                </a:solidFill>
                <a:latin typeface="Meiryo UI" panose="020B0604030504040204" pitchFamily="50" charset="-128"/>
                <a:ea typeface="Meiryo UI" panose="020B0604030504040204" pitchFamily="50" charset="-128"/>
              </a:rPr>
              <a:t>28.4%</a:t>
            </a:r>
            <a:r>
              <a:rPr kumimoji="1" lang="ja-JP" altLang="en-US" sz="1100" b="1">
                <a:solidFill>
                  <a:srgbClr val="0F172A"/>
                </a:solidFill>
                <a:latin typeface="Meiryo UI" panose="020B0604030504040204" pitchFamily="50" charset="-128"/>
                <a:ea typeface="Meiryo UI" panose="020B0604030504040204" pitchFamily="50" charset="-128"/>
              </a:rPr>
              <a:t>）への直接認知獲得に成功！
</a:t>
            </a:r>
            <a:r>
              <a:rPr kumimoji="1" lang="en-US" altLang="ja-JP" sz="1100" b="1">
                <a:solidFill>
                  <a:srgbClr val="0F172A"/>
                </a:solidFill>
                <a:latin typeface="Meiryo UI" panose="020B0604030504040204" pitchFamily="50" charset="-128"/>
                <a:ea typeface="Meiryo UI" panose="020B0604030504040204" pitchFamily="50" charset="-128"/>
              </a:rPr>
              <a:t>※2</a:t>
            </a:r>
            <a:r>
              <a:rPr kumimoji="1" lang="ja-JP" altLang="en-US" sz="1100" b="1">
                <a:solidFill>
                  <a:srgbClr val="0F172A"/>
                </a:solidFill>
                <a:latin typeface="Meiryo UI" panose="020B0604030504040204" pitchFamily="50" charset="-128"/>
                <a:ea typeface="Meiryo UI" panose="020B0604030504040204" pitchFamily="50" charset="-128"/>
              </a:rPr>
              <a:t>日目は「利用経験あり」が</a:t>
            </a:r>
            <a:r>
              <a:rPr kumimoji="1" lang="en-US" altLang="ja-JP" sz="1100" b="1">
                <a:solidFill>
                  <a:srgbClr val="0F172A"/>
                </a:solidFill>
                <a:latin typeface="Meiryo UI" panose="020B0604030504040204" pitchFamily="50" charset="-128"/>
                <a:ea typeface="Meiryo UI" panose="020B0604030504040204" pitchFamily="50" charset="-128"/>
              </a:rPr>
              <a:t>10.4%→21.5%</a:t>
            </a:r>
            <a:r>
              <a:rPr kumimoji="1" lang="ja-JP" altLang="en-US" sz="1100" b="1">
                <a:solidFill>
                  <a:srgbClr val="0F172A"/>
                </a:solidFill>
                <a:latin typeface="Meiryo UI" panose="020B0604030504040204" pitchFamily="50" charset="-128"/>
                <a:ea typeface="Meiryo UI" panose="020B0604030504040204" pitchFamily="50" charset="-128"/>
              </a:rPr>
              <a:t>（</a:t>
            </a:r>
            <a:r>
              <a:rPr kumimoji="1" lang="en-US" altLang="ja-JP" sz="1100" b="1">
                <a:solidFill>
                  <a:srgbClr val="0F172A"/>
                </a:solidFill>
                <a:latin typeface="Meiryo UI" panose="020B0604030504040204" pitchFamily="50" charset="-128"/>
                <a:ea typeface="Meiryo UI" panose="020B0604030504040204" pitchFamily="50" charset="-128"/>
              </a:rPr>
              <a:t>28</a:t>
            </a:r>
            <a:r>
              <a:rPr kumimoji="1" lang="ja-JP" altLang="en-US" sz="1100" b="1">
                <a:solidFill>
                  <a:srgbClr val="0F172A"/>
                </a:solidFill>
                <a:latin typeface="Meiryo UI" panose="020B0604030504040204" pitchFamily="50" charset="-128"/>
                <a:ea typeface="Meiryo UI" panose="020B0604030504040204" pitchFamily="50" charset="-128"/>
              </a:rPr>
              <a:t>名）へ倍増。</a:t>
            </a:r>
          </a:p>
        </p:txBody>
      </p:sp>
      <p:sp>
        <p:nvSpPr>
          <p:cNvPr id="50" name="四角形: 角を丸くする 49">
            <a:extLst>
              <a:ext uri="{FF2B5EF4-FFF2-40B4-BE49-F238E27FC236}">
                <a16:creationId xmlns:a16="http://schemas.microsoft.com/office/drawing/2014/main" id="{1302BB3B-EAFF-E9FA-3D7B-427B8242E089}"/>
              </a:ext>
            </a:extLst>
          </p:cNvPr>
          <p:cNvSpPr/>
          <p:nvPr/>
        </p:nvSpPr>
        <p:spPr>
          <a:xfrm>
            <a:off x="6223000" y="4165600"/>
            <a:ext cx="5664200" cy="2387600"/>
          </a:xfrm>
          <a:prstGeom prst="roundRect">
            <a:avLst>
              <a:gd name="adj" fmla="val 6000"/>
            </a:avLst>
          </a:prstGeom>
          <a:solidFill>
            <a:srgbClr val="FFFFFF"/>
          </a:solidFill>
          <a:ln w="15240">
            <a:solidFill>
              <a:srgbClr val="BFDB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117DBCFB-67C0-5766-26ED-5BA2A166A00D}"/>
              </a:ext>
            </a:extLst>
          </p:cNvPr>
          <p:cNvSpPr txBox="1"/>
          <p:nvPr/>
        </p:nvSpPr>
        <p:spPr>
          <a:xfrm>
            <a:off x="6426200" y="4292600"/>
            <a:ext cx="5257800" cy="282129"/>
          </a:xfrm>
          <a:prstGeom prst="rect">
            <a:avLst/>
          </a:prstGeom>
          <a:noFill/>
        </p:spPr>
        <p:txBody>
          <a:bodyPr vert="horz" wrap="square" lIns="50800" tIns="25400" rIns="50800" bIns="25400" rtlCol="0">
            <a:spAutoFit/>
          </a:bodyPr>
          <a:lstStyle/>
          <a:p>
            <a:r>
              <a:rPr kumimoji="1" lang="ja-JP" altLang="en-US" sz="1500" b="1">
                <a:solidFill>
                  <a:srgbClr val="0F2342"/>
                </a:solidFill>
                <a:latin typeface="Meiryo UI" panose="020B0604030504040204" pitchFamily="50" charset="-128"/>
                <a:ea typeface="Meiryo UI" panose="020B0604030504040204" pitchFamily="50" charset="-128"/>
              </a:rPr>
              <a:t>🤝 </a:t>
            </a:r>
            <a:r>
              <a:rPr kumimoji="1" lang="en-US" altLang="ja-JP" sz="1500" b="1">
                <a:solidFill>
                  <a:srgbClr val="0F2342"/>
                </a:solidFill>
                <a:latin typeface="Meiryo UI" panose="020B0604030504040204" pitchFamily="50" charset="-128"/>
                <a:ea typeface="Meiryo UI" panose="020B0604030504040204" pitchFamily="50" charset="-128"/>
              </a:rPr>
              <a:t>Q3. </a:t>
            </a:r>
            <a:r>
              <a:rPr kumimoji="1" lang="ja-JP" altLang="en-US" sz="1500" b="1">
                <a:solidFill>
                  <a:srgbClr val="0F2342"/>
                </a:solidFill>
                <a:latin typeface="Meiryo UI" panose="020B0604030504040204" pitchFamily="50" charset="-128"/>
                <a:ea typeface="Meiryo UI" panose="020B0604030504040204" pitchFamily="50" charset="-128"/>
              </a:rPr>
              <a:t>万が一の際、当院を利用したいですか？</a:t>
            </a:r>
          </a:p>
        </p:txBody>
      </p:sp>
      <p:sp>
        <p:nvSpPr>
          <p:cNvPr id="52" name="テキスト ボックス 51">
            <a:extLst>
              <a:ext uri="{FF2B5EF4-FFF2-40B4-BE49-F238E27FC236}">
                <a16:creationId xmlns:a16="http://schemas.microsoft.com/office/drawing/2014/main" id="{3A260702-36B8-06FB-FAFF-4002818684B5}"/>
              </a:ext>
            </a:extLst>
          </p:cNvPr>
          <p:cNvSpPr txBox="1"/>
          <p:nvPr/>
        </p:nvSpPr>
        <p:spPr>
          <a:xfrm>
            <a:off x="6426200" y="4749800"/>
            <a:ext cx="22225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候補の一つとして検討</a:t>
            </a:r>
          </a:p>
        </p:txBody>
      </p:sp>
      <p:sp>
        <p:nvSpPr>
          <p:cNvPr id="53" name="正方形/長方形 52">
            <a:extLst>
              <a:ext uri="{FF2B5EF4-FFF2-40B4-BE49-F238E27FC236}">
                <a16:creationId xmlns:a16="http://schemas.microsoft.com/office/drawing/2014/main" id="{09BEF909-C65E-64B0-F6AF-A4E612F848C5}"/>
              </a:ext>
            </a:extLst>
          </p:cNvPr>
          <p:cNvSpPr/>
          <p:nvPr/>
        </p:nvSpPr>
        <p:spPr>
          <a:xfrm>
            <a:off x="8724900" y="4787900"/>
            <a:ext cx="16510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正方形/長方形 53">
            <a:extLst>
              <a:ext uri="{FF2B5EF4-FFF2-40B4-BE49-F238E27FC236}">
                <a16:creationId xmlns:a16="http://schemas.microsoft.com/office/drawing/2014/main" id="{0F60BFE5-43B1-B219-5686-DF3F20169524}"/>
              </a:ext>
            </a:extLst>
          </p:cNvPr>
          <p:cNvSpPr/>
          <p:nvPr/>
        </p:nvSpPr>
        <p:spPr>
          <a:xfrm>
            <a:off x="8724900" y="4787900"/>
            <a:ext cx="1066800" cy="228600"/>
          </a:xfrm>
          <a:prstGeom prst="rect">
            <a:avLst/>
          </a:prstGeom>
          <a:solidFill>
            <a:srgbClr val="1E40A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B22DE418-3077-43AE-95A5-2B5683376E26}"/>
              </a:ext>
            </a:extLst>
          </p:cNvPr>
          <p:cNvSpPr txBox="1"/>
          <p:nvPr/>
        </p:nvSpPr>
        <p:spPr>
          <a:xfrm>
            <a:off x="10477500" y="47498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153</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(64.8%)</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56" name="テキスト ボックス 55">
            <a:extLst>
              <a:ext uri="{FF2B5EF4-FFF2-40B4-BE49-F238E27FC236}">
                <a16:creationId xmlns:a16="http://schemas.microsoft.com/office/drawing/2014/main" id="{AAF68B44-BE7B-9209-3ABC-B285E2EAABD2}"/>
              </a:ext>
            </a:extLst>
          </p:cNvPr>
          <p:cNvSpPr txBox="1"/>
          <p:nvPr/>
        </p:nvSpPr>
        <p:spPr>
          <a:xfrm>
            <a:off x="6426200" y="5156200"/>
            <a:ext cx="22225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ぜひ利用したい</a:t>
            </a:r>
          </a:p>
        </p:txBody>
      </p:sp>
      <p:sp>
        <p:nvSpPr>
          <p:cNvPr id="57" name="正方形/長方形 56">
            <a:extLst>
              <a:ext uri="{FF2B5EF4-FFF2-40B4-BE49-F238E27FC236}">
                <a16:creationId xmlns:a16="http://schemas.microsoft.com/office/drawing/2014/main" id="{119024CE-D654-7BDD-CACA-6F68F5253FDC}"/>
              </a:ext>
            </a:extLst>
          </p:cNvPr>
          <p:cNvSpPr/>
          <p:nvPr/>
        </p:nvSpPr>
        <p:spPr>
          <a:xfrm>
            <a:off x="8724900" y="5194300"/>
            <a:ext cx="16510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正方形/長方形 57">
            <a:extLst>
              <a:ext uri="{FF2B5EF4-FFF2-40B4-BE49-F238E27FC236}">
                <a16:creationId xmlns:a16="http://schemas.microsoft.com/office/drawing/2014/main" id="{702DB1B8-42A9-0278-B9A4-A328243E0BFA}"/>
              </a:ext>
            </a:extLst>
          </p:cNvPr>
          <p:cNvSpPr/>
          <p:nvPr/>
        </p:nvSpPr>
        <p:spPr>
          <a:xfrm>
            <a:off x="8724900" y="5194300"/>
            <a:ext cx="419100" cy="228600"/>
          </a:xfrm>
          <a:prstGeom prst="rect">
            <a:avLst/>
          </a:prstGeom>
          <a:solidFill>
            <a:srgbClr val="0D948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テキスト ボックス 58">
            <a:extLst>
              <a:ext uri="{FF2B5EF4-FFF2-40B4-BE49-F238E27FC236}">
                <a16:creationId xmlns:a16="http://schemas.microsoft.com/office/drawing/2014/main" id="{38E880F9-D6C8-B323-6102-7A79AEAF24B1}"/>
              </a:ext>
            </a:extLst>
          </p:cNvPr>
          <p:cNvSpPr txBox="1"/>
          <p:nvPr/>
        </p:nvSpPr>
        <p:spPr>
          <a:xfrm>
            <a:off x="10477500" y="51562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60</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(25.4%)</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60" name="テキスト ボックス 59">
            <a:extLst>
              <a:ext uri="{FF2B5EF4-FFF2-40B4-BE49-F238E27FC236}">
                <a16:creationId xmlns:a16="http://schemas.microsoft.com/office/drawing/2014/main" id="{F2005732-FB77-E441-124A-4205AB6111AA}"/>
              </a:ext>
            </a:extLst>
          </p:cNvPr>
          <p:cNvSpPr txBox="1"/>
          <p:nvPr/>
        </p:nvSpPr>
        <p:spPr>
          <a:xfrm>
            <a:off x="6426200" y="5562600"/>
            <a:ext cx="22225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他の病院・わからない</a:t>
            </a:r>
          </a:p>
        </p:txBody>
      </p:sp>
      <p:sp>
        <p:nvSpPr>
          <p:cNvPr id="61" name="正方形/長方形 60">
            <a:extLst>
              <a:ext uri="{FF2B5EF4-FFF2-40B4-BE49-F238E27FC236}">
                <a16:creationId xmlns:a16="http://schemas.microsoft.com/office/drawing/2014/main" id="{5E5B058A-1F23-587A-1E5B-5098E1B6DECD}"/>
              </a:ext>
            </a:extLst>
          </p:cNvPr>
          <p:cNvSpPr/>
          <p:nvPr/>
        </p:nvSpPr>
        <p:spPr>
          <a:xfrm>
            <a:off x="8724900" y="5600700"/>
            <a:ext cx="16510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正方形/長方形 61">
            <a:extLst>
              <a:ext uri="{FF2B5EF4-FFF2-40B4-BE49-F238E27FC236}">
                <a16:creationId xmlns:a16="http://schemas.microsoft.com/office/drawing/2014/main" id="{2926EDDC-0216-7847-E89B-07A7E03E6509}"/>
              </a:ext>
            </a:extLst>
          </p:cNvPr>
          <p:cNvSpPr/>
          <p:nvPr/>
        </p:nvSpPr>
        <p:spPr>
          <a:xfrm>
            <a:off x="8724900" y="5600700"/>
            <a:ext cx="114300" cy="228600"/>
          </a:xfrm>
          <a:prstGeom prst="rect">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D788AECF-B3BA-0409-C168-D404754F05F5}"/>
              </a:ext>
            </a:extLst>
          </p:cNvPr>
          <p:cNvSpPr txBox="1"/>
          <p:nvPr/>
        </p:nvSpPr>
        <p:spPr>
          <a:xfrm>
            <a:off x="10477500" y="55626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17</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(7.2%)</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64" name="四角形: 角を丸くする 63">
            <a:extLst>
              <a:ext uri="{FF2B5EF4-FFF2-40B4-BE49-F238E27FC236}">
                <a16:creationId xmlns:a16="http://schemas.microsoft.com/office/drawing/2014/main" id="{8E145F8B-AEB7-F9C2-666A-5C69792F94CA}"/>
              </a:ext>
            </a:extLst>
          </p:cNvPr>
          <p:cNvSpPr/>
          <p:nvPr/>
        </p:nvSpPr>
        <p:spPr>
          <a:xfrm>
            <a:off x="6426200" y="5943600"/>
            <a:ext cx="5257800" cy="457200"/>
          </a:xfrm>
          <a:prstGeom prst="roundRect">
            <a:avLst>
              <a:gd name="adj" fmla="val 6000"/>
            </a:avLst>
          </a:prstGeom>
          <a:solidFill>
            <a:srgbClr val="F0FDFA"/>
          </a:solidFill>
          <a:ln w="15240">
            <a:solidFill>
              <a:srgbClr val="99F6E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テキスト ボックス 64">
            <a:extLst>
              <a:ext uri="{FF2B5EF4-FFF2-40B4-BE49-F238E27FC236}">
                <a16:creationId xmlns:a16="http://schemas.microsoft.com/office/drawing/2014/main" id="{FF18ECCD-C35A-CE28-A50D-4B30B1BDBD36}"/>
              </a:ext>
            </a:extLst>
          </p:cNvPr>
          <p:cNvSpPr txBox="1"/>
          <p:nvPr/>
        </p:nvSpPr>
        <p:spPr>
          <a:xfrm>
            <a:off x="6553200" y="6019800"/>
            <a:ext cx="5029200" cy="235962"/>
          </a:xfrm>
          <a:prstGeom prst="rect">
            <a:avLst/>
          </a:prstGeom>
          <a:noFill/>
        </p:spPr>
        <p:txBody>
          <a:bodyPr vert="horz" wrap="square" lIns="50800" tIns="25400" rIns="50800" bIns="25400" rtlCol="0">
            <a:spAutoFit/>
          </a:bodyPr>
          <a:lstStyle/>
          <a:p>
            <a:r>
              <a:rPr kumimoji="1" lang="ja-JP" altLang="en-US" sz="1200" b="1">
                <a:solidFill>
                  <a:srgbClr val="0D9488"/>
                </a:solidFill>
                <a:latin typeface="Meiryo UI" panose="020B0604030504040204" pitchFamily="50" charset="-128"/>
                <a:ea typeface="Meiryo UI" panose="020B0604030504040204" pitchFamily="50" charset="-128"/>
              </a:rPr>
              <a:t>✅ 「ぜひ利用＋検討したい」合計 </a:t>
            </a:r>
            <a:r>
              <a:rPr kumimoji="1" lang="en-US" altLang="ja-JP" sz="1200" b="1">
                <a:solidFill>
                  <a:srgbClr val="0D9488"/>
                </a:solidFill>
                <a:latin typeface="Meiryo UI" panose="020B0604030504040204" pitchFamily="50" charset="-128"/>
                <a:ea typeface="Meiryo UI" panose="020B0604030504040204" pitchFamily="50" charset="-128"/>
              </a:rPr>
              <a:t>213</a:t>
            </a:r>
            <a:r>
              <a:rPr kumimoji="1" lang="ja-JP" altLang="en-US" sz="1200" b="1">
                <a:solidFill>
                  <a:srgbClr val="0D9488"/>
                </a:solidFill>
                <a:latin typeface="Meiryo UI" panose="020B0604030504040204" pitchFamily="50" charset="-128"/>
                <a:ea typeface="Meiryo UI" panose="020B0604030504040204" pitchFamily="50" charset="-128"/>
              </a:rPr>
              <a:t>名（</a:t>
            </a:r>
            <a:r>
              <a:rPr kumimoji="1" lang="en-US" altLang="ja-JP" sz="1200" b="1">
                <a:solidFill>
                  <a:srgbClr val="0D9488"/>
                </a:solidFill>
                <a:latin typeface="Meiryo UI" panose="020B0604030504040204" pitchFamily="50" charset="-128"/>
                <a:ea typeface="Meiryo UI" panose="020B0604030504040204" pitchFamily="50" charset="-128"/>
              </a:rPr>
              <a:t>90.3%</a:t>
            </a:r>
            <a:r>
              <a:rPr kumimoji="1" lang="ja-JP" altLang="en-US" sz="1200" b="1">
                <a:solidFill>
                  <a:srgbClr val="0D9488"/>
                </a:solidFill>
                <a:latin typeface="Meiryo UI" panose="020B0604030504040204" pitchFamily="50" charset="-128"/>
                <a:ea typeface="Meiryo UI" panose="020B0604030504040204" pitchFamily="50" charset="-128"/>
              </a:rPr>
              <a:t>）が好意的意向！</a:t>
            </a:r>
          </a:p>
        </p:txBody>
      </p:sp>
    </p:spTree>
    <p:extLst>
      <p:ext uri="{BB962C8B-B14F-4D97-AF65-F5344CB8AC3E}">
        <p14:creationId xmlns:p14="http://schemas.microsoft.com/office/powerpoint/2010/main" val="3512903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10C987F3-3C1A-67C9-63BB-04E56B79B41C}"/>
              </a:ext>
            </a:extLst>
          </p:cNvPr>
          <p:cNvSpPr/>
          <p:nvPr/>
        </p:nvSpPr>
        <p:spPr>
          <a:xfrm>
            <a:off x="0" y="0"/>
            <a:ext cx="12192000" cy="6858000"/>
          </a:xfrm>
          <a:prstGeom prst="rect">
            <a:avLst/>
          </a:prstGeom>
          <a:solidFill>
            <a:srgbClr val="F8FA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F2C57ECF-E72E-34F6-EE4F-5AA95A40F8E8}"/>
              </a:ext>
            </a:extLst>
          </p:cNvPr>
          <p:cNvSpPr/>
          <p:nvPr/>
        </p:nvSpPr>
        <p:spPr>
          <a:xfrm>
            <a:off x="0" y="0"/>
            <a:ext cx="12192000" cy="711200"/>
          </a:xfrm>
          <a:prstGeom prst="rect">
            <a:avLst/>
          </a:prstGeom>
          <a:solidFill>
            <a:srgbClr val="0F234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5AF12FBD-CF1D-92AB-9E24-9263FECD4381}"/>
              </a:ext>
            </a:extLst>
          </p:cNvPr>
          <p:cNvSpPr/>
          <p:nvPr/>
        </p:nvSpPr>
        <p:spPr>
          <a:xfrm>
            <a:off x="304800" y="152400"/>
            <a:ext cx="1397000" cy="406400"/>
          </a:xfrm>
          <a:prstGeom prst="roundRect">
            <a:avLst>
              <a:gd name="adj" fmla="val 6000"/>
            </a:avLst>
          </a:prstGeom>
          <a:solidFill>
            <a:srgbClr val="0D9488"/>
          </a:solidFill>
          <a:ln w="1524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8DC17B4F-99FD-84B8-4DC8-866F44F14AD1}"/>
              </a:ext>
            </a:extLst>
          </p:cNvPr>
          <p:cNvSpPr txBox="1"/>
          <p:nvPr/>
        </p:nvSpPr>
        <p:spPr>
          <a:xfrm>
            <a:off x="304800" y="190500"/>
            <a:ext cx="1397000" cy="235962"/>
          </a:xfrm>
          <a:prstGeom prst="rect">
            <a:avLst/>
          </a:prstGeom>
          <a:noFill/>
        </p:spPr>
        <p:txBody>
          <a:bodyPr vert="horz" wrap="square" lIns="50800" tIns="25400" rIns="50800" bIns="25400" rtlCol="0">
            <a:spAutoFit/>
          </a:bodyPr>
          <a:lstStyle/>
          <a:p>
            <a:pPr algn="ctr"/>
            <a:r>
              <a:rPr kumimoji="1" lang="en-US" altLang="ja-JP" sz="1200" b="1">
                <a:solidFill>
                  <a:srgbClr val="FFFFFF"/>
                </a:solidFill>
                <a:latin typeface="Meiryo UI" panose="020B0604030504040204" pitchFamily="50" charset="-128"/>
                <a:ea typeface="Meiryo UI" panose="020B0604030504040204" pitchFamily="50" charset="-128"/>
              </a:rPr>
              <a:t>Q4</a:t>
            </a:r>
            <a:r>
              <a:rPr kumimoji="1" lang="ja-JP" altLang="en-US" sz="1200" b="1">
                <a:solidFill>
                  <a:srgbClr val="FFFFFF"/>
                </a:solidFill>
                <a:latin typeface="Meiryo UI" panose="020B0604030504040204" pitchFamily="50" charset="-128"/>
                <a:ea typeface="Meiryo UI" panose="020B0604030504040204" pitchFamily="50" charset="-128"/>
              </a:rPr>
              <a:t>・</a:t>
            </a:r>
            <a:r>
              <a:rPr kumimoji="1" lang="en-US" altLang="ja-JP" sz="1200" b="1">
                <a:solidFill>
                  <a:srgbClr val="FFFFFF"/>
                </a:solidFill>
                <a:latin typeface="Meiryo UI" panose="020B0604030504040204" pitchFamily="50" charset="-128"/>
                <a:ea typeface="Meiryo UI" panose="020B0604030504040204" pitchFamily="50" charset="-128"/>
              </a:rPr>
              <a:t>Q5 </a:t>
            </a:r>
            <a:r>
              <a:rPr kumimoji="1" lang="ja-JP" altLang="en-US" sz="1200" b="1">
                <a:solidFill>
                  <a:srgbClr val="FFFFFF"/>
                </a:solidFill>
                <a:latin typeface="Meiryo UI" panose="020B0604030504040204" pitchFamily="50" charset="-128"/>
                <a:ea typeface="Meiryo UI" panose="020B0604030504040204" pitchFamily="50" charset="-128"/>
              </a:rPr>
              <a:t>ニーズ分析</a:t>
            </a:r>
          </a:p>
        </p:txBody>
      </p:sp>
      <p:sp>
        <p:nvSpPr>
          <p:cNvPr id="6" name="テキスト ボックス 5">
            <a:extLst>
              <a:ext uri="{FF2B5EF4-FFF2-40B4-BE49-F238E27FC236}">
                <a16:creationId xmlns:a16="http://schemas.microsoft.com/office/drawing/2014/main" id="{67DFF406-FB0B-CDE7-3065-7C96C6893900}"/>
              </a:ext>
            </a:extLst>
          </p:cNvPr>
          <p:cNvSpPr txBox="1"/>
          <p:nvPr/>
        </p:nvSpPr>
        <p:spPr>
          <a:xfrm>
            <a:off x="1854200" y="139700"/>
            <a:ext cx="8636000" cy="359073"/>
          </a:xfrm>
          <a:prstGeom prst="rect">
            <a:avLst/>
          </a:prstGeom>
          <a:noFill/>
        </p:spPr>
        <p:txBody>
          <a:bodyPr vert="horz" wrap="square" lIns="50800" tIns="25400" rIns="50800" bIns="25400" rtlCol="0">
            <a:spAutoFit/>
          </a:bodyPr>
          <a:lstStyle/>
          <a:p>
            <a:r>
              <a:rPr kumimoji="1" lang="ja-JP" altLang="en-US" sz="2000" b="1">
                <a:solidFill>
                  <a:srgbClr val="FFFFFF"/>
                </a:solidFill>
                <a:latin typeface="Meiryo UI" panose="020B0604030504040204" pitchFamily="50" charset="-128"/>
                <a:ea typeface="Meiryo UI" panose="020B0604030504040204" pitchFamily="50" charset="-128"/>
              </a:rPr>
              <a:t>地域の健康課題（</a:t>
            </a:r>
            <a:r>
              <a:rPr kumimoji="1" lang="en-US" altLang="ja-JP" sz="2000" b="1">
                <a:solidFill>
                  <a:srgbClr val="FFFFFF"/>
                </a:solidFill>
                <a:latin typeface="Meiryo UI" panose="020B0604030504040204" pitchFamily="50" charset="-128"/>
                <a:ea typeface="Meiryo UI" panose="020B0604030504040204" pitchFamily="50" charset="-128"/>
              </a:rPr>
              <a:t>Q4</a:t>
            </a:r>
            <a:r>
              <a:rPr kumimoji="1" lang="ja-JP" altLang="en-US" sz="2000" b="1">
                <a:solidFill>
                  <a:srgbClr val="FFFFFF"/>
                </a:solidFill>
                <a:latin typeface="Meiryo UI" panose="020B0604030504040204" pitchFamily="50" charset="-128"/>
                <a:ea typeface="Meiryo UI" panose="020B0604030504040204" pitchFamily="50" charset="-128"/>
              </a:rPr>
              <a:t>）と 来年への期待（</a:t>
            </a:r>
            <a:r>
              <a:rPr kumimoji="1" lang="en-US" altLang="ja-JP" sz="2000" b="1">
                <a:solidFill>
                  <a:srgbClr val="FFFFFF"/>
                </a:solidFill>
                <a:latin typeface="Meiryo UI" panose="020B0604030504040204" pitchFamily="50" charset="-128"/>
                <a:ea typeface="Meiryo UI" panose="020B0604030504040204" pitchFamily="50" charset="-128"/>
              </a:rPr>
              <a:t>Q5</a:t>
            </a:r>
            <a:r>
              <a:rPr kumimoji="1" lang="ja-JP" altLang="en-US" sz="2000" b="1">
                <a:solidFill>
                  <a:srgbClr val="FFFFFF"/>
                </a:solidFill>
                <a:latin typeface="Meiryo UI" panose="020B0604030504040204" pitchFamily="50" charset="-128"/>
                <a:ea typeface="Meiryo UI" panose="020B0604030504040204" pitchFamily="50" charset="-128"/>
              </a:rPr>
              <a:t>自由記述）</a:t>
            </a:r>
          </a:p>
        </p:txBody>
      </p:sp>
      <p:sp>
        <p:nvSpPr>
          <p:cNvPr id="7" name="テキスト ボックス 6">
            <a:extLst>
              <a:ext uri="{FF2B5EF4-FFF2-40B4-BE49-F238E27FC236}">
                <a16:creationId xmlns:a16="http://schemas.microsoft.com/office/drawing/2014/main" id="{A1614789-9554-9CBD-04B5-0DE567DB3FE5}"/>
              </a:ext>
            </a:extLst>
          </p:cNvPr>
          <p:cNvSpPr txBox="1"/>
          <p:nvPr/>
        </p:nvSpPr>
        <p:spPr>
          <a:xfrm>
            <a:off x="10541000" y="203200"/>
            <a:ext cx="1346200" cy="235962"/>
          </a:xfrm>
          <a:prstGeom prst="rect">
            <a:avLst/>
          </a:prstGeom>
          <a:noFill/>
        </p:spPr>
        <p:txBody>
          <a:bodyPr vert="horz" wrap="square" lIns="50800" tIns="25400" rIns="50800" bIns="25400" rtlCol="0">
            <a:spAutoFit/>
          </a:bodyPr>
          <a:lstStyle/>
          <a:p>
            <a:pPr algn="r"/>
            <a:r>
              <a:rPr kumimoji="1" lang="en-US" altLang="ja-JP" sz="1200" b="1">
                <a:solidFill>
                  <a:srgbClr val="CBD5E1"/>
                </a:solidFill>
                <a:latin typeface="Meiryo UI" panose="020B0604030504040204" pitchFamily="50" charset="-128"/>
                <a:ea typeface="Meiryo UI" panose="020B0604030504040204" pitchFamily="50" charset="-128"/>
              </a:rPr>
              <a:t>P. 4 / 5</a:t>
            </a:r>
            <a:endParaRPr kumimoji="1" lang="ja-JP" altLang="en-US" sz="1200" b="1">
              <a:solidFill>
                <a:srgbClr val="CBD5E1"/>
              </a:solidFill>
              <a:latin typeface="Meiryo UI" panose="020B0604030504040204" pitchFamily="50" charset="-128"/>
              <a:ea typeface="Meiryo UI" panose="020B0604030504040204" pitchFamily="50" charset="-128"/>
            </a:endParaRPr>
          </a:p>
        </p:txBody>
      </p:sp>
      <p:sp>
        <p:nvSpPr>
          <p:cNvPr id="8" name="四角形: 角を丸くする 7">
            <a:extLst>
              <a:ext uri="{FF2B5EF4-FFF2-40B4-BE49-F238E27FC236}">
                <a16:creationId xmlns:a16="http://schemas.microsoft.com/office/drawing/2014/main" id="{EC892296-D19F-3315-954A-4BDE60A744C0}"/>
              </a:ext>
            </a:extLst>
          </p:cNvPr>
          <p:cNvSpPr/>
          <p:nvPr/>
        </p:nvSpPr>
        <p:spPr>
          <a:xfrm>
            <a:off x="304800" y="863600"/>
            <a:ext cx="11582400" cy="584200"/>
          </a:xfrm>
          <a:prstGeom prst="roundRect">
            <a:avLst>
              <a:gd name="adj" fmla="val 6000"/>
            </a:avLst>
          </a:prstGeom>
          <a:solidFill>
            <a:srgbClr val="EFF6FF"/>
          </a:solidFill>
          <a:ln w="15240">
            <a:solidFill>
              <a:srgbClr val="BFDB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C677E550-B544-7902-3A4C-11A4D7DD8123}"/>
              </a:ext>
            </a:extLst>
          </p:cNvPr>
          <p:cNvSpPr/>
          <p:nvPr/>
        </p:nvSpPr>
        <p:spPr>
          <a:xfrm>
            <a:off x="304800" y="863600"/>
            <a:ext cx="101600" cy="584200"/>
          </a:xfrm>
          <a:prstGeom prst="rect">
            <a:avLst/>
          </a:prstGeom>
          <a:solidFill>
            <a:srgbClr val="1E40A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FE7D63AD-0629-DC0F-EBC6-EF6739837B2A}"/>
              </a:ext>
            </a:extLst>
          </p:cNvPr>
          <p:cNvSpPr txBox="1"/>
          <p:nvPr/>
        </p:nvSpPr>
        <p:spPr>
          <a:xfrm>
            <a:off x="533400" y="939800"/>
            <a:ext cx="11226800" cy="259045"/>
          </a:xfrm>
          <a:prstGeom prst="rect">
            <a:avLst/>
          </a:prstGeom>
          <a:noFill/>
        </p:spPr>
        <p:txBody>
          <a:bodyPr vert="horz" wrap="square" lIns="50800" tIns="25400" rIns="50800" bIns="25400" rtlCol="0">
            <a:spAutoFit/>
          </a:bodyPr>
          <a:lstStyle/>
          <a:p>
            <a:r>
              <a:rPr kumimoji="1" lang="ja-JP" altLang="en-US" sz="1350" b="1">
                <a:solidFill>
                  <a:srgbClr val="0F2342"/>
                </a:solidFill>
                <a:latin typeface="Meiryo UI" panose="020B0604030504040204" pitchFamily="50" charset="-128"/>
                <a:ea typeface="Meiryo UI" panose="020B0604030504040204" pitchFamily="50" charset="-128"/>
              </a:rPr>
              <a:t>「転倒予防</a:t>
            </a:r>
            <a:r>
              <a:rPr kumimoji="1" lang="en-US" altLang="ja-JP" sz="1350" b="1">
                <a:solidFill>
                  <a:srgbClr val="0F2342"/>
                </a:solidFill>
                <a:latin typeface="Meiryo UI" panose="020B0604030504040204" pitchFamily="50" charset="-128"/>
                <a:ea typeface="Meiryo UI" panose="020B0604030504040204" pitchFamily="50" charset="-128"/>
              </a:rPr>
              <a:t>(39.4%)</a:t>
            </a:r>
            <a:r>
              <a:rPr kumimoji="1" lang="ja-JP" altLang="en-US" sz="1350" b="1">
                <a:solidFill>
                  <a:srgbClr val="0F2342"/>
                </a:solidFill>
                <a:latin typeface="Meiryo UI" panose="020B0604030504040204" pitchFamily="50" charset="-128"/>
                <a:ea typeface="Meiryo UI" panose="020B0604030504040204" pitchFamily="50" charset="-128"/>
              </a:rPr>
              <a:t>」「栄養</a:t>
            </a:r>
            <a:r>
              <a:rPr kumimoji="1" lang="en-US" altLang="ja-JP" sz="1350" b="1">
                <a:solidFill>
                  <a:srgbClr val="0F2342"/>
                </a:solidFill>
                <a:latin typeface="Meiryo UI" panose="020B0604030504040204" pitchFamily="50" charset="-128"/>
                <a:ea typeface="Meiryo UI" panose="020B0604030504040204" pitchFamily="50" charset="-128"/>
              </a:rPr>
              <a:t>(33.5%)</a:t>
            </a:r>
            <a:r>
              <a:rPr kumimoji="1" lang="ja-JP" altLang="en-US" sz="1350" b="1">
                <a:solidFill>
                  <a:srgbClr val="0F2342"/>
                </a:solidFill>
                <a:latin typeface="Meiryo UI" panose="020B0604030504040204" pitchFamily="50" charset="-128"/>
                <a:ea typeface="Meiryo UI" panose="020B0604030504040204" pitchFamily="50" charset="-128"/>
              </a:rPr>
              <a:t>」「認知機能</a:t>
            </a:r>
            <a:r>
              <a:rPr kumimoji="1" lang="en-US" altLang="ja-JP" sz="1350" b="1">
                <a:solidFill>
                  <a:srgbClr val="0F2342"/>
                </a:solidFill>
                <a:latin typeface="Meiryo UI" panose="020B0604030504040204" pitchFamily="50" charset="-128"/>
                <a:ea typeface="Meiryo UI" panose="020B0604030504040204" pitchFamily="50" charset="-128"/>
              </a:rPr>
              <a:t>(33.1%)</a:t>
            </a:r>
            <a:r>
              <a:rPr kumimoji="1" lang="ja-JP" altLang="en-US" sz="1350" b="1">
                <a:solidFill>
                  <a:srgbClr val="0F2342"/>
                </a:solidFill>
                <a:latin typeface="Meiryo UI" panose="020B0604030504040204" pitchFamily="50" charset="-128"/>
                <a:ea typeface="Meiryo UI" panose="020B0604030504040204" pitchFamily="50" charset="-128"/>
              </a:rPr>
              <a:t>」「介護・終活</a:t>
            </a:r>
            <a:r>
              <a:rPr kumimoji="1" lang="en-US" altLang="ja-JP" sz="1350" b="1">
                <a:solidFill>
                  <a:srgbClr val="0F2342"/>
                </a:solidFill>
                <a:latin typeface="Meiryo UI" panose="020B0604030504040204" pitchFamily="50" charset="-128"/>
                <a:ea typeface="Meiryo UI" panose="020B0604030504040204" pitchFamily="50" charset="-128"/>
              </a:rPr>
              <a:t>(30.1%)</a:t>
            </a:r>
            <a:r>
              <a:rPr kumimoji="1" lang="ja-JP" altLang="en-US" sz="1350" b="1">
                <a:solidFill>
                  <a:srgbClr val="0F2342"/>
                </a:solidFill>
                <a:latin typeface="Meiryo UI" panose="020B0604030504040204" pitchFamily="50" charset="-128"/>
                <a:ea typeface="Meiryo UI" panose="020B0604030504040204" pitchFamily="50" charset="-128"/>
              </a:rPr>
              <a:t>」の</a:t>
            </a:r>
            <a:r>
              <a:rPr kumimoji="1" lang="en-US" altLang="ja-JP" sz="1350" b="1">
                <a:solidFill>
                  <a:srgbClr val="0F2342"/>
                </a:solidFill>
                <a:latin typeface="Meiryo UI" panose="020B0604030504040204" pitchFamily="50" charset="-128"/>
                <a:ea typeface="Meiryo UI" panose="020B0604030504040204" pitchFamily="50" charset="-128"/>
              </a:rPr>
              <a:t>4</a:t>
            </a:r>
            <a:r>
              <a:rPr kumimoji="1" lang="ja-JP" altLang="en-US" sz="1350" b="1">
                <a:solidFill>
                  <a:srgbClr val="0F2342"/>
                </a:solidFill>
                <a:latin typeface="Meiryo UI" panose="020B0604030504040204" pitchFamily="50" charset="-128"/>
                <a:ea typeface="Meiryo UI" panose="020B0604030504040204" pitchFamily="50" charset="-128"/>
              </a:rPr>
              <a:t>大ニーズが明確化！</a:t>
            </a:r>
          </a:p>
        </p:txBody>
      </p:sp>
      <p:sp>
        <p:nvSpPr>
          <p:cNvPr id="11" name="四角形: 角を丸くする 10">
            <a:extLst>
              <a:ext uri="{FF2B5EF4-FFF2-40B4-BE49-F238E27FC236}">
                <a16:creationId xmlns:a16="http://schemas.microsoft.com/office/drawing/2014/main" id="{44D65A28-4966-B327-F23F-FE0250363F92}"/>
              </a:ext>
            </a:extLst>
          </p:cNvPr>
          <p:cNvSpPr/>
          <p:nvPr/>
        </p:nvSpPr>
        <p:spPr>
          <a:xfrm>
            <a:off x="304800" y="1600200"/>
            <a:ext cx="5715000" cy="4953000"/>
          </a:xfrm>
          <a:prstGeom prst="roundRect">
            <a:avLst>
              <a:gd name="adj" fmla="val 6000"/>
            </a:avLst>
          </a:prstGeom>
          <a:solidFill>
            <a:srgbClr val="FFFFFF"/>
          </a:solidFill>
          <a:ln w="15240">
            <a:solidFill>
              <a:srgbClr val="BFDB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72FA6DD6-0E1E-1EE4-23C7-BE511A3A7A88}"/>
              </a:ext>
            </a:extLst>
          </p:cNvPr>
          <p:cNvSpPr txBox="1"/>
          <p:nvPr/>
        </p:nvSpPr>
        <p:spPr>
          <a:xfrm>
            <a:off x="508000" y="1727200"/>
            <a:ext cx="5334000" cy="282129"/>
          </a:xfrm>
          <a:prstGeom prst="rect">
            <a:avLst/>
          </a:prstGeom>
          <a:noFill/>
        </p:spPr>
        <p:txBody>
          <a:bodyPr vert="horz" wrap="square" lIns="50800" tIns="25400" rIns="50800" bIns="25400" rtlCol="0">
            <a:spAutoFit/>
          </a:bodyPr>
          <a:lstStyle/>
          <a:p>
            <a:r>
              <a:rPr kumimoji="1" lang="ja-JP" altLang="en-US" sz="1500" b="1">
                <a:solidFill>
                  <a:srgbClr val="0F2342"/>
                </a:solidFill>
                <a:latin typeface="Meiryo UI" panose="020B0604030504040204" pitchFamily="50" charset="-128"/>
                <a:ea typeface="Meiryo UI" panose="020B0604030504040204" pitchFamily="50" charset="-128"/>
              </a:rPr>
              <a:t>🏃 </a:t>
            </a:r>
            <a:r>
              <a:rPr kumimoji="1" lang="en-US" altLang="ja-JP" sz="1500" b="1">
                <a:solidFill>
                  <a:srgbClr val="0F2342"/>
                </a:solidFill>
                <a:latin typeface="Meiryo UI" panose="020B0604030504040204" pitchFamily="50" charset="-128"/>
                <a:ea typeface="Meiryo UI" panose="020B0604030504040204" pitchFamily="50" charset="-128"/>
              </a:rPr>
              <a:t>Q4. </a:t>
            </a:r>
            <a:r>
              <a:rPr kumimoji="1" lang="ja-JP" altLang="en-US" sz="1500" b="1">
                <a:solidFill>
                  <a:srgbClr val="0F2342"/>
                </a:solidFill>
                <a:latin typeface="Meiryo UI" panose="020B0604030504040204" pitchFamily="50" charset="-128"/>
                <a:ea typeface="Meiryo UI" panose="020B0604030504040204" pitchFamily="50" charset="-128"/>
              </a:rPr>
              <a:t>現在健康で気になること（複数回答）</a:t>
            </a:r>
          </a:p>
        </p:txBody>
      </p:sp>
      <p:sp>
        <p:nvSpPr>
          <p:cNvPr id="13" name="テキスト ボックス 12">
            <a:extLst>
              <a:ext uri="{FF2B5EF4-FFF2-40B4-BE49-F238E27FC236}">
                <a16:creationId xmlns:a16="http://schemas.microsoft.com/office/drawing/2014/main" id="{E3C71043-3C15-E195-6398-1D696668DB09}"/>
              </a:ext>
            </a:extLst>
          </p:cNvPr>
          <p:cNvSpPr txBox="1"/>
          <p:nvPr/>
        </p:nvSpPr>
        <p:spPr>
          <a:xfrm>
            <a:off x="508000" y="2235200"/>
            <a:ext cx="19304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① 足腰の衰え・転倒</a:t>
            </a:r>
          </a:p>
        </p:txBody>
      </p:sp>
      <p:sp>
        <p:nvSpPr>
          <p:cNvPr id="14" name="正方形/長方形 13">
            <a:extLst>
              <a:ext uri="{FF2B5EF4-FFF2-40B4-BE49-F238E27FC236}">
                <a16:creationId xmlns:a16="http://schemas.microsoft.com/office/drawing/2014/main" id="{ED09E2B4-D86A-6E7C-727D-AE3A88A5A8A2}"/>
              </a:ext>
            </a:extLst>
          </p:cNvPr>
          <p:cNvSpPr/>
          <p:nvPr/>
        </p:nvSpPr>
        <p:spPr>
          <a:xfrm>
            <a:off x="2514600" y="2273300"/>
            <a:ext cx="19685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13FC7DD4-6F9B-E9BA-07C8-B59A7C8393E9}"/>
              </a:ext>
            </a:extLst>
          </p:cNvPr>
          <p:cNvSpPr/>
          <p:nvPr/>
        </p:nvSpPr>
        <p:spPr>
          <a:xfrm>
            <a:off x="2514600" y="2273300"/>
            <a:ext cx="774700" cy="228600"/>
          </a:xfrm>
          <a:prstGeom prst="rect">
            <a:avLst/>
          </a:prstGeom>
          <a:solidFill>
            <a:srgbClr val="1E40A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FDB911CA-2CB4-2143-68A8-FD554E6392F3}"/>
              </a:ext>
            </a:extLst>
          </p:cNvPr>
          <p:cNvSpPr txBox="1"/>
          <p:nvPr/>
        </p:nvSpPr>
        <p:spPr>
          <a:xfrm>
            <a:off x="4584700" y="22352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93</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(39.4%)</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17" name="テキスト ボックス 16">
            <a:extLst>
              <a:ext uri="{FF2B5EF4-FFF2-40B4-BE49-F238E27FC236}">
                <a16:creationId xmlns:a16="http://schemas.microsoft.com/office/drawing/2014/main" id="{F293CF34-C5D4-7D2D-D5EE-5320E75C5E51}"/>
              </a:ext>
            </a:extLst>
          </p:cNvPr>
          <p:cNvSpPr txBox="1"/>
          <p:nvPr/>
        </p:nvSpPr>
        <p:spPr>
          <a:xfrm>
            <a:off x="508000" y="2667000"/>
            <a:ext cx="19304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② 食事・栄養バランス</a:t>
            </a:r>
          </a:p>
        </p:txBody>
      </p:sp>
      <p:sp>
        <p:nvSpPr>
          <p:cNvPr id="18" name="正方形/長方形 17">
            <a:extLst>
              <a:ext uri="{FF2B5EF4-FFF2-40B4-BE49-F238E27FC236}">
                <a16:creationId xmlns:a16="http://schemas.microsoft.com/office/drawing/2014/main" id="{1CEE8429-1C38-C9E0-1A68-1A20D1E9B82D}"/>
              </a:ext>
            </a:extLst>
          </p:cNvPr>
          <p:cNvSpPr/>
          <p:nvPr/>
        </p:nvSpPr>
        <p:spPr>
          <a:xfrm>
            <a:off x="2514600" y="2705100"/>
            <a:ext cx="19685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8D47C770-8684-FEC8-A800-8490746F6B5E}"/>
              </a:ext>
            </a:extLst>
          </p:cNvPr>
          <p:cNvSpPr/>
          <p:nvPr/>
        </p:nvSpPr>
        <p:spPr>
          <a:xfrm>
            <a:off x="2514600" y="2705100"/>
            <a:ext cx="660400" cy="228600"/>
          </a:xfrm>
          <a:prstGeom prst="rect">
            <a:avLst/>
          </a:prstGeom>
          <a:solidFill>
            <a:srgbClr val="0D948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71E268EA-46DB-A24C-0E2A-296A20A2EB12}"/>
              </a:ext>
            </a:extLst>
          </p:cNvPr>
          <p:cNvSpPr txBox="1"/>
          <p:nvPr/>
        </p:nvSpPr>
        <p:spPr>
          <a:xfrm>
            <a:off x="4584700" y="26670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79</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(33.5%)</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21" name="テキスト ボックス 20">
            <a:extLst>
              <a:ext uri="{FF2B5EF4-FFF2-40B4-BE49-F238E27FC236}">
                <a16:creationId xmlns:a16="http://schemas.microsoft.com/office/drawing/2014/main" id="{FAEA076D-6FE4-C0D7-275F-5BE8CEC78463}"/>
              </a:ext>
            </a:extLst>
          </p:cNvPr>
          <p:cNvSpPr txBox="1"/>
          <p:nvPr/>
        </p:nvSpPr>
        <p:spPr>
          <a:xfrm>
            <a:off x="508000" y="3098800"/>
            <a:ext cx="19304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③ 物忘れ・認知機能</a:t>
            </a:r>
          </a:p>
        </p:txBody>
      </p:sp>
      <p:sp>
        <p:nvSpPr>
          <p:cNvPr id="22" name="正方形/長方形 21">
            <a:extLst>
              <a:ext uri="{FF2B5EF4-FFF2-40B4-BE49-F238E27FC236}">
                <a16:creationId xmlns:a16="http://schemas.microsoft.com/office/drawing/2014/main" id="{A286B8BD-0514-BF22-6898-CBEAB860E96E}"/>
              </a:ext>
            </a:extLst>
          </p:cNvPr>
          <p:cNvSpPr/>
          <p:nvPr/>
        </p:nvSpPr>
        <p:spPr>
          <a:xfrm>
            <a:off x="2514600" y="3136900"/>
            <a:ext cx="19685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6FA7A598-8E13-F46F-AD8E-D99ACAE189A0}"/>
              </a:ext>
            </a:extLst>
          </p:cNvPr>
          <p:cNvSpPr/>
          <p:nvPr/>
        </p:nvSpPr>
        <p:spPr>
          <a:xfrm>
            <a:off x="2514600" y="3136900"/>
            <a:ext cx="647700" cy="228600"/>
          </a:xfrm>
          <a:prstGeom prst="rect">
            <a:avLst/>
          </a:prstGeom>
          <a:solidFill>
            <a:srgbClr val="D9770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DEF2A096-0781-9614-DA6A-1037F588C2FC}"/>
              </a:ext>
            </a:extLst>
          </p:cNvPr>
          <p:cNvSpPr txBox="1"/>
          <p:nvPr/>
        </p:nvSpPr>
        <p:spPr>
          <a:xfrm>
            <a:off x="4584700" y="30988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78</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(33.1%)</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25" name="テキスト ボックス 24">
            <a:extLst>
              <a:ext uri="{FF2B5EF4-FFF2-40B4-BE49-F238E27FC236}">
                <a16:creationId xmlns:a16="http://schemas.microsoft.com/office/drawing/2014/main" id="{8B607791-8231-DF62-B113-82280AF8739D}"/>
              </a:ext>
            </a:extLst>
          </p:cNvPr>
          <p:cNvSpPr txBox="1"/>
          <p:nvPr/>
        </p:nvSpPr>
        <p:spPr>
          <a:xfrm>
            <a:off x="508000" y="3530600"/>
            <a:ext cx="19304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④ 将来の介護や終活</a:t>
            </a:r>
          </a:p>
        </p:txBody>
      </p:sp>
      <p:sp>
        <p:nvSpPr>
          <p:cNvPr id="26" name="正方形/長方形 25">
            <a:extLst>
              <a:ext uri="{FF2B5EF4-FFF2-40B4-BE49-F238E27FC236}">
                <a16:creationId xmlns:a16="http://schemas.microsoft.com/office/drawing/2014/main" id="{559A54A5-BD58-AC7F-6E38-043FE9DCE470}"/>
              </a:ext>
            </a:extLst>
          </p:cNvPr>
          <p:cNvSpPr/>
          <p:nvPr/>
        </p:nvSpPr>
        <p:spPr>
          <a:xfrm>
            <a:off x="2514600" y="3568700"/>
            <a:ext cx="19685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正方形/長方形 26">
            <a:extLst>
              <a:ext uri="{FF2B5EF4-FFF2-40B4-BE49-F238E27FC236}">
                <a16:creationId xmlns:a16="http://schemas.microsoft.com/office/drawing/2014/main" id="{76A7AA7C-8BE4-4BFC-99D4-DC932CEF099A}"/>
              </a:ext>
            </a:extLst>
          </p:cNvPr>
          <p:cNvSpPr/>
          <p:nvPr/>
        </p:nvSpPr>
        <p:spPr>
          <a:xfrm>
            <a:off x="2514600" y="3568700"/>
            <a:ext cx="596900" cy="228600"/>
          </a:xfrm>
          <a:prstGeom prst="rect">
            <a:avLst/>
          </a:prstGeom>
          <a:solidFill>
            <a:srgbClr val="6D28D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C4BFF627-69F6-4233-2E83-B64DEB86FF9A}"/>
              </a:ext>
            </a:extLst>
          </p:cNvPr>
          <p:cNvSpPr txBox="1"/>
          <p:nvPr/>
        </p:nvSpPr>
        <p:spPr>
          <a:xfrm>
            <a:off x="4584700" y="35306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71</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(30.1%)</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29" name="テキスト ボックス 28">
            <a:extLst>
              <a:ext uri="{FF2B5EF4-FFF2-40B4-BE49-F238E27FC236}">
                <a16:creationId xmlns:a16="http://schemas.microsoft.com/office/drawing/2014/main" id="{DBDDE86F-505B-0BA3-D7AA-CC9BF3E772EE}"/>
              </a:ext>
            </a:extLst>
          </p:cNvPr>
          <p:cNvSpPr txBox="1"/>
          <p:nvPr/>
        </p:nvSpPr>
        <p:spPr>
          <a:xfrm>
            <a:off x="508000" y="3962400"/>
            <a:ext cx="19304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⑤ とくにない</a:t>
            </a:r>
          </a:p>
        </p:txBody>
      </p:sp>
      <p:sp>
        <p:nvSpPr>
          <p:cNvPr id="30" name="正方形/長方形 29">
            <a:extLst>
              <a:ext uri="{FF2B5EF4-FFF2-40B4-BE49-F238E27FC236}">
                <a16:creationId xmlns:a16="http://schemas.microsoft.com/office/drawing/2014/main" id="{B44C9854-6991-BC73-DD18-8FA87A42EADA}"/>
              </a:ext>
            </a:extLst>
          </p:cNvPr>
          <p:cNvSpPr/>
          <p:nvPr/>
        </p:nvSpPr>
        <p:spPr>
          <a:xfrm>
            <a:off x="2514600" y="4000500"/>
            <a:ext cx="19685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a:extLst>
              <a:ext uri="{FF2B5EF4-FFF2-40B4-BE49-F238E27FC236}">
                <a16:creationId xmlns:a16="http://schemas.microsoft.com/office/drawing/2014/main" id="{EB05CE1F-3A75-B7FD-EFA4-1FBFD43F1AF4}"/>
              </a:ext>
            </a:extLst>
          </p:cNvPr>
          <p:cNvSpPr/>
          <p:nvPr/>
        </p:nvSpPr>
        <p:spPr>
          <a:xfrm>
            <a:off x="2514600" y="4000500"/>
            <a:ext cx="279400" cy="228600"/>
          </a:xfrm>
          <a:prstGeom prst="rect">
            <a:avLst/>
          </a:prstGeom>
          <a:solidFill>
            <a:srgbClr val="94A3B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179197D4-8550-6A01-75D6-8EA1B430BD83}"/>
              </a:ext>
            </a:extLst>
          </p:cNvPr>
          <p:cNvSpPr txBox="1"/>
          <p:nvPr/>
        </p:nvSpPr>
        <p:spPr>
          <a:xfrm>
            <a:off x="4584700" y="39624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34</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(14.4%)</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33" name="テキスト ボックス 32">
            <a:extLst>
              <a:ext uri="{FF2B5EF4-FFF2-40B4-BE49-F238E27FC236}">
                <a16:creationId xmlns:a16="http://schemas.microsoft.com/office/drawing/2014/main" id="{81DF1BEB-BF07-F8A2-6C42-D51A0D9F6853}"/>
              </a:ext>
            </a:extLst>
          </p:cNvPr>
          <p:cNvSpPr txBox="1"/>
          <p:nvPr/>
        </p:nvSpPr>
        <p:spPr>
          <a:xfrm>
            <a:off x="508000" y="4394200"/>
            <a:ext cx="19304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⑥ 薬の飲み方 </a:t>
            </a:r>
            <a:r>
              <a:rPr kumimoji="1" lang="en-US" altLang="ja-JP" sz="1250" b="1">
                <a:solidFill>
                  <a:srgbClr val="0F172A"/>
                </a:solidFill>
                <a:latin typeface="Meiryo UI" panose="020B0604030504040204" pitchFamily="50" charset="-128"/>
                <a:ea typeface="Meiryo UI" panose="020B0604030504040204" pitchFamily="50" charset="-128"/>
              </a:rPr>
              <a:t>/ </a:t>
            </a:r>
            <a:r>
              <a:rPr kumimoji="1" lang="ja-JP" altLang="en-US" sz="1250" b="1">
                <a:solidFill>
                  <a:srgbClr val="0F172A"/>
                </a:solidFill>
                <a:latin typeface="Meiryo UI" panose="020B0604030504040204" pitchFamily="50" charset="-128"/>
                <a:ea typeface="Meiryo UI" panose="020B0604030504040204" pitchFamily="50" charset="-128"/>
              </a:rPr>
              <a:t>その他</a:t>
            </a:r>
          </a:p>
        </p:txBody>
      </p:sp>
      <p:sp>
        <p:nvSpPr>
          <p:cNvPr id="34" name="正方形/長方形 33">
            <a:extLst>
              <a:ext uri="{FF2B5EF4-FFF2-40B4-BE49-F238E27FC236}">
                <a16:creationId xmlns:a16="http://schemas.microsoft.com/office/drawing/2014/main" id="{C7797E8A-895B-BF62-D31D-7193E6BDCC76}"/>
              </a:ext>
            </a:extLst>
          </p:cNvPr>
          <p:cNvSpPr/>
          <p:nvPr/>
        </p:nvSpPr>
        <p:spPr>
          <a:xfrm>
            <a:off x="2514600" y="4432300"/>
            <a:ext cx="19685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正方形/長方形 34">
            <a:extLst>
              <a:ext uri="{FF2B5EF4-FFF2-40B4-BE49-F238E27FC236}">
                <a16:creationId xmlns:a16="http://schemas.microsoft.com/office/drawing/2014/main" id="{30E3AE7E-0ECB-5A85-51F6-FB77DECE09CF}"/>
              </a:ext>
            </a:extLst>
          </p:cNvPr>
          <p:cNvSpPr/>
          <p:nvPr/>
        </p:nvSpPr>
        <p:spPr>
          <a:xfrm>
            <a:off x="2514600" y="4432300"/>
            <a:ext cx="88900" cy="228600"/>
          </a:xfrm>
          <a:prstGeom prst="rect">
            <a:avLst/>
          </a:prstGeom>
          <a:solidFill>
            <a:srgbClr val="64748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2F9BEA07-5392-5242-53ED-9627E9A1AFE0}"/>
              </a:ext>
            </a:extLst>
          </p:cNvPr>
          <p:cNvSpPr txBox="1"/>
          <p:nvPr/>
        </p:nvSpPr>
        <p:spPr>
          <a:xfrm>
            <a:off x="4584700" y="4394200"/>
            <a:ext cx="1460500" cy="243656"/>
          </a:xfrm>
          <a:prstGeom prst="rect">
            <a:avLst/>
          </a:prstGeom>
          <a:noFill/>
        </p:spPr>
        <p:txBody>
          <a:bodyPr vert="horz" wrap="square" lIns="50800" tIns="25400" rIns="50800" bIns="25400" rtlCol="0">
            <a:spAutoFit/>
          </a:bodyPr>
          <a:lstStyle/>
          <a:p>
            <a:r>
              <a:rPr kumimoji="1" lang="ja-JP" altLang="en-US" sz="1250" b="1">
                <a:solidFill>
                  <a:srgbClr val="0F2342"/>
                </a:solidFill>
                <a:latin typeface="Meiryo UI" panose="020B0604030504040204" pitchFamily="50" charset="-128"/>
                <a:ea typeface="Meiryo UI" panose="020B0604030504040204" pitchFamily="50" charset="-128"/>
              </a:rPr>
              <a:t>各</a:t>
            </a:r>
            <a:r>
              <a:rPr kumimoji="1" lang="en-US" altLang="ja-JP" sz="1250" b="1">
                <a:solidFill>
                  <a:srgbClr val="0F2342"/>
                </a:solidFill>
                <a:latin typeface="Meiryo UI" panose="020B0604030504040204" pitchFamily="50" charset="-128"/>
                <a:ea typeface="Meiryo UI" panose="020B0604030504040204" pitchFamily="50" charset="-128"/>
              </a:rPr>
              <a:t>11</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(4.7%)</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37" name="四角形: 角を丸くする 36">
            <a:extLst>
              <a:ext uri="{FF2B5EF4-FFF2-40B4-BE49-F238E27FC236}">
                <a16:creationId xmlns:a16="http://schemas.microsoft.com/office/drawing/2014/main" id="{808E0611-1685-DCEF-E9B2-74C2B1450230}"/>
              </a:ext>
            </a:extLst>
          </p:cNvPr>
          <p:cNvSpPr/>
          <p:nvPr/>
        </p:nvSpPr>
        <p:spPr>
          <a:xfrm>
            <a:off x="508000" y="4876800"/>
            <a:ext cx="5308600" cy="1473200"/>
          </a:xfrm>
          <a:prstGeom prst="roundRect">
            <a:avLst>
              <a:gd name="adj" fmla="val 6000"/>
            </a:avLst>
          </a:prstGeom>
          <a:solidFill>
            <a:srgbClr val="EFF6FF"/>
          </a:solidFill>
          <a:ln w="15240">
            <a:solidFill>
              <a:srgbClr val="BFDB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FBD1C67B-E5B0-A8EB-342E-3334C84BBA55}"/>
              </a:ext>
            </a:extLst>
          </p:cNvPr>
          <p:cNvSpPr txBox="1"/>
          <p:nvPr/>
        </p:nvSpPr>
        <p:spPr>
          <a:xfrm>
            <a:off x="660400" y="4978400"/>
            <a:ext cx="5029200" cy="897682"/>
          </a:xfrm>
          <a:prstGeom prst="rect">
            <a:avLst/>
          </a:prstGeom>
          <a:noFill/>
        </p:spPr>
        <p:txBody>
          <a:bodyPr vert="horz" wrap="square" lIns="50800" tIns="25400" rIns="50800" bIns="25400" rtlCol="0">
            <a:spAutoFit/>
          </a:bodyPr>
          <a:lstStyle/>
          <a:p>
            <a:r>
              <a:rPr kumimoji="1" lang="ja-JP" altLang="en-US" sz="1100">
                <a:solidFill>
                  <a:srgbClr val="0F172A"/>
                </a:solidFill>
                <a:latin typeface="Meiryo UI" panose="020B0604030504040204" pitchFamily="50" charset="-128"/>
                <a:ea typeface="Meiryo UI" panose="020B0604030504040204" pitchFamily="50" charset="-128"/>
              </a:rPr>
              <a:t>💡 健康教室のテーマ設定への示唆：
・起案目的の一つである「地域住民が抱える健康課題の情報収集」において、上位</a:t>
            </a:r>
            <a:r>
              <a:rPr kumimoji="1" lang="en-US" altLang="ja-JP" sz="1100">
                <a:solidFill>
                  <a:srgbClr val="0F172A"/>
                </a:solidFill>
                <a:latin typeface="Meiryo UI" panose="020B0604030504040204" pitchFamily="50" charset="-128"/>
                <a:ea typeface="Meiryo UI" panose="020B0604030504040204" pitchFamily="50" charset="-128"/>
              </a:rPr>
              <a:t>4</a:t>
            </a:r>
            <a:r>
              <a:rPr kumimoji="1" lang="ja-JP" altLang="en-US" sz="1100">
                <a:solidFill>
                  <a:srgbClr val="0F172A"/>
                </a:solidFill>
                <a:latin typeface="Meiryo UI" panose="020B0604030504040204" pitchFamily="50" charset="-128"/>
                <a:ea typeface="Meiryo UI" panose="020B0604030504040204" pitchFamily="50" charset="-128"/>
              </a:rPr>
              <a:t>項目がいずれも</a:t>
            </a:r>
            <a:r>
              <a:rPr kumimoji="1" lang="en-US" altLang="ja-JP" sz="1100">
                <a:solidFill>
                  <a:srgbClr val="0F172A"/>
                </a:solidFill>
                <a:latin typeface="Meiryo UI" panose="020B0604030504040204" pitchFamily="50" charset="-128"/>
                <a:ea typeface="Meiryo UI" panose="020B0604030504040204" pitchFamily="50" charset="-128"/>
              </a:rPr>
              <a:t>30%</a:t>
            </a:r>
            <a:r>
              <a:rPr kumimoji="1" lang="ja-JP" altLang="en-US" sz="1100">
                <a:solidFill>
                  <a:srgbClr val="0F172A"/>
                </a:solidFill>
                <a:latin typeface="Meiryo UI" panose="020B0604030504040204" pitchFamily="50" charset="-128"/>
                <a:ea typeface="Meiryo UI" panose="020B0604030504040204" pitchFamily="50" charset="-128"/>
              </a:rPr>
              <a:t>超（</a:t>
            </a:r>
            <a:r>
              <a:rPr kumimoji="1" lang="en-US" altLang="ja-JP" sz="1100">
                <a:solidFill>
                  <a:srgbClr val="0F172A"/>
                </a:solidFill>
                <a:latin typeface="Meiryo UI" panose="020B0604030504040204" pitchFamily="50" charset="-128"/>
                <a:ea typeface="Meiryo UI" panose="020B0604030504040204" pitchFamily="50" charset="-128"/>
              </a:rPr>
              <a:t>70〜93</a:t>
            </a:r>
            <a:r>
              <a:rPr kumimoji="1" lang="ja-JP" altLang="en-US" sz="1100">
                <a:solidFill>
                  <a:srgbClr val="0F172A"/>
                </a:solidFill>
                <a:latin typeface="Meiryo UI" panose="020B0604030504040204" pitchFamily="50" charset="-128"/>
                <a:ea typeface="Meiryo UI" panose="020B0604030504040204" pitchFamily="50" charset="-128"/>
              </a:rPr>
              <a:t>名）の高水準で並んだ。
・</a:t>
            </a:r>
            <a:r>
              <a:rPr kumimoji="1" lang="en-US" altLang="ja-JP" sz="1100">
                <a:solidFill>
                  <a:srgbClr val="0F172A"/>
                </a:solidFill>
                <a:latin typeface="Meiryo UI" panose="020B0604030504040204" pitchFamily="50" charset="-128"/>
                <a:ea typeface="Meiryo UI" panose="020B0604030504040204" pitchFamily="50" charset="-128"/>
              </a:rPr>
              <a:t>PT/OT</a:t>
            </a:r>
            <a:r>
              <a:rPr kumimoji="1" lang="ja-JP" altLang="en-US" sz="1100">
                <a:solidFill>
                  <a:srgbClr val="0F172A"/>
                </a:solidFill>
                <a:latin typeface="Meiryo UI" panose="020B0604030504040204" pitchFamily="50" charset="-128"/>
                <a:ea typeface="Meiryo UI" panose="020B0604030504040204" pitchFamily="50" charset="-128"/>
              </a:rPr>
              <a:t>による「転倒予防・自宅ストレッチ」、管理栄養士の「栄養講座」、認知症予防、</a:t>
            </a:r>
            <a:r>
              <a:rPr kumimoji="1" lang="en-US" altLang="ja-JP" sz="1100">
                <a:solidFill>
                  <a:srgbClr val="0F172A"/>
                </a:solidFill>
                <a:latin typeface="Meiryo UI" panose="020B0604030504040204" pitchFamily="50" charset="-128"/>
                <a:ea typeface="Meiryo UI" panose="020B0604030504040204" pitchFamily="50" charset="-128"/>
              </a:rPr>
              <a:t>ACP</a:t>
            </a:r>
            <a:r>
              <a:rPr kumimoji="1" lang="ja-JP" altLang="en-US" sz="1100">
                <a:solidFill>
                  <a:srgbClr val="0F172A"/>
                </a:solidFill>
                <a:latin typeface="Meiryo UI" panose="020B0604030504040204" pitchFamily="50" charset="-128"/>
                <a:ea typeface="Meiryo UI" panose="020B0604030504040204" pitchFamily="50" charset="-128"/>
              </a:rPr>
              <a:t>（人生会議）を柱とした健康教室が極めて有望。</a:t>
            </a:r>
          </a:p>
        </p:txBody>
      </p:sp>
      <p:sp>
        <p:nvSpPr>
          <p:cNvPr id="39" name="四角形: 角を丸くする 38">
            <a:extLst>
              <a:ext uri="{FF2B5EF4-FFF2-40B4-BE49-F238E27FC236}">
                <a16:creationId xmlns:a16="http://schemas.microsoft.com/office/drawing/2014/main" id="{7EB8CDCE-A3E3-9A1C-A03F-2AD13072DEC2}"/>
              </a:ext>
            </a:extLst>
          </p:cNvPr>
          <p:cNvSpPr/>
          <p:nvPr/>
        </p:nvSpPr>
        <p:spPr>
          <a:xfrm>
            <a:off x="6223000" y="1600200"/>
            <a:ext cx="5664200" cy="4953000"/>
          </a:xfrm>
          <a:prstGeom prst="roundRect">
            <a:avLst>
              <a:gd name="adj" fmla="val 6000"/>
            </a:avLst>
          </a:prstGeom>
          <a:solidFill>
            <a:srgbClr val="FFFFFF"/>
          </a:solidFill>
          <a:ln w="15240">
            <a:solidFill>
              <a:srgbClr val="BFDB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2E00E42F-3104-3A85-3CC9-92CE99FD28CB}"/>
              </a:ext>
            </a:extLst>
          </p:cNvPr>
          <p:cNvSpPr txBox="1"/>
          <p:nvPr/>
        </p:nvSpPr>
        <p:spPr>
          <a:xfrm>
            <a:off x="6426200" y="1727200"/>
            <a:ext cx="5257800" cy="282129"/>
          </a:xfrm>
          <a:prstGeom prst="rect">
            <a:avLst/>
          </a:prstGeom>
          <a:noFill/>
        </p:spPr>
        <p:txBody>
          <a:bodyPr vert="horz" wrap="square" lIns="50800" tIns="25400" rIns="50800" bIns="25400" rtlCol="0">
            <a:spAutoFit/>
          </a:bodyPr>
          <a:lstStyle/>
          <a:p>
            <a:r>
              <a:rPr kumimoji="1" lang="ja-JP" altLang="en-US" sz="1500" b="1">
                <a:solidFill>
                  <a:srgbClr val="0F2342"/>
                </a:solidFill>
                <a:latin typeface="Meiryo UI" panose="020B0604030504040204" pitchFamily="50" charset="-128"/>
                <a:ea typeface="Meiryo UI" panose="020B0604030504040204" pitchFamily="50" charset="-128"/>
              </a:rPr>
              <a:t>💬 </a:t>
            </a:r>
            <a:r>
              <a:rPr kumimoji="1" lang="en-US" altLang="ja-JP" sz="1500" b="1">
                <a:solidFill>
                  <a:srgbClr val="0F2342"/>
                </a:solidFill>
                <a:latin typeface="Meiryo UI" panose="020B0604030504040204" pitchFamily="50" charset="-128"/>
                <a:ea typeface="Meiryo UI" panose="020B0604030504040204" pitchFamily="50" charset="-128"/>
              </a:rPr>
              <a:t>Q5. </a:t>
            </a:r>
            <a:r>
              <a:rPr kumimoji="1" lang="ja-JP" altLang="en-US" sz="1500" b="1">
                <a:solidFill>
                  <a:srgbClr val="0F2342"/>
                </a:solidFill>
                <a:latin typeface="Meiryo UI" panose="020B0604030504040204" pitchFamily="50" charset="-128"/>
                <a:ea typeface="Meiryo UI" panose="020B0604030504040204" pitchFamily="50" charset="-128"/>
              </a:rPr>
              <a:t>来年に期待する内容・来場者の声（抜粋）</a:t>
            </a:r>
          </a:p>
        </p:txBody>
      </p:sp>
      <p:sp>
        <p:nvSpPr>
          <p:cNvPr id="41" name="テキスト ボックス 40">
            <a:extLst>
              <a:ext uri="{FF2B5EF4-FFF2-40B4-BE49-F238E27FC236}">
                <a16:creationId xmlns:a16="http://schemas.microsoft.com/office/drawing/2014/main" id="{F8AE1995-AB1A-9340-2552-05826A847940}"/>
              </a:ext>
            </a:extLst>
          </p:cNvPr>
          <p:cNvSpPr txBox="1"/>
          <p:nvPr/>
        </p:nvSpPr>
        <p:spPr>
          <a:xfrm>
            <a:off x="6426200" y="2159000"/>
            <a:ext cx="5283200" cy="2981329"/>
          </a:xfrm>
          <a:prstGeom prst="rect">
            <a:avLst/>
          </a:prstGeom>
          <a:noFill/>
        </p:spPr>
        <p:txBody>
          <a:bodyPr vert="horz" wrap="square" lIns="50800" tIns="25400" rIns="50800" bIns="25400" rtlCol="0">
            <a:spAutoFit/>
          </a:bodyPr>
          <a:lstStyle/>
          <a:p>
            <a:r>
              <a:rPr kumimoji="1" lang="en-US" altLang="ja-JP" sz="1120">
                <a:solidFill>
                  <a:srgbClr val="0F172A"/>
                </a:solidFill>
                <a:latin typeface="Meiryo UI" panose="020B0604030504040204" pitchFamily="50" charset="-128"/>
                <a:ea typeface="Meiryo UI" panose="020B0604030504040204" pitchFamily="50" charset="-128"/>
              </a:rPr>
              <a:t>【① </a:t>
            </a:r>
            <a:r>
              <a:rPr kumimoji="1" lang="ja-JP" altLang="en-US" sz="1120">
                <a:solidFill>
                  <a:srgbClr val="0F172A"/>
                </a:solidFill>
                <a:latin typeface="Meiryo UI" panose="020B0604030504040204" pitchFamily="50" charset="-128"/>
                <a:ea typeface="Meiryo UI" panose="020B0604030504040204" pitchFamily="50" charset="-128"/>
              </a:rPr>
              <a:t>運動・転倒予防・骨密度チェックの要望（多数）</a:t>
            </a:r>
            <a:r>
              <a:rPr kumimoji="1" lang="en-US" altLang="ja-JP" sz="1120">
                <a:solidFill>
                  <a:srgbClr val="0F172A"/>
                </a:solidFill>
                <a:latin typeface="Meiryo UI" panose="020B0604030504040204" pitchFamily="50" charset="-128"/>
                <a:ea typeface="Meiryo UI" panose="020B0604030504040204" pitchFamily="50" charset="-128"/>
              </a:rPr>
              <a:t>】
</a:t>
            </a:r>
            <a:r>
              <a:rPr kumimoji="1" lang="ja-JP" altLang="en-US" sz="1120">
                <a:solidFill>
                  <a:srgbClr val="0F172A"/>
                </a:solidFill>
                <a:latin typeface="Meiryo UI" panose="020B0604030504040204" pitchFamily="50" charset="-128"/>
                <a:ea typeface="Meiryo UI" panose="020B0604030504040204" pitchFamily="50" charset="-128"/>
              </a:rPr>
              <a:t>・「自宅の椅子に座っている時のストレッチや筋肉をつける姿勢を知りたい」
・「日々できるカンタンな運動体験」「バランス・転倒危険度チェック」
・「骨粗しょう症・骨密度チェックと対策をしてほしい」
</a:t>
            </a:r>
            <a:r>
              <a:rPr kumimoji="1" lang="en-US" altLang="ja-JP" sz="1120">
                <a:solidFill>
                  <a:srgbClr val="0F172A"/>
                </a:solidFill>
                <a:latin typeface="Meiryo UI" panose="020B0604030504040204" pitchFamily="50" charset="-128"/>
                <a:ea typeface="Meiryo UI" panose="020B0604030504040204" pitchFamily="50" charset="-128"/>
              </a:rPr>
              <a:t>【② </a:t>
            </a:r>
            <a:r>
              <a:rPr kumimoji="1" lang="ja-JP" altLang="en-US" sz="1120">
                <a:solidFill>
                  <a:srgbClr val="0F172A"/>
                </a:solidFill>
                <a:latin typeface="Meiryo UI" panose="020B0604030504040204" pitchFamily="50" charset="-128"/>
                <a:ea typeface="Meiryo UI" panose="020B0604030504040204" pitchFamily="50" charset="-128"/>
              </a:rPr>
              <a:t>認知機能・フレイルチェックの要望</a:t>
            </a:r>
            <a:r>
              <a:rPr kumimoji="1" lang="en-US" altLang="ja-JP" sz="1120">
                <a:solidFill>
                  <a:srgbClr val="0F172A"/>
                </a:solidFill>
                <a:latin typeface="Meiryo UI" panose="020B0604030504040204" pitchFamily="50" charset="-128"/>
                <a:ea typeface="Meiryo UI" panose="020B0604030504040204" pitchFamily="50" charset="-128"/>
              </a:rPr>
              <a:t>】
</a:t>
            </a:r>
            <a:r>
              <a:rPr kumimoji="1" lang="ja-JP" altLang="en-US" sz="1120">
                <a:solidFill>
                  <a:srgbClr val="0F172A"/>
                </a:solidFill>
                <a:latin typeface="Meiryo UI" panose="020B0604030504040204" pitchFamily="50" charset="-128"/>
                <a:ea typeface="Meiryo UI" panose="020B0604030504040204" pitchFamily="50" charset="-128"/>
              </a:rPr>
              <a:t>・「認知機能の衰えチェック、体力測定をしてほしい」（複数名）
・「認知症・フレイル予防について知りたい」
</a:t>
            </a:r>
            <a:r>
              <a:rPr kumimoji="1" lang="en-US" altLang="ja-JP" sz="1120">
                <a:solidFill>
                  <a:srgbClr val="0F172A"/>
                </a:solidFill>
                <a:latin typeface="Meiryo UI" panose="020B0604030504040204" pitchFamily="50" charset="-128"/>
                <a:ea typeface="Meiryo UI" panose="020B0604030504040204" pitchFamily="50" charset="-128"/>
              </a:rPr>
              <a:t>【③ </a:t>
            </a:r>
            <a:r>
              <a:rPr kumimoji="1" lang="ja-JP" altLang="en-US" sz="1120">
                <a:solidFill>
                  <a:srgbClr val="0F172A"/>
                </a:solidFill>
                <a:latin typeface="Meiryo UI" panose="020B0604030504040204" pitchFamily="50" charset="-128"/>
                <a:ea typeface="Meiryo UI" panose="020B0604030504040204" pitchFamily="50" charset="-128"/>
              </a:rPr>
              <a:t>介護・薬・医療相談の要望</a:t>
            </a:r>
            <a:r>
              <a:rPr kumimoji="1" lang="en-US" altLang="ja-JP" sz="1120">
                <a:solidFill>
                  <a:srgbClr val="0F172A"/>
                </a:solidFill>
                <a:latin typeface="Meiryo UI" panose="020B0604030504040204" pitchFamily="50" charset="-128"/>
                <a:ea typeface="Meiryo UI" panose="020B0604030504040204" pitchFamily="50" charset="-128"/>
              </a:rPr>
              <a:t>】
</a:t>
            </a:r>
            <a:r>
              <a:rPr kumimoji="1" lang="ja-JP" altLang="en-US" sz="1120">
                <a:solidFill>
                  <a:srgbClr val="0F172A"/>
                </a:solidFill>
                <a:latin typeface="Meiryo UI" panose="020B0604030504040204" pitchFamily="50" charset="-128"/>
                <a:ea typeface="Meiryo UI" panose="020B0604030504040204" pitchFamily="50" charset="-128"/>
              </a:rPr>
              <a:t>・「介護生活の相談、食事、家族が入院した際の薬について」
・「こんな症状には何科に行ったらいいか知りたい」
</a:t>
            </a:r>
            <a:r>
              <a:rPr kumimoji="1" lang="en-US" altLang="ja-JP" sz="1120">
                <a:solidFill>
                  <a:srgbClr val="0F172A"/>
                </a:solidFill>
                <a:latin typeface="Meiryo UI" panose="020B0604030504040204" pitchFamily="50" charset="-128"/>
                <a:ea typeface="Meiryo UI" panose="020B0604030504040204" pitchFamily="50" charset="-128"/>
              </a:rPr>
              <a:t>【④ </a:t>
            </a:r>
            <a:r>
              <a:rPr kumimoji="1" lang="ja-JP" altLang="en-US" sz="1120">
                <a:solidFill>
                  <a:srgbClr val="0F172A"/>
                </a:solidFill>
                <a:latin typeface="Meiryo UI" panose="020B0604030504040204" pitchFamily="50" charset="-128"/>
                <a:ea typeface="Meiryo UI" panose="020B0604030504040204" pitchFamily="50" charset="-128"/>
              </a:rPr>
              <a:t>当院への好意的な評価・運営改善ヒント</a:t>
            </a:r>
            <a:r>
              <a:rPr kumimoji="1" lang="en-US" altLang="ja-JP" sz="1120">
                <a:solidFill>
                  <a:srgbClr val="0F172A"/>
                </a:solidFill>
                <a:latin typeface="Meiryo UI" panose="020B0604030504040204" pitchFamily="50" charset="-128"/>
                <a:ea typeface="Meiryo UI" panose="020B0604030504040204" pitchFamily="50" charset="-128"/>
              </a:rPr>
              <a:t>】
</a:t>
            </a:r>
            <a:r>
              <a:rPr kumimoji="1" lang="ja-JP" altLang="en-US" sz="1120">
                <a:solidFill>
                  <a:srgbClr val="0F172A"/>
                </a:solidFill>
                <a:latin typeface="Meiryo UI" panose="020B0604030504040204" pitchFamily="50" charset="-128"/>
                <a:ea typeface="Meiryo UI" panose="020B0604030504040204" pitchFamily="50" charset="-128"/>
              </a:rPr>
              <a:t>・「マンションで</a:t>
            </a:r>
            <a:r>
              <a:rPr kumimoji="1" lang="en-US" altLang="ja-JP" sz="1120">
                <a:solidFill>
                  <a:srgbClr val="0F172A"/>
                </a:solidFill>
                <a:latin typeface="Meiryo UI" panose="020B0604030504040204" pitchFamily="50" charset="-128"/>
                <a:ea typeface="Meiryo UI" panose="020B0604030504040204" pitchFamily="50" charset="-128"/>
              </a:rPr>
              <a:t>5</a:t>
            </a:r>
            <a:r>
              <a:rPr kumimoji="1" lang="ja-JP" altLang="en-US" sz="1120">
                <a:solidFill>
                  <a:srgbClr val="0F172A"/>
                </a:solidFill>
                <a:latin typeface="Meiryo UI" panose="020B0604030504040204" pitchFamily="50" charset="-128"/>
                <a:ea typeface="Meiryo UI" panose="020B0604030504040204" pitchFamily="50" charset="-128"/>
              </a:rPr>
              <a:t>人ほど入院した方がいて、とてもリハビリが良かったとの事」
・「リハビリセンサーや測定が参考になりとても良かった。来年も期待」
・「</a:t>
            </a:r>
            <a:r>
              <a:rPr kumimoji="1" lang="en-US" altLang="ja-JP" sz="1120">
                <a:solidFill>
                  <a:srgbClr val="0F172A"/>
                </a:solidFill>
                <a:latin typeface="Meiryo UI" panose="020B0604030504040204" pitchFamily="50" charset="-128"/>
                <a:ea typeface="Meiryo UI" panose="020B0604030504040204" pitchFamily="50" charset="-128"/>
              </a:rPr>
              <a:t>InBody</a:t>
            </a:r>
            <a:r>
              <a:rPr kumimoji="1" lang="ja-JP" altLang="en-US" sz="1120">
                <a:solidFill>
                  <a:srgbClr val="0F172A"/>
                </a:solidFill>
                <a:latin typeface="Meiryo UI" panose="020B0604030504040204" pitchFamily="50" charset="-128"/>
                <a:ea typeface="Meiryo UI" panose="020B0604030504040204" pitchFamily="50" charset="-128"/>
              </a:rPr>
              <a:t>で靴を脱ぐ際、靴入れと靴ベラ、記入用バインダーがあると助かる」</a:t>
            </a:r>
          </a:p>
        </p:txBody>
      </p:sp>
    </p:spTree>
    <p:extLst>
      <p:ext uri="{BB962C8B-B14F-4D97-AF65-F5344CB8AC3E}">
        <p14:creationId xmlns:p14="http://schemas.microsoft.com/office/powerpoint/2010/main" val="15352876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E9376FD0-A740-FAE2-A118-E70459CBB65C}"/>
              </a:ext>
            </a:extLst>
          </p:cNvPr>
          <p:cNvSpPr/>
          <p:nvPr/>
        </p:nvSpPr>
        <p:spPr>
          <a:xfrm>
            <a:off x="0" y="0"/>
            <a:ext cx="12192000" cy="6858000"/>
          </a:xfrm>
          <a:prstGeom prst="rect">
            <a:avLst/>
          </a:prstGeom>
          <a:solidFill>
            <a:srgbClr val="F8FAF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8178B811-6D9B-C7DA-3AFC-C28BBD26F318}"/>
              </a:ext>
            </a:extLst>
          </p:cNvPr>
          <p:cNvSpPr/>
          <p:nvPr/>
        </p:nvSpPr>
        <p:spPr>
          <a:xfrm>
            <a:off x="0" y="0"/>
            <a:ext cx="12192000" cy="711200"/>
          </a:xfrm>
          <a:prstGeom prst="rect">
            <a:avLst/>
          </a:prstGeom>
          <a:solidFill>
            <a:srgbClr val="0F234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BA3B4268-BEFD-3810-A93C-5DC99A12C91D}"/>
              </a:ext>
            </a:extLst>
          </p:cNvPr>
          <p:cNvSpPr/>
          <p:nvPr/>
        </p:nvSpPr>
        <p:spPr>
          <a:xfrm>
            <a:off x="304800" y="152400"/>
            <a:ext cx="1397000" cy="406400"/>
          </a:xfrm>
          <a:prstGeom prst="roundRect">
            <a:avLst>
              <a:gd name="adj" fmla="val 6000"/>
            </a:avLst>
          </a:prstGeom>
          <a:solidFill>
            <a:srgbClr val="0D9488"/>
          </a:solidFill>
          <a:ln w="15240">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F06C9E5-B189-7B1A-F023-293179C0FD27}"/>
              </a:ext>
            </a:extLst>
          </p:cNvPr>
          <p:cNvSpPr txBox="1"/>
          <p:nvPr/>
        </p:nvSpPr>
        <p:spPr>
          <a:xfrm>
            <a:off x="304800" y="190500"/>
            <a:ext cx="1397000" cy="235962"/>
          </a:xfrm>
          <a:prstGeom prst="rect">
            <a:avLst/>
          </a:prstGeom>
          <a:noFill/>
        </p:spPr>
        <p:txBody>
          <a:bodyPr vert="horz" wrap="square" lIns="50800" tIns="25400" rIns="50800" bIns="25400" rtlCol="0">
            <a:spAutoFit/>
          </a:bodyPr>
          <a:lstStyle/>
          <a:p>
            <a:pPr algn="ctr"/>
            <a:r>
              <a:rPr kumimoji="1" lang="ja-JP" altLang="en-US" sz="1200" b="1">
                <a:solidFill>
                  <a:srgbClr val="FFFFFF"/>
                </a:solidFill>
                <a:latin typeface="Meiryo UI" panose="020B0604030504040204" pitchFamily="50" charset="-128"/>
                <a:ea typeface="Meiryo UI" panose="020B0604030504040204" pitchFamily="50" charset="-128"/>
              </a:rPr>
              <a:t>来期課題・提案</a:t>
            </a:r>
          </a:p>
        </p:txBody>
      </p:sp>
      <p:sp>
        <p:nvSpPr>
          <p:cNvPr id="6" name="テキスト ボックス 5">
            <a:extLst>
              <a:ext uri="{FF2B5EF4-FFF2-40B4-BE49-F238E27FC236}">
                <a16:creationId xmlns:a16="http://schemas.microsoft.com/office/drawing/2014/main" id="{7858FF97-7DB5-9FD7-8A00-7A120556747B}"/>
              </a:ext>
            </a:extLst>
          </p:cNvPr>
          <p:cNvSpPr txBox="1"/>
          <p:nvPr/>
        </p:nvSpPr>
        <p:spPr>
          <a:xfrm>
            <a:off x="1854200" y="139700"/>
            <a:ext cx="8636000" cy="359073"/>
          </a:xfrm>
          <a:prstGeom prst="rect">
            <a:avLst/>
          </a:prstGeom>
          <a:noFill/>
        </p:spPr>
        <p:txBody>
          <a:bodyPr vert="horz" wrap="square" lIns="50800" tIns="25400" rIns="50800" bIns="25400" rtlCol="0">
            <a:spAutoFit/>
          </a:bodyPr>
          <a:lstStyle/>
          <a:p>
            <a:r>
              <a:rPr kumimoji="1" lang="ja-JP" altLang="en-US" sz="2000" b="1">
                <a:solidFill>
                  <a:srgbClr val="FFFFFF"/>
                </a:solidFill>
                <a:latin typeface="Meiryo UI" panose="020B0604030504040204" pitchFamily="50" charset="-128"/>
                <a:ea typeface="Meiryo UI" panose="020B0604030504040204" pitchFamily="50" charset="-128"/>
              </a:rPr>
              <a:t>スタッフアンケート結果（</a:t>
            </a:r>
            <a:r>
              <a:rPr kumimoji="1" lang="en-US" altLang="ja-JP" sz="2000" b="1">
                <a:solidFill>
                  <a:srgbClr val="FFFFFF"/>
                </a:solidFill>
                <a:latin typeface="Meiryo UI" panose="020B0604030504040204" pitchFamily="50" charset="-128"/>
                <a:ea typeface="Meiryo UI" panose="020B0604030504040204" pitchFamily="50" charset="-128"/>
              </a:rPr>
              <a:t>12</a:t>
            </a:r>
            <a:r>
              <a:rPr kumimoji="1" lang="ja-JP" altLang="en-US" sz="2000" b="1">
                <a:solidFill>
                  <a:srgbClr val="FFFFFF"/>
                </a:solidFill>
                <a:latin typeface="Meiryo UI" panose="020B0604030504040204" pitchFamily="50" charset="-128"/>
                <a:ea typeface="Meiryo UI" panose="020B0604030504040204" pitchFamily="50" charset="-128"/>
              </a:rPr>
              <a:t>名）と 次年度に向けた改善提案</a:t>
            </a:r>
          </a:p>
        </p:txBody>
      </p:sp>
      <p:sp>
        <p:nvSpPr>
          <p:cNvPr id="7" name="テキスト ボックス 6">
            <a:extLst>
              <a:ext uri="{FF2B5EF4-FFF2-40B4-BE49-F238E27FC236}">
                <a16:creationId xmlns:a16="http://schemas.microsoft.com/office/drawing/2014/main" id="{3FD4A260-9B05-06B2-822F-43C644C8608F}"/>
              </a:ext>
            </a:extLst>
          </p:cNvPr>
          <p:cNvSpPr txBox="1"/>
          <p:nvPr/>
        </p:nvSpPr>
        <p:spPr>
          <a:xfrm>
            <a:off x="10541000" y="203200"/>
            <a:ext cx="1346200" cy="235962"/>
          </a:xfrm>
          <a:prstGeom prst="rect">
            <a:avLst/>
          </a:prstGeom>
          <a:noFill/>
        </p:spPr>
        <p:txBody>
          <a:bodyPr vert="horz" wrap="square" lIns="50800" tIns="25400" rIns="50800" bIns="25400" rtlCol="0">
            <a:spAutoFit/>
          </a:bodyPr>
          <a:lstStyle/>
          <a:p>
            <a:pPr algn="r"/>
            <a:r>
              <a:rPr kumimoji="1" lang="en-US" altLang="ja-JP" sz="1200" b="1">
                <a:solidFill>
                  <a:srgbClr val="CBD5E1"/>
                </a:solidFill>
                <a:latin typeface="Meiryo UI" panose="020B0604030504040204" pitchFamily="50" charset="-128"/>
                <a:ea typeface="Meiryo UI" panose="020B0604030504040204" pitchFamily="50" charset="-128"/>
              </a:rPr>
              <a:t>P. 5 / 5</a:t>
            </a:r>
            <a:endParaRPr kumimoji="1" lang="ja-JP" altLang="en-US" sz="1200" b="1">
              <a:solidFill>
                <a:srgbClr val="CBD5E1"/>
              </a:solidFill>
              <a:latin typeface="Meiryo UI" panose="020B0604030504040204" pitchFamily="50" charset="-128"/>
              <a:ea typeface="Meiryo UI" panose="020B0604030504040204" pitchFamily="50" charset="-128"/>
            </a:endParaRPr>
          </a:p>
        </p:txBody>
      </p:sp>
      <p:sp>
        <p:nvSpPr>
          <p:cNvPr id="8" name="四角形: 角を丸くする 7">
            <a:extLst>
              <a:ext uri="{FF2B5EF4-FFF2-40B4-BE49-F238E27FC236}">
                <a16:creationId xmlns:a16="http://schemas.microsoft.com/office/drawing/2014/main" id="{6C7D848F-944B-B614-37F6-FDBB146BD30C}"/>
              </a:ext>
            </a:extLst>
          </p:cNvPr>
          <p:cNvSpPr/>
          <p:nvPr/>
        </p:nvSpPr>
        <p:spPr>
          <a:xfrm>
            <a:off x="304800" y="863600"/>
            <a:ext cx="11582400" cy="584200"/>
          </a:xfrm>
          <a:prstGeom prst="roundRect">
            <a:avLst>
              <a:gd name="adj" fmla="val 6000"/>
            </a:avLst>
          </a:prstGeom>
          <a:solidFill>
            <a:srgbClr val="EFF6FF"/>
          </a:solidFill>
          <a:ln w="15240">
            <a:solidFill>
              <a:srgbClr val="BFDB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67E63693-6C2C-2302-32D2-57E898C057BC}"/>
              </a:ext>
            </a:extLst>
          </p:cNvPr>
          <p:cNvSpPr/>
          <p:nvPr/>
        </p:nvSpPr>
        <p:spPr>
          <a:xfrm>
            <a:off x="304800" y="863600"/>
            <a:ext cx="101600" cy="584200"/>
          </a:xfrm>
          <a:prstGeom prst="rect">
            <a:avLst/>
          </a:prstGeom>
          <a:solidFill>
            <a:srgbClr val="1E40A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192A0F5D-E924-17B6-1C94-01DDB97CE50E}"/>
              </a:ext>
            </a:extLst>
          </p:cNvPr>
          <p:cNvSpPr txBox="1"/>
          <p:nvPr/>
        </p:nvSpPr>
        <p:spPr>
          <a:xfrm>
            <a:off x="533400" y="939800"/>
            <a:ext cx="11226800" cy="259045"/>
          </a:xfrm>
          <a:prstGeom prst="rect">
            <a:avLst/>
          </a:prstGeom>
          <a:noFill/>
        </p:spPr>
        <p:txBody>
          <a:bodyPr vert="horz" wrap="square" lIns="50800" tIns="25400" rIns="50800" bIns="25400" rtlCol="0">
            <a:spAutoFit/>
          </a:bodyPr>
          <a:lstStyle/>
          <a:p>
            <a:r>
              <a:rPr kumimoji="1" lang="ja-JP" altLang="en-US" sz="1350" b="1">
                <a:solidFill>
                  <a:srgbClr val="0F2342"/>
                </a:solidFill>
                <a:latin typeface="Meiryo UI" panose="020B0604030504040204" pitchFamily="50" charset="-128"/>
                <a:ea typeface="Meiryo UI" panose="020B0604030504040204" pitchFamily="50" charset="-128"/>
              </a:rPr>
              <a:t>スタッフ満足度</a:t>
            </a:r>
            <a:r>
              <a:rPr kumimoji="1" lang="en-US" altLang="ja-JP" sz="1350" b="1">
                <a:solidFill>
                  <a:srgbClr val="0F2342"/>
                </a:solidFill>
                <a:latin typeface="Meiryo UI" panose="020B0604030504040204" pitchFamily="50" charset="-128"/>
                <a:ea typeface="Meiryo UI" panose="020B0604030504040204" pitchFamily="50" charset="-128"/>
              </a:rPr>
              <a:t>100%</a:t>
            </a:r>
            <a:r>
              <a:rPr kumimoji="1" lang="ja-JP" altLang="en-US" sz="1350" b="1">
                <a:solidFill>
                  <a:srgbClr val="0F2342"/>
                </a:solidFill>
                <a:latin typeface="Meiryo UI" panose="020B0604030504040204" pitchFamily="50" charset="-128"/>
                <a:ea typeface="Meiryo UI" panose="020B0604030504040204" pitchFamily="50" charset="-128"/>
              </a:rPr>
              <a:t>の一方、</a:t>
            </a:r>
            <a:r>
              <a:rPr kumimoji="1" lang="en-US" altLang="ja-JP" sz="1350" b="1">
                <a:solidFill>
                  <a:srgbClr val="0F2342"/>
                </a:solidFill>
                <a:latin typeface="Meiryo UI" panose="020B0604030504040204" pitchFamily="50" charset="-128"/>
                <a:ea typeface="Meiryo UI" panose="020B0604030504040204" pitchFamily="50" charset="-128"/>
              </a:rPr>
              <a:t>3</a:t>
            </a:r>
            <a:r>
              <a:rPr kumimoji="1" lang="ja-JP" altLang="en-US" sz="1350" b="1">
                <a:solidFill>
                  <a:srgbClr val="0F2342"/>
                </a:solidFill>
                <a:latin typeface="Meiryo UI" panose="020B0604030504040204" pitchFamily="50" charset="-128"/>
                <a:ea typeface="Meiryo UI" panose="020B0604030504040204" pitchFamily="50" charset="-128"/>
              </a:rPr>
              <a:t>区画では常時混雑し機会損失が発生。来期は「</a:t>
            </a:r>
            <a:r>
              <a:rPr kumimoji="1" lang="en-US" altLang="ja-JP" sz="1350" b="1">
                <a:solidFill>
                  <a:srgbClr val="0F2342"/>
                </a:solidFill>
                <a:latin typeface="Meiryo UI" panose="020B0604030504040204" pitchFamily="50" charset="-128"/>
                <a:ea typeface="Meiryo UI" panose="020B0604030504040204" pitchFamily="50" charset="-128"/>
              </a:rPr>
              <a:t>4</a:t>
            </a:r>
            <a:r>
              <a:rPr kumimoji="1" lang="ja-JP" altLang="en-US" sz="1350" b="1">
                <a:solidFill>
                  <a:srgbClr val="0F2342"/>
                </a:solidFill>
                <a:latin typeface="Meiryo UI" panose="020B0604030504040204" pitchFamily="50" charset="-128"/>
                <a:ea typeface="Meiryo UI" panose="020B0604030504040204" pitchFamily="50" charset="-128"/>
              </a:rPr>
              <a:t>区画化＋増員」を提案</a:t>
            </a:r>
          </a:p>
        </p:txBody>
      </p:sp>
      <p:sp>
        <p:nvSpPr>
          <p:cNvPr id="11" name="四角形: 角を丸くする 10">
            <a:extLst>
              <a:ext uri="{FF2B5EF4-FFF2-40B4-BE49-F238E27FC236}">
                <a16:creationId xmlns:a16="http://schemas.microsoft.com/office/drawing/2014/main" id="{1315728E-575A-2723-B464-18A791A77461}"/>
              </a:ext>
            </a:extLst>
          </p:cNvPr>
          <p:cNvSpPr/>
          <p:nvPr/>
        </p:nvSpPr>
        <p:spPr>
          <a:xfrm>
            <a:off x="304800" y="1600200"/>
            <a:ext cx="5664200" cy="4953000"/>
          </a:xfrm>
          <a:prstGeom prst="roundRect">
            <a:avLst>
              <a:gd name="adj" fmla="val 6000"/>
            </a:avLst>
          </a:prstGeom>
          <a:solidFill>
            <a:srgbClr val="FFFFFF"/>
          </a:solidFill>
          <a:ln w="15240">
            <a:solidFill>
              <a:srgbClr val="BFDB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CCF07819-8302-CA4E-F779-6878EC857AEB}"/>
              </a:ext>
            </a:extLst>
          </p:cNvPr>
          <p:cNvSpPr txBox="1"/>
          <p:nvPr/>
        </p:nvSpPr>
        <p:spPr>
          <a:xfrm>
            <a:off x="508000" y="1727200"/>
            <a:ext cx="5257800" cy="282129"/>
          </a:xfrm>
          <a:prstGeom prst="rect">
            <a:avLst/>
          </a:prstGeom>
          <a:noFill/>
        </p:spPr>
        <p:txBody>
          <a:bodyPr vert="horz" wrap="square" lIns="50800" tIns="25400" rIns="50800" bIns="25400" rtlCol="0">
            <a:spAutoFit/>
          </a:bodyPr>
          <a:lstStyle/>
          <a:p>
            <a:r>
              <a:rPr kumimoji="1" lang="ja-JP" altLang="en-US" sz="1500" b="1">
                <a:solidFill>
                  <a:srgbClr val="0F2342"/>
                </a:solidFill>
                <a:latin typeface="Meiryo UI" panose="020B0604030504040204" pitchFamily="50" charset="-128"/>
                <a:ea typeface="Meiryo UI" panose="020B0604030504040204" pitchFamily="50" charset="-128"/>
              </a:rPr>
              <a:t>🧑‍⚕️ 参加スタッフアンケート結果（回答</a:t>
            </a:r>
            <a:r>
              <a:rPr kumimoji="1" lang="en-US" altLang="ja-JP" sz="1500" b="1">
                <a:solidFill>
                  <a:srgbClr val="0F2342"/>
                </a:solidFill>
                <a:latin typeface="Meiryo UI" panose="020B0604030504040204" pitchFamily="50" charset="-128"/>
                <a:ea typeface="Meiryo UI" panose="020B0604030504040204" pitchFamily="50" charset="-128"/>
              </a:rPr>
              <a:t>12</a:t>
            </a:r>
            <a:r>
              <a:rPr kumimoji="1" lang="ja-JP" altLang="en-US" sz="1500" b="1">
                <a:solidFill>
                  <a:srgbClr val="0F2342"/>
                </a:solidFill>
                <a:latin typeface="Meiryo UI" panose="020B0604030504040204" pitchFamily="50" charset="-128"/>
                <a:ea typeface="Meiryo UI" panose="020B0604030504040204" pitchFamily="50" charset="-128"/>
              </a:rPr>
              <a:t>名）</a:t>
            </a:r>
          </a:p>
        </p:txBody>
      </p:sp>
      <p:sp>
        <p:nvSpPr>
          <p:cNvPr id="13" name="テキスト ボックス 12">
            <a:extLst>
              <a:ext uri="{FF2B5EF4-FFF2-40B4-BE49-F238E27FC236}">
                <a16:creationId xmlns:a16="http://schemas.microsoft.com/office/drawing/2014/main" id="{D89C9237-8F4E-B0CD-278F-72CD19120155}"/>
              </a:ext>
            </a:extLst>
          </p:cNvPr>
          <p:cNvSpPr txBox="1"/>
          <p:nvPr/>
        </p:nvSpPr>
        <p:spPr>
          <a:xfrm>
            <a:off x="508000" y="2235200"/>
            <a:ext cx="21844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参加して良かった（はい）</a:t>
            </a:r>
          </a:p>
        </p:txBody>
      </p:sp>
      <p:sp>
        <p:nvSpPr>
          <p:cNvPr id="14" name="正方形/長方形 13">
            <a:extLst>
              <a:ext uri="{FF2B5EF4-FFF2-40B4-BE49-F238E27FC236}">
                <a16:creationId xmlns:a16="http://schemas.microsoft.com/office/drawing/2014/main" id="{0C2B425D-BEAF-D214-6747-1F0C18C63731}"/>
              </a:ext>
            </a:extLst>
          </p:cNvPr>
          <p:cNvSpPr/>
          <p:nvPr/>
        </p:nvSpPr>
        <p:spPr>
          <a:xfrm>
            <a:off x="2768600" y="2273300"/>
            <a:ext cx="14605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2FCE9FFE-176E-7DB8-BFAC-1756FD986E64}"/>
              </a:ext>
            </a:extLst>
          </p:cNvPr>
          <p:cNvSpPr/>
          <p:nvPr/>
        </p:nvSpPr>
        <p:spPr>
          <a:xfrm>
            <a:off x="2768600" y="2273300"/>
            <a:ext cx="1460500" cy="228600"/>
          </a:xfrm>
          <a:prstGeom prst="rect">
            <a:avLst/>
          </a:prstGeom>
          <a:solidFill>
            <a:srgbClr val="0D948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6CE0A350-B640-675D-008B-629EA8B35B8D}"/>
              </a:ext>
            </a:extLst>
          </p:cNvPr>
          <p:cNvSpPr txBox="1"/>
          <p:nvPr/>
        </p:nvSpPr>
        <p:spPr>
          <a:xfrm>
            <a:off x="4330700" y="22352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12</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(100%)</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17" name="テキスト ボックス 16">
            <a:extLst>
              <a:ext uri="{FF2B5EF4-FFF2-40B4-BE49-F238E27FC236}">
                <a16:creationId xmlns:a16="http://schemas.microsoft.com/office/drawing/2014/main" id="{4B7C8A57-48CB-3D05-5BC3-87F9C5BDFC1A}"/>
              </a:ext>
            </a:extLst>
          </p:cNvPr>
          <p:cNvSpPr txBox="1"/>
          <p:nvPr/>
        </p:nvSpPr>
        <p:spPr>
          <a:xfrm>
            <a:off x="508000" y="2667000"/>
            <a:ext cx="21844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地域貢献できた（はい）</a:t>
            </a:r>
          </a:p>
        </p:txBody>
      </p:sp>
      <p:sp>
        <p:nvSpPr>
          <p:cNvPr id="18" name="正方形/長方形 17">
            <a:extLst>
              <a:ext uri="{FF2B5EF4-FFF2-40B4-BE49-F238E27FC236}">
                <a16:creationId xmlns:a16="http://schemas.microsoft.com/office/drawing/2014/main" id="{6952335D-6BEC-4BD3-2ABB-D16143AE6C6A}"/>
              </a:ext>
            </a:extLst>
          </p:cNvPr>
          <p:cNvSpPr/>
          <p:nvPr/>
        </p:nvSpPr>
        <p:spPr>
          <a:xfrm>
            <a:off x="2768600" y="2705100"/>
            <a:ext cx="14605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A1C59847-5049-A072-8FC9-3BD033FFD85A}"/>
              </a:ext>
            </a:extLst>
          </p:cNvPr>
          <p:cNvSpPr/>
          <p:nvPr/>
        </p:nvSpPr>
        <p:spPr>
          <a:xfrm>
            <a:off x="2768600" y="2705100"/>
            <a:ext cx="1333500" cy="228600"/>
          </a:xfrm>
          <a:prstGeom prst="rect">
            <a:avLst/>
          </a:prstGeom>
          <a:solidFill>
            <a:srgbClr val="1E40A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CEFAA823-408B-A87C-926B-EF67F46A2074}"/>
              </a:ext>
            </a:extLst>
          </p:cNvPr>
          <p:cNvSpPr txBox="1"/>
          <p:nvPr/>
        </p:nvSpPr>
        <p:spPr>
          <a:xfrm>
            <a:off x="4330700" y="26670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11</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(91.7%)</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21" name="テキスト ボックス 20">
            <a:extLst>
              <a:ext uri="{FF2B5EF4-FFF2-40B4-BE49-F238E27FC236}">
                <a16:creationId xmlns:a16="http://schemas.microsoft.com/office/drawing/2014/main" id="{9775C7F5-2140-B962-6050-97907C2825F5}"/>
              </a:ext>
            </a:extLst>
          </p:cNvPr>
          <p:cNvSpPr txBox="1"/>
          <p:nvPr/>
        </p:nvSpPr>
        <p:spPr>
          <a:xfrm>
            <a:off x="508000" y="3098800"/>
            <a:ext cx="2184400" cy="243656"/>
          </a:xfrm>
          <a:prstGeom prst="rect">
            <a:avLst/>
          </a:prstGeom>
          <a:noFill/>
        </p:spPr>
        <p:txBody>
          <a:bodyPr vert="horz" wrap="square" lIns="50800" tIns="25400" rIns="50800" bIns="25400" rtlCol="0">
            <a:spAutoFit/>
          </a:bodyPr>
          <a:lstStyle/>
          <a:p>
            <a:r>
              <a:rPr kumimoji="1" lang="ja-JP" altLang="en-US" sz="1250" b="1">
                <a:solidFill>
                  <a:srgbClr val="0F172A"/>
                </a:solidFill>
                <a:latin typeface="Meiryo UI" panose="020B0604030504040204" pitchFamily="50" charset="-128"/>
                <a:ea typeface="Meiryo UI" panose="020B0604030504040204" pitchFamily="50" charset="-128"/>
              </a:rPr>
              <a:t>人員・配置に課題あり</a:t>
            </a:r>
          </a:p>
        </p:txBody>
      </p:sp>
      <p:sp>
        <p:nvSpPr>
          <p:cNvPr id="22" name="正方形/長方形 21">
            <a:extLst>
              <a:ext uri="{FF2B5EF4-FFF2-40B4-BE49-F238E27FC236}">
                <a16:creationId xmlns:a16="http://schemas.microsoft.com/office/drawing/2014/main" id="{483AEF4F-03BC-6CFF-203F-39CEABBA9084}"/>
              </a:ext>
            </a:extLst>
          </p:cNvPr>
          <p:cNvSpPr/>
          <p:nvPr/>
        </p:nvSpPr>
        <p:spPr>
          <a:xfrm>
            <a:off x="2768600" y="3136900"/>
            <a:ext cx="1460500" cy="2286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598EC3E9-B827-385F-58C9-E1CC38937A30}"/>
              </a:ext>
            </a:extLst>
          </p:cNvPr>
          <p:cNvSpPr/>
          <p:nvPr/>
        </p:nvSpPr>
        <p:spPr>
          <a:xfrm>
            <a:off x="2768600" y="3136900"/>
            <a:ext cx="1092200" cy="228600"/>
          </a:xfrm>
          <a:prstGeom prst="rect">
            <a:avLst/>
          </a:prstGeom>
          <a:solidFill>
            <a:srgbClr val="B91C1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7F3312A0-AF83-0659-0828-7A66312EAFF2}"/>
              </a:ext>
            </a:extLst>
          </p:cNvPr>
          <p:cNvSpPr txBox="1"/>
          <p:nvPr/>
        </p:nvSpPr>
        <p:spPr>
          <a:xfrm>
            <a:off x="4330700" y="3098800"/>
            <a:ext cx="1460500" cy="243656"/>
          </a:xfrm>
          <a:prstGeom prst="rect">
            <a:avLst/>
          </a:prstGeom>
          <a:noFill/>
        </p:spPr>
        <p:txBody>
          <a:bodyPr vert="horz" wrap="square" lIns="50800" tIns="25400" rIns="50800" bIns="25400" rtlCol="0">
            <a:spAutoFit/>
          </a:bodyPr>
          <a:lstStyle/>
          <a:p>
            <a:r>
              <a:rPr kumimoji="1" lang="en-US" altLang="ja-JP" sz="1250" b="1">
                <a:solidFill>
                  <a:srgbClr val="0F2342"/>
                </a:solidFill>
                <a:latin typeface="Meiryo UI" panose="020B0604030504040204" pitchFamily="50" charset="-128"/>
                <a:ea typeface="Meiryo UI" panose="020B0604030504040204" pitchFamily="50" charset="-128"/>
              </a:rPr>
              <a:t>9</a:t>
            </a:r>
            <a:r>
              <a:rPr kumimoji="1" lang="ja-JP" altLang="en-US" sz="1250" b="1">
                <a:solidFill>
                  <a:srgbClr val="0F2342"/>
                </a:solidFill>
                <a:latin typeface="Meiryo UI" panose="020B0604030504040204" pitchFamily="50" charset="-128"/>
                <a:ea typeface="Meiryo UI" panose="020B0604030504040204" pitchFamily="50" charset="-128"/>
              </a:rPr>
              <a:t>名 </a:t>
            </a:r>
            <a:r>
              <a:rPr kumimoji="1" lang="en-US" altLang="ja-JP" sz="1250" b="1">
                <a:solidFill>
                  <a:srgbClr val="0F2342"/>
                </a:solidFill>
                <a:latin typeface="Meiryo UI" panose="020B0604030504040204" pitchFamily="50" charset="-128"/>
                <a:ea typeface="Meiryo UI" panose="020B0604030504040204" pitchFamily="50" charset="-128"/>
              </a:rPr>
              <a:t>(75.0%)</a:t>
            </a:r>
            <a:endParaRPr kumimoji="1" lang="ja-JP" altLang="en-US" sz="1250" b="1">
              <a:solidFill>
                <a:srgbClr val="0F2342"/>
              </a:solidFill>
              <a:latin typeface="Meiryo UI" panose="020B0604030504040204" pitchFamily="50" charset="-128"/>
              <a:ea typeface="Meiryo UI" panose="020B0604030504040204" pitchFamily="50" charset="-128"/>
            </a:endParaRPr>
          </a:p>
        </p:txBody>
      </p:sp>
      <p:sp>
        <p:nvSpPr>
          <p:cNvPr id="25" name="四角形: 角を丸くする 24">
            <a:extLst>
              <a:ext uri="{FF2B5EF4-FFF2-40B4-BE49-F238E27FC236}">
                <a16:creationId xmlns:a16="http://schemas.microsoft.com/office/drawing/2014/main" id="{8920904C-71CC-740F-4DED-1805F6BF75E2}"/>
              </a:ext>
            </a:extLst>
          </p:cNvPr>
          <p:cNvSpPr/>
          <p:nvPr/>
        </p:nvSpPr>
        <p:spPr>
          <a:xfrm>
            <a:off x="508000" y="3581400"/>
            <a:ext cx="5257800" cy="2768600"/>
          </a:xfrm>
          <a:prstGeom prst="roundRect">
            <a:avLst>
              <a:gd name="adj" fmla="val 6000"/>
            </a:avLst>
          </a:prstGeom>
          <a:solidFill>
            <a:srgbClr val="FEF2F2"/>
          </a:solidFill>
          <a:ln w="15240">
            <a:solidFill>
              <a:srgbClr val="FECA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94E0DADD-2CD5-E031-0620-00B712CCD21A}"/>
              </a:ext>
            </a:extLst>
          </p:cNvPr>
          <p:cNvSpPr txBox="1"/>
          <p:nvPr/>
        </p:nvSpPr>
        <p:spPr>
          <a:xfrm>
            <a:off x="635000" y="3683000"/>
            <a:ext cx="5029200" cy="1574790"/>
          </a:xfrm>
          <a:prstGeom prst="rect">
            <a:avLst/>
          </a:prstGeom>
          <a:noFill/>
        </p:spPr>
        <p:txBody>
          <a:bodyPr vert="horz" wrap="square" lIns="50800" tIns="25400" rIns="50800" bIns="25400" rtlCol="0">
            <a:spAutoFit/>
          </a:bodyPr>
          <a:lstStyle/>
          <a:p>
            <a:r>
              <a:rPr kumimoji="1" lang="ja-JP" altLang="en-US" sz="1100">
                <a:solidFill>
                  <a:srgbClr val="0F172A"/>
                </a:solidFill>
                <a:latin typeface="Meiryo UI" panose="020B0604030504040204" pitchFamily="50" charset="-128"/>
                <a:ea typeface="Meiryo UI" panose="020B0604030504040204" pitchFamily="50" charset="-128"/>
              </a:rPr>
              <a:t>⚠️ 現場スタッフから挙がった具体的な課題（</a:t>
            </a:r>
            <a:r>
              <a:rPr kumimoji="1" lang="en-US" altLang="ja-JP" sz="1100">
                <a:solidFill>
                  <a:srgbClr val="0F172A"/>
                </a:solidFill>
                <a:latin typeface="Meiryo UI" panose="020B0604030504040204" pitchFamily="50" charset="-128"/>
                <a:ea typeface="Meiryo UI" panose="020B0604030504040204" pitchFamily="50" charset="-128"/>
              </a:rPr>
              <a:t>3</a:t>
            </a:r>
            <a:r>
              <a:rPr kumimoji="1" lang="ja-JP" altLang="en-US" sz="1100">
                <a:solidFill>
                  <a:srgbClr val="0F172A"/>
                </a:solidFill>
                <a:latin typeface="Meiryo UI" panose="020B0604030504040204" pitchFamily="50" charset="-128"/>
                <a:ea typeface="Meiryo UI" panose="020B0604030504040204" pitchFamily="50" charset="-128"/>
              </a:rPr>
              <a:t>区画・人員不足の影響）：
</a:t>
            </a:r>
            <a:r>
              <a:rPr kumimoji="1" lang="en-US" altLang="ja-JP" sz="1100">
                <a:solidFill>
                  <a:srgbClr val="0F172A"/>
                </a:solidFill>
                <a:latin typeface="Meiryo UI" panose="020B0604030504040204" pitchFamily="50" charset="-128"/>
                <a:ea typeface="Meiryo UI" panose="020B0604030504040204" pitchFamily="50" charset="-128"/>
              </a:rPr>
              <a:t>1. 【</a:t>
            </a:r>
            <a:r>
              <a:rPr kumimoji="1" lang="ja-JP" altLang="en-US" sz="1100">
                <a:solidFill>
                  <a:srgbClr val="0F172A"/>
                </a:solidFill>
                <a:latin typeface="Meiryo UI" panose="020B0604030504040204" pitchFamily="50" charset="-128"/>
                <a:ea typeface="Meiryo UI" panose="020B0604030504040204" pitchFamily="50" charset="-128"/>
              </a:rPr>
              <a:t>スペース狭小による機会損失</a:t>
            </a:r>
            <a:r>
              <a:rPr kumimoji="1" lang="en-US" altLang="ja-JP" sz="1100">
                <a:solidFill>
                  <a:srgbClr val="0F172A"/>
                </a:solidFill>
                <a:latin typeface="Meiryo UI" panose="020B0604030504040204" pitchFamily="50" charset="-128"/>
                <a:ea typeface="Meiryo UI" panose="020B0604030504040204" pitchFamily="50" charset="-128"/>
              </a:rPr>
              <a:t>】
   </a:t>
            </a:r>
            <a:r>
              <a:rPr kumimoji="1" lang="ja-JP" altLang="en-US" sz="1100">
                <a:solidFill>
                  <a:srgbClr val="0F172A"/>
                </a:solidFill>
                <a:latin typeface="Meiryo UI" panose="020B0604030504040204" pitchFamily="50" charset="-128"/>
                <a:ea typeface="Meiryo UI" panose="020B0604030504040204" pitchFamily="50" charset="-128"/>
              </a:rPr>
              <a:t>・「</a:t>
            </a:r>
            <a:r>
              <a:rPr kumimoji="1" lang="en-US" altLang="ja-JP" sz="1100">
                <a:solidFill>
                  <a:srgbClr val="0F172A"/>
                </a:solidFill>
                <a:latin typeface="Meiryo UI" panose="020B0604030504040204" pitchFamily="50" charset="-128"/>
                <a:ea typeface="Meiryo UI" panose="020B0604030504040204" pitchFamily="50" charset="-128"/>
              </a:rPr>
              <a:t>3</a:t>
            </a:r>
            <a:r>
              <a:rPr kumimoji="1" lang="ja-JP" altLang="en-US" sz="1100">
                <a:solidFill>
                  <a:srgbClr val="0F172A"/>
                </a:solidFill>
                <a:latin typeface="Meiryo UI" panose="020B0604030504040204" pitchFamily="50" charset="-128"/>
                <a:ea typeface="Meiryo UI" panose="020B0604030504040204" pitchFamily="50" charset="-128"/>
              </a:rPr>
              <a:t>区画では常に混雑し狭かった。お待ち頂く方が座れず外出を勧めた」
   ・「</a:t>
            </a:r>
            <a:r>
              <a:rPr kumimoji="1" lang="en-US" altLang="ja-JP" sz="1100">
                <a:solidFill>
                  <a:srgbClr val="0F172A"/>
                </a:solidFill>
                <a:latin typeface="Meiryo UI" panose="020B0604030504040204" pitchFamily="50" charset="-128"/>
                <a:ea typeface="Meiryo UI" panose="020B0604030504040204" pitchFamily="50" charset="-128"/>
              </a:rPr>
              <a:t>InBody</a:t>
            </a:r>
            <a:r>
              <a:rPr kumimoji="1" lang="ja-JP" altLang="en-US" sz="1100">
                <a:solidFill>
                  <a:srgbClr val="0F172A"/>
                </a:solidFill>
                <a:latin typeface="Meiryo UI" panose="020B0604030504040204" pitchFamily="50" charset="-128"/>
                <a:ea typeface="Meiryo UI" panose="020B0604030504040204" pitchFamily="50" charset="-128"/>
              </a:rPr>
              <a:t>測定希望者が多すぎて、最後は並ぶのを中止（お断り）した」
</a:t>
            </a:r>
            <a:r>
              <a:rPr kumimoji="1" lang="en-US" altLang="ja-JP" sz="1100">
                <a:solidFill>
                  <a:srgbClr val="0F172A"/>
                </a:solidFill>
                <a:latin typeface="Meiryo UI" panose="020B0604030504040204" pitchFamily="50" charset="-128"/>
                <a:ea typeface="Meiryo UI" panose="020B0604030504040204" pitchFamily="50" charset="-128"/>
              </a:rPr>
              <a:t>2. 【</a:t>
            </a:r>
            <a:r>
              <a:rPr kumimoji="1" lang="ja-JP" altLang="en-US" sz="1100">
                <a:solidFill>
                  <a:srgbClr val="0F172A"/>
                </a:solidFill>
                <a:latin typeface="Meiryo UI" panose="020B0604030504040204" pitchFamily="50" charset="-128"/>
                <a:ea typeface="Meiryo UI" panose="020B0604030504040204" pitchFamily="50" charset="-128"/>
              </a:rPr>
              <a:t>休憩時間の未確保と誘導負担</a:t>
            </a:r>
            <a:r>
              <a:rPr kumimoji="1" lang="en-US" altLang="ja-JP" sz="1100">
                <a:solidFill>
                  <a:srgbClr val="0F172A"/>
                </a:solidFill>
                <a:latin typeface="Meiryo UI" panose="020B0604030504040204" pitchFamily="50" charset="-128"/>
                <a:ea typeface="Meiryo UI" panose="020B0604030504040204" pitchFamily="50" charset="-128"/>
              </a:rPr>
              <a:t>】
   </a:t>
            </a:r>
            <a:r>
              <a:rPr kumimoji="1" lang="ja-JP" altLang="en-US" sz="1100">
                <a:solidFill>
                  <a:srgbClr val="0F172A"/>
                </a:solidFill>
                <a:latin typeface="Meiryo UI" panose="020B0604030504040204" pitchFamily="50" charset="-128"/>
                <a:ea typeface="Meiryo UI" panose="020B0604030504040204" pitchFamily="50" charset="-128"/>
              </a:rPr>
              <a:t>・「休憩時間が全く取れなかった。シフト制で休憩を回せる人員が必要」
   ・「呼び込み・誘導係、測定補助、事務スタッフの増員が必要」
</a:t>
            </a:r>
            <a:r>
              <a:rPr kumimoji="1" lang="en-US" altLang="ja-JP" sz="1100">
                <a:solidFill>
                  <a:srgbClr val="0F172A"/>
                </a:solidFill>
                <a:latin typeface="Meiryo UI" panose="020B0604030504040204" pitchFamily="50" charset="-128"/>
                <a:ea typeface="Meiryo UI" panose="020B0604030504040204" pitchFamily="50" charset="-128"/>
              </a:rPr>
              <a:t>3. 【</a:t>
            </a:r>
            <a:r>
              <a:rPr kumimoji="1" lang="ja-JP" altLang="en-US" sz="1100">
                <a:solidFill>
                  <a:srgbClr val="0F172A"/>
                </a:solidFill>
                <a:latin typeface="Meiryo UI" panose="020B0604030504040204" pitchFamily="50" charset="-128"/>
                <a:ea typeface="Meiryo UI" panose="020B0604030504040204" pitchFamily="50" charset="-128"/>
              </a:rPr>
              <a:t>機器・備品の改善点</a:t>
            </a:r>
            <a:r>
              <a:rPr kumimoji="1" lang="en-US" altLang="ja-JP" sz="1100">
                <a:solidFill>
                  <a:srgbClr val="0F172A"/>
                </a:solidFill>
                <a:latin typeface="Meiryo UI" panose="020B0604030504040204" pitchFamily="50" charset="-128"/>
                <a:ea typeface="Meiryo UI" panose="020B0604030504040204" pitchFamily="50" charset="-128"/>
              </a:rPr>
              <a:t>】
   </a:t>
            </a:r>
            <a:r>
              <a:rPr kumimoji="1" lang="ja-JP" altLang="en-US" sz="1100">
                <a:solidFill>
                  <a:srgbClr val="0F172A"/>
                </a:solidFill>
                <a:latin typeface="Meiryo UI" panose="020B0604030504040204" pitchFamily="50" charset="-128"/>
                <a:ea typeface="Meiryo UI" panose="020B0604030504040204" pitchFamily="50" charset="-128"/>
              </a:rPr>
              <a:t>・「</a:t>
            </a:r>
            <a:r>
              <a:rPr kumimoji="1" lang="en-US" altLang="ja-JP" sz="1100">
                <a:solidFill>
                  <a:srgbClr val="0F172A"/>
                </a:solidFill>
                <a:latin typeface="Meiryo UI" panose="020B0604030504040204" pitchFamily="50" charset="-128"/>
                <a:ea typeface="Meiryo UI" panose="020B0604030504040204" pitchFamily="50" charset="-128"/>
              </a:rPr>
              <a:t>InBody</a:t>
            </a:r>
            <a:r>
              <a:rPr kumimoji="1" lang="ja-JP" altLang="en-US" sz="1100">
                <a:solidFill>
                  <a:srgbClr val="0F172A"/>
                </a:solidFill>
                <a:latin typeface="Meiryo UI" panose="020B0604030504040204" pitchFamily="50" charset="-128"/>
                <a:ea typeface="Meiryo UI" panose="020B0604030504040204" pitchFamily="50" charset="-128"/>
              </a:rPr>
              <a:t>は</a:t>
            </a:r>
            <a:r>
              <a:rPr kumimoji="1" lang="en-US" altLang="ja-JP" sz="1100">
                <a:solidFill>
                  <a:srgbClr val="0F172A"/>
                </a:solidFill>
                <a:latin typeface="Meiryo UI" panose="020B0604030504040204" pitchFamily="50" charset="-128"/>
                <a:ea typeface="Meiryo UI" panose="020B0604030504040204" pitchFamily="50" charset="-128"/>
              </a:rPr>
              <a:t>2</a:t>
            </a:r>
            <a:r>
              <a:rPr kumimoji="1" lang="ja-JP" altLang="en-US" sz="1100">
                <a:solidFill>
                  <a:srgbClr val="0F172A"/>
                </a:solidFill>
                <a:latin typeface="Meiryo UI" panose="020B0604030504040204" pitchFamily="50" charset="-128"/>
                <a:ea typeface="Meiryo UI" panose="020B0604030504040204" pitchFamily="50" charset="-128"/>
              </a:rPr>
              <a:t>台体制が望ましい」「</a:t>
            </a:r>
            <a:r>
              <a:rPr kumimoji="1" lang="en-US" altLang="ja-JP" sz="1100">
                <a:solidFill>
                  <a:srgbClr val="0F172A"/>
                </a:solidFill>
                <a:latin typeface="Meiryo UI" panose="020B0604030504040204" pitchFamily="50" charset="-128"/>
                <a:ea typeface="Meiryo UI" panose="020B0604030504040204" pitchFamily="50" charset="-128"/>
              </a:rPr>
              <a:t>Wi-Fi</a:t>
            </a:r>
            <a:r>
              <a:rPr kumimoji="1" lang="ja-JP" altLang="en-US" sz="1100">
                <a:solidFill>
                  <a:srgbClr val="0F172A"/>
                </a:solidFill>
                <a:latin typeface="Meiryo UI" panose="020B0604030504040204" pitchFamily="50" charset="-128"/>
                <a:ea typeface="Meiryo UI" panose="020B0604030504040204" pitchFamily="50" charset="-128"/>
              </a:rPr>
              <a:t>環境の事前確認、靴ベラ・バインダー準備」</a:t>
            </a:r>
          </a:p>
        </p:txBody>
      </p:sp>
      <p:sp>
        <p:nvSpPr>
          <p:cNvPr id="27" name="四角形: 角を丸くする 26">
            <a:extLst>
              <a:ext uri="{FF2B5EF4-FFF2-40B4-BE49-F238E27FC236}">
                <a16:creationId xmlns:a16="http://schemas.microsoft.com/office/drawing/2014/main" id="{D042D147-3A29-1F21-E0C8-B986AAAD0A85}"/>
              </a:ext>
            </a:extLst>
          </p:cNvPr>
          <p:cNvSpPr/>
          <p:nvPr/>
        </p:nvSpPr>
        <p:spPr>
          <a:xfrm>
            <a:off x="6172200" y="1600200"/>
            <a:ext cx="5715000" cy="4953000"/>
          </a:xfrm>
          <a:prstGeom prst="roundRect">
            <a:avLst>
              <a:gd name="adj" fmla="val 6000"/>
            </a:avLst>
          </a:prstGeom>
          <a:solidFill>
            <a:srgbClr val="FFFFFF"/>
          </a:solidFill>
          <a:ln w="15240">
            <a:solidFill>
              <a:srgbClr val="BFDB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BC38FE2B-3EF6-AACD-7EDB-B29B38B8E9DD}"/>
              </a:ext>
            </a:extLst>
          </p:cNvPr>
          <p:cNvSpPr txBox="1"/>
          <p:nvPr/>
        </p:nvSpPr>
        <p:spPr>
          <a:xfrm>
            <a:off x="6375400" y="1727200"/>
            <a:ext cx="5308600" cy="282129"/>
          </a:xfrm>
          <a:prstGeom prst="rect">
            <a:avLst/>
          </a:prstGeom>
          <a:noFill/>
        </p:spPr>
        <p:txBody>
          <a:bodyPr vert="horz" wrap="square" lIns="50800" tIns="25400" rIns="50800" bIns="25400" rtlCol="0">
            <a:spAutoFit/>
          </a:bodyPr>
          <a:lstStyle/>
          <a:p>
            <a:r>
              <a:rPr kumimoji="1" lang="ja-JP" altLang="en-US" sz="1500" b="1">
                <a:solidFill>
                  <a:srgbClr val="0F2342"/>
                </a:solidFill>
                <a:latin typeface="Meiryo UI" panose="020B0604030504040204" pitchFamily="50" charset="-128"/>
                <a:ea typeface="Meiryo UI" panose="020B0604030504040204" pitchFamily="50" charset="-128"/>
              </a:rPr>
              <a:t>🚀 来期（次年度）に向けた</a:t>
            </a:r>
            <a:r>
              <a:rPr kumimoji="1" lang="en-US" altLang="ja-JP" sz="1500" b="1">
                <a:solidFill>
                  <a:srgbClr val="0F2342"/>
                </a:solidFill>
                <a:latin typeface="Meiryo UI" panose="020B0604030504040204" pitchFamily="50" charset="-128"/>
                <a:ea typeface="Meiryo UI" panose="020B0604030504040204" pitchFamily="50" charset="-128"/>
              </a:rPr>
              <a:t>3</a:t>
            </a:r>
            <a:r>
              <a:rPr kumimoji="1" lang="ja-JP" altLang="en-US" sz="1500" b="1">
                <a:solidFill>
                  <a:srgbClr val="0F2342"/>
                </a:solidFill>
                <a:latin typeface="Meiryo UI" panose="020B0604030504040204" pitchFamily="50" charset="-128"/>
                <a:ea typeface="Meiryo UI" panose="020B0604030504040204" pitchFamily="50" charset="-128"/>
              </a:rPr>
              <a:t>つの改善提案</a:t>
            </a:r>
          </a:p>
        </p:txBody>
      </p:sp>
      <p:sp>
        <p:nvSpPr>
          <p:cNvPr id="29" name="四角形: 角を丸くする 28">
            <a:extLst>
              <a:ext uri="{FF2B5EF4-FFF2-40B4-BE49-F238E27FC236}">
                <a16:creationId xmlns:a16="http://schemas.microsoft.com/office/drawing/2014/main" id="{4E51A60C-6A41-6B57-ABB8-05B2FCB2CA14}"/>
              </a:ext>
            </a:extLst>
          </p:cNvPr>
          <p:cNvSpPr/>
          <p:nvPr/>
        </p:nvSpPr>
        <p:spPr>
          <a:xfrm>
            <a:off x="6375400" y="2209800"/>
            <a:ext cx="5308600" cy="1244600"/>
          </a:xfrm>
          <a:prstGeom prst="roundRect">
            <a:avLst>
              <a:gd name="adj" fmla="val 6000"/>
            </a:avLst>
          </a:prstGeom>
          <a:solidFill>
            <a:srgbClr val="EFF6FF"/>
          </a:solidFill>
          <a:ln w="15240">
            <a:solidFill>
              <a:srgbClr val="BFDB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65765232-B502-4E54-C956-5E14E3E14197}"/>
              </a:ext>
            </a:extLst>
          </p:cNvPr>
          <p:cNvSpPr txBox="1"/>
          <p:nvPr/>
        </p:nvSpPr>
        <p:spPr>
          <a:xfrm>
            <a:off x="6553200" y="2286000"/>
            <a:ext cx="4978400" cy="913070"/>
          </a:xfrm>
          <a:prstGeom prst="rect">
            <a:avLst/>
          </a:prstGeom>
          <a:noFill/>
        </p:spPr>
        <p:txBody>
          <a:bodyPr vert="horz" wrap="square" lIns="50800" tIns="25400" rIns="50800" bIns="25400" rtlCol="0">
            <a:spAutoFit/>
          </a:bodyPr>
          <a:lstStyle/>
          <a:p>
            <a:r>
              <a:rPr kumimoji="1" lang="ja-JP" altLang="en-US" sz="1120">
                <a:solidFill>
                  <a:srgbClr val="0F172A"/>
                </a:solidFill>
                <a:latin typeface="Meiryo UI" panose="020B0604030504040204" pitchFamily="50" charset="-128"/>
                <a:ea typeface="Meiryo UI" panose="020B0604030504040204" pitchFamily="50" charset="-128"/>
              </a:rPr>
              <a:t>提案①：出展ブースを「</a:t>
            </a:r>
            <a:r>
              <a:rPr kumimoji="1" lang="en-US" altLang="ja-JP" sz="1120">
                <a:solidFill>
                  <a:srgbClr val="0F172A"/>
                </a:solidFill>
                <a:latin typeface="Meiryo UI" panose="020B0604030504040204" pitchFamily="50" charset="-128"/>
                <a:ea typeface="Meiryo UI" panose="020B0604030504040204" pitchFamily="50" charset="-128"/>
              </a:rPr>
              <a:t>3</a:t>
            </a:r>
            <a:r>
              <a:rPr kumimoji="1" lang="ja-JP" altLang="en-US" sz="1120">
                <a:solidFill>
                  <a:srgbClr val="0F172A"/>
                </a:solidFill>
                <a:latin typeface="Meiryo UI" panose="020B0604030504040204" pitchFamily="50" charset="-128"/>
                <a:ea typeface="Meiryo UI" panose="020B0604030504040204" pitchFamily="50" charset="-128"/>
              </a:rPr>
              <a:t>区画 → </a:t>
            </a:r>
            <a:r>
              <a:rPr kumimoji="1" lang="en-US" altLang="ja-JP" sz="1120">
                <a:solidFill>
                  <a:srgbClr val="0F172A"/>
                </a:solidFill>
                <a:latin typeface="Meiryo UI" panose="020B0604030504040204" pitchFamily="50" charset="-128"/>
                <a:ea typeface="Meiryo UI" panose="020B0604030504040204" pitchFamily="50" charset="-128"/>
              </a:rPr>
              <a:t>4</a:t>
            </a:r>
            <a:r>
              <a:rPr kumimoji="1" lang="ja-JP" altLang="en-US" sz="1120">
                <a:solidFill>
                  <a:srgbClr val="0F172A"/>
                </a:solidFill>
                <a:latin typeface="Meiryo UI" panose="020B0604030504040204" pitchFamily="50" charset="-128"/>
                <a:ea typeface="Meiryo UI" panose="020B0604030504040204" pitchFamily="50" charset="-128"/>
              </a:rPr>
              <a:t>区画」へ拡大
・今年度は四役相談のもと</a:t>
            </a:r>
            <a:r>
              <a:rPr kumimoji="1" lang="en-US" altLang="ja-JP" sz="1120">
                <a:solidFill>
                  <a:srgbClr val="0F172A"/>
                </a:solidFill>
                <a:latin typeface="Meiryo UI" panose="020B0604030504040204" pitchFamily="50" charset="-128"/>
                <a:ea typeface="Meiryo UI" panose="020B0604030504040204" pitchFamily="50" charset="-128"/>
              </a:rPr>
              <a:t>3</a:t>
            </a:r>
            <a:r>
              <a:rPr kumimoji="1" lang="ja-JP" altLang="en-US" sz="1120">
                <a:solidFill>
                  <a:srgbClr val="0F172A"/>
                </a:solidFill>
                <a:latin typeface="Meiryo UI" panose="020B0604030504040204" pitchFamily="50" charset="-128"/>
                <a:ea typeface="Meiryo UI" panose="020B0604030504040204" pitchFamily="50" charset="-128"/>
              </a:rPr>
              <a:t>区画（実績予算</a:t>
            </a:r>
            <a:r>
              <a:rPr kumimoji="1" lang="en-US" altLang="ja-JP" sz="1120">
                <a:solidFill>
                  <a:srgbClr val="0F172A"/>
                </a:solidFill>
                <a:latin typeface="Meiryo UI" panose="020B0604030504040204" pitchFamily="50" charset="-128"/>
                <a:ea typeface="Meiryo UI" panose="020B0604030504040204" pitchFamily="50" charset="-128"/>
              </a:rPr>
              <a:t>21.4</a:t>
            </a:r>
            <a:r>
              <a:rPr kumimoji="1" lang="ja-JP" altLang="en-US" sz="1120">
                <a:solidFill>
                  <a:srgbClr val="0F172A"/>
                </a:solidFill>
                <a:latin typeface="Meiryo UI" panose="020B0604030504040204" pitchFamily="50" charset="-128"/>
                <a:ea typeface="Meiryo UI" panose="020B0604030504040204" pitchFamily="50" charset="-128"/>
              </a:rPr>
              <a:t>万円）で実施したが、目標の</a:t>
            </a:r>
            <a:r>
              <a:rPr kumimoji="1" lang="en-US" altLang="ja-JP" sz="1120">
                <a:solidFill>
                  <a:srgbClr val="0F172A"/>
                </a:solidFill>
                <a:latin typeface="Meiryo UI" panose="020B0604030504040204" pitchFamily="50" charset="-128"/>
                <a:ea typeface="Meiryo UI" panose="020B0604030504040204" pitchFamily="50" charset="-128"/>
              </a:rPr>
              <a:t>4.7</a:t>
            </a:r>
            <a:r>
              <a:rPr kumimoji="1" lang="ja-JP" altLang="en-US" sz="1120">
                <a:solidFill>
                  <a:srgbClr val="0F172A"/>
                </a:solidFill>
                <a:latin typeface="Meiryo UI" panose="020B0604030504040204" pitchFamily="50" charset="-128"/>
                <a:ea typeface="Meiryo UI" panose="020B0604030504040204" pitchFamily="50" charset="-128"/>
              </a:rPr>
              <a:t>倍（</a:t>
            </a:r>
            <a:r>
              <a:rPr kumimoji="1" lang="en-US" altLang="ja-JP" sz="1120">
                <a:solidFill>
                  <a:srgbClr val="0F172A"/>
                </a:solidFill>
                <a:latin typeface="Meiryo UI" panose="020B0604030504040204" pitchFamily="50" charset="-128"/>
                <a:ea typeface="Meiryo UI" panose="020B0604030504040204" pitchFamily="50" charset="-128"/>
              </a:rPr>
              <a:t>236</a:t>
            </a:r>
            <a:r>
              <a:rPr kumimoji="1" lang="ja-JP" altLang="en-US" sz="1120">
                <a:solidFill>
                  <a:srgbClr val="0F172A"/>
                </a:solidFill>
                <a:latin typeface="Meiryo UI" panose="020B0604030504040204" pitchFamily="50" charset="-128"/>
                <a:ea typeface="Meiryo UI" panose="020B0604030504040204" pitchFamily="50" charset="-128"/>
              </a:rPr>
              <a:t>名）が殺到し待合椅子不足・入場制限が発生。
・当初起案の「</a:t>
            </a:r>
            <a:r>
              <a:rPr kumimoji="1" lang="en-US" altLang="ja-JP" sz="1120">
                <a:solidFill>
                  <a:srgbClr val="0F172A"/>
                </a:solidFill>
                <a:latin typeface="Meiryo UI" panose="020B0604030504040204" pitchFamily="50" charset="-128"/>
                <a:ea typeface="Meiryo UI" panose="020B0604030504040204" pitchFamily="50" charset="-128"/>
              </a:rPr>
              <a:t>4</a:t>
            </a:r>
            <a:r>
              <a:rPr kumimoji="1" lang="ja-JP" altLang="en-US" sz="1120">
                <a:solidFill>
                  <a:srgbClr val="0F172A"/>
                </a:solidFill>
                <a:latin typeface="Meiryo UI" panose="020B0604030504040204" pitchFamily="50" charset="-128"/>
                <a:ea typeface="Meiryo UI" panose="020B0604030504040204" pitchFamily="50" charset="-128"/>
              </a:rPr>
              <a:t>区画」を確保し、測定動線・待合スペース・相談ブースを分離することで取りこぼし（機会損失）をゼロにする。</a:t>
            </a:r>
          </a:p>
        </p:txBody>
      </p:sp>
      <p:sp>
        <p:nvSpPr>
          <p:cNvPr id="31" name="四角形: 角を丸くする 30">
            <a:extLst>
              <a:ext uri="{FF2B5EF4-FFF2-40B4-BE49-F238E27FC236}">
                <a16:creationId xmlns:a16="http://schemas.microsoft.com/office/drawing/2014/main" id="{09A59625-2AB6-162C-13FC-B86AC68FDD62}"/>
              </a:ext>
            </a:extLst>
          </p:cNvPr>
          <p:cNvSpPr/>
          <p:nvPr/>
        </p:nvSpPr>
        <p:spPr>
          <a:xfrm>
            <a:off x="6375400" y="3606800"/>
            <a:ext cx="5308600" cy="1244600"/>
          </a:xfrm>
          <a:prstGeom prst="roundRect">
            <a:avLst>
              <a:gd name="adj" fmla="val 6000"/>
            </a:avLst>
          </a:prstGeom>
          <a:solidFill>
            <a:srgbClr val="F0FDFA"/>
          </a:solidFill>
          <a:ln w="15240">
            <a:solidFill>
              <a:srgbClr val="99F6E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45C1B81F-91EA-8CCA-CEBA-8BABE1586C2B}"/>
              </a:ext>
            </a:extLst>
          </p:cNvPr>
          <p:cNvSpPr txBox="1"/>
          <p:nvPr/>
        </p:nvSpPr>
        <p:spPr>
          <a:xfrm>
            <a:off x="6553200" y="3683000"/>
            <a:ext cx="4978400" cy="740716"/>
          </a:xfrm>
          <a:prstGeom prst="rect">
            <a:avLst/>
          </a:prstGeom>
          <a:noFill/>
        </p:spPr>
        <p:txBody>
          <a:bodyPr vert="horz" wrap="square" lIns="50800" tIns="25400" rIns="50800" bIns="25400" rtlCol="0">
            <a:spAutoFit/>
          </a:bodyPr>
          <a:lstStyle/>
          <a:p>
            <a:r>
              <a:rPr kumimoji="1" lang="ja-JP" altLang="en-US" sz="1120">
                <a:solidFill>
                  <a:srgbClr val="0F172A"/>
                </a:solidFill>
                <a:latin typeface="Meiryo UI" panose="020B0604030504040204" pitchFamily="50" charset="-128"/>
                <a:ea typeface="Meiryo UI" panose="020B0604030504040204" pitchFamily="50" charset="-128"/>
              </a:rPr>
              <a:t>提案②：スタッフ増員による「休憩時間確保」と「誘導強化」
・呼び込み</a:t>
            </a:r>
            <a:r>
              <a:rPr kumimoji="1" lang="en-US" altLang="ja-JP" sz="1120">
                <a:solidFill>
                  <a:srgbClr val="0F172A"/>
                </a:solidFill>
                <a:latin typeface="Meiryo UI" panose="020B0604030504040204" pitchFamily="50" charset="-128"/>
                <a:ea typeface="Meiryo UI" panose="020B0604030504040204" pitchFamily="50" charset="-128"/>
              </a:rPr>
              <a:t>/</a:t>
            </a:r>
            <a:r>
              <a:rPr kumimoji="1" lang="ja-JP" altLang="en-US" sz="1120">
                <a:solidFill>
                  <a:srgbClr val="0F172A"/>
                </a:solidFill>
                <a:latin typeface="Meiryo UI" panose="020B0604030504040204" pitchFamily="50" charset="-128"/>
                <a:ea typeface="Meiryo UI" panose="020B0604030504040204" pitchFamily="50" charset="-128"/>
              </a:rPr>
              <a:t>スタンプラリー誘導係・測定スタッフを増員し、交代制で確実に休憩時間を確保できるシフト体制を構築。
・人気集中の</a:t>
            </a:r>
            <a:r>
              <a:rPr kumimoji="1" lang="en-US" altLang="ja-JP" sz="1120">
                <a:solidFill>
                  <a:srgbClr val="0F172A"/>
                </a:solidFill>
                <a:latin typeface="Meiryo UI" panose="020B0604030504040204" pitchFamily="50" charset="-128"/>
                <a:ea typeface="Meiryo UI" panose="020B0604030504040204" pitchFamily="50" charset="-128"/>
              </a:rPr>
              <a:t>InBody</a:t>
            </a:r>
            <a:r>
              <a:rPr kumimoji="1" lang="ja-JP" altLang="en-US" sz="1120">
                <a:solidFill>
                  <a:srgbClr val="0F172A"/>
                </a:solidFill>
                <a:latin typeface="Meiryo UI" panose="020B0604030504040204" pitchFamily="50" charset="-128"/>
                <a:ea typeface="Meiryo UI" panose="020B0604030504040204" pitchFamily="50" charset="-128"/>
              </a:rPr>
              <a:t>は「</a:t>
            </a:r>
            <a:r>
              <a:rPr kumimoji="1" lang="en-US" altLang="ja-JP" sz="1120">
                <a:solidFill>
                  <a:srgbClr val="0F172A"/>
                </a:solidFill>
                <a:latin typeface="Meiryo UI" panose="020B0604030504040204" pitchFamily="50" charset="-128"/>
                <a:ea typeface="Meiryo UI" panose="020B0604030504040204" pitchFamily="50" charset="-128"/>
              </a:rPr>
              <a:t>2</a:t>
            </a:r>
            <a:r>
              <a:rPr kumimoji="1" lang="ja-JP" altLang="en-US" sz="1120">
                <a:solidFill>
                  <a:srgbClr val="0F172A"/>
                </a:solidFill>
                <a:latin typeface="Meiryo UI" panose="020B0604030504040204" pitchFamily="50" charset="-128"/>
                <a:ea typeface="Meiryo UI" panose="020B0604030504040204" pitchFamily="50" charset="-128"/>
              </a:rPr>
              <a:t>台体制」＋靴入れ・靴ベラ・バインダー完備で回転率を向上。</a:t>
            </a:r>
          </a:p>
        </p:txBody>
      </p:sp>
      <p:sp>
        <p:nvSpPr>
          <p:cNvPr id="33" name="四角形: 角を丸くする 32">
            <a:extLst>
              <a:ext uri="{FF2B5EF4-FFF2-40B4-BE49-F238E27FC236}">
                <a16:creationId xmlns:a16="http://schemas.microsoft.com/office/drawing/2014/main" id="{0BC97C54-C2CE-DC0B-7A42-7F5C149D1E74}"/>
              </a:ext>
            </a:extLst>
          </p:cNvPr>
          <p:cNvSpPr/>
          <p:nvPr/>
        </p:nvSpPr>
        <p:spPr>
          <a:xfrm>
            <a:off x="6375400" y="5003800"/>
            <a:ext cx="5308600" cy="1346200"/>
          </a:xfrm>
          <a:prstGeom prst="roundRect">
            <a:avLst>
              <a:gd name="adj" fmla="val 6000"/>
            </a:avLst>
          </a:prstGeom>
          <a:solidFill>
            <a:srgbClr val="FFFBEB"/>
          </a:solidFill>
          <a:ln w="15240">
            <a:solidFill>
              <a:srgbClr val="FDE68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ADC58D23-B4D6-B5E4-FEDB-2B8DF0287393}"/>
              </a:ext>
            </a:extLst>
          </p:cNvPr>
          <p:cNvSpPr txBox="1"/>
          <p:nvPr/>
        </p:nvSpPr>
        <p:spPr>
          <a:xfrm>
            <a:off x="6553200" y="5080000"/>
            <a:ext cx="4978400" cy="913070"/>
          </a:xfrm>
          <a:prstGeom prst="rect">
            <a:avLst/>
          </a:prstGeom>
          <a:noFill/>
        </p:spPr>
        <p:txBody>
          <a:bodyPr vert="horz" wrap="square" lIns="50800" tIns="25400" rIns="50800" bIns="25400" rtlCol="0">
            <a:spAutoFit/>
          </a:bodyPr>
          <a:lstStyle/>
          <a:p>
            <a:r>
              <a:rPr kumimoji="1" lang="ja-JP" altLang="en-US" sz="1120">
                <a:solidFill>
                  <a:srgbClr val="0F172A"/>
                </a:solidFill>
                <a:latin typeface="Meiryo UI" panose="020B0604030504040204" pitchFamily="50" charset="-128"/>
                <a:ea typeface="Meiryo UI" panose="020B0604030504040204" pitchFamily="50" charset="-128"/>
              </a:rPr>
              <a:t>提案③：アンケートで判明した「</a:t>
            </a:r>
            <a:r>
              <a:rPr kumimoji="1" lang="en-US" altLang="ja-JP" sz="1120">
                <a:solidFill>
                  <a:srgbClr val="0F172A"/>
                </a:solidFill>
                <a:latin typeface="Meiryo UI" panose="020B0604030504040204" pitchFamily="50" charset="-128"/>
                <a:ea typeface="Meiryo UI" panose="020B0604030504040204" pitchFamily="50" charset="-128"/>
              </a:rPr>
              <a:t>4</a:t>
            </a:r>
            <a:r>
              <a:rPr kumimoji="1" lang="ja-JP" altLang="en-US" sz="1120">
                <a:solidFill>
                  <a:srgbClr val="0F172A"/>
                </a:solidFill>
                <a:latin typeface="Meiryo UI" panose="020B0604030504040204" pitchFamily="50" charset="-128"/>
                <a:ea typeface="Meiryo UI" panose="020B0604030504040204" pitchFamily="50" charset="-128"/>
              </a:rPr>
              <a:t>大健康課題」を健康教室へ展開
・今回</a:t>
            </a:r>
            <a:r>
              <a:rPr kumimoji="1" lang="en-US" altLang="ja-JP" sz="1120">
                <a:solidFill>
                  <a:srgbClr val="0F172A"/>
                </a:solidFill>
                <a:latin typeface="Meiryo UI" panose="020B0604030504040204" pitchFamily="50" charset="-128"/>
                <a:ea typeface="Meiryo UI" panose="020B0604030504040204" pitchFamily="50" charset="-128"/>
              </a:rPr>
              <a:t>3</a:t>
            </a:r>
            <a:r>
              <a:rPr kumimoji="1" lang="ja-JP" altLang="en-US" sz="1120">
                <a:solidFill>
                  <a:srgbClr val="0F172A"/>
                </a:solidFill>
                <a:latin typeface="Meiryo UI" panose="020B0604030504040204" pitchFamily="50" charset="-128"/>
                <a:ea typeface="Meiryo UI" panose="020B0604030504040204" pitchFamily="50" charset="-128"/>
              </a:rPr>
              <a:t>割超のニーズが確認された「①転倒予防・骨密度」「②栄養」「③認知機能・フレイル」「④介護・終活」をテーマに院内・地域の健康教室を企画。
・単発イベントで終わらせず、当院への継続的なファン化・受診</a:t>
            </a:r>
            <a:r>
              <a:rPr kumimoji="1" lang="en-US" altLang="ja-JP" sz="1120">
                <a:solidFill>
                  <a:srgbClr val="0F172A"/>
                </a:solidFill>
                <a:latin typeface="Meiryo UI" panose="020B0604030504040204" pitchFamily="50" charset="-128"/>
                <a:ea typeface="Meiryo UI" panose="020B0604030504040204" pitchFamily="50" charset="-128"/>
              </a:rPr>
              <a:t>/</a:t>
            </a:r>
            <a:r>
              <a:rPr kumimoji="1" lang="ja-JP" altLang="en-US" sz="1120">
                <a:solidFill>
                  <a:srgbClr val="0F172A"/>
                </a:solidFill>
                <a:latin typeface="Meiryo UI" panose="020B0604030504040204" pitchFamily="50" charset="-128"/>
                <a:ea typeface="Meiryo UI" panose="020B0604030504040204" pitchFamily="50" charset="-128"/>
              </a:rPr>
              <a:t>入院選択（利用意向</a:t>
            </a:r>
            <a:r>
              <a:rPr kumimoji="1" lang="en-US" altLang="ja-JP" sz="1120">
                <a:solidFill>
                  <a:srgbClr val="0F172A"/>
                </a:solidFill>
                <a:latin typeface="Meiryo UI" panose="020B0604030504040204" pitchFamily="50" charset="-128"/>
                <a:ea typeface="Meiryo UI" panose="020B0604030504040204" pitchFamily="50" charset="-128"/>
              </a:rPr>
              <a:t>90.3%</a:t>
            </a:r>
            <a:r>
              <a:rPr kumimoji="1" lang="ja-JP" altLang="en-US" sz="1120">
                <a:solidFill>
                  <a:srgbClr val="0F172A"/>
                </a:solidFill>
                <a:latin typeface="Meiryo UI" panose="020B0604030504040204" pitchFamily="50" charset="-128"/>
                <a:ea typeface="Meiryo UI" panose="020B0604030504040204" pitchFamily="50" charset="-128"/>
              </a:rPr>
              <a:t>）へつなげる。</a:t>
            </a:r>
          </a:p>
        </p:txBody>
      </p:sp>
    </p:spTree>
    <p:extLst>
      <p:ext uri="{BB962C8B-B14F-4D97-AF65-F5344CB8AC3E}">
        <p14:creationId xmlns:p14="http://schemas.microsoft.com/office/powerpoint/2010/main" val="141277817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2285</Words>
  <Application>Microsoft Office PowerPoint</Application>
  <PresentationFormat>ユーザー設定</PresentationFormat>
  <Paragraphs>130</Paragraphs>
  <Slides>5</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5</vt:i4>
      </vt:variant>
    </vt:vector>
  </HeadingPairs>
  <TitlesOfParts>
    <vt:vector size="10" baseType="lpstr">
      <vt:lpstr>Meiryo UI</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憲幸 保科</dc:creator>
  <cp:lastModifiedBy>憲幸 保科</cp:lastModifiedBy>
  <cp:revision>1</cp:revision>
  <dcterms:created xsi:type="dcterms:W3CDTF">2026-10-20T15:19:14Z</dcterms:created>
  <dcterms:modified xsi:type="dcterms:W3CDTF">2026-10-20T15:19:14Z</dcterms:modified>
</cp:coreProperties>
</file>