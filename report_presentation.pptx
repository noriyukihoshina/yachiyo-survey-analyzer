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8D54FA-2CCA-C8FE-8B18-AFC935E7183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B4166CE-5213-7960-5F92-C8291DF970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77EF095-A009-9CE9-FDBB-4BC4E7F6244F}"/>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0A02B839-9498-DF5E-BE8F-5F603EB789F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FE3AC62-AFD0-D14A-F75A-CC0B4B4820AF}"/>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1257196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191556-5D1E-5CF1-D6CE-3FB4CCEA130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4BDE574-EB76-3C2D-5F79-6C204D27539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7230A07-CAEE-16F3-A7CF-59DCB1A37BE0}"/>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5FC3F455-F8E8-9FD8-16D8-587E7B077C7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3D10C34-D677-8566-FBD1-5611B103B731}"/>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3226498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73E8BB-D496-57C7-A7F8-94DFB115FF5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D0D94DA-6864-B957-6876-3478F6BD75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6F62AC2-FA40-0E94-093F-F84157BD1959}"/>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71A0650F-0DF1-ECDA-96C9-36BF6DC5505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9781AC1-A458-EF33-7780-903AB976B024}"/>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434813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CF73CC-4639-9A31-0B4B-F3C1B07D616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06EF84D-73ED-6257-D277-AEA8E755FC9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A2A7CBB-6777-D0A8-0B5D-8516079025C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764A5A5-0E7D-2DD0-21AC-10ECED050EFE}"/>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11C2CCE7-5450-3FB0-5882-5F49EEFBC43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10A5057-6478-CF28-E11F-47BD0F106494}"/>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356956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720F75-6FD8-26C6-A921-AC244A25364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6271F95-F0A5-8673-2607-15F1CD79B7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9632424-92A3-A984-BB6D-A6DA29600E6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5541D4B-FA34-3E64-AC77-7591F3E258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59959F3-8EA4-D393-C951-B4AA6E4B094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6D37C8A-E6C3-8E69-A937-8C80A50C448B}"/>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8" name="フッター プレースホルダー 7">
            <a:extLst>
              <a:ext uri="{FF2B5EF4-FFF2-40B4-BE49-F238E27FC236}">
                <a16:creationId xmlns:a16="http://schemas.microsoft.com/office/drawing/2014/main" id="{8EB3DB22-626A-4A6B-DF60-A1B48DABEC7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E7DCC8C-AFF0-87C2-E96F-7CC736CB1225}"/>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758717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F51AB4-A1B0-FAFD-E8FD-6D5674D8A4E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82972E3-096B-DB43-643E-33381CBCD7C1}"/>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4" name="フッター プレースホルダー 3">
            <a:extLst>
              <a:ext uri="{FF2B5EF4-FFF2-40B4-BE49-F238E27FC236}">
                <a16:creationId xmlns:a16="http://schemas.microsoft.com/office/drawing/2014/main" id="{B863A53C-2DC3-1D48-43B0-944E48AD461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4FBDD66-4D1E-8E07-8C49-03027C7CBBAA}"/>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3692645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AB7A5E9-5E31-64F5-2232-9A6B64343629}"/>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3" name="フッター プレースホルダー 2">
            <a:extLst>
              <a:ext uri="{FF2B5EF4-FFF2-40B4-BE49-F238E27FC236}">
                <a16:creationId xmlns:a16="http://schemas.microsoft.com/office/drawing/2014/main" id="{4A9BB157-3BF2-4440-BE05-07FB7FEA1AB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0EAC345-EA29-2FE4-2269-ED4A165499E1}"/>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4025059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D11662-44AF-277A-E10D-67F137160F9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AEDEA9F-A050-4B5F-149F-ACFF2351A9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8CB5761-B4BD-52EA-F090-8E00E2151C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741DC91-9F37-3743-BF5F-763DC288FA97}"/>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695F3F51-1E4E-7230-5A7F-FE9D4FC5B0A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DC24492-7046-5BC4-4C21-37032F955900}"/>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3114433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9B3115-C096-1DD2-71CF-16BC0CCE3B1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4170B3B-9FBB-91D0-9E49-9B7A9804FC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ADFC797-F8CA-D9AA-93ED-B8F4D50FCF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46C01FD-38EC-8AB0-2C72-B73B6A6A9371}"/>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6673E8FB-76FD-0930-6F64-FE2A855344D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94C37B5-F53A-BCC4-0EC3-F5B4E4215303}"/>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3617228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4A73B4-EC90-7DEA-4D55-96DC040DADF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E1E7373-854A-8094-9FC3-055DD2A4425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B364204-8669-D672-E986-33C9D8F76190}"/>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E24748B4-B0A1-34D5-8472-E31755BE9FF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C4E7FF-282F-3AD5-2B23-6E910B03C087}"/>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1742127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052C6D8-C75A-C87B-C547-CF3FC2C61FD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FE6C230-34FF-750E-A062-8D657B44A3D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9CC1502-1794-529E-DD3F-AFDA65E22E6F}"/>
              </a:ext>
            </a:extLst>
          </p:cNvPr>
          <p:cNvSpPr>
            <a:spLocks noGrp="1"/>
          </p:cNvSpPr>
          <p:nvPr>
            <p:ph type="dt" sz="half" idx="10"/>
          </p:nvPr>
        </p:nvSpPr>
        <p:spPr/>
        <p:txBody>
          <a:bodyPr/>
          <a:lstStyle/>
          <a:p>
            <a:fld id="{D3DE3B90-BD6C-434B-8866-CE08C034F298}"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2144B5B7-5BDE-D650-7992-C488E7A0F44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F2716E1-C857-294D-F259-4824A268C752}"/>
              </a:ext>
            </a:extLst>
          </p:cNvPr>
          <p:cNvSpPr>
            <a:spLocks noGrp="1"/>
          </p:cNvSpPr>
          <p:nvPr>
            <p:ph type="sldNum" sz="quarter" idx="12"/>
          </p:nvPr>
        </p:nvSpPr>
        <p:spPr/>
        <p:txBody>
          <a:body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2850131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F366A37-73E9-1CC8-D1CF-5DE317DAB3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B249222-EFE1-DD3E-C565-13959E4185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EB70C17-9B49-4B12-FF16-2867AC69CB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DE3B90-BD6C-434B-8866-CE08C034F298}"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FA5397B4-781F-6F46-2838-066A7413E2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41D3A61-DED7-CDBE-06F2-254498603E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D76305-BE6C-446A-801A-1148656E5DFF}" type="slidenum">
              <a:rPr kumimoji="1" lang="ja-JP" altLang="en-US" smtClean="0"/>
              <a:t>‹#›</a:t>
            </a:fld>
            <a:endParaRPr kumimoji="1" lang="ja-JP" altLang="en-US"/>
          </a:p>
        </p:txBody>
      </p:sp>
    </p:spTree>
    <p:extLst>
      <p:ext uri="{BB962C8B-B14F-4D97-AF65-F5344CB8AC3E}">
        <p14:creationId xmlns:p14="http://schemas.microsoft.com/office/powerpoint/2010/main" val="306963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E9D7149-1708-C176-6641-E669428B8212}"/>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311AA975-C9A8-206C-F9F3-D130312EA2D8}"/>
              </a:ext>
            </a:extLst>
          </p:cNvPr>
          <p:cNvSpPr/>
          <p:nvPr/>
        </p:nvSpPr>
        <p:spPr>
          <a:xfrm>
            <a:off x="304800" y="254000"/>
            <a:ext cx="11582400" cy="2133600"/>
          </a:xfrm>
          <a:prstGeom prst="roundRect">
            <a:avLst>
              <a:gd name="adj" fmla="val 8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3">
            <a:extLst>
              <a:ext uri="{FF2B5EF4-FFF2-40B4-BE49-F238E27FC236}">
                <a16:creationId xmlns:a16="http://schemas.microsoft.com/office/drawing/2014/main" id="{5D030224-B91F-D44C-92D5-332F676B78F8}"/>
              </a:ext>
            </a:extLst>
          </p:cNvPr>
          <p:cNvSpPr/>
          <p:nvPr/>
        </p:nvSpPr>
        <p:spPr>
          <a:xfrm>
            <a:off x="660400" y="609600"/>
            <a:ext cx="863600" cy="8636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C61BC21F-A928-109E-0D68-5AC8ADFFE65D}"/>
              </a:ext>
            </a:extLst>
          </p:cNvPr>
          <p:cNvSpPr/>
          <p:nvPr/>
        </p:nvSpPr>
        <p:spPr>
          <a:xfrm>
            <a:off x="990600" y="787400"/>
            <a:ext cx="203200" cy="508000"/>
          </a:xfrm>
          <a:prstGeom prst="roundRect">
            <a:avLst>
              <a:gd name="adj" fmla="val 2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C5095C80-DF43-005A-E834-ED7D1636FC78}"/>
              </a:ext>
            </a:extLst>
          </p:cNvPr>
          <p:cNvSpPr/>
          <p:nvPr/>
        </p:nvSpPr>
        <p:spPr>
          <a:xfrm>
            <a:off x="838200" y="939800"/>
            <a:ext cx="508000" cy="203200"/>
          </a:xfrm>
          <a:prstGeom prst="roundRect">
            <a:avLst>
              <a:gd name="adj" fmla="val 2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BBD26EA9-32FC-5151-89B6-393A96D5CCDE}"/>
              </a:ext>
            </a:extLst>
          </p:cNvPr>
          <p:cNvSpPr txBox="1"/>
          <p:nvPr/>
        </p:nvSpPr>
        <p:spPr>
          <a:xfrm>
            <a:off x="1778000" y="482600"/>
            <a:ext cx="9652000" cy="333425"/>
          </a:xfrm>
          <a:prstGeom prst="rect">
            <a:avLst/>
          </a:prstGeom>
          <a:noFill/>
        </p:spPr>
        <p:txBody>
          <a:bodyPr vert="horz" wrap="square" lIns="76200" tIns="50800" rIns="76200" bIns="50800" rtlCol="0">
            <a:spAutoFit/>
          </a:bodyPr>
          <a:lstStyle/>
          <a:p>
            <a:r>
              <a:rPr kumimoji="1" lang="ja-JP" altLang="en-US" sz="1500" b="1">
                <a:solidFill>
                  <a:srgbClr val="DBEAFE"/>
                </a:solidFill>
                <a:latin typeface="Meiryo UI" panose="020B0604030504040204" pitchFamily="50" charset="-128"/>
                <a:ea typeface="Meiryo UI" panose="020B0604030504040204" pitchFamily="50" charset="-128"/>
              </a:rPr>
              <a:t>八千代リハビリテーション病院 ｜ 四役報告資料（</a:t>
            </a:r>
            <a:r>
              <a:rPr kumimoji="1" lang="en-US" altLang="ja-JP" sz="1500" b="1">
                <a:solidFill>
                  <a:srgbClr val="DBEAFE"/>
                </a:solidFill>
                <a:latin typeface="Meiryo UI" panose="020B0604030504040204" pitchFamily="50" charset="-128"/>
                <a:ea typeface="Meiryo UI" panose="020B0604030504040204" pitchFamily="50" charset="-128"/>
              </a:rPr>
              <a:t>2026</a:t>
            </a:r>
            <a:r>
              <a:rPr kumimoji="1" lang="ja-JP" altLang="en-US" sz="1500" b="1">
                <a:solidFill>
                  <a:srgbClr val="DBEAFE"/>
                </a:solidFill>
                <a:latin typeface="Meiryo UI" panose="020B0604030504040204" pitchFamily="50" charset="-128"/>
                <a:ea typeface="Meiryo UI" panose="020B0604030504040204" pitchFamily="50" charset="-128"/>
              </a:rPr>
              <a:t>年</a:t>
            </a:r>
            <a:r>
              <a:rPr kumimoji="1" lang="en-US" altLang="ja-JP" sz="1500" b="1">
                <a:solidFill>
                  <a:srgbClr val="DBEAFE"/>
                </a:solidFill>
                <a:latin typeface="Meiryo UI" panose="020B0604030504040204" pitchFamily="50" charset="-128"/>
                <a:ea typeface="Meiryo UI" panose="020B0604030504040204" pitchFamily="50" charset="-128"/>
              </a:rPr>
              <a:t>10</a:t>
            </a:r>
            <a:r>
              <a:rPr kumimoji="1" lang="ja-JP" altLang="en-US" sz="1500" b="1">
                <a:solidFill>
                  <a:srgbClr val="DBEAFE"/>
                </a:solidFill>
                <a:latin typeface="Meiryo UI" panose="020B0604030504040204" pitchFamily="50" charset="-128"/>
                <a:ea typeface="Meiryo UI" panose="020B0604030504040204" pitchFamily="50" charset="-128"/>
              </a:rPr>
              <a:t>月</a:t>
            </a:r>
            <a:r>
              <a:rPr kumimoji="1" lang="en-US" altLang="ja-JP" sz="1500" b="1">
                <a:solidFill>
                  <a:srgbClr val="DBEAFE"/>
                </a:solidFill>
                <a:latin typeface="Meiryo UI" panose="020B0604030504040204" pitchFamily="50" charset="-128"/>
                <a:ea typeface="Meiryo UI" panose="020B0604030504040204" pitchFamily="50" charset="-128"/>
              </a:rPr>
              <a:t>17</a:t>
            </a:r>
            <a:r>
              <a:rPr kumimoji="1" lang="ja-JP" altLang="en-US" sz="1500" b="1">
                <a:solidFill>
                  <a:srgbClr val="DBEAFE"/>
                </a:solidFill>
                <a:latin typeface="Meiryo UI" panose="020B0604030504040204" pitchFamily="50" charset="-128"/>
                <a:ea typeface="Meiryo UI" panose="020B0604030504040204" pitchFamily="50" charset="-128"/>
              </a:rPr>
              <a:t>日・</a:t>
            </a:r>
            <a:r>
              <a:rPr kumimoji="1" lang="en-US" altLang="ja-JP" sz="1500" b="1">
                <a:solidFill>
                  <a:srgbClr val="DBEAFE"/>
                </a:solidFill>
                <a:latin typeface="Meiryo UI" panose="020B0604030504040204" pitchFamily="50" charset="-128"/>
                <a:ea typeface="Meiryo UI" panose="020B0604030504040204" pitchFamily="50" charset="-128"/>
              </a:rPr>
              <a:t>18</a:t>
            </a:r>
            <a:r>
              <a:rPr kumimoji="1" lang="ja-JP" altLang="en-US" sz="1500" b="1">
                <a:solidFill>
                  <a:srgbClr val="DBEAFE"/>
                </a:solidFill>
                <a:latin typeface="Meiryo UI" panose="020B0604030504040204" pitchFamily="50" charset="-128"/>
                <a:ea typeface="Meiryo UI" panose="020B0604030504040204" pitchFamily="50" charset="-128"/>
              </a:rPr>
              <a:t>日 開催）</a:t>
            </a:r>
          </a:p>
        </p:txBody>
      </p:sp>
      <p:sp>
        <p:nvSpPr>
          <p:cNvPr id="8" name="テキスト ボックス 7">
            <a:extLst>
              <a:ext uri="{FF2B5EF4-FFF2-40B4-BE49-F238E27FC236}">
                <a16:creationId xmlns:a16="http://schemas.microsoft.com/office/drawing/2014/main" id="{4F6DBB67-9B44-3B24-0CAF-76DD717E226D}"/>
              </a:ext>
            </a:extLst>
          </p:cNvPr>
          <p:cNvSpPr txBox="1"/>
          <p:nvPr/>
        </p:nvSpPr>
        <p:spPr>
          <a:xfrm>
            <a:off x="1778000" y="863600"/>
            <a:ext cx="9652000" cy="548868"/>
          </a:xfrm>
          <a:prstGeom prst="rect">
            <a:avLst/>
          </a:prstGeom>
          <a:noFill/>
        </p:spPr>
        <p:txBody>
          <a:bodyPr vert="horz" wrap="square" lIns="76200" tIns="50800" rIns="76200" bIns="50800" rtlCol="0">
            <a:spAutoFit/>
          </a:bodyPr>
          <a:lstStyle/>
          <a:p>
            <a:r>
              <a:rPr kumimoji="1" lang="ja-JP" altLang="en-US" sz="2900" b="1">
                <a:solidFill>
                  <a:srgbClr val="FFFFFF"/>
                </a:solidFill>
                <a:latin typeface="Meiryo UI" panose="020B0604030504040204" pitchFamily="50" charset="-128"/>
                <a:ea typeface="Meiryo UI" panose="020B0604030504040204" pitchFamily="50" charset="-128"/>
              </a:rPr>
              <a:t>八千代市産業祭「どーんと祭」出展結果報告書</a:t>
            </a:r>
          </a:p>
        </p:txBody>
      </p:sp>
      <p:sp>
        <p:nvSpPr>
          <p:cNvPr id="9" name="テキスト ボックス 8">
            <a:extLst>
              <a:ext uri="{FF2B5EF4-FFF2-40B4-BE49-F238E27FC236}">
                <a16:creationId xmlns:a16="http://schemas.microsoft.com/office/drawing/2014/main" id="{1D41D77D-D8D6-EA10-E3A3-7F5E111F30FA}"/>
              </a:ext>
            </a:extLst>
          </p:cNvPr>
          <p:cNvSpPr txBox="1"/>
          <p:nvPr/>
        </p:nvSpPr>
        <p:spPr>
          <a:xfrm>
            <a:off x="1778000" y="1625600"/>
            <a:ext cx="9652000" cy="533479"/>
          </a:xfrm>
          <a:prstGeom prst="rect">
            <a:avLst/>
          </a:prstGeom>
          <a:noFill/>
        </p:spPr>
        <p:txBody>
          <a:bodyPr vert="horz" wrap="square" lIns="76200" tIns="50800" rIns="76200" bIns="50800" rtlCol="0">
            <a:spAutoFit/>
          </a:bodyPr>
          <a:lstStyle/>
          <a:p>
            <a:r>
              <a:rPr kumimoji="1" lang="ja-JP" altLang="en-US" sz="1400">
                <a:solidFill>
                  <a:srgbClr val="EFF6FF"/>
                </a:solidFill>
                <a:latin typeface="Meiryo UI" panose="020B0604030504040204" pitchFamily="50" charset="-128"/>
                <a:ea typeface="Meiryo UI" panose="020B0604030504040204" pitchFamily="50" charset="-128"/>
              </a:rPr>
              <a:t>ブース来場者：</a:t>
            </a:r>
            <a:r>
              <a:rPr kumimoji="1" lang="en-US" altLang="ja-JP" sz="1400">
                <a:solidFill>
                  <a:srgbClr val="EFF6FF"/>
                </a:solidFill>
                <a:latin typeface="Meiryo UI" panose="020B0604030504040204" pitchFamily="50" charset="-128"/>
                <a:ea typeface="Meiryo UI" panose="020B0604030504040204" pitchFamily="50" charset="-128"/>
              </a:rPr>
              <a:t>268</a:t>
            </a:r>
            <a:r>
              <a:rPr kumimoji="1" lang="ja-JP" altLang="en-US" sz="1400">
                <a:solidFill>
                  <a:srgbClr val="EFF6FF"/>
                </a:solidFill>
                <a:latin typeface="Meiryo UI" panose="020B0604030504040204" pitchFamily="50" charset="-128"/>
                <a:ea typeface="Meiryo UI" panose="020B0604030504040204" pitchFamily="50" charset="-128"/>
              </a:rPr>
              <a:t>名（</a:t>
            </a:r>
            <a:r>
              <a:rPr kumimoji="1" lang="en-US" altLang="ja-JP" sz="1400">
                <a:solidFill>
                  <a:srgbClr val="EFF6FF"/>
                </a:solidFill>
                <a:latin typeface="Meiryo UI" panose="020B0604030504040204" pitchFamily="50" charset="-128"/>
                <a:ea typeface="Meiryo UI" panose="020B0604030504040204" pitchFamily="50" charset="-128"/>
              </a:rPr>
              <a:t>1</a:t>
            </a:r>
            <a:r>
              <a:rPr kumimoji="1" lang="ja-JP" altLang="en-US" sz="1400">
                <a:solidFill>
                  <a:srgbClr val="EFF6FF"/>
                </a:solidFill>
                <a:latin typeface="Meiryo UI" panose="020B0604030504040204" pitchFamily="50" charset="-128"/>
                <a:ea typeface="Meiryo UI" panose="020B0604030504040204" pitchFamily="50" charset="-128"/>
              </a:rPr>
              <a:t>日目</a:t>
            </a:r>
            <a:r>
              <a:rPr kumimoji="1" lang="en-US" altLang="ja-JP" sz="1400">
                <a:solidFill>
                  <a:srgbClr val="EFF6FF"/>
                </a:solidFill>
                <a:latin typeface="Meiryo UI" panose="020B0604030504040204" pitchFamily="50" charset="-128"/>
                <a:ea typeface="Meiryo UI" panose="020B0604030504040204" pitchFamily="50" charset="-128"/>
              </a:rPr>
              <a:t>120</a:t>
            </a:r>
            <a:r>
              <a:rPr kumimoji="1" lang="ja-JP" altLang="en-US" sz="1400">
                <a:solidFill>
                  <a:srgbClr val="EFF6FF"/>
                </a:solidFill>
                <a:latin typeface="Meiryo UI" panose="020B0604030504040204" pitchFamily="50" charset="-128"/>
                <a:ea typeface="Meiryo UI" panose="020B0604030504040204" pitchFamily="50" charset="-128"/>
              </a:rPr>
              <a:t>名・</a:t>
            </a:r>
            <a:r>
              <a:rPr kumimoji="1" lang="en-US" altLang="ja-JP" sz="1400">
                <a:solidFill>
                  <a:srgbClr val="EFF6FF"/>
                </a:solidFill>
                <a:latin typeface="Meiryo UI" panose="020B0604030504040204" pitchFamily="50" charset="-128"/>
                <a:ea typeface="Meiryo UI" panose="020B0604030504040204" pitchFamily="50" charset="-128"/>
              </a:rPr>
              <a:t>2</a:t>
            </a:r>
            <a:r>
              <a:rPr kumimoji="1" lang="ja-JP" altLang="en-US" sz="1400">
                <a:solidFill>
                  <a:srgbClr val="EFF6FF"/>
                </a:solidFill>
                <a:latin typeface="Meiryo UI" panose="020B0604030504040204" pitchFamily="50" charset="-128"/>
                <a:ea typeface="Meiryo UI" panose="020B0604030504040204" pitchFamily="50" charset="-128"/>
              </a:rPr>
              <a:t>日目</a:t>
            </a:r>
            <a:r>
              <a:rPr kumimoji="1" lang="en-US" altLang="ja-JP" sz="1400">
                <a:solidFill>
                  <a:srgbClr val="EFF6FF"/>
                </a:solidFill>
                <a:latin typeface="Meiryo UI" panose="020B0604030504040204" pitchFamily="50" charset="-128"/>
                <a:ea typeface="Meiryo UI" panose="020B0604030504040204" pitchFamily="50" charset="-128"/>
              </a:rPr>
              <a:t>148</a:t>
            </a:r>
            <a:r>
              <a:rPr kumimoji="1" lang="ja-JP" altLang="en-US" sz="1400">
                <a:solidFill>
                  <a:srgbClr val="EFF6FF"/>
                </a:solidFill>
                <a:latin typeface="Meiryo UI" panose="020B0604030504040204" pitchFamily="50" charset="-128"/>
                <a:ea typeface="Meiryo UI" panose="020B0604030504040204" pitchFamily="50" charset="-128"/>
              </a:rPr>
              <a:t>名） ／ アンケート有効回答：</a:t>
            </a:r>
            <a:r>
              <a:rPr kumimoji="1" lang="en-US" altLang="ja-JP" sz="1400">
                <a:solidFill>
                  <a:srgbClr val="EFF6FF"/>
                </a:solidFill>
                <a:latin typeface="Meiryo UI" panose="020B0604030504040204" pitchFamily="50" charset="-128"/>
                <a:ea typeface="Meiryo UI" panose="020B0604030504040204" pitchFamily="50" charset="-128"/>
              </a:rPr>
              <a:t>236</a:t>
            </a:r>
            <a:r>
              <a:rPr kumimoji="1" lang="ja-JP" altLang="en-US" sz="1400">
                <a:solidFill>
                  <a:srgbClr val="EFF6FF"/>
                </a:solidFill>
                <a:latin typeface="Meiryo UI" panose="020B0604030504040204" pitchFamily="50" charset="-128"/>
                <a:ea typeface="Meiryo UI" panose="020B0604030504040204" pitchFamily="50" charset="-128"/>
              </a:rPr>
              <a:t>名
出展規模：</a:t>
            </a:r>
            <a:r>
              <a:rPr kumimoji="1" lang="en-US" altLang="ja-JP" sz="1400">
                <a:solidFill>
                  <a:srgbClr val="EFF6FF"/>
                </a:solidFill>
                <a:latin typeface="Meiryo UI" panose="020B0604030504040204" pitchFamily="50" charset="-128"/>
                <a:ea typeface="Meiryo UI" panose="020B0604030504040204" pitchFamily="50" charset="-128"/>
              </a:rPr>
              <a:t>3</a:t>
            </a:r>
            <a:r>
              <a:rPr kumimoji="1" lang="ja-JP" altLang="en-US" sz="1400">
                <a:solidFill>
                  <a:srgbClr val="EFF6FF"/>
                </a:solidFill>
                <a:latin typeface="Meiryo UI" panose="020B0604030504040204" pitchFamily="50" charset="-128"/>
                <a:ea typeface="Meiryo UI" panose="020B0604030504040204" pitchFamily="50" charset="-128"/>
              </a:rPr>
              <a:t>区画・</a:t>
            </a:r>
            <a:r>
              <a:rPr kumimoji="1" lang="en-US" altLang="ja-JP" sz="1400">
                <a:solidFill>
                  <a:srgbClr val="EFF6FF"/>
                </a:solidFill>
                <a:latin typeface="Meiryo UI" panose="020B0604030504040204" pitchFamily="50" charset="-128"/>
                <a:ea typeface="Meiryo UI" panose="020B0604030504040204" pitchFamily="50" charset="-128"/>
              </a:rPr>
              <a:t>6</a:t>
            </a:r>
            <a:r>
              <a:rPr kumimoji="1" lang="ja-JP" altLang="en-US" sz="1400">
                <a:solidFill>
                  <a:srgbClr val="EFF6FF"/>
                </a:solidFill>
                <a:latin typeface="Meiryo UI" panose="020B0604030504040204" pitchFamily="50" charset="-128"/>
                <a:ea typeface="Meiryo UI" panose="020B0604030504040204" pitchFamily="50" charset="-128"/>
              </a:rPr>
              <a:t>部署協働（参加スタッフ</a:t>
            </a:r>
            <a:r>
              <a:rPr kumimoji="1" lang="en-US" altLang="ja-JP" sz="1400">
                <a:solidFill>
                  <a:srgbClr val="EFF6FF"/>
                </a:solidFill>
                <a:latin typeface="Meiryo UI" panose="020B0604030504040204" pitchFamily="50" charset="-128"/>
                <a:ea typeface="Meiryo UI" panose="020B0604030504040204" pitchFamily="50" charset="-128"/>
              </a:rPr>
              <a:t>14</a:t>
            </a:r>
            <a:r>
              <a:rPr kumimoji="1" lang="ja-JP" altLang="en-US" sz="1400">
                <a:solidFill>
                  <a:srgbClr val="EFF6FF"/>
                </a:solidFill>
                <a:latin typeface="Meiryo UI" panose="020B0604030504040204" pitchFamily="50" charset="-128"/>
                <a:ea typeface="Meiryo UI" panose="020B0604030504040204" pitchFamily="50" charset="-128"/>
              </a:rPr>
              <a:t>名） ／ 報告者：リハビリテーション部 保科憲幸</a:t>
            </a:r>
          </a:p>
        </p:txBody>
      </p:sp>
      <p:sp>
        <p:nvSpPr>
          <p:cNvPr id="10" name="テキスト ボックス 9">
            <a:extLst>
              <a:ext uri="{FF2B5EF4-FFF2-40B4-BE49-F238E27FC236}">
                <a16:creationId xmlns:a16="http://schemas.microsoft.com/office/drawing/2014/main" id="{2053391F-DAC3-4AB6-8B2B-897DE4DC9F12}"/>
              </a:ext>
            </a:extLst>
          </p:cNvPr>
          <p:cNvSpPr txBox="1"/>
          <p:nvPr/>
        </p:nvSpPr>
        <p:spPr>
          <a:xfrm>
            <a:off x="406400" y="2590800"/>
            <a:ext cx="11379200" cy="381000"/>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 起案書における</a:t>
            </a:r>
            <a:r>
              <a:rPr kumimoji="1" lang="en-US" altLang="ja-JP" sz="1750" b="1">
                <a:solidFill>
                  <a:srgbClr val="1E293B"/>
                </a:solidFill>
                <a:latin typeface="Meiryo UI" panose="020B0604030504040204" pitchFamily="50" charset="-128"/>
                <a:ea typeface="Meiryo UI" panose="020B0604030504040204" pitchFamily="50" charset="-128"/>
              </a:rPr>
              <a:t>3</a:t>
            </a:r>
            <a:r>
              <a:rPr kumimoji="1" lang="ja-JP" altLang="en-US" sz="1750" b="1">
                <a:solidFill>
                  <a:srgbClr val="1E293B"/>
                </a:solidFill>
                <a:latin typeface="Meiryo UI" panose="020B0604030504040204" pitchFamily="50" charset="-128"/>
                <a:ea typeface="Meiryo UI" panose="020B0604030504040204" pitchFamily="50" charset="-128"/>
              </a:rPr>
              <a:t>つの出展目的</a:t>
            </a:r>
          </a:p>
        </p:txBody>
      </p:sp>
      <p:sp>
        <p:nvSpPr>
          <p:cNvPr id="11" name="四角形: 角を丸くする 10">
            <a:extLst>
              <a:ext uri="{FF2B5EF4-FFF2-40B4-BE49-F238E27FC236}">
                <a16:creationId xmlns:a16="http://schemas.microsoft.com/office/drawing/2014/main" id="{4A46F1A9-DCA3-DCC5-F7E9-A96EE2050752}"/>
              </a:ext>
            </a:extLst>
          </p:cNvPr>
          <p:cNvSpPr/>
          <p:nvPr/>
        </p:nvSpPr>
        <p:spPr>
          <a:xfrm>
            <a:off x="304800" y="3073400"/>
            <a:ext cx="3708400" cy="34544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12D6ED3D-900E-FF62-A67F-2D4C355BCC4B}"/>
              </a:ext>
            </a:extLst>
          </p:cNvPr>
          <p:cNvSpPr/>
          <p:nvPr/>
        </p:nvSpPr>
        <p:spPr>
          <a:xfrm>
            <a:off x="508000" y="3276600"/>
            <a:ext cx="3302000" cy="4826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E0A6F146-D6F4-42A6-0C1D-377FF396BA23}"/>
              </a:ext>
            </a:extLst>
          </p:cNvPr>
          <p:cNvSpPr txBox="1"/>
          <p:nvPr/>
        </p:nvSpPr>
        <p:spPr>
          <a:xfrm>
            <a:off x="508000" y="3340100"/>
            <a:ext cx="3302000" cy="364202"/>
          </a:xfrm>
          <a:prstGeom prst="rect">
            <a:avLst/>
          </a:prstGeom>
          <a:noFill/>
        </p:spPr>
        <p:txBody>
          <a:bodyPr vert="horz" wrap="square" lIns="76200" tIns="50800" rIns="76200" bIns="50800" rtlCol="0">
            <a:spAutoFit/>
          </a:bodyPr>
          <a:lstStyle/>
          <a:p>
            <a:pPr algn="ctr"/>
            <a:r>
              <a:rPr kumimoji="1" lang="ja-JP" altLang="en-US" sz="1700" b="1">
                <a:solidFill>
                  <a:srgbClr val="2563EB"/>
                </a:solidFill>
                <a:latin typeface="Meiryo UI" panose="020B0604030504040204" pitchFamily="50" charset="-128"/>
                <a:ea typeface="Meiryo UI" panose="020B0604030504040204" pitchFamily="50" charset="-128"/>
              </a:rPr>
              <a:t>目的① 地域貢献</a:t>
            </a:r>
          </a:p>
        </p:txBody>
      </p:sp>
      <p:sp>
        <p:nvSpPr>
          <p:cNvPr id="14" name="テキスト ボックス 13">
            <a:extLst>
              <a:ext uri="{FF2B5EF4-FFF2-40B4-BE49-F238E27FC236}">
                <a16:creationId xmlns:a16="http://schemas.microsoft.com/office/drawing/2014/main" id="{7BB2EDA8-532B-D981-AF6B-4A254567812F}"/>
              </a:ext>
            </a:extLst>
          </p:cNvPr>
          <p:cNvSpPr txBox="1"/>
          <p:nvPr/>
        </p:nvSpPr>
        <p:spPr>
          <a:xfrm>
            <a:off x="508000" y="3962400"/>
            <a:ext cx="3302000" cy="841256"/>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多職種による健康測定・相談の機会を提供し、地域医療への貢献と住民の健康寿命延伸に寄与する。</a:t>
            </a:r>
          </a:p>
        </p:txBody>
      </p:sp>
      <p:sp>
        <p:nvSpPr>
          <p:cNvPr id="15" name="四角形: 角を丸くする 14">
            <a:extLst>
              <a:ext uri="{FF2B5EF4-FFF2-40B4-BE49-F238E27FC236}">
                <a16:creationId xmlns:a16="http://schemas.microsoft.com/office/drawing/2014/main" id="{0DCF30D5-E239-120C-F6C0-44DF34E71F5F}"/>
              </a:ext>
            </a:extLst>
          </p:cNvPr>
          <p:cNvSpPr/>
          <p:nvPr/>
        </p:nvSpPr>
        <p:spPr>
          <a:xfrm>
            <a:off x="4241800" y="3073400"/>
            <a:ext cx="3708400" cy="34544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EF4241A2-1153-FD2A-B803-9FDE58C41A73}"/>
              </a:ext>
            </a:extLst>
          </p:cNvPr>
          <p:cNvSpPr/>
          <p:nvPr/>
        </p:nvSpPr>
        <p:spPr>
          <a:xfrm>
            <a:off x="4445000" y="3276600"/>
            <a:ext cx="3302000" cy="482600"/>
          </a:xfrm>
          <a:prstGeom prst="roundRect">
            <a:avLst>
              <a:gd name="adj" fmla="val 40000"/>
            </a:avLst>
          </a:prstGeom>
          <a:solidFill>
            <a:srgbClr val="FFFB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64423D17-9407-55F8-09DF-1AB66124A300}"/>
              </a:ext>
            </a:extLst>
          </p:cNvPr>
          <p:cNvSpPr txBox="1"/>
          <p:nvPr/>
        </p:nvSpPr>
        <p:spPr>
          <a:xfrm>
            <a:off x="4445000" y="3340100"/>
            <a:ext cx="3302000" cy="364202"/>
          </a:xfrm>
          <a:prstGeom prst="rect">
            <a:avLst/>
          </a:prstGeom>
          <a:noFill/>
        </p:spPr>
        <p:txBody>
          <a:bodyPr vert="horz" wrap="square" lIns="76200" tIns="50800" rIns="76200" bIns="50800" rtlCol="0">
            <a:spAutoFit/>
          </a:bodyPr>
          <a:lstStyle/>
          <a:p>
            <a:pPr algn="ctr"/>
            <a:r>
              <a:rPr kumimoji="1" lang="ja-JP" altLang="en-US" sz="1700" b="1">
                <a:solidFill>
                  <a:srgbClr val="F59E0B"/>
                </a:solidFill>
                <a:latin typeface="Meiryo UI" panose="020B0604030504040204" pitchFamily="50" charset="-128"/>
                <a:ea typeface="Meiryo UI" panose="020B0604030504040204" pitchFamily="50" charset="-128"/>
              </a:rPr>
              <a:t>目的② 認知・集患</a:t>
            </a:r>
          </a:p>
        </p:txBody>
      </p:sp>
      <p:sp>
        <p:nvSpPr>
          <p:cNvPr id="18" name="テキスト ボックス 17">
            <a:extLst>
              <a:ext uri="{FF2B5EF4-FFF2-40B4-BE49-F238E27FC236}">
                <a16:creationId xmlns:a16="http://schemas.microsoft.com/office/drawing/2014/main" id="{D11CDCBF-5D08-C45C-B180-FB3504F57F9B}"/>
              </a:ext>
            </a:extLst>
          </p:cNvPr>
          <p:cNvSpPr txBox="1"/>
          <p:nvPr/>
        </p:nvSpPr>
        <p:spPr>
          <a:xfrm>
            <a:off x="4445000" y="3962400"/>
            <a:ext cx="3302000" cy="841256"/>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「顔が見える医療機関」として認知を確立し、将来入院を要する際に第一選択として思い浮かぶ下地を作る。</a:t>
            </a:r>
          </a:p>
        </p:txBody>
      </p:sp>
      <p:sp>
        <p:nvSpPr>
          <p:cNvPr id="19" name="四角形: 角を丸くする 18">
            <a:extLst>
              <a:ext uri="{FF2B5EF4-FFF2-40B4-BE49-F238E27FC236}">
                <a16:creationId xmlns:a16="http://schemas.microsoft.com/office/drawing/2014/main" id="{88C72150-4D80-E9A5-8159-77F064B9203D}"/>
              </a:ext>
            </a:extLst>
          </p:cNvPr>
          <p:cNvSpPr/>
          <p:nvPr/>
        </p:nvSpPr>
        <p:spPr>
          <a:xfrm>
            <a:off x="8178800" y="3073400"/>
            <a:ext cx="3708400" cy="34544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ABBB61EC-913A-521A-121F-E140B1DEA609}"/>
              </a:ext>
            </a:extLst>
          </p:cNvPr>
          <p:cNvSpPr/>
          <p:nvPr/>
        </p:nvSpPr>
        <p:spPr>
          <a:xfrm>
            <a:off x="8382000" y="3276600"/>
            <a:ext cx="3302000" cy="482600"/>
          </a:xfrm>
          <a:prstGeom prst="roundRect">
            <a:avLst>
              <a:gd name="adj" fmla="val 4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F0E8148E-EEBD-95E9-046A-3B7C652DD998}"/>
              </a:ext>
            </a:extLst>
          </p:cNvPr>
          <p:cNvSpPr txBox="1"/>
          <p:nvPr/>
        </p:nvSpPr>
        <p:spPr>
          <a:xfrm>
            <a:off x="8382000" y="3340100"/>
            <a:ext cx="3302000" cy="364202"/>
          </a:xfrm>
          <a:prstGeom prst="rect">
            <a:avLst/>
          </a:prstGeom>
          <a:noFill/>
        </p:spPr>
        <p:txBody>
          <a:bodyPr vert="horz" wrap="square" lIns="76200" tIns="50800" rIns="76200" bIns="50800" rtlCol="0">
            <a:spAutoFit/>
          </a:bodyPr>
          <a:lstStyle/>
          <a:p>
            <a:pPr algn="ctr"/>
            <a:r>
              <a:rPr kumimoji="1" lang="ja-JP" altLang="en-US" sz="1700" b="1">
                <a:solidFill>
                  <a:srgbClr val="10B981"/>
                </a:solidFill>
                <a:latin typeface="Meiryo UI" panose="020B0604030504040204" pitchFamily="50" charset="-128"/>
                <a:ea typeface="Meiryo UI" panose="020B0604030504040204" pitchFamily="50" charset="-128"/>
              </a:rPr>
              <a:t>目的③ 多職種連携の強化</a:t>
            </a:r>
          </a:p>
        </p:txBody>
      </p:sp>
      <p:sp>
        <p:nvSpPr>
          <p:cNvPr id="22" name="テキスト ボックス 21">
            <a:extLst>
              <a:ext uri="{FF2B5EF4-FFF2-40B4-BE49-F238E27FC236}">
                <a16:creationId xmlns:a16="http://schemas.microsoft.com/office/drawing/2014/main" id="{BA0B9B52-43C6-EF0D-5D07-DB97500D2C76}"/>
              </a:ext>
            </a:extLst>
          </p:cNvPr>
          <p:cNvSpPr txBox="1"/>
          <p:nvPr/>
        </p:nvSpPr>
        <p:spPr>
          <a:xfrm>
            <a:off x="8382000" y="3962400"/>
            <a:ext cx="3302000" cy="841256"/>
          </a:xfrm>
          <a:prstGeom prst="rect">
            <a:avLst/>
          </a:prstGeom>
          <a:noFill/>
        </p:spPr>
        <p:txBody>
          <a:bodyPr vert="horz" wrap="square" lIns="76200" tIns="50800" rIns="76200" bIns="50800" rtlCol="0">
            <a:spAutoFit/>
          </a:bodyPr>
          <a:lstStyle/>
          <a:p>
            <a:r>
              <a:rPr kumimoji="1" lang="en-US" altLang="ja-JP" sz="1600">
                <a:solidFill>
                  <a:srgbClr val="1E293B"/>
                </a:solidFill>
                <a:latin typeface="Meiryo UI" panose="020B0604030504040204" pitchFamily="50" charset="-128"/>
                <a:ea typeface="Meiryo UI" panose="020B0604030504040204" pitchFamily="50" charset="-128"/>
              </a:rPr>
              <a:t>6</a:t>
            </a:r>
            <a:r>
              <a:rPr kumimoji="1" lang="ja-JP" altLang="en-US" sz="1600">
                <a:solidFill>
                  <a:srgbClr val="1E293B"/>
                </a:solidFill>
                <a:latin typeface="Meiryo UI" panose="020B0604030504040204" pitchFamily="50" charset="-128"/>
                <a:ea typeface="Meiryo UI" panose="020B0604030504040204" pitchFamily="50" charset="-128"/>
              </a:rPr>
              <a:t>部署が協働してイベントを企画・運営することで院内の多職種連携を強化し、日常業務の連携基盤を強固にする。</a:t>
            </a:r>
          </a:p>
        </p:txBody>
      </p:sp>
    </p:spTree>
    <p:extLst>
      <p:ext uri="{BB962C8B-B14F-4D97-AF65-F5344CB8AC3E}">
        <p14:creationId xmlns:p14="http://schemas.microsoft.com/office/powerpoint/2010/main" val="3074966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D79B8036-CED6-B133-833C-02A19EB7202C}"/>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6CF925E8-BE8A-E0C5-D8B0-A34DF80B2F30}"/>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B088AE22-77BB-C353-6819-BA820BB292B5}"/>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CE586161-E4A0-20D7-5E96-86AD277D7953}"/>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部：来場者調査</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B425295D-8F10-5BBB-0CA6-A8D1E55980F1}"/>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来場者アンケートの質問事項とそこから見えること</a:t>
            </a:r>
          </a:p>
        </p:txBody>
      </p:sp>
      <p:sp>
        <p:nvSpPr>
          <p:cNvPr id="7" name="四角形: 角を丸くする 6">
            <a:extLst>
              <a:ext uri="{FF2B5EF4-FFF2-40B4-BE49-F238E27FC236}">
                <a16:creationId xmlns:a16="http://schemas.microsoft.com/office/drawing/2014/main" id="{0E9B6B34-7FD8-8491-EB6D-507EB7EBD4DE}"/>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98B794D-6801-380C-A109-C4A4003239AB}"/>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2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830613E0-521C-09EC-9A0E-88E80B9D13AC}"/>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39809224-7529-449B-0942-49846357528A}"/>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2563EB"/>
                </a:solidFill>
                <a:latin typeface="Meiryo UI" panose="020B0604030504040204" pitchFamily="50" charset="-128"/>
                <a:ea typeface="Meiryo UI" panose="020B0604030504040204" pitchFamily="50" charset="-128"/>
              </a:rPr>
              <a:t>基本情報と</a:t>
            </a:r>
            <a:r>
              <a:rPr kumimoji="1" lang="en-US" altLang="ja-JP" sz="1500" b="1">
                <a:solidFill>
                  <a:srgbClr val="2563EB"/>
                </a:solidFill>
                <a:latin typeface="Meiryo UI" panose="020B0604030504040204" pitchFamily="50" charset="-128"/>
                <a:ea typeface="Meiryo UI" panose="020B0604030504040204" pitchFamily="50" charset="-128"/>
              </a:rPr>
              <a:t>Q1〜Q5</a:t>
            </a:r>
            <a:r>
              <a:rPr kumimoji="1" lang="ja-JP" altLang="en-US" sz="1500" b="1">
                <a:solidFill>
                  <a:srgbClr val="2563EB"/>
                </a:solidFill>
                <a:latin typeface="Meiryo UI" panose="020B0604030504040204" pitchFamily="50" charset="-128"/>
                <a:ea typeface="Meiryo UI" panose="020B0604030504040204" pitchFamily="50" charset="-128"/>
              </a:rPr>
              <a:t>の</a:t>
            </a:r>
            <a:r>
              <a:rPr kumimoji="1" lang="en-US" altLang="ja-JP" sz="1500" b="1">
                <a:solidFill>
                  <a:srgbClr val="2563EB"/>
                </a:solidFill>
                <a:latin typeface="Meiryo UI" panose="020B0604030504040204" pitchFamily="50" charset="-128"/>
                <a:ea typeface="Meiryo UI" panose="020B0604030504040204" pitchFamily="50" charset="-128"/>
              </a:rPr>
              <a:t>6</a:t>
            </a:r>
            <a:r>
              <a:rPr kumimoji="1" lang="ja-JP" altLang="en-US" sz="1500" b="1">
                <a:solidFill>
                  <a:srgbClr val="2563EB"/>
                </a:solidFill>
                <a:latin typeface="Meiryo UI" panose="020B0604030504040204" pitchFamily="50" charset="-128"/>
                <a:ea typeface="Meiryo UI" panose="020B0604030504040204" pitchFamily="50" charset="-128"/>
              </a:rPr>
              <a:t>項目から、今回の出展評価・現在の認知度・当院の評価・健康課題を把握</a:t>
            </a:r>
          </a:p>
        </p:txBody>
      </p:sp>
      <p:graphicFrame>
        <p:nvGraphicFramePr>
          <p:cNvPr id="11" name="表 10">
            <a:extLst>
              <a:ext uri="{FF2B5EF4-FFF2-40B4-BE49-F238E27FC236}">
                <a16:creationId xmlns:a16="http://schemas.microsoft.com/office/drawing/2014/main" id="{396214D6-FD39-8A23-CD3C-DA5030B993DC}"/>
              </a:ext>
            </a:extLst>
          </p:cNvPr>
          <p:cNvGraphicFramePr>
            <a:graphicFrameLocks noGrp="1"/>
          </p:cNvGraphicFramePr>
          <p:nvPr>
            <p:extLst>
              <p:ext uri="{D42A27DB-BD31-4B8C-83A1-F6EECF244321}">
                <p14:modId xmlns:p14="http://schemas.microsoft.com/office/powerpoint/2010/main" val="824491229"/>
              </p:ext>
            </p:extLst>
          </p:nvPr>
        </p:nvGraphicFramePr>
        <p:xfrm>
          <a:off x="304800" y="1574800"/>
          <a:ext cx="11582400" cy="49784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699739746"/>
                    </a:ext>
                  </a:extLst>
                </a:gridCol>
                <a:gridCol w="4470400">
                  <a:extLst>
                    <a:ext uri="{9D8B030D-6E8A-4147-A177-3AD203B41FA5}">
                      <a16:colId xmlns:a16="http://schemas.microsoft.com/office/drawing/2014/main" val="2000957479"/>
                    </a:ext>
                  </a:extLst>
                </a:gridCol>
                <a:gridCol w="4064000">
                  <a:extLst>
                    <a:ext uri="{9D8B030D-6E8A-4147-A177-3AD203B41FA5}">
                      <a16:colId xmlns:a16="http://schemas.microsoft.com/office/drawing/2014/main" val="693915080"/>
                    </a:ext>
                  </a:extLst>
                </a:gridCol>
              </a:tblGrid>
              <a:tr h="711200">
                <a:tc>
                  <a:txBody>
                    <a:bodyPr/>
                    <a:lstStyle/>
                    <a:p>
                      <a:r>
                        <a:rPr kumimoji="1" lang="ja-JP" altLang="en-US" sz="1500" b="1">
                          <a:solidFill>
                            <a:srgbClr val="FFFFFF"/>
                          </a:solidFill>
                          <a:latin typeface="Meiryo UI" panose="020B0604030504040204" pitchFamily="50" charset="-128"/>
                          <a:ea typeface="Meiryo UI" panose="020B0604030504040204" pitchFamily="50" charset="-128"/>
                        </a:rPr>
                        <a:t>質問項目</a:t>
                      </a:r>
                    </a:p>
                  </a:txBody>
                  <a:tcPr>
                    <a:solidFill>
                      <a:srgbClr val="2563EB"/>
                    </a:solidFill>
                  </a:tcPr>
                </a:tc>
                <a:tc>
                  <a:txBody>
                    <a:bodyPr/>
                    <a:lstStyle/>
                    <a:p>
                      <a:r>
                        <a:rPr kumimoji="1" lang="ja-JP" altLang="en-US" sz="1500" b="1">
                          <a:solidFill>
                            <a:srgbClr val="FFFFFF"/>
                          </a:solidFill>
                          <a:latin typeface="Meiryo UI" panose="020B0604030504040204" pitchFamily="50" charset="-128"/>
                          <a:ea typeface="Meiryo UI" panose="020B0604030504040204" pitchFamily="50" charset="-128"/>
                        </a:rPr>
                        <a:t>選択肢</a:t>
                      </a:r>
                    </a:p>
                  </a:txBody>
                  <a:tcPr>
                    <a:solidFill>
                      <a:srgbClr val="2563EB"/>
                    </a:solidFill>
                  </a:tcPr>
                </a:tc>
                <a:tc>
                  <a:txBody>
                    <a:bodyPr/>
                    <a:lstStyle/>
                    <a:p>
                      <a:r>
                        <a:rPr kumimoji="1" lang="ja-JP" altLang="en-US" sz="1500" b="1">
                          <a:solidFill>
                            <a:srgbClr val="FFFFFF"/>
                          </a:solidFill>
                          <a:latin typeface="Meiryo UI" panose="020B0604030504040204" pitchFamily="50" charset="-128"/>
                          <a:ea typeface="Meiryo UI" panose="020B0604030504040204" pitchFamily="50" charset="-128"/>
                        </a:rPr>
                        <a:t>この質問から何が見えるか</a:t>
                      </a:r>
                    </a:p>
                  </a:txBody>
                  <a:tcPr>
                    <a:solidFill>
                      <a:srgbClr val="2563EB"/>
                    </a:solidFill>
                  </a:tcPr>
                </a:tc>
                <a:extLst>
                  <a:ext uri="{0D108BD9-81ED-4DB2-BD59-A6C34878D82A}">
                    <a16:rowId xmlns:a16="http://schemas.microsoft.com/office/drawing/2014/main" val="703685041"/>
                  </a:ext>
                </a:extLst>
              </a:tr>
              <a:tr h="711200">
                <a:tc>
                  <a:txBody>
                    <a:bodyPr/>
                    <a:lstStyle/>
                    <a:p>
                      <a:r>
                        <a:rPr kumimoji="1" lang="ja-JP" altLang="en-US" sz="1500" b="1">
                          <a:solidFill>
                            <a:srgbClr val="1E293B"/>
                          </a:solidFill>
                          <a:latin typeface="Meiryo UI" panose="020B0604030504040204" pitchFamily="50" charset="-128"/>
                          <a:ea typeface="Meiryo UI" panose="020B0604030504040204" pitchFamily="50" charset="-128"/>
                        </a:rPr>
                        <a:t>基本情報</a:t>
                      </a:r>
                    </a:p>
                  </a:txBody>
                  <a:tcPr>
                    <a:solidFill>
                      <a:srgbClr val="FFFF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年齢（</a:t>
                      </a:r>
                      <a:r>
                        <a:rPr kumimoji="1" lang="en-US" altLang="ja-JP" sz="1500">
                          <a:solidFill>
                            <a:srgbClr val="1E293B"/>
                          </a:solidFill>
                          <a:latin typeface="Meiryo UI" panose="020B0604030504040204" pitchFamily="50" charset="-128"/>
                          <a:ea typeface="Meiryo UI" panose="020B0604030504040204" pitchFamily="50" charset="-128"/>
                        </a:rPr>
                        <a:t>10〜90</a:t>
                      </a:r>
                      <a:r>
                        <a:rPr kumimoji="1" lang="ja-JP" altLang="en-US" sz="1500">
                          <a:solidFill>
                            <a:srgbClr val="1E293B"/>
                          </a:solidFill>
                          <a:latin typeface="Meiryo UI" panose="020B0604030504040204" pitchFamily="50" charset="-128"/>
                          <a:ea typeface="Meiryo UI" panose="020B0604030504040204" pitchFamily="50" charset="-128"/>
                        </a:rPr>
                        <a:t>代）／ 性別 ／ お住まい（市内・市外）</a:t>
                      </a:r>
                    </a:p>
                  </a:txBody>
                  <a:tcPr>
                    <a:solidFill>
                      <a:srgbClr val="FFFFFF"/>
                    </a:solidFill>
                  </a:tcPr>
                </a:tc>
                <a:tc>
                  <a:txBody>
                    <a:bodyPr/>
                    <a:lstStyle/>
                    <a:p>
                      <a:r>
                        <a:rPr kumimoji="1" lang="ja-JP" altLang="en-US" sz="1500" b="1">
                          <a:solidFill>
                            <a:srgbClr val="2563EB"/>
                          </a:solidFill>
                          <a:latin typeface="Meiryo UI" panose="020B0604030504040204" pitchFamily="50" charset="-128"/>
                          <a:ea typeface="Meiryo UI" panose="020B0604030504040204" pitchFamily="50" charset="-128"/>
                        </a:rPr>
                        <a:t>来場者の属性と</a:t>
                      </a:r>
                      <a:r>
                        <a:rPr kumimoji="1" lang="en-US" altLang="ja-JP" sz="1500" b="1">
                          <a:solidFill>
                            <a:srgbClr val="2563EB"/>
                          </a:solidFill>
                          <a:latin typeface="Meiryo UI" panose="020B0604030504040204" pitchFamily="50" charset="-128"/>
                          <a:ea typeface="Meiryo UI" panose="020B0604030504040204" pitchFamily="50" charset="-128"/>
                        </a:rPr>
                        <a:t>1</a:t>
                      </a:r>
                      <a:r>
                        <a:rPr kumimoji="1" lang="ja-JP" altLang="en-US" sz="1500" b="1">
                          <a:solidFill>
                            <a:srgbClr val="2563EB"/>
                          </a:solidFill>
                          <a:latin typeface="Meiryo UI" panose="020B0604030504040204" pitchFamily="50" charset="-128"/>
                          <a:ea typeface="Meiryo UI" panose="020B0604030504040204" pitchFamily="50" charset="-128"/>
                        </a:rPr>
                        <a:t>日目・</a:t>
                      </a:r>
                      <a:r>
                        <a:rPr kumimoji="1" lang="en-US" altLang="ja-JP" sz="1500" b="1">
                          <a:solidFill>
                            <a:srgbClr val="2563EB"/>
                          </a:solidFill>
                          <a:latin typeface="Meiryo UI" panose="020B0604030504040204" pitchFamily="50" charset="-128"/>
                          <a:ea typeface="Meiryo UI" panose="020B0604030504040204" pitchFamily="50" charset="-128"/>
                        </a:rPr>
                        <a:t>2</a:t>
                      </a:r>
                      <a:r>
                        <a:rPr kumimoji="1" lang="ja-JP" altLang="en-US" sz="1500" b="1">
                          <a:solidFill>
                            <a:srgbClr val="2563EB"/>
                          </a:solidFill>
                          <a:latin typeface="Meiryo UI" panose="020B0604030504040204" pitchFamily="50" charset="-128"/>
                          <a:ea typeface="Meiryo UI" panose="020B0604030504040204" pitchFamily="50" charset="-128"/>
                        </a:rPr>
                        <a:t>日目の違い</a:t>
                      </a:r>
                    </a:p>
                  </a:txBody>
                  <a:tcPr>
                    <a:solidFill>
                      <a:srgbClr val="FFFFFF"/>
                    </a:solidFill>
                  </a:tcPr>
                </a:tc>
                <a:extLst>
                  <a:ext uri="{0D108BD9-81ED-4DB2-BD59-A6C34878D82A}">
                    <a16:rowId xmlns:a16="http://schemas.microsoft.com/office/drawing/2014/main" val="1768621489"/>
                  </a:ext>
                </a:extLst>
              </a:tr>
              <a:tr h="711200">
                <a:tc>
                  <a:txBody>
                    <a:bodyPr/>
                    <a:lstStyle/>
                    <a:p>
                      <a:r>
                        <a:rPr kumimoji="1" lang="en-US" altLang="ja-JP" sz="1500" b="1">
                          <a:solidFill>
                            <a:srgbClr val="1E293B"/>
                          </a:solidFill>
                          <a:latin typeface="Meiryo UI" panose="020B0604030504040204" pitchFamily="50" charset="-128"/>
                          <a:ea typeface="Meiryo UI" panose="020B0604030504040204" pitchFamily="50" charset="-128"/>
                        </a:rPr>
                        <a:t>Q1. </a:t>
                      </a:r>
                      <a:r>
                        <a:rPr kumimoji="1" lang="ja-JP" altLang="en-US" sz="1500" b="1">
                          <a:solidFill>
                            <a:srgbClr val="1E293B"/>
                          </a:solidFill>
                          <a:latin typeface="Meiryo UI" panose="020B0604030504040204" pitchFamily="50" charset="-128"/>
                          <a:ea typeface="Meiryo UI" panose="020B0604030504040204" pitchFamily="50" charset="-128"/>
                        </a:rPr>
                        <a:t>参考になった内容</a:t>
                      </a:r>
                    </a:p>
                  </a:txBody>
                  <a:tcPr>
                    <a:solidFill>
                      <a:srgbClr val="EFF6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筋肉量 ／ 血管年齢 ／ お薬 ／ 栄養 ／ 人生会議</a:t>
                      </a:r>
                    </a:p>
                  </a:txBody>
                  <a:tcPr>
                    <a:solidFill>
                      <a:srgbClr val="EFF6FF"/>
                    </a:solidFill>
                  </a:tcPr>
                </a:tc>
                <a:tc>
                  <a:txBody>
                    <a:bodyPr/>
                    <a:lstStyle/>
                    <a:p>
                      <a:r>
                        <a:rPr kumimoji="1" lang="ja-JP" altLang="en-US" sz="1500" b="1">
                          <a:solidFill>
                            <a:srgbClr val="2563EB"/>
                          </a:solidFill>
                          <a:latin typeface="Meiryo UI" panose="020B0604030504040204" pitchFamily="50" charset="-128"/>
                          <a:ea typeface="Meiryo UI" panose="020B0604030504040204" pitchFamily="50" charset="-128"/>
                        </a:rPr>
                        <a:t>今回の出展内容に対する評価</a:t>
                      </a:r>
                    </a:p>
                  </a:txBody>
                  <a:tcPr>
                    <a:solidFill>
                      <a:srgbClr val="EFF6FF"/>
                    </a:solidFill>
                  </a:tcPr>
                </a:tc>
                <a:extLst>
                  <a:ext uri="{0D108BD9-81ED-4DB2-BD59-A6C34878D82A}">
                    <a16:rowId xmlns:a16="http://schemas.microsoft.com/office/drawing/2014/main" val="1137699301"/>
                  </a:ext>
                </a:extLst>
              </a:tr>
              <a:tr h="711200">
                <a:tc>
                  <a:txBody>
                    <a:bodyPr/>
                    <a:lstStyle/>
                    <a:p>
                      <a:r>
                        <a:rPr kumimoji="1" lang="en-US" altLang="ja-JP" sz="1500" b="1">
                          <a:solidFill>
                            <a:srgbClr val="1E293B"/>
                          </a:solidFill>
                          <a:latin typeface="Meiryo UI" panose="020B0604030504040204" pitchFamily="50" charset="-128"/>
                          <a:ea typeface="Meiryo UI" panose="020B0604030504040204" pitchFamily="50" charset="-128"/>
                        </a:rPr>
                        <a:t>Q2. </a:t>
                      </a:r>
                      <a:r>
                        <a:rPr kumimoji="1" lang="ja-JP" altLang="en-US" sz="1500" b="1">
                          <a:solidFill>
                            <a:srgbClr val="1E293B"/>
                          </a:solidFill>
                          <a:latin typeface="Meiryo UI" panose="020B0604030504040204" pitchFamily="50" charset="-128"/>
                          <a:ea typeface="Meiryo UI" panose="020B0604030504040204" pitchFamily="50" charset="-128"/>
                        </a:rPr>
                        <a:t>当院をご存知でしたか</a:t>
                      </a:r>
                    </a:p>
                  </a:txBody>
                  <a:tcPr>
                    <a:solidFill>
                      <a:srgbClr val="FFFF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よく知っている ／ 名前・場所は知る ／ 今日初めて知った</a:t>
                      </a:r>
                    </a:p>
                  </a:txBody>
                  <a:tcPr>
                    <a:solidFill>
                      <a:srgbClr val="FFFFFF"/>
                    </a:solidFill>
                  </a:tcPr>
                </a:tc>
                <a:tc>
                  <a:txBody>
                    <a:bodyPr/>
                    <a:lstStyle/>
                    <a:p>
                      <a:r>
                        <a:rPr kumimoji="1" lang="ja-JP" altLang="en-US" sz="1500" b="1">
                          <a:solidFill>
                            <a:srgbClr val="2563EB"/>
                          </a:solidFill>
                          <a:latin typeface="Meiryo UI" panose="020B0604030504040204" pitchFamily="50" charset="-128"/>
                          <a:ea typeface="Meiryo UI" panose="020B0604030504040204" pitchFamily="50" charset="-128"/>
                        </a:rPr>
                        <a:t>地域における当院の現在の認知度</a:t>
                      </a:r>
                    </a:p>
                  </a:txBody>
                  <a:tcPr>
                    <a:solidFill>
                      <a:srgbClr val="FFFFFF"/>
                    </a:solidFill>
                  </a:tcPr>
                </a:tc>
                <a:extLst>
                  <a:ext uri="{0D108BD9-81ED-4DB2-BD59-A6C34878D82A}">
                    <a16:rowId xmlns:a16="http://schemas.microsoft.com/office/drawing/2014/main" val="1459099054"/>
                  </a:ext>
                </a:extLst>
              </a:tr>
              <a:tr h="711200">
                <a:tc>
                  <a:txBody>
                    <a:bodyPr/>
                    <a:lstStyle/>
                    <a:p>
                      <a:r>
                        <a:rPr kumimoji="1" lang="en-US" altLang="ja-JP" sz="1500" b="1">
                          <a:solidFill>
                            <a:srgbClr val="1E293B"/>
                          </a:solidFill>
                          <a:latin typeface="Meiryo UI" panose="020B0604030504040204" pitchFamily="50" charset="-128"/>
                          <a:ea typeface="Meiryo UI" panose="020B0604030504040204" pitchFamily="50" charset="-128"/>
                        </a:rPr>
                        <a:t>Q3. </a:t>
                      </a:r>
                      <a:r>
                        <a:rPr kumimoji="1" lang="ja-JP" altLang="en-US" sz="1500" b="1">
                          <a:solidFill>
                            <a:srgbClr val="1E293B"/>
                          </a:solidFill>
                          <a:latin typeface="Meiryo UI" panose="020B0604030504040204" pitchFamily="50" charset="-128"/>
                          <a:ea typeface="Meiryo UI" panose="020B0604030504040204" pitchFamily="50" charset="-128"/>
                        </a:rPr>
                        <a:t>当院を利用したいですか</a:t>
                      </a:r>
                    </a:p>
                  </a:txBody>
                  <a:tcPr>
                    <a:solidFill>
                      <a:srgbClr val="EFF6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ぜひ利用したい ／ 候補として検討 ／ 他院・不明</a:t>
                      </a:r>
                    </a:p>
                  </a:txBody>
                  <a:tcPr>
                    <a:solidFill>
                      <a:srgbClr val="EFF6FF"/>
                    </a:solidFill>
                  </a:tcPr>
                </a:tc>
                <a:tc>
                  <a:txBody>
                    <a:bodyPr/>
                    <a:lstStyle/>
                    <a:p>
                      <a:r>
                        <a:rPr kumimoji="1" lang="ja-JP" altLang="en-US" sz="1500" b="1">
                          <a:solidFill>
                            <a:srgbClr val="2563EB"/>
                          </a:solidFill>
                          <a:latin typeface="Meiryo UI" panose="020B0604030504040204" pitchFamily="50" charset="-128"/>
                          <a:ea typeface="Meiryo UI" panose="020B0604030504040204" pitchFamily="50" charset="-128"/>
                        </a:rPr>
                        <a:t>アンケート回答時の当院の評価</a:t>
                      </a:r>
                    </a:p>
                  </a:txBody>
                  <a:tcPr>
                    <a:solidFill>
                      <a:srgbClr val="EFF6FF"/>
                    </a:solidFill>
                  </a:tcPr>
                </a:tc>
                <a:extLst>
                  <a:ext uri="{0D108BD9-81ED-4DB2-BD59-A6C34878D82A}">
                    <a16:rowId xmlns:a16="http://schemas.microsoft.com/office/drawing/2014/main" val="763098448"/>
                  </a:ext>
                </a:extLst>
              </a:tr>
              <a:tr h="711200">
                <a:tc>
                  <a:txBody>
                    <a:bodyPr/>
                    <a:lstStyle/>
                    <a:p>
                      <a:r>
                        <a:rPr kumimoji="1" lang="en-US" altLang="ja-JP" sz="1500" b="1">
                          <a:solidFill>
                            <a:srgbClr val="1E293B"/>
                          </a:solidFill>
                          <a:latin typeface="Meiryo UI" panose="020B0604030504040204" pitchFamily="50" charset="-128"/>
                          <a:ea typeface="Meiryo UI" panose="020B0604030504040204" pitchFamily="50" charset="-128"/>
                        </a:rPr>
                        <a:t>Q4. </a:t>
                      </a:r>
                      <a:r>
                        <a:rPr kumimoji="1" lang="ja-JP" altLang="en-US" sz="1500" b="1">
                          <a:solidFill>
                            <a:srgbClr val="1E293B"/>
                          </a:solidFill>
                          <a:latin typeface="Meiryo UI" panose="020B0604030504040204" pitchFamily="50" charset="-128"/>
                          <a:ea typeface="Meiryo UI" panose="020B0604030504040204" pitchFamily="50" charset="-128"/>
                        </a:rPr>
                        <a:t>健康で気になること</a:t>
                      </a:r>
                    </a:p>
                  </a:txBody>
                  <a:tcPr>
                    <a:solidFill>
                      <a:srgbClr val="FFFF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転倒 ／ 認知機能 ／ 栄養 ／ 薬 ／ 介護終活 ／ その他</a:t>
                      </a:r>
                    </a:p>
                  </a:txBody>
                  <a:tcPr>
                    <a:solidFill>
                      <a:srgbClr val="FFFFFF"/>
                    </a:solidFill>
                  </a:tcPr>
                </a:tc>
                <a:tc>
                  <a:txBody>
                    <a:bodyPr/>
                    <a:lstStyle/>
                    <a:p>
                      <a:r>
                        <a:rPr kumimoji="1" lang="ja-JP" altLang="en-US" sz="1500" b="1">
                          <a:solidFill>
                            <a:srgbClr val="2563EB"/>
                          </a:solidFill>
                          <a:latin typeface="Meiryo UI" panose="020B0604030504040204" pitchFamily="50" charset="-128"/>
                          <a:ea typeface="Meiryo UI" panose="020B0604030504040204" pitchFamily="50" charset="-128"/>
                        </a:rPr>
                        <a:t>地域住民の抱える課題や関心のチェック</a:t>
                      </a:r>
                    </a:p>
                  </a:txBody>
                  <a:tcPr>
                    <a:solidFill>
                      <a:srgbClr val="FFFFFF"/>
                    </a:solidFill>
                  </a:tcPr>
                </a:tc>
                <a:extLst>
                  <a:ext uri="{0D108BD9-81ED-4DB2-BD59-A6C34878D82A}">
                    <a16:rowId xmlns:a16="http://schemas.microsoft.com/office/drawing/2014/main" val="2916134594"/>
                  </a:ext>
                </a:extLst>
              </a:tr>
              <a:tr h="711200">
                <a:tc>
                  <a:txBody>
                    <a:bodyPr/>
                    <a:lstStyle/>
                    <a:p>
                      <a:r>
                        <a:rPr kumimoji="1" lang="en-US" altLang="ja-JP" sz="1500" b="1">
                          <a:solidFill>
                            <a:srgbClr val="1E293B"/>
                          </a:solidFill>
                          <a:latin typeface="Meiryo UI" panose="020B0604030504040204" pitchFamily="50" charset="-128"/>
                          <a:ea typeface="Meiryo UI" panose="020B0604030504040204" pitchFamily="50" charset="-128"/>
                        </a:rPr>
                        <a:t>Q5. </a:t>
                      </a:r>
                      <a:r>
                        <a:rPr kumimoji="1" lang="ja-JP" altLang="en-US" sz="1500" b="1">
                          <a:solidFill>
                            <a:srgbClr val="1E293B"/>
                          </a:solidFill>
                          <a:latin typeface="Meiryo UI" panose="020B0604030504040204" pitchFamily="50" charset="-128"/>
                          <a:ea typeface="Meiryo UI" panose="020B0604030504040204" pitchFamily="50" charset="-128"/>
                        </a:rPr>
                        <a:t>来年に期待する内容</a:t>
                      </a:r>
                    </a:p>
                  </a:txBody>
                  <a:tcPr>
                    <a:solidFill>
                      <a:srgbClr val="EFF6FF"/>
                    </a:solidFill>
                  </a:tcPr>
                </a:tc>
                <a:tc>
                  <a:txBody>
                    <a:bodyPr/>
                    <a:lstStyle/>
                    <a:p>
                      <a:r>
                        <a:rPr kumimoji="1" lang="zh-TW" altLang="en-US" sz="1500">
                          <a:solidFill>
                            <a:srgbClr val="1E293B"/>
                          </a:solidFill>
                          <a:latin typeface="Meiryo UI" panose="020B0604030504040204" pitchFamily="50" charset="-128"/>
                          <a:ea typeface="Meiryo UI" panose="020B0604030504040204" pitchFamily="50" charset="-128"/>
                        </a:rPr>
                        <a:t>自由記述（</a:t>
                      </a:r>
                      <a:r>
                        <a:rPr kumimoji="1" lang="en-US" altLang="zh-TW" sz="1500">
                          <a:solidFill>
                            <a:srgbClr val="1E293B"/>
                          </a:solidFill>
                          <a:latin typeface="Meiryo UI" panose="020B0604030504040204" pitchFamily="50" charset="-128"/>
                          <a:ea typeface="Meiryo UI" panose="020B0604030504040204" pitchFamily="50" charset="-128"/>
                        </a:rPr>
                        <a:t>39</a:t>
                      </a:r>
                      <a:r>
                        <a:rPr kumimoji="1" lang="zh-TW" altLang="en-US" sz="1500">
                          <a:solidFill>
                            <a:srgbClr val="1E293B"/>
                          </a:solidFill>
                          <a:latin typeface="Meiryo UI" panose="020B0604030504040204" pitchFamily="50" charset="-128"/>
                          <a:ea typeface="Meiryo UI" panose="020B0604030504040204" pitchFamily="50" charset="-128"/>
                        </a:rPr>
                        <a:t>件）</a:t>
                      </a:r>
                      <a:endParaRPr kumimoji="1" lang="ja-JP" altLang="en-US" sz="1500">
                        <a:solidFill>
                          <a:srgbClr val="1E293B"/>
                        </a:solidFill>
                        <a:latin typeface="Meiryo UI" panose="020B0604030504040204" pitchFamily="50" charset="-128"/>
                        <a:ea typeface="Meiryo UI" panose="020B0604030504040204" pitchFamily="50" charset="-128"/>
                      </a:endParaRPr>
                    </a:p>
                  </a:txBody>
                  <a:tcPr>
                    <a:solidFill>
                      <a:srgbClr val="EFF6FF"/>
                    </a:solidFill>
                  </a:tcPr>
                </a:tc>
                <a:tc>
                  <a:txBody>
                    <a:bodyPr/>
                    <a:lstStyle/>
                    <a:p>
                      <a:r>
                        <a:rPr kumimoji="1" lang="ja-JP" altLang="en-US" sz="1500" b="1">
                          <a:solidFill>
                            <a:srgbClr val="2563EB"/>
                          </a:solidFill>
                          <a:latin typeface="Meiryo UI" panose="020B0604030504040204" pitchFamily="50" charset="-128"/>
                          <a:ea typeface="Meiryo UI" panose="020B0604030504040204" pitchFamily="50" charset="-128"/>
                        </a:rPr>
                        <a:t>来年度の出展内容のヒント</a:t>
                      </a:r>
                    </a:p>
                  </a:txBody>
                  <a:tcPr>
                    <a:solidFill>
                      <a:srgbClr val="EFF6FF"/>
                    </a:solidFill>
                  </a:tcPr>
                </a:tc>
                <a:extLst>
                  <a:ext uri="{0D108BD9-81ED-4DB2-BD59-A6C34878D82A}">
                    <a16:rowId xmlns:a16="http://schemas.microsoft.com/office/drawing/2014/main" val="1142808005"/>
                  </a:ext>
                </a:extLst>
              </a:tr>
            </a:tbl>
          </a:graphicData>
        </a:graphic>
      </p:graphicFrame>
    </p:spTree>
    <p:extLst>
      <p:ext uri="{BB962C8B-B14F-4D97-AF65-F5344CB8AC3E}">
        <p14:creationId xmlns:p14="http://schemas.microsoft.com/office/powerpoint/2010/main" val="726128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5A362F62-4F88-0730-2C46-ED8B2630E0B0}"/>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1B05F915-D694-9003-3E1D-9A918269344E}"/>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AC96B52D-4062-4D9F-1C12-E6A09B8A612C}"/>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20A8750A-F976-C464-2C56-A04CA8A14FFC}"/>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部：来場者結果①</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16F5F5BE-58ED-9423-E1AB-D048FA8F4651}"/>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基本情報①：お住まい と 性別（</a:t>
            </a:r>
            <a:r>
              <a:rPr kumimoji="1" lang="en-US" altLang="ja-JP" sz="2100" b="1">
                <a:solidFill>
                  <a:srgbClr val="1E293B"/>
                </a:solidFill>
                <a:latin typeface="Meiryo UI" panose="020B0604030504040204" pitchFamily="50" charset="-128"/>
                <a:ea typeface="Meiryo UI" panose="020B0604030504040204" pitchFamily="50" charset="-128"/>
              </a:rPr>
              <a:t>N=236</a:t>
            </a:r>
            <a:r>
              <a:rPr kumimoji="1" lang="ja-JP" altLang="en-US" sz="2100" b="1">
                <a:solidFill>
                  <a:srgbClr val="1E293B"/>
                </a:solidFill>
                <a:latin typeface="Meiryo UI" panose="020B0604030504040204" pitchFamily="50" charset="-128"/>
                <a:ea typeface="Meiryo UI" panose="020B0604030504040204" pitchFamily="50" charset="-128"/>
              </a:rPr>
              <a:t>名）</a:t>
            </a:r>
          </a:p>
        </p:txBody>
      </p:sp>
      <p:sp>
        <p:nvSpPr>
          <p:cNvPr id="7" name="四角形: 角を丸くする 6">
            <a:extLst>
              <a:ext uri="{FF2B5EF4-FFF2-40B4-BE49-F238E27FC236}">
                <a16:creationId xmlns:a16="http://schemas.microsoft.com/office/drawing/2014/main" id="{D1C7EF0E-310D-3160-266C-8290BBBF38D1}"/>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F3931AF8-D389-94DC-6291-C3B368CE7ABE}"/>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3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A3B6EE06-9993-81A4-3F90-11A44BAA737E}"/>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6F256CBA-F24B-3F22-7FC8-2C96A31FCDFD}"/>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2563EB"/>
                </a:solidFill>
                <a:latin typeface="Meiryo UI" panose="020B0604030504040204" pitchFamily="50" charset="-128"/>
                <a:ea typeface="Meiryo UI" panose="020B0604030504040204" pitchFamily="50" charset="-128"/>
              </a:rPr>
              <a:t>お住まいは八千代市内が</a:t>
            </a:r>
            <a:r>
              <a:rPr kumimoji="1" lang="en-US" altLang="ja-JP" sz="1500" b="1">
                <a:solidFill>
                  <a:srgbClr val="2563EB"/>
                </a:solidFill>
                <a:latin typeface="Meiryo UI" panose="020B0604030504040204" pitchFamily="50" charset="-128"/>
                <a:ea typeface="Meiryo UI" panose="020B0604030504040204" pitchFamily="50" charset="-128"/>
              </a:rPr>
              <a:t>72.5%</a:t>
            </a:r>
            <a:r>
              <a:rPr kumimoji="1" lang="ja-JP" altLang="en-US" sz="1500" b="1">
                <a:solidFill>
                  <a:srgbClr val="2563EB"/>
                </a:solidFill>
                <a:latin typeface="Meiryo UI" panose="020B0604030504040204" pitchFamily="50" charset="-128"/>
                <a:ea typeface="Meiryo UI" panose="020B0604030504040204" pitchFamily="50" charset="-128"/>
              </a:rPr>
              <a:t>（市外</a:t>
            </a:r>
            <a:r>
              <a:rPr kumimoji="1" lang="en-US" altLang="ja-JP" sz="1500" b="1">
                <a:solidFill>
                  <a:srgbClr val="2563EB"/>
                </a:solidFill>
                <a:latin typeface="Meiryo UI" panose="020B0604030504040204" pitchFamily="50" charset="-128"/>
                <a:ea typeface="Meiryo UI" panose="020B0604030504040204" pitchFamily="50" charset="-128"/>
              </a:rPr>
              <a:t>26.3%</a:t>
            </a:r>
            <a:r>
              <a:rPr kumimoji="1" lang="ja-JP" altLang="en-US" sz="1500" b="1">
                <a:solidFill>
                  <a:srgbClr val="2563EB"/>
                </a:solidFill>
                <a:latin typeface="Meiryo UI" panose="020B0604030504040204" pitchFamily="50" charset="-128"/>
                <a:ea typeface="Meiryo UI" panose="020B0604030504040204" pitchFamily="50" charset="-128"/>
              </a:rPr>
              <a:t>）。性別は女性が</a:t>
            </a:r>
            <a:r>
              <a:rPr kumimoji="1" lang="en-US" altLang="ja-JP" sz="1500" b="1">
                <a:solidFill>
                  <a:srgbClr val="2563EB"/>
                </a:solidFill>
                <a:latin typeface="Meiryo UI" panose="020B0604030504040204" pitchFamily="50" charset="-128"/>
                <a:ea typeface="Meiryo UI" panose="020B0604030504040204" pitchFamily="50" charset="-128"/>
              </a:rPr>
              <a:t>64.8%</a:t>
            </a:r>
            <a:r>
              <a:rPr kumimoji="1" lang="ja-JP" altLang="en-US" sz="1500" b="1">
                <a:solidFill>
                  <a:srgbClr val="2563EB"/>
                </a:solidFill>
                <a:latin typeface="Meiryo UI" panose="020B0604030504040204" pitchFamily="50" charset="-128"/>
                <a:ea typeface="Meiryo UI" panose="020B0604030504040204" pitchFamily="50" charset="-128"/>
              </a:rPr>
              <a:t>を占めた</a:t>
            </a:r>
          </a:p>
        </p:txBody>
      </p:sp>
      <p:sp>
        <p:nvSpPr>
          <p:cNvPr id="11" name="四角形: 角を丸くする 10">
            <a:extLst>
              <a:ext uri="{FF2B5EF4-FFF2-40B4-BE49-F238E27FC236}">
                <a16:creationId xmlns:a16="http://schemas.microsoft.com/office/drawing/2014/main" id="{CF0D94D7-A95C-A992-3CC1-5E8EA85C88E5}"/>
              </a:ext>
            </a:extLst>
          </p:cNvPr>
          <p:cNvSpPr/>
          <p:nvPr/>
        </p:nvSpPr>
        <p:spPr>
          <a:xfrm>
            <a:off x="254000" y="1549400"/>
            <a:ext cx="57150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3A2EE919-F332-E2C5-A006-7C7C05B53869}"/>
              </a:ext>
            </a:extLst>
          </p:cNvPr>
          <p:cNvSpPr/>
          <p:nvPr/>
        </p:nvSpPr>
        <p:spPr>
          <a:xfrm>
            <a:off x="482600" y="17780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08F663B5-D808-ABE4-B92C-34499108B2E7}"/>
              </a:ext>
            </a:extLst>
          </p:cNvPr>
          <p:cNvSpPr txBox="1"/>
          <p:nvPr/>
        </p:nvSpPr>
        <p:spPr>
          <a:xfrm>
            <a:off x="685800" y="17399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お住まいの内訳</a:t>
            </a:r>
          </a:p>
        </p:txBody>
      </p:sp>
      <p:sp>
        <p:nvSpPr>
          <p:cNvPr id="14" name="部分円 13">
            <a:extLst>
              <a:ext uri="{FF2B5EF4-FFF2-40B4-BE49-F238E27FC236}">
                <a16:creationId xmlns:a16="http://schemas.microsoft.com/office/drawing/2014/main" id="{FE780EF1-3E1A-336C-656E-73582586E8CE}"/>
              </a:ext>
            </a:extLst>
          </p:cNvPr>
          <p:cNvSpPr/>
          <p:nvPr/>
        </p:nvSpPr>
        <p:spPr>
          <a:xfrm>
            <a:off x="635000" y="2349500"/>
            <a:ext cx="2413000" cy="2413000"/>
          </a:xfrm>
          <a:prstGeom prst="pie">
            <a:avLst>
              <a:gd name="adj1" fmla="val 16200000"/>
              <a:gd name="adj2" fmla="val 10260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3A9D7948-C00F-194A-08DD-79C91ECB274E}"/>
              </a:ext>
            </a:extLst>
          </p:cNvPr>
          <p:cNvSpPr/>
          <p:nvPr/>
        </p:nvSpPr>
        <p:spPr>
          <a:xfrm>
            <a:off x="635000" y="2349500"/>
            <a:ext cx="2413000" cy="2413000"/>
          </a:xfrm>
          <a:prstGeom prst="pie">
            <a:avLst>
              <a:gd name="adj1" fmla="val 10260000"/>
              <a:gd name="adj2" fmla="val 159408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部分円 15">
            <a:extLst>
              <a:ext uri="{FF2B5EF4-FFF2-40B4-BE49-F238E27FC236}">
                <a16:creationId xmlns:a16="http://schemas.microsoft.com/office/drawing/2014/main" id="{F5CD311C-387F-D186-BD1E-15B894C90BA3}"/>
              </a:ext>
            </a:extLst>
          </p:cNvPr>
          <p:cNvSpPr/>
          <p:nvPr/>
        </p:nvSpPr>
        <p:spPr>
          <a:xfrm>
            <a:off x="635000" y="2349500"/>
            <a:ext cx="2413000" cy="2413000"/>
          </a:xfrm>
          <a:prstGeom prst="pie">
            <a:avLst>
              <a:gd name="adj1" fmla="val 15940800"/>
              <a:gd name="adj2" fmla="val 16221599"/>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楕円 16">
            <a:extLst>
              <a:ext uri="{FF2B5EF4-FFF2-40B4-BE49-F238E27FC236}">
                <a16:creationId xmlns:a16="http://schemas.microsoft.com/office/drawing/2014/main" id="{5995D5BA-AF4B-BCBB-E643-879F49064E74}"/>
              </a:ext>
            </a:extLst>
          </p:cNvPr>
          <p:cNvSpPr/>
          <p:nvPr/>
        </p:nvSpPr>
        <p:spPr>
          <a:xfrm>
            <a:off x="1189990" y="2904490"/>
            <a:ext cx="1303020" cy="130302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00B1E40F-85BF-D800-55EC-30D43FB501EA}"/>
              </a:ext>
            </a:extLst>
          </p:cNvPr>
          <p:cNvSpPr txBox="1"/>
          <p:nvPr/>
        </p:nvSpPr>
        <p:spPr>
          <a:xfrm>
            <a:off x="1240790" y="3225800"/>
            <a:ext cx="1201420" cy="595035"/>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市内 </a:t>
            </a:r>
            <a:r>
              <a:rPr kumimoji="1" lang="en-US" altLang="ja-JP" sz="1600" b="1">
                <a:solidFill>
                  <a:srgbClr val="1E293B"/>
                </a:solidFill>
                <a:latin typeface="Meiryo UI" panose="020B0604030504040204" pitchFamily="50" charset="-128"/>
                <a:ea typeface="Meiryo UI" panose="020B0604030504040204" pitchFamily="50" charset="-128"/>
              </a:rPr>
              <a:t>72.5%</a:t>
            </a:r>
            <a:endParaRPr kumimoji="1" lang="ja-JP" altLang="en-US" sz="1600" b="1">
              <a:solidFill>
                <a:srgbClr val="1E293B"/>
              </a:solidFill>
              <a:latin typeface="Meiryo UI" panose="020B0604030504040204" pitchFamily="50" charset="-128"/>
              <a:ea typeface="Meiryo UI" panose="020B0604030504040204" pitchFamily="50" charset="-128"/>
            </a:endParaRPr>
          </a:p>
        </p:txBody>
      </p:sp>
      <p:sp>
        <p:nvSpPr>
          <p:cNvPr id="19" name="テキスト ボックス 18">
            <a:extLst>
              <a:ext uri="{FF2B5EF4-FFF2-40B4-BE49-F238E27FC236}">
                <a16:creationId xmlns:a16="http://schemas.microsoft.com/office/drawing/2014/main" id="{B4C77D87-9BC5-4391-E8B5-D570BD8F2F2E}"/>
              </a:ext>
            </a:extLst>
          </p:cNvPr>
          <p:cNvSpPr txBox="1"/>
          <p:nvPr/>
        </p:nvSpPr>
        <p:spPr>
          <a:xfrm>
            <a:off x="1240790" y="3581400"/>
            <a:ext cx="1201420" cy="48731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171</a:t>
            </a:r>
            <a:r>
              <a:rPr kumimoji="1" lang="ja-JP" altLang="en-US" sz="1250" b="1">
                <a:solidFill>
                  <a:srgbClr val="64748B"/>
                </a:solidFill>
                <a:latin typeface="Meiryo UI" panose="020B0604030504040204" pitchFamily="50" charset="-128"/>
                <a:ea typeface="Meiryo UI" panose="020B0604030504040204" pitchFamily="50" charset="-128"/>
              </a:rPr>
              <a:t>名 </a:t>
            </a:r>
            <a:r>
              <a:rPr kumimoji="1" lang="en-US" altLang="ja-JP" sz="1250" b="1">
                <a:solidFill>
                  <a:srgbClr val="64748B"/>
                </a:solidFill>
                <a:latin typeface="Meiryo UI" panose="020B0604030504040204" pitchFamily="50" charset="-128"/>
                <a:ea typeface="Meiryo UI" panose="020B0604030504040204" pitchFamily="50" charset="-128"/>
              </a:rPr>
              <a:t>/ 236</a:t>
            </a:r>
            <a:r>
              <a:rPr kumimoji="1" lang="ja-JP" altLang="en-US" sz="1250" b="1">
                <a:solidFill>
                  <a:srgbClr val="64748B"/>
                </a:solidFill>
                <a:latin typeface="Meiryo UI" panose="020B0604030504040204" pitchFamily="50" charset="-128"/>
                <a:ea typeface="Meiryo UI" panose="020B0604030504040204" pitchFamily="50" charset="-128"/>
              </a:rPr>
              <a:t>名</a:t>
            </a:r>
          </a:p>
        </p:txBody>
      </p:sp>
      <p:sp>
        <p:nvSpPr>
          <p:cNvPr id="20" name="楕円 19">
            <a:extLst>
              <a:ext uri="{FF2B5EF4-FFF2-40B4-BE49-F238E27FC236}">
                <a16:creationId xmlns:a16="http://schemas.microsoft.com/office/drawing/2014/main" id="{AD329A9A-639C-DC2B-9B5A-D968F070B71C}"/>
              </a:ext>
            </a:extLst>
          </p:cNvPr>
          <p:cNvSpPr/>
          <p:nvPr/>
        </p:nvSpPr>
        <p:spPr>
          <a:xfrm>
            <a:off x="3238500" y="27305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C38221C4-3E7E-57BD-E8A5-2728369796E9}"/>
              </a:ext>
            </a:extLst>
          </p:cNvPr>
          <p:cNvSpPr txBox="1"/>
          <p:nvPr/>
        </p:nvSpPr>
        <p:spPr>
          <a:xfrm>
            <a:off x="3568700" y="2667000"/>
            <a:ext cx="698500" cy="795089"/>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八千代市内</a:t>
            </a:r>
          </a:p>
        </p:txBody>
      </p:sp>
      <p:sp>
        <p:nvSpPr>
          <p:cNvPr id="22" name="テキスト ボックス 21">
            <a:extLst>
              <a:ext uri="{FF2B5EF4-FFF2-40B4-BE49-F238E27FC236}">
                <a16:creationId xmlns:a16="http://schemas.microsoft.com/office/drawing/2014/main" id="{B4C515C1-7BE4-F302-A838-832BF796B566}"/>
              </a:ext>
            </a:extLst>
          </p:cNvPr>
          <p:cNvSpPr txBox="1"/>
          <p:nvPr/>
        </p:nvSpPr>
        <p:spPr>
          <a:xfrm>
            <a:off x="4127500" y="2667000"/>
            <a:ext cx="1587500" cy="579646"/>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171</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(72.5%)</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23" name="楕円 22">
            <a:extLst>
              <a:ext uri="{FF2B5EF4-FFF2-40B4-BE49-F238E27FC236}">
                <a16:creationId xmlns:a16="http://schemas.microsoft.com/office/drawing/2014/main" id="{320C32C8-01EC-619C-8332-7055D94666D9}"/>
              </a:ext>
            </a:extLst>
          </p:cNvPr>
          <p:cNvSpPr/>
          <p:nvPr/>
        </p:nvSpPr>
        <p:spPr>
          <a:xfrm>
            <a:off x="3238500" y="3340100"/>
            <a:ext cx="228600" cy="22860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D7BABAAE-F682-CF8A-BA2D-9841DF33E421}"/>
              </a:ext>
            </a:extLst>
          </p:cNvPr>
          <p:cNvSpPr txBox="1"/>
          <p:nvPr/>
        </p:nvSpPr>
        <p:spPr>
          <a:xfrm>
            <a:off x="3568700" y="3276600"/>
            <a:ext cx="698500" cy="795089"/>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八千代市外</a:t>
            </a:r>
          </a:p>
        </p:txBody>
      </p:sp>
      <p:sp>
        <p:nvSpPr>
          <p:cNvPr id="25" name="テキスト ボックス 24">
            <a:extLst>
              <a:ext uri="{FF2B5EF4-FFF2-40B4-BE49-F238E27FC236}">
                <a16:creationId xmlns:a16="http://schemas.microsoft.com/office/drawing/2014/main" id="{36AA269F-2300-5DF8-9C87-1B4FEAEB3D22}"/>
              </a:ext>
            </a:extLst>
          </p:cNvPr>
          <p:cNvSpPr txBox="1"/>
          <p:nvPr/>
        </p:nvSpPr>
        <p:spPr>
          <a:xfrm>
            <a:off x="4127500" y="32766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10B981"/>
                </a:solidFill>
                <a:latin typeface="Meiryo UI" panose="020B0604030504040204" pitchFamily="50" charset="-128"/>
                <a:ea typeface="Meiryo UI" panose="020B0604030504040204" pitchFamily="50" charset="-128"/>
              </a:rPr>
              <a:t>62</a:t>
            </a:r>
            <a:r>
              <a:rPr kumimoji="1" lang="ja-JP" altLang="en-US" sz="1550" b="1">
                <a:solidFill>
                  <a:srgbClr val="10B981"/>
                </a:solidFill>
                <a:latin typeface="Meiryo UI" panose="020B0604030504040204" pitchFamily="50" charset="-128"/>
                <a:ea typeface="Meiryo UI" panose="020B0604030504040204" pitchFamily="50" charset="-128"/>
              </a:rPr>
              <a:t>名 </a:t>
            </a:r>
            <a:r>
              <a:rPr kumimoji="1" lang="en-US" altLang="ja-JP" sz="1550" b="1">
                <a:solidFill>
                  <a:srgbClr val="10B981"/>
                </a:solidFill>
                <a:latin typeface="Meiryo UI" panose="020B0604030504040204" pitchFamily="50" charset="-128"/>
                <a:ea typeface="Meiryo UI" panose="020B0604030504040204" pitchFamily="50" charset="-128"/>
              </a:rPr>
              <a:t>(26.3%)</a:t>
            </a:r>
            <a:endParaRPr kumimoji="1" lang="ja-JP" altLang="en-US" sz="1550" b="1">
              <a:solidFill>
                <a:srgbClr val="10B981"/>
              </a:solidFill>
              <a:latin typeface="Meiryo UI" panose="020B0604030504040204" pitchFamily="50" charset="-128"/>
              <a:ea typeface="Meiryo UI" panose="020B0604030504040204" pitchFamily="50" charset="-128"/>
            </a:endParaRPr>
          </a:p>
        </p:txBody>
      </p:sp>
      <p:sp>
        <p:nvSpPr>
          <p:cNvPr id="26" name="楕円 25">
            <a:extLst>
              <a:ext uri="{FF2B5EF4-FFF2-40B4-BE49-F238E27FC236}">
                <a16:creationId xmlns:a16="http://schemas.microsoft.com/office/drawing/2014/main" id="{A80F54DC-BD81-A9B3-CA8E-957C6B161939}"/>
              </a:ext>
            </a:extLst>
          </p:cNvPr>
          <p:cNvSpPr/>
          <p:nvPr/>
        </p:nvSpPr>
        <p:spPr>
          <a:xfrm>
            <a:off x="3238500" y="3949700"/>
            <a:ext cx="228600" cy="2286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0E39B7AA-9B8C-76BD-D9DA-0EE1FD42C4A7}"/>
              </a:ext>
            </a:extLst>
          </p:cNvPr>
          <p:cNvSpPr txBox="1"/>
          <p:nvPr/>
        </p:nvSpPr>
        <p:spPr>
          <a:xfrm>
            <a:off x="3568700" y="3886200"/>
            <a:ext cx="698500" cy="564257"/>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28" name="テキスト ボックス 27">
            <a:extLst>
              <a:ext uri="{FF2B5EF4-FFF2-40B4-BE49-F238E27FC236}">
                <a16:creationId xmlns:a16="http://schemas.microsoft.com/office/drawing/2014/main" id="{04A40B7D-FA84-6660-7DDE-723EF0BDA63B}"/>
              </a:ext>
            </a:extLst>
          </p:cNvPr>
          <p:cNvSpPr txBox="1"/>
          <p:nvPr/>
        </p:nvSpPr>
        <p:spPr>
          <a:xfrm>
            <a:off x="4127500" y="38862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94A3B8"/>
                </a:solidFill>
                <a:latin typeface="Meiryo UI" panose="020B0604030504040204" pitchFamily="50" charset="-128"/>
                <a:ea typeface="Meiryo UI" panose="020B0604030504040204" pitchFamily="50" charset="-128"/>
              </a:rPr>
              <a:t>3</a:t>
            </a:r>
            <a:r>
              <a:rPr kumimoji="1" lang="ja-JP" altLang="en-US" sz="1550" b="1">
                <a:solidFill>
                  <a:srgbClr val="94A3B8"/>
                </a:solidFill>
                <a:latin typeface="Meiryo UI" panose="020B0604030504040204" pitchFamily="50" charset="-128"/>
                <a:ea typeface="Meiryo UI" panose="020B0604030504040204" pitchFamily="50" charset="-128"/>
              </a:rPr>
              <a:t>名 </a:t>
            </a:r>
            <a:r>
              <a:rPr kumimoji="1" lang="en-US" altLang="ja-JP" sz="1550" b="1">
                <a:solidFill>
                  <a:srgbClr val="94A3B8"/>
                </a:solidFill>
                <a:latin typeface="Meiryo UI" panose="020B0604030504040204" pitchFamily="50" charset="-128"/>
                <a:ea typeface="Meiryo UI" panose="020B0604030504040204" pitchFamily="50" charset="-128"/>
              </a:rPr>
              <a:t>(1.3%)</a:t>
            </a:r>
            <a:endParaRPr kumimoji="1" lang="ja-JP" altLang="en-US" sz="1550" b="1">
              <a:solidFill>
                <a:srgbClr val="94A3B8"/>
              </a:solidFill>
              <a:latin typeface="Meiryo UI" panose="020B0604030504040204" pitchFamily="50" charset="-128"/>
              <a:ea typeface="Meiryo UI" panose="020B0604030504040204" pitchFamily="50" charset="-128"/>
            </a:endParaRPr>
          </a:p>
        </p:txBody>
      </p:sp>
      <p:sp>
        <p:nvSpPr>
          <p:cNvPr id="29" name="四角形: 角を丸くする 28">
            <a:extLst>
              <a:ext uri="{FF2B5EF4-FFF2-40B4-BE49-F238E27FC236}">
                <a16:creationId xmlns:a16="http://schemas.microsoft.com/office/drawing/2014/main" id="{3FE601D0-051C-8541-1205-444B4151FDA2}"/>
              </a:ext>
            </a:extLst>
          </p:cNvPr>
          <p:cNvSpPr/>
          <p:nvPr/>
        </p:nvSpPr>
        <p:spPr>
          <a:xfrm>
            <a:off x="6223000" y="1549400"/>
            <a:ext cx="57150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 角を丸くする 29">
            <a:extLst>
              <a:ext uri="{FF2B5EF4-FFF2-40B4-BE49-F238E27FC236}">
                <a16:creationId xmlns:a16="http://schemas.microsoft.com/office/drawing/2014/main" id="{7792A81C-1FB1-8806-3E6A-059024F0D574}"/>
              </a:ext>
            </a:extLst>
          </p:cNvPr>
          <p:cNvSpPr/>
          <p:nvPr/>
        </p:nvSpPr>
        <p:spPr>
          <a:xfrm>
            <a:off x="6451600" y="1778000"/>
            <a:ext cx="101600" cy="3302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30035DF5-4EAE-8B8F-9EF6-85B6817AECDF}"/>
              </a:ext>
            </a:extLst>
          </p:cNvPr>
          <p:cNvSpPr txBox="1"/>
          <p:nvPr/>
        </p:nvSpPr>
        <p:spPr>
          <a:xfrm>
            <a:off x="6654800" y="17399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性別の内訳</a:t>
            </a:r>
          </a:p>
        </p:txBody>
      </p:sp>
      <p:sp>
        <p:nvSpPr>
          <p:cNvPr id="32" name="部分円 31">
            <a:extLst>
              <a:ext uri="{FF2B5EF4-FFF2-40B4-BE49-F238E27FC236}">
                <a16:creationId xmlns:a16="http://schemas.microsoft.com/office/drawing/2014/main" id="{30720997-272C-F446-7B01-9FE92A3947B4}"/>
              </a:ext>
            </a:extLst>
          </p:cNvPr>
          <p:cNvSpPr/>
          <p:nvPr/>
        </p:nvSpPr>
        <p:spPr>
          <a:xfrm>
            <a:off x="6604000" y="2349500"/>
            <a:ext cx="2413000" cy="2413000"/>
          </a:xfrm>
          <a:prstGeom prst="pie">
            <a:avLst>
              <a:gd name="adj1" fmla="val 16200000"/>
              <a:gd name="adj2" fmla="val 8596800"/>
            </a:avLst>
          </a:prstGeom>
          <a:solidFill>
            <a:srgbClr val="F59E0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3" name="部分円 32">
            <a:extLst>
              <a:ext uri="{FF2B5EF4-FFF2-40B4-BE49-F238E27FC236}">
                <a16:creationId xmlns:a16="http://schemas.microsoft.com/office/drawing/2014/main" id="{BB3DA2CA-51D5-9024-F512-AD07F22E4494}"/>
              </a:ext>
            </a:extLst>
          </p:cNvPr>
          <p:cNvSpPr/>
          <p:nvPr/>
        </p:nvSpPr>
        <p:spPr>
          <a:xfrm>
            <a:off x="6604000" y="2349500"/>
            <a:ext cx="2413000" cy="2413000"/>
          </a:xfrm>
          <a:prstGeom prst="pie">
            <a:avLst>
              <a:gd name="adj1" fmla="val 8596800"/>
              <a:gd name="adj2" fmla="val 16005601"/>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4" name="部分円 33">
            <a:extLst>
              <a:ext uri="{FF2B5EF4-FFF2-40B4-BE49-F238E27FC236}">
                <a16:creationId xmlns:a16="http://schemas.microsoft.com/office/drawing/2014/main" id="{E1EEC7C8-6FD5-A19B-7BD7-8515A3398398}"/>
              </a:ext>
            </a:extLst>
          </p:cNvPr>
          <p:cNvSpPr/>
          <p:nvPr/>
        </p:nvSpPr>
        <p:spPr>
          <a:xfrm>
            <a:off x="6604000" y="2349500"/>
            <a:ext cx="2413000" cy="2413000"/>
          </a:xfrm>
          <a:prstGeom prst="pie">
            <a:avLst>
              <a:gd name="adj1" fmla="val 16005601"/>
              <a:gd name="adj2" fmla="val 16178401"/>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5" name="楕円 34">
            <a:extLst>
              <a:ext uri="{FF2B5EF4-FFF2-40B4-BE49-F238E27FC236}">
                <a16:creationId xmlns:a16="http://schemas.microsoft.com/office/drawing/2014/main" id="{A0BF25EA-5C0C-E7C1-F458-15DDE31640FC}"/>
              </a:ext>
            </a:extLst>
          </p:cNvPr>
          <p:cNvSpPr/>
          <p:nvPr/>
        </p:nvSpPr>
        <p:spPr>
          <a:xfrm>
            <a:off x="7158990" y="2904490"/>
            <a:ext cx="1303020" cy="130302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039879EE-6FBA-EA94-4309-6633E37E0BA6}"/>
              </a:ext>
            </a:extLst>
          </p:cNvPr>
          <p:cNvSpPr txBox="1"/>
          <p:nvPr/>
        </p:nvSpPr>
        <p:spPr>
          <a:xfrm>
            <a:off x="7209790" y="3225800"/>
            <a:ext cx="1201420" cy="595035"/>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女性 </a:t>
            </a:r>
            <a:r>
              <a:rPr kumimoji="1" lang="en-US" altLang="ja-JP" sz="1600" b="1">
                <a:solidFill>
                  <a:srgbClr val="1E293B"/>
                </a:solidFill>
                <a:latin typeface="Meiryo UI" panose="020B0604030504040204" pitchFamily="50" charset="-128"/>
                <a:ea typeface="Meiryo UI" panose="020B0604030504040204" pitchFamily="50" charset="-128"/>
              </a:rPr>
              <a:t>64.8%</a:t>
            </a:r>
            <a:endParaRPr kumimoji="1" lang="ja-JP" altLang="en-US" sz="1600" b="1">
              <a:solidFill>
                <a:srgbClr val="1E293B"/>
              </a:solidFill>
              <a:latin typeface="Meiryo UI" panose="020B0604030504040204" pitchFamily="50" charset="-128"/>
              <a:ea typeface="Meiryo UI" panose="020B0604030504040204" pitchFamily="50" charset="-128"/>
            </a:endParaRPr>
          </a:p>
        </p:txBody>
      </p:sp>
      <p:sp>
        <p:nvSpPr>
          <p:cNvPr id="37" name="テキスト ボックス 36">
            <a:extLst>
              <a:ext uri="{FF2B5EF4-FFF2-40B4-BE49-F238E27FC236}">
                <a16:creationId xmlns:a16="http://schemas.microsoft.com/office/drawing/2014/main" id="{32E3C159-344F-4C0A-D5CD-D59D48391626}"/>
              </a:ext>
            </a:extLst>
          </p:cNvPr>
          <p:cNvSpPr txBox="1"/>
          <p:nvPr/>
        </p:nvSpPr>
        <p:spPr>
          <a:xfrm>
            <a:off x="7209790" y="3581400"/>
            <a:ext cx="1201420" cy="48731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153</a:t>
            </a:r>
            <a:r>
              <a:rPr kumimoji="1" lang="ja-JP" altLang="en-US" sz="1250" b="1">
                <a:solidFill>
                  <a:srgbClr val="64748B"/>
                </a:solidFill>
                <a:latin typeface="Meiryo UI" panose="020B0604030504040204" pitchFamily="50" charset="-128"/>
                <a:ea typeface="Meiryo UI" panose="020B0604030504040204" pitchFamily="50" charset="-128"/>
              </a:rPr>
              <a:t>名 </a:t>
            </a:r>
            <a:r>
              <a:rPr kumimoji="1" lang="en-US" altLang="ja-JP" sz="1250" b="1">
                <a:solidFill>
                  <a:srgbClr val="64748B"/>
                </a:solidFill>
                <a:latin typeface="Meiryo UI" panose="020B0604030504040204" pitchFamily="50" charset="-128"/>
                <a:ea typeface="Meiryo UI" panose="020B0604030504040204" pitchFamily="50" charset="-128"/>
              </a:rPr>
              <a:t>/ 236</a:t>
            </a:r>
            <a:r>
              <a:rPr kumimoji="1" lang="ja-JP" altLang="en-US" sz="1250" b="1">
                <a:solidFill>
                  <a:srgbClr val="64748B"/>
                </a:solidFill>
                <a:latin typeface="Meiryo UI" panose="020B0604030504040204" pitchFamily="50" charset="-128"/>
                <a:ea typeface="Meiryo UI" panose="020B0604030504040204" pitchFamily="50" charset="-128"/>
              </a:rPr>
              <a:t>名</a:t>
            </a:r>
          </a:p>
        </p:txBody>
      </p:sp>
      <p:sp>
        <p:nvSpPr>
          <p:cNvPr id="38" name="楕円 37">
            <a:extLst>
              <a:ext uri="{FF2B5EF4-FFF2-40B4-BE49-F238E27FC236}">
                <a16:creationId xmlns:a16="http://schemas.microsoft.com/office/drawing/2014/main" id="{BFB64DCA-BD1E-B826-BA8E-1D1DDFF278FD}"/>
              </a:ext>
            </a:extLst>
          </p:cNvPr>
          <p:cNvSpPr/>
          <p:nvPr/>
        </p:nvSpPr>
        <p:spPr>
          <a:xfrm>
            <a:off x="9207500" y="2730500"/>
            <a:ext cx="228600" cy="228600"/>
          </a:xfrm>
          <a:prstGeom prst="ellipse">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1E682DF8-021F-7999-FABE-A639146AF24A}"/>
              </a:ext>
            </a:extLst>
          </p:cNvPr>
          <p:cNvSpPr txBox="1"/>
          <p:nvPr/>
        </p:nvSpPr>
        <p:spPr>
          <a:xfrm>
            <a:off x="9537700" y="2667000"/>
            <a:ext cx="698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女性</a:t>
            </a:r>
          </a:p>
        </p:txBody>
      </p:sp>
      <p:sp>
        <p:nvSpPr>
          <p:cNvPr id="40" name="テキスト ボックス 39">
            <a:extLst>
              <a:ext uri="{FF2B5EF4-FFF2-40B4-BE49-F238E27FC236}">
                <a16:creationId xmlns:a16="http://schemas.microsoft.com/office/drawing/2014/main" id="{8B0F6E2D-DCE8-2154-59D5-C970D7B8EC93}"/>
              </a:ext>
            </a:extLst>
          </p:cNvPr>
          <p:cNvSpPr txBox="1"/>
          <p:nvPr/>
        </p:nvSpPr>
        <p:spPr>
          <a:xfrm>
            <a:off x="10096500" y="2667000"/>
            <a:ext cx="1587500" cy="579646"/>
          </a:xfrm>
          <a:prstGeom prst="rect">
            <a:avLst/>
          </a:prstGeom>
          <a:noFill/>
        </p:spPr>
        <p:txBody>
          <a:bodyPr vert="horz" wrap="square" lIns="76200" tIns="50800" rIns="76200" bIns="50800" rtlCol="0">
            <a:spAutoFit/>
          </a:bodyPr>
          <a:lstStyle/>
          <a:p>
            <a:pPr algn="r"/>
            <a:r>
              <a:rPr kumimoji="1" lang="en-US" altLang="ja-JP" sz="1550" b="1">
                <a:solidFill>
                  <a:srgbClr val="F59E0B"/>
                </a:solidFill>
                <a:latin typeface="Meiryo UI" panose="020B0604030504040204" pitchFamily="50" charset="-128"/>
                <a:ea typeface="Meiryo UI" panose="020B0604030504040204" pitchFamily="50" charset="-128"/>
              </a:rPr>
              <a:t>153</a:t>
            </a:r>
            <a:r>
              <a:rPr kumimoji="1" lang="ja-JP" altLang="en-US" sz="1550" b="1">
                <a:solidFill>
                  <a:srgbClr val="F59E0B"/>
                </a:solidFill>
                <a:latin typeface="Meiryo UI" panose="020B0604030504040204" pitchFamily="50" charset="-128"/>
                <a:ea typeface="Meiryo UI" panose="020B0604030504040204" pitchFamily="50" charset="-128"/>
              </a:rPr>
              <a:t>名 </a:t>
            </a:r>
            <a:r>
              <a:rPr kumimoji="1" lang="en-US" altLang="ja-JP" sz="1550" b="1">
                <a:solidFill>
                  <a:srgbClr val="F59E0B"/>
                </a:solidFill>
                <a:latin typeface="Meiryo UI" panose="020B0604030504040204" pitchFamily="50" charset="-128"/>
                <a:ea typeface="Meiryo UI" panose="020B0604030504040204" pitchFamily="50" charset="-128"/>
              </a:rPr>
              <a:t>(64.8%)</a:t>
            </a:r>
            <a:endParaRPr kumimoji="1" lang="ja-JP" altLang="en-US" sz="1550" b="1">
              <a:solidFill>
                <a:srgbClr val="F59E0B"/>
              </a:solidFill>
              <a:latin typeface="Meiryo UI" panose="020B0604030504040204" pitchFamily="50" charset="-128"/>
              <a:ea typeface="Meiryo UI" panose="020B0604030504040204" pitchFamily="50" charset="-128"/>
            </a:endParaRPr>
          </a:p>
        </p:txBody>
      </p:sp>
      <p:sp>
        <p:nvSpPr>
          <p:cNvPr id="41" name="楕円 40">
            <a:extLst>
              <a:ext uri="{FF2B5EF4-FFF2-40B4-BE49-F238E27FC236}">
                <a16:creationId xmlns:a16="http://schemas.microsoft.com/office/drawing/2014/main" id="{3881EEAD-568E-85B3-211B-834F9FB3F36F}"/>
              </a:ext>
            </a:extLst>
          </p:cNvPr>
          <p:cNvSpPr/>
          <p:nvPr/>
        </p:nvSpPr>
        <p:spPr>
          <a:xfrm>
            <a:off x="9207500" y="33401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C7ADA17D-4DAA-4990-12E3-9470A7A64ADC}"/>
              </a:ext>
            </a:extLst>
          </p:cNvPr>
          <p:cNvSpPr txBox="1"/>
          <p:nvPr/>
        </p:nvSpPr>
        <p:spPr>
          <a:xfrm>
            <a:off x="9537700" y="3276600"/>
            <a:ext cx="698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男性</a:t>
            </a:r>
          </a:p>
        </p:txBody>
      </p:sp>
      <p:sp>
        <p:nvSpPr>
          <p:cNvPr id="43" name="テキスト ボックス 42">
            <a:extLst>
              <a:ext uri="{FF2B5EF4-FFF2-40B4-BE49-F238E27FC236}">
                <a16:creationId xmlns:a16="http://schemas.microsoft.com/office/drawing/2014/main" id="{AB2682B8-259C-B288-0395-154E0CF7952A}"/>
              </a:ext>
            </a:extLst>
          </p:cNvPr>
          <p:cNvSpPr txBox="1"/>
          <p:nvPr/>
        </p:nvSpPr>
        <p:spPr>
          <a:xfrm>
            <a:off x="10096500" y="32766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81</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(34.3%)</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44" name="楕円 43">
            <a:extLst>
              <a:ext uri="{FF2B5EF4-FFF2-40B4-BE49-F238E27FC236}">
                <a16:creationId xmlns:a16="http://schemas.microsoft.com/office/drawing/2014/main" id="{76ED1B30-9D96-0904-F599-88450C6093AA}"/>
              </a:ext>
            </a:extLst>
          </p:cNvPr>
          <p:cNvSpPr/>
          <p:nvPr/>
        </p:nvSpPr>
        <p:spPr>
          <a:xfrm>
            <a:off x="9207500" y="3949700"/>
            <a:ext cx="228600" cy="2286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DAD55AC5-CF3D-46B3-971B-E463AB6E9A01}"/>
              </a:ext>
            </a:extLst>
          </p:cNvPr>
          <p:cNvSpPr txBox="1"/>
          <p:nvPr/>
        </p:nvSpPr>
        <p:spPr>
          <a:xfrm>
            <a:off x="9537700" y="3886200"/>
            <a:ext cx="698500" cy="564257"/>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46" name="テキスト ボックス 45">
            <a:extLst>
              <a:ext uri="{FF2B5EF4-FFF2-40B4-BE49-F238E27FC236}">
                <a16:creationId xmlns:a16="http://schemas.microsoft.com/office/drawing/2014/main" id="{F8DBD663-5AA5-1503-ED41-80AEC4BDE320}"/>
              </a:ext>
            </a:extLst>
          </p:cNvPr>
          <p:cNvSpPr txBox="1"/>
          <p:nvPr/>
        </p:nvSpPr>
        <p:spPr>
          <a:xfrm>
            <a:off x="10096500" y="38862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94A3B8"/>
                </a:solidFill>
                <a:latin typeface="Meiryo UI" panose="020B0604030504040204" pitchFamily="50" charset="-128"/>
                <a:ea typeface="Meiryo UI" panose="020B0604030504040204" pitchFamily="50" charset="-128"/>
              </a:rPr>
              <a:t>2</a:t>
            </a:r>
            <a:r>
              <a:rPr kumimoji="1" lang="ja-JP" altLang="en-US" sz="1550" b="1">
                <a:solidFill>
                  <a:srgbClr val="94A3B8"/>
                </a:solidFill>
                <a:latin typeface="Meiryo UI" panose="020B0604030504040204" pitchFamily="50" charset="-128"/>
                <a:ea typeface="Meiryo UI" panose="020B0604030504040204" pitchFamily="50" charset="-128"/>
              </a:rPr>
              <a:t>名 </a:t>
            </a:r>
            <a:r>
              <a:rPr kumimoji="1" lang="en-US" altLang="ja-JP" sz="1550" b="1">
                <a:solidFill>
                  <a:srgbClr val="94A3B8"/>
                </a:solidFill>
                <a:latin typeface="Meiryo UI" panose="020B0604030504040204" pitchFamily="50" charset="-128"/>
                <a:ea typeface="Meiryo UI" panose="020B0604030504040204" pitchFamily="50" charset="-128"/>
              </a:rPr>
              <a:t>(0.8%)</a:t>
            </a:r>
            <a:endParaRPr kumimoji="1" lang="ja-JP" altLang="en-US" sz="1550" b="1">
              <a:solidFill>
                <a:srgbClr val="94A3B8"/>
              </a:solidFill>
              <a:latin typeface="Meiryo UI" panose="020B0604030504040204" pitchFamily="50" charset="-128"/>
              <a:ea typeface="Meiryo UI" panose="020B0604030504040204" pitchFamily="50" charset="-128"/>
            </a:endParaRPr>
          </a:p>
        </p:txBody>
      </p:sp>
      <p:sp>
        <p:nvSpPr>
          <p:cNvPr id="47" name="四角形: 角を丸くする 46">
            <a:extLst>
              <a:ext uri="{FF2B5EF4-FFF2-40B4-BE49-F238E27FC236}">
                <a16:creationId xmlns:a16="http://schemas.microsoft.com/office/drawing/2014/main" id="{9BFB4155-F9F4-388A-5EF0-FAE2995D7588}"/>
              </a:ext>
            </a:extLst>
          </p:cNvPr>
          <p:cNvSpPr/>
          <p:nvPr/>
        </p:nvSpPr>
        <p:spPr>
          <a:xfrm>
            <a:off x="254000" y="53594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68D854EE-260D-AD8F-3060-11EC105FFE02}"/>
              </a:ext>
            </a:extLst>
          </p:cNvPr>
          <p:cNvSpPr txBox="1"/>
          <p:nvPr/>
        </p:nvSpPr>
        <p:spPr>
          <a:xfrm>
            <a:off x="508000" y="5511800"/>
            <a:ext cx="11176000" cy="610424"/>
          </a:xfrm>
          <a:prstGeom prst="rect">
            <a:avLst/>
          </a:prstGeom>
          <a:noFill/>
        </p:spPr>
        <p:txBody>
          <a:bodyPr vert="horz" wrap="square" lIns="76200" tIns="50800" rIns="76200" bIns="50800" rtlCol="0">
            <a:spAutoFit/>
          </a:bodyPr>
          <a:lstStyle/>
          <a:p>
            <a:r>
              <a:rPr kumimoji="1" lang="ja-JP" altLang="en-US" sz="1650" b="1">
                <a:solidFill>
                  <a:srgbClr val="1E293B"/>
                </a:solidFill>
                <a:latin typeface="Meiryo UI" panose="020B0604030504040204" pitchFamily="50" charset="-128"/>
                <a:ea typeface="Meiryo UI" panose="020B0604030504040204" pitchFamily="50" charset="-128"/>
              </a:rPr>
              <a:t>・お住まいは「八千代市内」が</a:t>
            </a:r>
            <a:r>
              <a:rPr kumimoji="1" lang="en-US" altLang="ja-JP" sz="1650" b="1">
                <a:solidFill>
                  <a:srgbClr val="1E293B"/>
                </a:solidFill>
                <a:latin typeface="Meiryo UI" panose="020B0604030504040204" pitchFamily="50" charset="-128"/>
                <a:ea typeface="Meiryo UI" panose="020B0604030504040204" pitchFamily="50" charset="-128"/>
              </a:rPr>
              <a:t>171</a:t>
            </a:r>
            <a:r>
              <a:rPr kumimoji="1" lang="ja-JP" altLang="en-US" sz="1650" b="1">
                <a:solidFill>
                  <a:srgbClr val="1E293B"/>
                </a:solidFill>
                <a:latin typeface="Meiryo UI" panose="020B0604030504040204" pitchFamily="50" charset="-128"/>
                <a:ea typeface="Meiryo UI" panose="020B0604030504040204" pitchFamily="50" charset="-128"/>
              </a:rPr>
              <a:t>名（</a:t>
            </a:r>
            <a:r>
              <a:rPr kumimoji="1" lang="en-US" altLang="ja-JP" sz="1650" b="1">
                <a:solidFill>
                  <a:srgbClr val="1E293B"/>
                </a:solidFill>
                <a:latin typeface="Meiryo UI" panose="020B0604030504040204" pitchFamily="50" charset="-128"/>
                <a:ea typeface="Meiryo UI" panose="020B0604030504040204" pitchFamily="50" charset="-128"/>
              </a:rPr>
              <a:t>72.5%</a:t>
            </a:r>
            <a:r>
              <a:rPr kumimoji="1" lang="ja-JP" altLang="en-US" sz="1650" b="1">
                <a:solidFill>
                  <a:srgbClr val="1E293B"/>
                </a:solidFill>
                <a:latin typeface="Meiryo UI" panose="020B0604030504040204" pitchFamily="50" charset="-128"/>
                <a:ea typeface="Meiryo UI" panose="020B0604030504040204" pitchFamily="50" charset="-128"/>
              </a:rPr>
              <a:t>）、「八千代市外」が</a:t>
            </a:r>
            <a:r>
              <a:rPr kumimoji="1" lang="en-US" altLang="ja-JP" sz="1650" b="1">
                <a:solidFill>
                  <a:srgbClr val="1E293B"/>
                </a:solidFill>
                <a:latin typeface="Meiryo UI" panose="020B0604030504040204" pitchFamily="50" charset="-128"/>
                <a:ea typeface="Meiryo UI" panose="020B0604030504040204" pitchFamily="50" charset="-128"/>
              </a:rPr>
              <a:t>62</a:t>
            </a:r>
            <a:r>
              <a:rPr kumimoji="1" lang="ja-JP" altLang="en-US" sz="1650" b="1">
                <a:solidFill>
                  <a:srgbClr val="1E293B"/>
                </a:solidFill>
                <a:latin typeface="Meiryo UI" panose="020B0604030504040204" pitchFamily="50" charset="-128"/>
                <a:ea typeface="Meiryo UI" panose="020B0604030504040204" pitchFamily="50" charset="-128"/>
              </a:rPr>
              <a:t>名（</a:t>
            </a:r>
            <a:r>
              <a:rPr kumimoji="1" lang="en-US" altLang="ja-JP" sz="1650" b="1">
                <a:solidFill>
                  <a:srgbClr val="1E293B"/>
                </a:solidFill>
                <a:latin typeface="Meiryo UI" panose="020B0604030504040204" pitchFamily="50" charset="-128"/>
                <a:ea typeface="Meiryo UI" panose="020B0604030504040204" pitchFamily="50" charset="-128"/>
              </a:rPr>
              <a:t>26.3%</a:t>
            </a:r>
            <a:r>
              <a:rPr kumimoji="1" lang="ja-JP" altLang="en-US" sz="1650" b="1">
                <a:solidFill>
                  <a:srgbClr val="1E293B"/>
                </a:solidFill>
                <a:latin typeface="Meiryo UI" panose="020B0604030504040204" pitchFamily="50" charset="-128"/>
                <a:ea typeface="Meiryo UI" panose="020B0604030504040204" pitchFamily="50" charset="-128"/>
              </a:rPr>
              <a:t>）であった。
・性別は「女性」が</a:t>
            </a:r>
            <a:r>
              <a:rPr kumimoji="1" lang="en-US" altLang="ja-JP" sz="1650" b="1">
                <a:solidFill>
                  <a:srgbClr val="1E293B"/>
                </a:solidFill>
                <a:latin typeface="Meiryo UI" panose="020B0604030504040204" pitchFamily="50" charset="-128"/>
                <a:ea typeface="Meiryo UI" panose="020B0604030504040204" pitchFamily="50" charset="-128"/>
              </a:rPr>
              <a:t>153</a:t>
            </a:r>
            <a:r>
              <a:rPr kumimoji="1" lang="ja-JP" altLang="en-US" sz="1650" b="1">
                <a:solidFill>
                  <a:srgbClr val="1E293B"/>
                </a:solidFill>
                <a:latin typeface="Meiryo UI" panose="020B0604030504040204" pitchFamily="50" charset="-128"/>
                <a:ea typeface="Meiryo UI" panose="020B0604030504040204" pitchFamily="50" charset="-128"/>
              </a:rPr>
              <a:t>名（</a:t>
            </a:r>
            <a:r>
              <a:rPr kumimoji="1" lang="en-US" altLang="ja-JP" sz="1650" b="1">
                <a:solidFill>
                  <a:srgbClr val="1E293B"/>
                </a:solidFill>
                <a:latin typeface="Meiryo UI" panose="020B0604030504040204" pitchFamily="50" charset="-128"/>
                <a:ea typeface="Meiryo UI" panose="020B0604030504040204" pitchFamily="50" charset="-128"/>
              </a:rPr>
              <a:t>64.8%</a:t>
            </a:r>
            <a:r>
              <a:rPr kumimoji="1" lang="ja-JP" altLang="en-US" sz="1650" b="1">
                <a:solidFill>
                  <a:srgbClr val="1E293B"/>
                </a:solidFill>
                <a:latin typeface="Meiryo UI" panose="020B0604030504040204" pitchFamily="50" charset="-128"/>
                <a:ea typeface="Meiryo UI" panose="020B0604030504040204" pitchFamily="50" charset="-128"/>
              </a:rPr>
              <a:t>）、「男性」が</a:t>
            </a:r>
            <a:r>
              <a:rPr kumimoji="1" lang="en-US" altLang="ja-JP" sz="1650" b="1">
                <a:solidFill>
                  <a:srgbClr val="1E293B"/>
                </a:solidFill>
                <a:latin typeface="Meiryo UI" panose="020B0604030504040204" pitchFamily="50" charset="-128"/>
                <a:ea typeface="Meiryo UI" panose="020B0604030504040204" pitchFamily="50" charset="-128"/>
              </a:rPr>
              <a:t>81</a:t>
            </a:r>
            <a:r>
              <a:rPr kumimoji="1" lang="ja-JP" altLang="en-US" sz="1650" b="1">
                <a:solidFill>
                  <a:srgbClr val="1E293B"/>
                </a:solidFill>
                <a:latin typeface="Meiryo UI" panose="020B0604030504040204" pitchFamily="50" charset="-128"/>
                <a:ea typeface="Meiryo UI" panose="020B0604030504040204" pitchFamily="50" charset="-128"/>
              </a:rPr>
              <a:t>名（</a:t>
            </a:r>
            <a:r>
              <a:rPr kumimoji="1" lang="en-US" altLang="ja-JP" sz="1650" b="1">
                <a:solidFill>
                  <a:srgbClr val="1E293B"/>
                </a:solidFill>
                <a:latin typeface="Meiryo UI" panose="020B0604030504040204" pitchFamily="50" charset="-128"/>
                <a:ea typeface="Meiryo UI" panose="020B0604030504040204" pitchFamily="50" charset="-128"/>
              </a:rPr>
              <a:t>34.3%</a:t>
            </a:r>
            <a:r>
              <a:rPr kumimoji="1" lang="ja-JP" altLang="en-US" sz="1650" b="1">
                <a:solidFill>
                  <a:srgbClr val="1E293B"/>
                </a:solidFill>
                <a:latin typeface="Meiryo UI" panose="020B0604030504040204" pitchFamily="50" charset="-128"/>
                <a:ea typeface="Meiryo UI" panose="020B0604030504040204" pitchFamily="50" charset="-128"/>
              </a:rPr>
              <a:t>）であった。</a:t>
            </a:r>
          </a:p>
        </p:txBody>
      </p:sp>
    </p:spTree>
    <p:extLst>
      <p:ext uri="{BB962C8B-B14F-4D97-AF65-F5344CB8AC3E}">
        <p14:creationId xmlns:p14="http://schemas.microsoft.com/office/powerpoint/2010/main" val="2389860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476D049A-627E-E954-56CE-F500AAFB6351}"/>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8F2CF931-AA76-72C7-5474-E4724F17E847}"/>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FF43F6EF-3B25-0166-F84A-066DD4AE9F55}"/>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6F444B76-1109-6D14-28D7-FA5E96BD306A}"/>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部：来場者結果②</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AF9F6CB0-08DB-8776-95F7-EC101D6ED29A}"/>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基本情報②：年齢別の内訳（</a:t>
            </a:r>
            <a:r>
              <a:rPr kumimoji="1" lang="en-US" altLang="ja-JP" sz="2100" b="1">
                <a:solidFill>
                  <a:srgbClr val="1E293B"/>
                </a:solidFill>
                <a:latin typeface="Meiryo UI" panose="020B0604030504040204" pitchFamily="50" charset="-128"/>
                <a:ea typeface="Meiryo UI" panose="020B0604030504040204" pitchFamily="50" charset="-128"/>
              </a:rPr>
              <a:t>N=236</a:t>
            </a:r>
            <a:r>
              <a:rPr kumimoji="1" lang="ja-JP" altLang="en-US" sz="2100" b="1">
                <a:solidFill>
                  <a:srgbClr val="1E293B"/>
                </a:solidFill>
                <a:latin typeface="Meiryo UI" panose="020B0604030504040204" pitchFamily="50" charset="-128"/>
                <a:ea typeface="Meiryo UI" panose="020B0604030504040204" pitchFamily="50" charset="-128"/>
              </a:rPr>
              <a:t>名）</a:t>
            </a:r>
          </a:p>
        </p:txBody>
      </p:sp>
      <p:sp>
        <p:nvSpPr>
          <p:cNvPr id="7" name="四角形: 角を丸くする 6">
            <a:extLst>
              <a:ext uri="{FF2B5EF4-FFF2-40B4-BE49-F238E27FC236}">
                <a16:creationId xmlns:a16="http://schemas.microsoft.com/office/drawing/2014/main" id="{7846BD63-8AFC-200C-98B0-2CF76344457F}"/>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7081EEB8-186F-492A-B2F0-D7B276A58207}"/>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4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DC79475C-7B01-FA43-F9A5-77EB21A90A9A}"/>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E48428C5-1B01-C93D-5083-ED376F54F239}"/>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en-US" altLang="ja-JP" sz="1500" b="1">
                <a:solidFill>
                  <a:srgbClr val="2563EB"/>
                </a:solidFill>
                <a:latin typeface="Meiryo UI" panose="020B0604030504040204" pitchFamily="50" charset="-128"/>
                <a:ea typeface="Meiryo UI" panose="020B0604030504040204" pitchFamily="50" charset="-128"/>
              </a:rPr>
              <a:t>50</a:t>
            </a:r>
            <a:r>
              <a:rPr kumimoji="1" lang="ja-JP" altLang="en-US" sz="1500" b="1">
                <a:solidFill>
                  <a:srgbClr val="2563EB"/>
                </a:solidFill>
                <a:latin typeface="Meiryo UI" panose="020B0604030504040204" pitchFamily="50" charset="-128"/>
                <a:ea typeface="Meiryo UI" panose="020B0604030504040204" pitchFamily="50" charset="-128"/>
              </a:rPr>
              <a:t>歳代が</a:t>
            </a:r>
            <a:r>
              <a:rPr kumimoji="1" lang="en-US" altLang="ja-JP" sz="1500" b="1">
                <a:solidFill>
                  <a:srgbClr val="2563EB"/>
                </a:solidFill>
                <a:latin typeface="Meiryo UI" panose="020B0604030504040204" pitchFamily="50" charset="-128"/>
                <a:ea typeface="Meiryo UI" panose="020B0604030504040204" pitchFamily="50" charset="-128"/>
              </a:rPr>
              <a:t>26.3%</a:t>
            </a:r>
            <a:r>
              <a:rPr kumimoji="1" lang="ja-JP" altLang="en-US" sz="1500" b="1">
                <a:solidFill>
                  <a:srgbClr val="2563EB"/>
                </a:solidFill>
                <a:latin typeface="Meiryo UI" panose="020B0604030504040204" pitchFamily="50" charset="-128"/>
                <a:ea typeface="Meiryo UI" panose="020B0604030504040204" pitchFamily="50" charset="-128"/>
              </a:rPr>
              <a:t>（</a:t>
            </a:r>
            <a:r>
              <a:rPr kumimoji="1" lang="en-US" altLang="ja-JP" sz="1500" b="1">
                <a:solidFill>
                  <a:srgbClr val="2563EB"/>
                </a:solidFill>
                <a:latin typeface="Meiryo UI" panose="020B0604030504040204" pitchFamily="50" charset="-128"/>
                <a:ea typeface="Meiryo UI" panose="020B0604030504040204" pitchFamily="50" charset="-128"/>
              </a:rPr>
              <a:t>62</a:t>
            </a:r>
            <a:r>
              <a:rPr kumimoji="1" lang="ja-JP" altLang="en-US" sz="1500" b="1">
                <a:solidFill>
                  <a:srgbClr val="2563EB"/>
                </a:solidFill>
                <a:latin typeface="Meiryo UI" panose="020B0604030504040204" pitchFamily="50" charset="-128"/>
                <a:ea typeface="Meiryo UI" panose="020B0604030504040204" pitchFamily="50" charset="-128"/>
              </a:rPr>
              <a:t>名）で最多。次いで</a:t>
            </a:r>
            <a:r>
              <a:rPr kumimoji="1" lang="en-US" altLang="ja-JP" sz="1500" b="1">
                <a:solidFill>
                  <a:srgbClr val="2563EB"/>
                </a:solidFill>
                <a:latin typeface="Meiryo UI" panose="020B0604030504040204" pitchFamily="50" charset="-128"/>
                <a:ea typeface="Meiryo UI" panose="020B0604030504040204" pitchFamily="50" charset="-128"/>
              </a:rPr>
              <a:t>70</a:t>
            </a:r>
            <a:r>
              <a:rPr kumimoji="1" lang="ja-JP" altLang="en-US" sz="1500" b="1">
                <a:solidFill>
                  <a:srgbClr val="2563EB"/>
                </a:solidFill>
                <a:latin typeface="Meiryo UI" panose="020B0604030504040204" pitchFamily="50" charset="-128"/>
                <a:ea typeface="Meiryo UI" panose="020B0604030504040204" pitchFamily="50" charset="-128"/>
              </a:rPr>
              <a:t>歳代（</a:t>
            </a:r>
            <a:r>
              <a:rPr kumimoji="1" lang="en-US" altLang="ja-JP" sz="1500" b="1">
                <a:solidFill>
                  <a:srgbClr val="2563EB"/>
                </a:solidFill>
                <a:latin typeface="Meiryo UI" panose="020B0604030504040204" pitchFamily="50" charset="-128"/>
                <a:ea typeface="Meiryo UI" panose="020B0604030504040204" pitchFamily="50" charset="-128"/>
              </a:rPr>
              <a:t>17.8%</a:t>
            </a:r>
            <a:r>
              <a:rPr kumimoji="1" lang="ja-JP" altLang="en-US" sz="1500" b="1">
                <a:solidFill>
                  <a:srgbClr val="2563EB"/>
                </a:solidFill>
                <a:latin typeface="Meiryo UI" panose="020B0604030504040204" pitchFamily="50" charset="-128"/>
                <a:ea typeface="Meiryo UI" panose="020B0604030504040204" pitchFamily="50" charset="-128"/>
              </a:rPr>
              <a:t>）、</a:t>
            </a:r>
            <a:r>
              <a:rPr kumimoji="1" lang="en-US" altLang="ja-JP" sz="1500" b="1">
                <a:solidFill>
                  <a:srgbClr val="2563EB"/>
                </a:solidFill>
                <a:latin typeface="Meiryo UI" panose="020B0604030504040204" pitchFamily="50" charset="-128"/>
                <a:ea typeface="Meiryo UI" panose="020B0604030504040204" pitchFamily="50" charset="-128"/>
              </a:rPr>
              <a:t>60</a:t>
            </a:r>
            <a:r>
              <a:rPr kumimoji="1" lang="ja-JP" altLang="en-US" sz="1500" b="1">
                <a:solidFill>
                  <a:srgbClr val="2563EB"/>
                </a:solidFill>
                <a:latin typeface="Meiryo UI" panose="020B0604030504040204" pitchFamily="50" charset="-128"/>
                <a:ea typeface="Meiryo UI" panose="020B0604030504040204" pitchFamily="50" charset="-128"/>
              </a:rPr>
              <a:t>歳代（</a:t>
            </a:r>
            <a:r>
              <a:rPr kumimoji="1" lang="en-US" altLang="ja-JP" sz="1500" b="1">
                <a:solidFill>
                  <a:srgbClr val="2563EB"/>
                </a:solidFill>
                <a:latin typeface="Meiryo UI" panose="020B0604030504040204" pitchFamily="50" charset="-128"/>
                <a:ea typeface="Meiryo UI" panose="020B0604030504040204" pitchFamily="50" charset="-128"/>
              </a:rPr>
              <a:t>16.5%</a:t>
            </a:r>
            <a:r>
              <a:rPr kumimoji="1" lang="ja-JP" altLang="en-US" sz="1500" b="1">
                <a:solidFill>
                  <a:srgbClr val="2563EB"/>
                </a:solidFill>
                <a:latin typeface="Meiryo UI" panose="020B0604030504040204" pitchFamily="50" charset="-128"/>
                <a:ea typeface="Meiryo UI" panose="020B0604030504040204" pitchFamily="50" charset="-128"/>
              </a:rPr>
              <a:t>）、</a:t>
            </a:r>
            <a:r>
              <a:rPr kumimoji="1" lang="en-US" altLang="ja-JP" sz="1500" b="1">
                <a:solidFill>
                  <a:srgbClr val="2563EB"/>
                </a:solidFill>
                <a:latin typeface="Meiryo UI" panose="020B0604030504040204" pitchFamily="50" charset="-128"/>
                <a:ea typeface="Meiryo UI" panose="020B0604030504040204" pitchFamily="50" charset="-128"/>
              </a:rPr>
              <a:t>40</a:t>
            </a:r>
            <a:r>
              <a:rPr kumimoji="1" lang="ja-JP" altLang="en-US" sz="1500" b="1">
                <a:solidFill>
                  <a:srgbClr val="2563EB"/>
                </a:solidFill>
                <a:latin typeface="Meiryo UI" panose="020B0604030504040204" pitchFamily="50" charset="-128"/>
                <a:ea typeface="Meiryo UI" panose="020B0604030504040204" pitchFamily="50" charset="-128"/>
              </a:rPr>
              <a:t>歳代（</a:t>
            </a:r>
            <a:r>
              <a:rPr kumimoji="1" lang="en-US" altLang="ja-JP" sz="1500" b="1">
                <a:solidFill>
                  <a:srgbClr val="2563EB"/>
                </a:solidFill>
                <a:latin typeface="Meiryo UI" panose="020B0604030504040204" pitchFamily="50" charset="-128"/>
                <a:ea typeface="Meiryo UI" panose="020B0604030504040204" pitchFamily="50" charset="-128"/>
              </a:rPr>
              <a:t>14.0%</a:t>
            </a:r>
            <a:r>
              <a:rPr kumimoji="1" lang="ja-JP" altLang="en-US" sz="1500" b="1">
                <a:solidFill>
                  <a:srgbClr val="2563EB"/>
                </a:solidFill>
                <a:latin typeface="Meiryo UI" panose="020B0604030504040204" pitchFamily="50" charset="-128"/>
                <a:ea typeface="Meiryo UI" panose="020B0604030504040204" pitchFamily="50" charset="-128"/>
              </a:rPr>
              <a:t>）</a:t>
            </a:r>
          </a:p>
        </p:txBody>
      </p:sp>
      <p:sp>
        <p:nvSpPr>
          <p:cNvPr id="11" name="四角形: 角を丸くする 10">
            <a:extLst>
              <a:ext uri="{FF2B5EF4-FFF2-40B4-BE49-F238E27FC236}">
                <a16:creationId xmlns:a16="http://schemas.microsoft.com/office/drawing/2014/main" id="{26528702-EA0B-7C3E-D4BE-7C1FD029B1D7}"/>
              </a:ext>
            </a:extLst>
          </p:cNvPr>
          <p:cNvSpPr/>
          <p:nvPr/>
        </p:nvSpPr>
        <p:spPr>
          <a:xfrm>
            <a:off x="254000" y="1549400"/>
            <a:ext cx="71120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541669AC-8C97-8DEC-6F23-5669C881906C}"/>
              </a:ext>
            </a:extLst>
          </p:cNvPr>
          <p:cNvSpPr/>
          <p:nvPr/>
        </p:nvSpPr>
        <p:spPr>
          <a:xfrm>
            <a:off x="482600" y="17780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7B653C2-4FD1-3AFB-8A99-51882394FADE}"/>
              </a:ext>
            </a:extLst>
          </p:cNvPr>
          <p:cNvSpPr txBox="1"/>
          <p:nvPr/>
        </p:nvSpPr>
        <p:spPr>
          <a:xfrm>
            <a:off x="685800" y="1739900"/>
            <a:ext cx="6477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年代別の回答数・割合</a:t>
            </a:r>
          </a:p>
        </p:txBody>
      </p:sp>
      <p:sp>
        <p:nvSpPr>
          <p:cNvPr id="14" name="テキスト ボックス 13">
            <a:extLst>
              <a:ext uri="{FF2B5EF4-FFF2-40B4-BE49-F238E27FC236}">
                <a16:creationId xmlns:a16="http://schemas.microsoft.com/office/drawing/2014/main" id="{EE605B1C-BF5F-5C5D-9EFE-58ECC9BA1122}"/>
              </a:ext>
            </a:extLst>
          </p:cNvPr>
          <p:cNvSpPr txBox="1"/>
          <p:nvPr/>
        </p:nvSpPr>
        <p:spPr>
          <a:xfrm>
            <a:off x="508000" y="2260600"/>
            <a:ext cx="1460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10〜20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15" name="四角形: 角を丸くする 14">
            <a:extLst>
              <a:ext uri="{FF2B5EF4-FFF2-40B4-BE49-F238E27FC236}">
                <a16:creationId xmlns:a16="http://schemas.microsoft.com/office/drawing/2014/main" id="{9326C648-1B88-9A95-1CCA-D31779C5D49B}"/>
              </a:ext>
            </a:extLst>
          </p:cNvPr>
          <p:cNvSpPr/>
          <p:nvPr/>
        </p:nvSpPr>
        <p:spPr>
          <a:xfrm>
            <a:off x="2070100" y="2324100"/>
            <a:ext cx="3111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526FF635-F69E-70D1-ED2C-09020E16DDD7}"/>
              </a:ext>
            </a:extLst>
          </p:cNvPr>
          <p:cNvSpPr/>
          <p:nvPr/>
        </p:nvSpPr>
        <p:spPr>
          <a:xfrm>
            <a:off x="2070100" y="2324100"/>
            <a:ext cx="762000" cy="254000"/>
          </a:xfrm>
          <a:prstGeom prst="roundRect">
            <a:avLst>
              <a:gd name="adj" fmla="val 50000"/>
            </a:avLst>
          </a:prstGeom>
          <a:solidFill>
            <a:srgbClr val="0EA5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C5164446-3502-F468-BDD3-BD10CC5507A4}"/>
              </a:ext>
            </a:extLst>
          </p:cNvPr>
          <p:cNvSpPr txBox="1"/>
          <p:nvPr/>
        </p:nvSpPr>
        <p:spPr>
          <a:xfrm>
            <a:off x="5308600" y="2260600"/>
            <a:ext cx="1841500" cy="333425"/>
          </a:xfrm>
          <a:prstGeom prst="rect">
            <a:avLst/>
          </a:prstGeom>
          <a:noFill/>
        </p:spPr>
        <p:txBody>
          <a:bodyPr vert="horz" wrap="square" lIns="76200" tIns="50800" rIns="76200" bIns="50800" rtlCol="0">
            <a:spAutoFit/>
          </a:bodyPr>
          <a:lstStyle/>
          <a:p>
            <a:r>
              <a:rPr kumimoji="1" lang="en-US" altLang="ja-JP" sz="1500" b="1">
                <a:solidFill>
                  <a:srgbClr val="0EA5E9"/>
                </a:solidFill>
                <a:latin typeface="Meiryo UI" panose="020B0604030504040204" pitchFamily="50" charset="-128"/>
                <a:ea typeface="Meiryo UI" panose="020B0604030504040204" pitchFamily="50" charset="-128"/>
              </a:rPr>
              <a:t>18</a:t>
            </a:r>
            <a:r>
              <a:rPr kumimoji="1" lang="ja-JP" altLang="en-US" sz="1500" b="1">
                <a:solidFill>
                  <a:srgbClr val="0EA5E9"/>
                </a:solidFill>
                <a:latin typeface="Meiryo UI" panose="020B0604030504040204" pitchFamily="50" charset="-128"/>
                <a:ea typeface="Meiryo UI" panose="020B0604030504040204" pitchFamily="50" charset="-128"/>
              </a:rPr>
              <a:t>名 </a:t>
            </a:r>
            <a:r>
              <a:rPr kumimoji="1" lang="en-US" altLang="ja-JP" sz="1500" b="1">
                <a:solidFill>
                  <a:srgbClr val="0EA5E9"/>
                </a:solidFill>
                <a:latin typeface="Meiryo UI" panose="020B0604030504040204" pitchFamily="50" charset="-128"/>
                <a:ea typeface="Meiryo UI" panose="020B0604030504040204" pitchFamily="50" charset="-128"/>
              </a:rPr>
              <a:t>(7.6%)</a:t>
            </a:r>
            <a:endParaRPr kumimoji="1" lang="ja-JP" altLang="en-US" sz="1500" b="1">
              <a:solidFill>
                <a:srgbClr val="0EA5E9"/>
              </a:solidFill>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1205A13A-61BD-063B-9DAE-659ADBB0FE64}"/>
              </a:ext>
            </a:extLst>
          </p:cNvPr>
          <p:cNvSpPr txBox="1"/>
          <p:nvPr/>
        </p:nvSpPr>
        <p:spPr>
          <a:xfrm>
            <a:off x="508000" y="2768600"/>
            <a:ext cx="1460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30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19" name="四角形: 角を丸くする 18">
            <a:extLst>
              <a:ext uri="{FF2B5EF4-FFF2-40B4-BE49-F238E27FC236}">
                <a16:creationId xmlns:a16="http://schemas.microsoft.com/office/drawing/2014/main" id="{BC7696AE-AE3D-F6F8-0251-33D013A70D4A}"/>
              </a:ext>
            </a:extLst>
          </p:cNvPr>
          <p:cNvSpPr/>
          <p:nvPr/>
        </p:nvSpPr>
        <p:spPr>
          <a:xfrm>
            <a:off x="2070100" y="2832100"/>
            <a:ext cx="3111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C65DAD81-B8E4-EB5A-782E-DC8846EABB09}"/>
              </a:ext>
            </a:extLst>
          </p:cNvPr>
          <p:cNvSpPr/>
          <p:nvPr/>
        </p:nvSpPr>
        <p:spPr>
          <a:xfrm>
            <a:off x="2070100" y="2832100"/>
            <a:ext cx="508000" cy="254000"/>
          </a:xfrm>
          <a:prstGeom prst="roundRect">
            <a:avLst>
              <a:gd name="adj" fmla="val 50000"/>
            </a:avLst>
          </a:prstGeom>
          <a:solidFill>
            <a:srgbClr val="0EA5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398978E1-5EBA-6763-FFA1-CAAD2B6C2AB6}"/>
              </a:ext>
            </a:extLst>
          </p:cNvPr>
          <p:cNvSpPr txBox="1"/>
          <p:nvPr/>
        </p:nvSpPr>
        <p:spPr>
          <a:xfrm>
            <a:off x="5308600" y="2768600"/>
            <a:ext cx="1841500" cy="333425"/>
          </a:xfrm>
          <a:prstGeom prst="rect">
            <a:avLst/>
          </a:prstGeom>
          <a:noFill/>
        </p:spPr>
        <p:txBody>
          <a:bodyPr vert="horz" wrap="square" lIns="76200" tIns="50800" rIns="76200" bIns="50800" rtlCol="0">
            <a:spAutoFit/>
          </a:bodyPr>
          <a:lstStyle/>
          <a:p>
            <a:r>
              <a:rPr kumimoji="1" lang="en-US" altLang="ja-JP" sz="1500" b="1">
                <a:solidFill>
                  <a:srgbClr val="0EA5E9"/>
                </a:solidFill>
                <a:latin typeface="Meiryo UI" panose="020B0604030504040204" pitchFamily="50" charset="-128"/>
                <a:ea typeface="Meiryo UI" panose="020B0604030504040204" pitchFamily="50" charset="-128"/>
              </a:rPr>
              <a:t>12</a:t>
            </a:r>
            <a:r>
              <a:rPr kumimoji="1" lang="ja-JP" altLang="en-US" sz="1500" b="1">
                <a:solidFill>
                  <a:srgbClr val="0EA5E9"/>
                </a:solidFill>
                <a:latin typeface="Meiryo UI" panose="020B0604030504040204" pitchFamily="50" charset="-128"/>
                <a:ea typeface="Meiryo UI" panose="020B0604030504040204" pitchFamily="50" charset="-128"/>
              </a:rPr>
              <a:t>名 </a:t>
            </a:r>
            <a:r>
              <a:rPr kumimoji="1" lang="en-US" altLang="ja-JP" sz="1500" b="1">
                <a:solidFill>
                  <a:srgbClr val="0EA5E9"/>
                </a:solidFill>
                <a:latin typeface="Meiryo UI" panose="020B0604030504040204" pitchFamily="50" charset="-128"/>
                <a:ea typeface="Meiryo UI" panose="020B0604030504040204" pitchFamily="50" charset="-128"/>
              </a:rPr>
              <a:t>(5.1%)</a:t>
            </a:r>
            <a:endParaRPr kumimoji="1" lang="ja-JP" altLang="en-US" sz="1500" b="1">
              <a:solidFill>
                <a:srgbClr val="0EA5E9"/>
              </a:solidFill>
              <a:latin typeface="Meiryo UI" panose="020B0604030504040204" pitchFamily="50" charset="-128"/>
              <a:ea typeface="Meiryo UI" panose="020B0604030504040204" pitchFamily="50" charset="-128"/>
            </a:endParaRPr>
          </a:p>
        </p:txBody>
      </p:sp>
      <p:sp>
        <p:nvSpPr>
          <p:cNvPr id="22" name="テキスト ボックス 21">
            <a:extLst>
              <a:ext uri="{FF2B5EF4-FFF2-40B4-BE49-F238E27FC236}">
                <a16:creationId xmlns:a16="http://schemas.microsoft.com/office/drawing/2014/main" id="{E2AA2BE5-D3CF-4816-83C0-E24BA0130A4C}"/>
              </a:ext>
            </a:extLst>
          </p:cNvPr>
          <p:cNvSpPr txBox="1"/>
          <p:nvPr/>
        </p:nvSpPr>
        <p:spPr>
          <a:xfrm>
            <a:off x="508000" y="3276600"/>
            <a:ext cx="1460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40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23" name="四角形: 角を丸くする 22">
            <a:extLst>
              <a:ext uri="{FF2B5EF4-FFF2-40B4-BE49-F238E27FC236}">
                <a16:creationId xmlns:a16="http://schemas.microsoft.com/office/drawing/2014/main" id="{08090F95-9218-F4FE-FAC1-7AA91D1298C7}"/>
              </a:ext>
            </a:extLst>
          </p:cNvPr>
          <p:cNvSpPr/>
          <p:nvPr/>
        </p:nvSpPr>
        <p:spPr>
          <a:xfrm>
            <a:off x="2070100" y="3340100"/>
            <a:ext cx="3111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6B36AB72-8F2F-AE06-4A0F-816FED033427}"/>
              </a:ext>
            </a:extLst>
          </p:cNvPr>
          <p:cNvSpPr/>
          <p:nvPr/>
        </p:nvSpPr>
        <p:spPr>
          <a:xfrm>
            <a:off x="2070100" y="3340100"/>
            <a:ext cx="1397000" cy="2540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C6BBD0D8-75E9-0C5D-3114-EBC6EAE535B4}"/>
              </a:ext>
            </a:extLst>
          </p:cNvPr>
          <p:cNvSpPr txBox="1"/>
          <p:nvPr/>
        </p:nvSpPr>
        <p:spPr>
          <a:xfrm>
            <a:off x="5308600" y="3276600"/>
            <a:ext cx="1841500" cy="333425"/>
          </a:xfrm>
          <a:prstGeom prst="rect">
            <a:avLst/>
          </a:prstGeom>
          <a:noFill/>
        </p:spPr>
        <p:txBody>
          <a:bodyPr vert="horz" wrap="square" lIns="76200" tIns="50800" rIns="76200" bIns="50800" rtlCol="0">
            <a:spAutoFit/>
          </a:bodyPr>
          <a:lstStyle/>
          <a:p>
            <a:r>
              <a:rPr kumimoji="1" lang="en-US" altLang="ja-JP" sz="1500" b="1">
                <a:solidFill>
                  <a:srgbClr val="10B981"/>
                </a:solidFill>
                <a:latin typeface="Meiryo UI" panose="020B0604030504040204" pitchFamily="50" charset="-128"/>
                <a:ea typeface="Meiryo UI" panose="020B0604030504040204" pitchFamily="50" charset="-128"/>
              </a:rPr>
              <a:t>33</a:t>
            </a:r>
            <a:r>
              <a:rPr kumimoji="1" lang="ja-JP" altLang="en-US" sz="1500" b="1">
                <a:solidFill>
                  <a:srgbClr val="10B981"/>
                </a:solidFill>
                <a:latin typeface="Meiryo UI" panose="020B0604030504040204" pitchFamily="50" charset="-128"/>
                <a:ea typeface="Meiryo UI" panose="020B0604030504040204" pitchFamily="50" charset="-128"/>
              </a:rPr>
              <a:t>名 </a:t>
            </a:r>
            <a:r>
              <a:rPr kumimoji="1" lang="en-US" altLang="ja-JP" sz="1500" b="1">
                <a:solidFill>
                  <a:srgbClr val="10B981"/>
                </a:solidFill>
                <a:latin typeface="Meiryo UI" panose="020B0604030504040204" pitchFamily="50" charset="-128"/>
                <a:ea typeface="Meiryo UI" panose="020B0604030504040204" pitchFamily="50" charset="-128"/>
              </a:rPr>
              <a:t>(14.0%)</a:t>
            </a:r>
            <a:endParaRPr kumimoji="1" lang="ja-JP" altLang="en-US" sz="1500" b="1">
              <a:solidFill>
                <a:srgbClr val="10B981"/>
              </a:solidFill>
              <a:latin typeface="Meiryo UI" panose="020B0604030504040204" pitchFamily="50" charset="-128"/>
              <a:ea typeface="Meiryo UI" panose="020B0604030504040204" pitchFamily="50" charset="-128"/>
            </a:endParaRPr>
          </a:p>
        </p:txBody>
      </p:sp>
      <p:sp>
        <p:nvSpPr>
          <p:cNvPr id="26" name="テキスト ボックス 25">
            <a:extLst>
              <a:ext uri="{FF2B5EF4-FFF2-40B4-BE49-F238E27FC236}">
                <a16:creationId xmlns:a16="http://schemas.microsoft.com/office/drawing/2014/main" id="{F945547A-F56F-94C2-4615-25F94BB15CC7}"/>
              </a:ext>
            </a:extLst>
          </p:cNvPr>
          <p:cNvSpPr txBox="1"/>
          <p:nvPr/>
        </p:nvSpPr>
        <p:spPr>
          <a:xfrm>
            <a:off x="508000" y="3784600"/>
            <a:ext cx="1460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50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27" name="四角形: 角を丸くする 26">
            <a:extLst>
              <a:ext uri="{FF2B5EF4-FFF2-40B4-BE49-F238E27FC236}">
                <a16:creationId xmlns:a16="http://schemas.microsoft.com/office/drawing/2014/main" id="{DADE1BD4-D037-3C0B-626D-4E8BABB9433C}"/>
              </a:ext>
            </a:extLst>
          </p:cNvPr>
          <p:cNvSpPr/>
          <p:nvPr/>
        </p:nvSpPr>
        <p:spPr>
          <a:xfrm>
            <a:off x="2070100" y="3848100"/>
            <a:ext cx="3111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8E853218-0EA9-FC0F-4040-1367879A185A}"/>
              </a:ext>
            </a:extLst>
          </p:cNvPr>
          <p:cNvSpPr/>
          <p:nvPr/>
        </p:nvSpPr>
        <p:spPr>
          <a:xfrm>
            <a:off x="2070100" y="3848100"/>
            <a:ext cx="2616200" cy="2540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2E1C3CE6-57AB-3DF7-6D7D-107DAB669AA5}"/>
              </a:ext>
            </a:extLst>
          </p:cNvPr>
          <p:cNvSpPr txBox="1"/>
          <p:nvPr/>
        </p:nvSpPr>
        <p:spPr>
          <a:xfrm>
            <a:off x="5308600" y="3784600"/>
            <a:ext cx="1841500" cy="333425"/>
          </a:xfrm>
          <a:prstGeom prst="rect">
            <a:avLst/>
          </a:prstGeom>
          <a:noFill/>
        </p:spPr>
        <p:txBody>
          <a:bodyPr vert="horz" wrap="square" lIns="76200" tIns="50800" rIns="76200" bIns="50800" rtlCol="0">
            <a:spAutoFit/>
          </a:bodyPr>
          <a:lstStyle/>
          <a:p>
            <a:r>
              <a:rPr kumimoji="1" lang="en-US" altLang="ja-JP" sz="1500" b="1">
                <a:solidFill>
                  <a:srgbClr val="2563EB"/>
                </a:solidFill>
                <a:latin typeface="Meiryo UI" panose="020B0604030504040204" pitchFamily="50" charset="-128"/>
                <a:ea typeface="Meiryo UI" panose="020B0604030504040204" pitchFamily="50" charset="-128"/>
              </a:rPr>
              <a:t>62</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(26.3%)</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CE8E3A35-4954-7B2B-CC03-7AC7BA3A4351}"/>
              </a:ext>
            </a:extLst>
          </p:cNvPr>
          <p:cNvSpPr txBox="1"/>
          <p:nvPr/>
        </p:nvSpPr>
        <p:spPr>
          <a:xfrm>
            <a:off x="508000" y="4292600"/>
            <a:ext cx="1460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60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31" name="四角形: 角を丸くする 30">
            <a:extLst>
              <a:ext uri="{FF2B5EF4-FFF2-40B4-BE49-F238E27FC236}">
                <a16:creationId xmlns:a16="http://schemas.microsoft.com/office/drawing/2014/main" id="{A8AFD320-2106-5A5E-21FB-34049E8D2B50}"/>
              </a:ext>
            </a:extLst>
          </p:cNvPr>
          <p:cNvSpPr/>
          <p:nvPr/>
        </p:nvSpPr>
        <p:spPr>
          <a:xfrm>
            <a:off x="2070100" y="4356100"/>
            <a:ext cx="3111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09B13263-DE1F-17F9-04A8-390B51F6E6CA}"/>
              </a:ext>
            </a:extLst>
          </p:cNvPr>
          <p:cNvSpPr/>
          <p:nvPr/>
        </p:nvSpPr>
        <p:spPr>
          <a:xfrm>
            <a:off x="2070100" y="4356100"/>
            <a:ext cx="1638300" cy="2540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98DFF6BE-5D23-00E1-04A8-E811115F22CA}"/>
              </a:ext>
            </a:extLst>
          </p:cNvPr>
          <p:cNvSpPr txBox="1"/>
          <p:nvPr/>
        </p:nvSpPr>
        <p:spPr>
          <a:xfrm>
            <a:off x="5308600" y="4292600"/>
            <a:ext cx="1841500" cy="333425"/>
          </a:xfrm>
          <a:prstGeom prst="rect">
            <a:avLst/>
          </a:prstGeom>
          <a:noFill/>
        </p:spPr>
        <p:txBody>
          <a:bodyPr vert="horz" wrap="square" lIns="76200" tIns="50800" rIns="76200" bIns="50800" rtlCol="0">
            <a:spAutoFit/>
          </a:bodyPr>
          <a:lstStyle/>
          <a:p>
            <a:r>
              <a:rPr kumimoji="1" lang="en-US" altLang="ja-JP" sz="1500" b="1">
                <a:solidFill>
                  <a:srgbClr val="2563EB"/>
                </a:solidFill>
                <a:latin typeface="Meiryo UI" panose="020B0604030504040204" pitchFamily="50" charset="-128"/>
                <a:ea typeface="Meiryo UI" panose="020B0604030504040204" pitchFamily="50" charset="-128"/>
              </a:rPr>
              <a:t>39</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(16.5%)</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34" name="テキスト ボックス 33">
            <a:extLst>
              <a:ext uri="{FF2B5EF4-FFF2-40B4-BE49-F238E27FC236}">
                <a16:creationId xmlns:a16="http://schemas.microsoft.com/office/drawing/2014/main" id="{635BDC17-1CF0-71F1-9435-7847319DD7B9}"/>
              </a:ext>
            </a:extLst>
          </p:cNvPr>
          <p:cNvSpPr txBox="1"/>
          <p:nvPr/>
        </p:nvSpPr>
        <p:spPr>
          <a:xfrm>
            <a:off x="508000" y="4800600"/>
            <a:ext cx="1460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70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35" name="四角形: 角を丸くする 34">
            <a:extLst>
              <a:ext uri="{FF2B5EF4-FFF2-40B4-BE49-F238E27FC236}">
                <a16:creationId xmlns:a16="http://schemas.microsoft.com/office/drawing/2014/main" id="{ED6C5CEB-DFA9-D46B-DFBA-94594F1FA9A8}"/>
              </a:ext>
            </a:extLst>
          </p:cNvPr>
          <p:cNvSpPr/>
          <p:nvPr/>
        </p:nvSpPr>
        <p:spPr>
          <a:xfrm>
            <a:off x="2070100" y="4864100"/>
            <a:ext cx="3111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四角形: 角を丸くする 35">
            <a:extLst>
              <a:ext uri="{FF2B5EF4-FFF2-40B4-BE49-F238E27FC236}">
                <a16:creationId xmlns:a16="http://schemas.microsoft.com/office/drawing/2014/main" id="{06B05E52-88B6-0E24-F9EA-1C3B9E653E0F}"/>
              </a:ext>
            </a:extLst>
          </p:cNvPr>
          <p:cNvSpPr/>
          <p:nvPr/>
        </p:nvSpPr>
        <p:spPr>
          <a:xfrm>
            <a:off x="2070100" y="4864100"/>
            <a:ext cx="1778000" cy="2540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E26137ED-D9E1-B5C3-E1C0-C21E724F821B}"/>
              </a:ext>
            </a:extLst>
          </p:cNvPr>
          <p:cNvSpPr txBox="1"/>
          <p:nvPr/>
        </p:nvSpPr>
        <p:spPr>
          <a:xfrm>
            <a:off x="5308600" y="4800600"/>
            <a:ext cx="1841500" cy="333425"/>
          </a:xfrm>
          <a:prstGeom prst="rect">
            <a:avLst/>
          </a:prstGeom>
          <a:noFill/>
        </p:spPr>
        <p:txBody>
          <a:bodyPr vert="horz" wrap="square" lIns="76200" tIns="50800" rIns="76200" bIns="50800" rtlCol="0">
            <a:spAutoFit/>
          </a:bodyPr>
          <a:lstStyle/>
          <a:p>
            <a:r>
              <a:rPr kumimoji="1" lang="en-US" altLang="ja-JP" sz="1500" b="1">
                <a:solidFill>
                  <a:srgbClr val="F59E0B"/>
                </a:solidFill>
                <a:latin typeface="Meiryo UI" panose="020B0604030504040204" pitchFamily="50" charset="-128"/>
                <a:ea typeface="Meiryo UI" panose="020B0604030504040204" pitchFamily="50" charset="-128"/>
              </a:rPr>
              <a:t>42</a:t>
            </a:r>
            <a:r>
              <a:rPr kumimoji="1" lang="ja-JP" altLang="en-US" sz="1500" b="1">
                <a:solidFill>
                  <a:srgbClr val="F59E0B"/>
                </a:solidFill>
                <a:latin typeface="Meiryo UI" panose="020B0604030504040204" pitchFamily="50" charset="-128"/>
                <a:ea typeface="Meiryo UI" panose="020B0604030504040204" pitchFamily="50" charset="-128"/>
              </a:rPr>
              <a:t>名 </a:t>
            </a:r>
            <a:r>
              <a:rPr kumimoji="1" lang="en-US" altLang="ja-JP" sz="1500" b="1">
                <a:solidFill>
                  <a:srgbClr val="F59E0B"/>
                </a:solidFill>
                <a:latin typeface="Meiryo UI" panose="020B0604030504040204" pitchFamily="50" charset="-128"/>
                <a:ea typeface="Meiryo UI" panose="020B0604030504040204" pitchFamily="50" charset="-128"/>
              </a:rPr>
              <a:t>(17.8%)</a:t>
            </a:r>
            <a:endParaRPr kumimoji="1" lang="ja-JP" altLang="en-US" sz="1500" b="1">
              <a:solidFill>
                <a:srgbClr val="F59E0B"/>
              </a:solidFill>
              <a:latin typeface="Meiryo UI" panose="020B0604030504040204" pitchFamily="50" charset="-128"/>
              <a:ea typeface="Meiryo UI" panose="020B0604030504040204" pitchFamily="50" charset="-128"/>
            </a:endParaRPr>
          </a:p>
        </p:txBody>
      </p:sp>
      <p:sp>
        <p:nvSpPr>
          <p:cNvPr id="38" name="テキスト ボックス 37">
            <a:extLst>
              <a:ext uri="{FF2B5EF4-FFF2-40B4-BE49-F238E27FC236}">
                <a16:creationId xmlns:a16="http://schemas.microsoft.com/office/drawing/2014/main" id="{55CF1554-5E8B-939F-279D-CC4C96E13B58}"/>
              </a:ext>
            </a:extLst>
          </p:cNvPr>
          <p:cNvSpPr txBox="1"/>
          <p:nvPr/>
        </p:nvSpPr>
        <p:spPr>
          <a:xfrm>
            <a:off x="508000" y="5308600"/>
            <a:ext cx="1460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80〜90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39" name="四角形: 角を丸くする 38">
            <a:extLst>
              <a:ext uri="{FF2B5EF4-FFF2-40B4-BE49-F238E27FC236}">
                <a16:creationId xmlns:a16="http://schemas.microsoft.com/office/drawing/2014/main" id="{34AED77A-71F3-A9B6-1964-BB300114D3B2}"/>
              </a:ext>
            </a:extLst>
          </p:cNvPr>
          <p:cNvSpPr/>
          <p:nvPr/>
        </p:nvSpPr>
        <p:spPr>
          <a:xfrm>
            <a:off x="2070100" y="5372100"/>
            <a:ext cx="3111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四角形: 角を丸くする 39">
            <a:extLst>
              <a:ext uri="{FF2B5EF4-FFF2-40B4-BE49-F238E27FC236}">
                <a16:creationId xmlns:a16="http://schemas.microsoft.com/office/drawing/2014/main" id="{C3FD02DC-F961-85E4-ED86-0B4AAF9DF537}"/>
              </a:ext>
            </a:extLst>
          </p:cNvPr>
          <p:cNvSpPr/>
          <p:nvPr/>
        </p:nvSpPr>
        <p:spPr>
          <a:xfrm>
            <a:off x="2070100" y="5372100"/>
            <a:ext cx="1130300" cy="254000"/>
          </a:xfrm>
          <a:prstGeom prst="roundRect">
            <a:avLst>
              <a:gd name="adj" fmla="val 50000"/>
            </a:avLst>
          </a:prstGeom>
          <a:solidFill>
            <a:srgbClr val="8B5C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D1575F4A-6B1B-7C34-A522-C8E2571065C6}"/>
              </a:ext>
            </a:extLst>
          </p:cNvPr>
          <p:cNvSpPr txBox="1"/>
          <p:nvPr/>
        </p:nvSpPr>
        <p:spPr>
          <a:xfrm>
            <a:off x="5308600" y="5308600"/>
            <a:ext cx="1841500" cy="333425"/>
          </a:xfrm>
          <a:prstGeom prst="rect">
            <a:avLst/>
          </a:prstGeom>
          <a:noFill/>
        </p:spPr>
        <p:txBody>
          <a:bodyPr vert="horz" wrap="square" lIns="76200" tIns="50800" rIns="76200" bIns="50800" rtlCol="0">
            <a:spAutoFit/>
          </a:bodyPr>
          <a:lstStyle/>
          <a:p>
            <a:r>
              <a:rPr kumimoji="1" lang="en-US" altLang="ja-JP" sz="1500" b="1">
                <a:solidFill>
                  <a:srgbClr val="8B5CF6"/>
                </a:solidFill>
                <a:latin typeface="Meiryo UI" panose="020B0604030504040204" pitchFamily="50" charset="-128"/>
                <a:ea typeface="Meiryo UI" panose="020B0604030504040204" pitchFamily="50" charset="-128"/>
              </a:rPr>
              <a:t>27</a:t>
            </a:r>
            <a:r>
              <a:rPr kumimoji="1" lang="ja-JP" altLang="en-US" sz="1500" b="1">
                <a:solidFill>
                  <a:srgbClr val="8B5CF6"/>
                </a:solidFill>
                <a:latin typeface="Meiryo UI" panose="020B0604030504040204" pitchFamily="50" charset="-128"/>
                <a:ea typeface="Meiryo UI" panose="020B0604030504040204" pitchFamily="50" charset="-128"/>
              </a:rPr>
              <a:t>名 </a:t>
            </a:r>
            <a:r>
              <a:rPr kumimoji="1" lang="en-US" altLang="ja-JP" sz="1500" b="1">
                <a:solidFill>
                  <a:srgbClr val="8B5CF6"/>
                </a:solidFill>
                <a:latin typeface="Meiryo UI" panose="020B0604030504040204" pitchFamily="50" charset="-128"/>
                <a:ea typeface="Meiryo UI" panose="020B0604030504040204" pitchFamily="50" charset="-128"/>
              </a:rPr>
              <a:t>(11.4%)</a:t>
            </a:r>
            <a:endParaRPr kumimoji="1" lang="ja-JP" altLang="en-US" sz="1500" b="1">
              <a:solidFill>
                <a:srgbClr val="8B5CF6"/>
              </a:solidFill>
              <a:latin typeface="Meiryo UI" panose="020B0604030504040204" pitchFamily="50" charset="-128"/>
              <a:ea typeface="Meiryo UI" panose="020B0604030504040204" pitchFamily="50" charset="-128"/>
            </a:endParaRPr>
          </a:p>
        </p:txBody>
      </p:sp>
      <p:sp>
        <p:nvSpPr>
          <p:cNvPr id="42" name="テキスト ボックス 41">
            <a:extLst>
              <a:ext uri="{FF2B5EF4-FFF2-40B4-BE49-F238E27FC236}">
                <a16:creationId xmlns:a16="http://schemas.microsoft.com/office/drawing/2014/main" id="{455FEC1C-C75C-4611-1CFE-FDBEE80DD926}"/>
              </a:ext>
            </a:extLst>
          </p:cNvPr>
          <p:cNvSpPr txBox="1"/>
          <p:nvPr/>
        </p:nvSpPr>
        <p:spPr>
          <a:xfrm>
            <a:off x="508000" y="5816600"/>
            <a:ext cx="1460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43" name="四角形: 角を丸くする 42">
            <a:extLst>
              <a:ext uri="{FF2B5EF4-FFF2-40B4-BE49-F238E27FC236}">
                <a16:creationId xmlns:a16="http://schemas.microsoft.com/office/drawing/2014/main" id="{CE2AF300-842E-5DDD-FBF7-592423C3C4BF}"/>
              </a:ext>
            </a:extLst>
          </p:cNvPr>
          <p:cNvSpPr/>
          <p:nvPr/>
        </p:nvSpPr>
        <p:spPr>
          <a:xfrm>
            <a:off x="2070100" y="5880100"/>
            <a:ext cx="3111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四角形: 角を丸くする 43">
            <a:extLst>
              <a:ext uri="{FF2B5EF4-FFF2-40B4-BE49-F238E27FC236}">
                <a16:creationId xmlns:a16="http://schemas.microsoft.com/office/drawing/2014/main" id="{49559230-9267-07E2-CF2D-90FE2632E4E5}"/>
              </a:ext>
            </a:extLst>
          </p:cNvPr>
          <p:cNvSpPr/>
          <p:nvPr/>
        </p:nvSpPr>
        <p:spPr>
          <a:xfrm>
            <a:off x="2070100" y="5880100"/>
            <a:ext cx="127000" cy="254000"/>
          </a:xfrm>
          <a:prstGeom prst="roundRect">
            <a:avLst>
              <a:gd name="adj" fmla="val 50000"/>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FE8CAA38-0ABD-F999-8560-DD61DA03B191}"/>
              </a:ext>
            </a:extLst>
          </p:cNvPr>
          <p:cNvSpPr txBox="1"/>
          <p:nvPr/>
        </p:nvSpPr>
        <p:spPr>
          <a:xfrm>
            <a:off x="5308600" y="5816600"/>
            <a:ext cx="1841500" cy="333425"/>
          </a:xfrm>
          <a:prstGeom prst="rect">
            <a:avLst/>
          </a:prstGeom>
          <a:noFill/>
        </p:spPr>
        <p:txBody>
          <a:bodyPr vert="horz" wrap="square" lIns="76200" tIns="50800" rIns="76200" bIns="50800" rtlCol="0">
            <a:spAutoFit/>
          </a:bodyPr>
          <a:lstStyle/>
          <a:p>
            <a:r>
              <a:rPr kumimoji="1" lang="en-US" altLang="ja-JP" sz="1500" b="1">
                <a:solidFill>
                  <a:srgbClr val="94A3B8"/>
                </a:solidFill>
                <a:latin typeface="Meiryo UI" panose="020B0604030504040204" pitchFamily="50" charset="-128"/>
                <a:ea typeface="Meiryo UI" panose="020B0604030504040204" pitchFamily="50" charset="-128"/>
              </a:rPr>
              <a:t>3</a:t>
            </a:r>
            <a:r>
              <a:rPr kumimoji="1" lang="ja-JP" altLang="en-US" sz="1500" b="1">
                <a:solidFill>
                  <a:srgbClr val="94A3B8"/>
                </a:solidFill>
                <a:latin typeface="Meiryo UI" panose="020B0604030504040204" pitchFamily="50" charset="-128"/>
                <a:ea typeface="Meiryo UI" panose="020B0604030504040204" pitchFamily="50" charset="-128"/>
              </a:rPr>
              <a:t>名 </a:t>
            </a:r>
            <a:r>
              <a:rPr kumimoji="1" lang="en-US" altLang="ja-JP" sz="1500" b="1">
                <a:solidFill>
                  <a:srgbClr val="94A3B8"/>
                </a:solidFill>
                <a:latin typeface="Meiryo UI" panose="020B0604030504040204" pitchFamily="50" charset="-128"/>
                <a:ea typeface="Meiryo UI" panose="020B0604030504040204" pitchFamily="50" charset="-128"/>
              </a:rPr>
              <a:t>(1.3%)</a:t>
            </a:r>
            <a:endParaRPr kumimoji="1" lang="ja-JP" altLang="en-US" sz="1500" b="1">
              <a:solidFill>
                <a:srgbClr val="94A3B8"/>
              </a:solidFill>
              <a:latin typeface="Meiryo UI" panose="020B0604030504040204" pitchFamily="50" charset="-128"/>
              <a:ea typeface="Meiryo UI" panose="020B0604030504040204" pitchFamily="50" charset="-128"/>
            </a:endParaRPr>
          </a:p>
        </p:txBody>
      </p:sp>
      <p:sp>
        <p:nvSpPr>
          <p:cNvPr id="46" name="四角形: 角を丸くする 45">
            <a:extLst>
              <a:ext uri="{FF2B5EF4-FFF2-40B4-BE49-F238E27FC236}">
                <a16:creationId xmlns:a16="http://schemas.microsoft.com/office/drawing/2014/main" id="{9DAA8A37-094C-E5BD-99CE-48E97191C4EB}"/>
              </a:ext>
            </a:extLst>
          </p:cNvPr>
          <p:cNvSpPr/>
          <p:nvPr/>
        </p:nvSpPr>
        <p:spPr>
          <a:xfrm>
            <a:off x="7569200" y="1549400"/>
            <a:ext cx="43688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四角形: 角を丸くする 46">
            <a:extLst>
              <a:ext uri="{FF2B5EF4-FFF2-40B4-BE49-F238E27FC236}">
                <a16:creationId xmlns:a16="http://schemas.microsoft.com/office/drawing/2014/main" id="{7094FA13-514F-B274-5679-4B8CEF76DC7B}"/>
              </a:ext>
            </a:extLst>
          </p:cNvPr>
          <p:cNvSpPr/>
          <p:nvPr/>
        </p:nvSpPr>
        <p:spPr>
          <a:xfrm>
            <a:off x="7797800" y="1778000"/>
            <a:ext cx="101600" cy="3302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DFC0D47B-3E30-DC7C-1E37-BDAC66A817AD}"/>
              </a:ext>
            </a:extLst>
          </p:cNvPr>
          <p:cNvSpPr txBox="1"/>
          <p:nvPr/>
        </p:nvSpPr>
        <p:spPr>
          <a:xfrm>
            <a:off x="8001000" y="1739900"/>
            <a:ext cx="37338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結果のポイント</a:t>
            </a:r>
          </a:p>
        </p:txBody>
      </p:sp>
      <p:sp>
        <p:nvSpPr>
          <p:cNvPr id="49" name="テキスト ボックス 48">
            <a:extLst>
              <a:ext uri="{FF2B5EF4-FFF2-40B4-BE49-F238E27FC236}">
                <a16:creationId xmlns:a16="http://schemas.microsoft.com/office/drawing/2014/main" id="{A7A78380-60A3-2D3C-7122-5DE41451CFAA}"/>
              </a:ext>
            </a:extLst>
          </p:cNvPr>
          <p:cNvSpPr txBox="1"/>
          <p:nvPr/>
        </p:nvSpPr>
        <p:spPr>
          <a:xfrm>
            <a:off x="7823200" y="2336800"/>
            <a:ext cx="3860800" cy="2387833"/>
          </a:xfrm>
          <a:prstGeom prst="rect">
            <a:avLst/>
          </a:prstGeom>
          <a:noFill/>
        </p:spPr>
        <p:txBody>
          <a:bodyPr vert="horz" wrap="square" lIns="76200" tIns="50800" rIns="76200" bIns="50800" rtlCol="0">
            <a:spAutoFit/>
          </a:bodyPr>
          <a:lstStyle/>
          <a:p>
            <a:r>
              <a:rPr kumimoji="1" lang="ja-JP" altLang="en-US" sz="1650">
                <a:solidFill>
                  <a:srgbClr val="1E293B"/>
                </a:solidFill>
                <a:latin typeface="Meiryo UI" panose="020B0604030504040204" pitchFamily="50" charset="-128"/>
                <a:ea typeface="Meiryo UI" panose="020B0604030504040204" pitchFamily="50" charset="-128"/>
              </a:rPr>
              <a:t>・</a:t>
            </a:r>
            <a:r>
              <a:rPr kumimoji="1" lang="en-US" altLang="ja-JP" sz="1650">
                <a:solidFill>
                  <a:srgbClr val="1E293B"/>
                </a:solidFill>
                <a:latin typeface="Meiryo UI" panose="020B0604030504040204" pitchFamily="50" charset="-128"/>
                <a:ea typeface="Meiryo UI" panose="020B0604030504040204" pitchFamily="50" charset="-128"/>
              </a:rPr>
              <a:t>50</a:t>
            </a:r>
            <a:r>
              <a:rPr kumimoji="1" lang="ja-JP" altLang="en-US" sz="1650">
                <a:solidFill>
                  <a:srgbClr val="1E293B"/>
                </a:solidFill>
                <a:latin typeface="Meiryo UI" panose="020B0604030504040204" pitchFamily="50" charset="-128"/>
                <a:ea typeface="Meiryo UI" panose="020B0604030504040204" pitchFamily="50" charset="-128"/>
              </a:rPr>
              <a:t>歳代が</a:t>
            </a:r>
            <a:r>
              <a:rPr kumimoji="1" lang="en-US" altLang="ja-JP" sz="1650">
                <a:solidFill>
                  <a:srgbClr val="1E293B"/>
                </a:solidFill>
                <a:latin typeface="Meiryo UI" panose="020B0604030504040204" pitchFamily="50" charset="-128"/>
                <a:ea typeface="Meiryo UI" panose="020B0604030504040204" pitchFamily="50" charset="-128"/>
              </a:rPr>
              <a:t>62</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26.3%</a:t>
            </a:r>
            <a:r>
              <a:rPr kumimoji="1" lang="ja-JP" altLang="en-US" sz="1650">
                <a:solidFill>
                  <a:srgbClr val="1E293B"/>
                </a:solidFill>
                <a:latin typeface="Meiryo UI" panose="020B0604030504040204" pitchFamily="50" charset="-128"/>
                <a:ea typeface="Meiryo UI" panose="020B0604030504040204" pitchFamily="50" charset="-128"/>
              </a:rPr>
              <a:t>）で最も多い。
・次いで</a:t>
            </a:r>
            <a:r>
              <a:rPr kumimoji="1" lang="en-US" altLang="ja-JP" sz="1650">
                <a:solidFill>
                  <a:srgbClr val="1E293B"/>
                </a:solidFill>
                <a:latin typeface="Meiryo UI" panose="020B0604030504040204" pitchFamily="50" charset="-128"/>
                <a:ea typeface="Meiryo UI" panose="020B0604030504040204" pitchFamily="50" charset="-128"/>
              </a:rPr>
              <a:t>70</a:t>
            </a:r>
            <a:r>
              <a:rPr kumimoji="1" lang="ja-JP" altLang="en-US" sz="1650">
                <a:solidFill>
                  <a:srgbClr val="1E293B"/>
                </a:solidFill>
                <a:latin typeface="Meiryo UI" panose="020B0604030504040204" pitchFamily="50" charset="-128"/>
                <a:ea typeface="Meiryo UI" panose="020B0604030504040204" pitchFamily="50" charset="-128"/>
              </a:rPr>
              <a:t>歳代が</a:t>
            </a:r>
            <a:r>
              <a:rPr kumimoji="1" lang="en-US" altLang="ja-JP" sz="1650">
                <a:solidFill>
                  <a:srgbClr val="1E293B"/>
                </a:solidFill>
                <a:latin typeface="Meiryo UI" panose="020B0604030504040204" pitchFamily="50" charset="-128"/>
                <a:ea typeface="Meiryo UI" panose="020B0604030504040204" pitchFamily="50" charset="-128"/>
              </a:rPr>
              <a:t>42</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17.8%</a:t>
            </a:r>
            <a:r>
              <a:rPr kumimoji="1" lang="ja-JP" altLang="en-US" sz="1650">
                <a:solidFill>
                  <a:srgbClr val="1E293B"/>
                </a:solidFill>
                <a:latin typeface="Meiryo UI" panose="020B0604030504040204" pitchFamily="50" charset="-128"/>
                <a:ea typeface="Meiryo UI" panose="020B0604030504040204" pitchFamily="50" charset="-128"/>
              </a:rPr>
              <a:t>）、</a:t>
            </a:r>
            <a:r>
              <a:rPr kumimoji="1" lang="en-US" altLang="ja-JP" sz="1650">
                <a:solidFill>
                  <a:srgbClr val="1E293B"/>
                </a:solidFill>
                <a:latin typeface="Meiryo UI" panose="020B0604030504040204" pitchFamily="50" charset="-128"/>
                <a:ea typeface="Meiryo UI" panose="020B0604030504040204" pitchFamily="50" charset="-128"/>
              </a:rPr>
              <a:t>60</a:t>
            </a:r>
            <a:r>
              <a:rPr kumimoji="1" lang="ja-JP" altLang="en-US" sz="1650">
                <a:solidFill>
                  <a:srgbClr val="1E293B"/>
                </a:solidFill>
                <a:latin typeface="Meiryo UI" panose="020B0604030504040204" pitchFamily="50" charset="-128"/>
                <a:ea typeface="Meiryo UI" panose="020B0604030504040204" pitchFamily="50" charset="-128"/>
              </a:rPr>
              <a:t>歳代が</a:t>
            </a:r>
            <a:r>
              <a:rPr kumimoji="1" lang="en-US" altLang="ja-JP" sz="1650">
                <a:solidFill>
                  <a:srgbClr val="1E293B"/>
                </a:solidFill>
                <a:latin typeface="Meiryo UI" panose="020B0604030504040204" pitchFamily="50" charset="-128"/>
                <a:ea typeface="Meiryo UI" panose="020B0604030504040204" pitchFamily="50" charset="-128"/>
              </a:rPr>
              <a:t>39</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16.5%</a:t>
            </a:r>
            <a:r>
              <a:rPr kumimoji="1" lang="ja-JP" altLang="en-US" sz="1650">
                <a:solidFill>
                  <a:srgbClr val="1E293B"/>
                </a:solidFill>
                <a:latin typeface="Meiryo UI" panose="020B0604030504040204" pitchFamily="50" charset="-128"/>
                <a:ea typeface="Meiryo UI" panose="020B0604030504040204" pitchFamily="50" charset="-128"/>
              </a:rPr>
              <a:t>）、</a:t>
            </a:r>
            <a:r>
              <a:rPr kumimoji="1" lang="en-US" altLang="ja-JP" sz="1650">
                <a:solidFill>
                  <a:srgbClr val="1E293B"/>
                </a:solidFill>
                <a:latin typeface="Meiryo UI" panose="020B0604030504040204" pitchFamily="50" charset="-128"/>
                <a:ea typeface="Meiryo UI" panose="020B0604030504040204" pitchFamily="50" charset="-128"/>
              </a:rPr>
              <a:t>40</a:t>
            </a:r>
            <a:r>
              <a:rPr kumimoji="1" lang="ja-JP" altLang="en-US" sz="1650">
                <a:solidFill>
                  <a:srgbClr val="1E293B"/>
                </a:solidFill>
                <a:latin typeface="Meiryo UI" panose="020B0604030504040204" pitchFamily="50" charset="-128"/>
                <a:ea typeface="Meiryo UI" panose="020B0604030504040204" pitchFamily="50" charset="-128"/>
              </a:rPr>
              <a:t>歳代が</a:t>
            </a:r>
            <a:r>
              <a:rPr kumimoji="1" lang="en-US" altLang="ja-JP" sz="1650">
                <a:solidFill>
                  <a:srgbClr val="1E293B"/>
                </a:solidFill>
                <a:latin typeface="Meiryo UI" panose="020B0604030504040204" pitchFamily="50" charset="-128"/>
                <a:ea typeface="Meiryo UI" panose="020B0604030504040204" pitchFamily="50" charset="-128"/>
              </a:rPr>
              <a:t>33</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14.0%</a:t>
            </a:r>
            <a:r>
              <a:rPr kumimoji="1" lang="ja-JP" altLang="en-US" sz="1650">
                <a:solidFill>
                  <a:srgbClr val="1E293B"/>
                </a:solidFill>
                <a:latin typeface="Meiryo UI" panose="020B0604030504040204" pitchFamily="50" charset="-128"/>
                <a:ea typeface="Meiryo UI" panose="020B0604030504040204" pitchFamily="50" charset="-128"/>
              </a:rPr>
              <a:t>）となった。
・</a:t>
            </a:r>
            <a:r>
              <a:rPr kumimoji="1" lang="en-US" altLang="ja-JP" sz="1650">
                <a:solidFill>
                  <a:srgbClr val="1E293B"/>
                </a:solidFill>
                <a:latin typeface="Meiryo UI" panose="020B0604030504040204" pitchFamily="50" charset="-128"/>
                <a:ea typeface="Meiryo UI" panose="020B0604030504040204" pitchFamily="50" charset="-128"/>
              </a:rPr>
              <a:t>50〜70</a:t>
            </a:r>
            <a:r>
              <a:rPr kumimoji="1" lang="ja-JP" altLang="en-US" sz="1650">
                <a:solidFill>
                  <a:srgbClr val="1E293B"/>
                </a:solidFill>
                <a:latin typeface="Meiryo UI" panose="020B0604030504040204" pitchFamily="50" charset="-128"/>
                <a:ea typeface="Meiryo UI" panose="020B0604030504040204" pitchFamily="50" charset="-128"/>
              </a:rPr>
              <a:t>歳代で全体の</a:t>
            </a:r>
            <a:r>
              <a:rPr kumimoji="1" lang="en-US" altLang="ja-JP" sz="1650">
                <a:solidFill>
                  <a:srgbClr val="1E293B"/>
                </a:solidFill>
                <a:latin typeface="Meiryo UI" panose="020B0604030504040204" pitchFamily="50" charset="-128"/>
                <a:ea typeface="Meiryo UI" panose="020B0604030504040204" pitchFamily="50" charset="-128"/>
              </a:rPr>
              <a:t>60.6%</a:t>
            </a:r>
            <a:r>
              <a:rPr kumimoji="1" lang="ja-JP" altLang="en-US" sz="1650">
                <a:solidFill>
                  <a:srgbClr val="1E293B"/>
                </a:solidFill>
                <a:latin typeface="Meiryo UI" panose="020B0604030504040204" pitchFamily="50" charset="-128"/>
                <a:ea typeface="Meiryo UI" panose="020B0604030504040204" pitchFamily="50" charset="-128"/>
              </a:rPr>
              <a:t>（</a:t>
            </a:r>
            <a:r>
              <a:rPr kumimoji="1" lang="en-US" altLang="ja-JP" sz="1650">
                <a:solidFill>
                  <a:srgbClr val="1E293B"/>
                </a:solidFill>
                <a:latin typeface="Meiryo UI" panose="020B0604030504040204" pitchFamily="50" charset="-128"/>
                <a:ea typeface="Meiryo UI" panose="020B0604030504040204" pitchFamily="50" charset="-128"/>
              </a:rPr>
              <a:t>143</a:t>
            </a:r>
            <a:r>
              <a:rPr kumimoji="1" lang="ja-JP" altLang="en-US" sz="1650">
                <a:solidFill>
                  <a:srgbClr val="1E293B"/>
                </a:solidFill>
                <a:latin typeface="Meiryo UI" panose="020B0604030504040204" pitchFamily="50" charset="-128"/>
                <a:ea typeface="Meiryo UI" panose="020B0604030504040204" pitchFamily="50" charset="-128"/>
              </a:rPr>
              <a:t>名）を占める一方、</a:t>
            </a:r>
            <a:r>
              <a:rPr kumimoji="1" lang="en-US" altLang="ja-JP" sz="1650">
                <a:solidFill>
                  <a:srgbClr val="1E293B"/>
                </a:solidFill>
                <a:latin typeface="Meiryo UI" panose="020B0604030504040204" pitchFamily="50" charset="-128"/>
                <a:ea typeface="Meiryo UI" panose="020B0604030504040204" pitchFamily="50" charset="-128"/>
              </a:rPr>
              <a:t>40</a:t>
            </a:r>
            <a:r>
              <a:rPr kumimoji="1" lang="ja-JP" altLang="en-US" sz="1650">
                <a:solidFill>
                  <a:srgbClr val="1E293B"/>
                </a:solidFill>
                <a:latin typeface="Meiryo UI" panose="020B0604030504040204" pitchFamily="50" charset="-128"/>
                <a:ea typeface="Meiryo UI" panose="020B0604030504040204" pitchFamily="50" charset="-128"/>
              </a:rPr>
              <a:t>歳代以下も</a:t>
            </a:r>
            <a:r>
              <a:rPr kumimoji="1" lang="en-US" altLang="ja-JP" sz="1650">
                <a:solidFill>
                  <a:srgbClr val="1E293B"/>
                </a:solidFill>
                <a:latin typeface="Meiryo UI" panose="020B0604030504040204" pitchFamily="50" charset="-128"/>
                <a:ea typeface="Meiryo UI" panose="020B0604030504040204" pitchFamily="50" charset="-128"/>
              </a:rPr>
              <a:t>26.7%</a:t>
            </a:r>
            <a:r>
              <a:rPr kumimoji="1" lang="ja-JP" altLang="en-US" sz="1650">
                <a:solidFill>
                  <a:srgbClr val="1E293B"/>
                </a:solidFill>
                <a:latin typeface="Meiryo UI" panose="020B0604030504040204" pitchFamily="50" charset="-128"/>
                <a:ea typeface="Meiryo UI" panose="020B0604030504040204" pitchFamily="50" charset="-128"/>
              </a:rPr>
              <a:t>（</a:t>
            </a:r>
            <a:r>
              <a:rPr kumimoji="1" lang="en-US" altLang="ja-JP" sz="1650">
                <a:solidFill>
                  <a:srgbClr val="1E293B"/>
                </a:solidFill>
                <a:latin typeface="Meiryo UI" panose="020B0604030504040204" pitchFamily="50" charset="-128"/>
                <a:ea typeface="Meiryo UI" panose="020B0604030504040204" pitchFamily="50" charset="-128"/>
              </a:rPr>
              <a:t>63</a:t>
            </a:r>
            <a:r>
              <a:rPr kumimoji="1" lang="ja-JP" altLang="en-US" sz="1650">
                <a:solidFill>
                  <a:srgbClr val="1E293B"/>
                </a:solidFill>
                <a:latin typeface="Meiryo UI" panose="020B0604030504040204" pitchFamily="50" charset="-128"/>
                <a:ea typeface="Meiryo UI" panose="020B0604030504040204" pitchFamily="50" charset="-128"/>
              </a:rPr>
              <a:t>名）が来場した。</a:t>
            </a:r>
          </a:p>
        </p:txBody>
      </p:sp>
    </p:spTree>
    <p:extLst>
      <p:ext uri="{BB962C8B-B14F-4D97-AF65-F5344CB8AC3E}">
        <p14:creationId xmlns:p14="http://schemas.microsoft.com/office/powerpoint/2010/main" val="627474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0F3D8697-70D3-31B7-1B2A-A81F45035098}"/>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E18F94B5-556B-DB76-64BE-A9632C72C2BF}"/>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4F7A3289-7F33-9274-7CB6-D67B0D3E8062}"/>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E7916C3-114D-0D22-D293-8FB94867125A}"/>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部：来場者結果③</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37D96C52-A4A7-2AC4-7834-48A5726E7465}"/>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Q1. </a:t>
            </a:r>
            <a:r>
              <a:rPr kumimoji="1" lang="ja-JP" altLang="en-US" sz="2100" b="1">
                <a:solidFill>
                  <a:srgbClr val="1E293B"/>
                </a:solidFill>
                <a:latin typeface="Meiryo UI" panose="020B0604030504040204" pitchFamily="50" charset="-128"/>
                <a:ea typeface="Meiryo UI" panose="020B0604030504040204" pitchFamily="50" charset="-128"/>
              </a:rPr>
              <a:t>本日参考になった内容（今回の出展の評価）</a:t>
            </a:r>
          </a:p>
        </p:txBody>
      </p:sp>
      <p:sp>
        <p:nvSpPr>
          <p:cNvPr id="7" name="四角形: 角を丸くする 6">
            <a:extLst>
              <a:ext uri="{FF2B5EF4-FFF2-40B4-BE49-F238E27FC236}">
                <a16:creationId xmlns:a16="http://schemas.microsoft.com/office/drawing/2014/main" id="{BC793281-2C31-D9B5-06E1-9AB259003AB0}"/>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10DD0AD-AA6F-D530-6A0A-614B3D84D427}"/>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5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CBB60D2A-3ED9-62AF-2060-35F745915661}"/>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C4194809-85D1-E4B8-7D67-3E4A0E882450}"/>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2563EB"/>
                </a:solidFill>
                <a:latin typeface="Meiryo UI" panose="020B0604030504040204" pitchFamily="50" charset="-128"/>
                <a:ea typeface="Meiryo UI" panose="020B0604030504040204" pitchFamily="50" charset="-128"/>
              </a:rPr>
              <a:t>「血管年齢測定（</a:t>
            </a:r>
            <a:r>
              <a:rPr kumimoji="1" lang="en-US" altLang="ja-JP" sz="1500" b="1">
                <a:solidFill>
                  <a:srgbClr val="2563EB"/>
                </a:solidFill>
                <a:latin typeface="Meiryo UI" panose="020B0604030504040204" pitchFamily="50" charset="-128"/>
                <a:ea typeface="Meiryo UI" panose="020B0604030504040204" pitchFamily="50" charset="-128"/>
              </a:rPr>
              <a:t>72.9%</a:t>
            </a:r>
            <a:r>
              <a:rPr kumimoji="1" lang="ja-JP" altLang="en-US" sz="1500" b="1">
                <a:solidFill>
                  <a:srgbClr val="2563EB"/>
                </a:solidFill>
                <a:latin typeface="Meiryo UI" panose="020B0604030504040204" pitchFamily="50" charset="-128"/>
                <a:ea typeface="Meiryo UI" panose="020B0604030504040204" pitchFamily="50" charset="-128"/>
              </a:rPr>
              <a:t>）」と「筋肉量測定（</a:t>
            </a:r>
            <a:r>
              <a:rPr kumimoji="1" lang="en-US" altLang="ja-JP" sz="1500" b="1">
                <a:solidFill>
                  <a:srgbClr val="2563EB"/>
                </a:solidFill>
                <a:latin typeface="Meiryo UI" panose="020B0604030504040204" pitchFamily="50" charset="-128"/>
                <a:ea typeface="Meiryo UI" panose="020B0604030504040204" pitchFamily="50" charset="-128"/>
              </a:rPr>
              <a:t>66.5%</a:t>
            </a:r>
            <a:r>
              <a:rPr kumimoji="1" lang="ja-JP" altLang="en-US" sz="1500" b="1">
                <a:solidFill>
                  <a:srgbClr val="2563EB"/>
                </a:solidFill>
                <a:latin typeface="Meiryo UI" panose="020B0604030504040204" pitchFamily="50" charset="-128"/>
                <a:ea typeface="Meiryo UI" panose="020B0604030504040204" pitchFamily="50" charset="-128"/>
              </a:rPr>
              <a:t>）」に回答者の約</a:t>
            </a:r>
            <a:r>
              <a:rPr kumimoji="1" lang="en-US" altLang="ja-JP" sz="1500" b="1">
                <a:solidFill>
                  <a:srgbClr val="2563EB"/>
                </a:solidFill>
                <a:latin typeface="Meiryo UI" panose="020B0604030504040204" pitchFamily="50" charset="-128"/>
                <a:ea typeface="Meiryo UI" panose="020B0604030504040204" pitchFamily="50" charset="-128"/>
              </a:rPr>
              <a:t>7</a:t>
            </a:r>
            <a:r>
              <a:rPr kumimoji="1" lang="ja-JP" altLang="en-US" sz="1500" b="1">
                <a:solidFill>
                  <a:srgbClr val="2563EB"/>
                </a:solidFill>
                <a:latin typeface="Meiryo UI" panose="020B0604030504040204" pitchFamily="50" charset="-128"/>
                <a:ea typeface="Meiryo UI" panose="020B0604030504040204" pitchFamily="50" charset="-128"/>
              </a:rPr>
              <a:t>割の評価が集まった</a:t>
            </a:r>
          </a:p>
        </p:txBody>
      </p:sp>
      <p:sp>
        <p:nvSpPr>
          <p:cNvPr id="11" name="四角形: 角を丸くする 10">
            <a:extLst>
              <a:ext uri="{FF2B5EF4-FFF2-40B4-BE49-F238E27FC236}">
                <a16:creationId xmlns:a16="http://schemas.microsoft.com/office/drawing/2014/main" id="{95366A6F-A415-D13A-D363-19C8522C3962}"/>
              </a:ext>
            </a:extLst>
          </p:cNvPr>
          <p:cNvSpPr/>
          <p:nvPr/>
        </p:nvSpPr>
        <p:spPr>
          <a:xfrm>
            <a:off x="254000" y="1549400"/>
            <a:ext cx="72390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C59D44CA-F76D-54A8-9EE5-4FCE79B68370}"/>
              </a:ext>
            </a:extLst>
          </p:cNvPr>
          <p:cNvSpPr/>
          <p:nvPr/>
        </p:nvSpPr>
        <p:spPr>
          <a:xfrm>
            <a:off x="482600" y="17780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AFB2872C-C721-EDA6-D1D8-2B4C0D77FC61}"/>
              </a:ext>
            </a:extLst>
          </p:cNvPr>
          <p:cNvSpPr txBox="1"/>
          <p:nvPr/>
        </p:nvSpPr>
        <p:spPr>
          <a:xfrm>
            <a:off x="685800" y="1739900"/>
            <a:ext cx="6604000" cy="379591"/>
          </a:xfrm>
          <a:prstGeom prst="rect">
            <a:avLst/>
          </a:prstGeom>
          <a:noFill/>
        </p:spPr>
        <p:txBody>
          <a:bodyPr vert="horz" wrap="square" lIns="76200" tIns="50800" rIns="76200" bIns="50800" rtlCol="0">
            <a:spAutoFit/>
          </a:bodyPr>
          <a:lstStyle/>
          <a:p>
            <a:r>
              <a:rPr kumimoji="1" lang="en-US" altLang="ja-JP" sz="1750" b="1">
                <a:solidFill>
                  <a:srgbClr val="1E293B"/>
                </a:solidFill>
                <a:latin typeface="Meiryo UI" panose="020B0604030504040204" pitchFamily="50" charset="-128"/>
                <a:ea typeface="Meiryo UI" panose="020B0604030504040204" pitchFamily="50" charset="-128"/>
              </a:rPr>
              <a:t>Q1. </a:t>
            </a:r>
            <a:r>
              <a:rPr kumimoji="1" lang="ja-JP" altLang="en-US" sz="1750" b="1">
                <a:solidFill>
                  <a:srgbClr val="1E293B"/>
                </a:solidFill>
                <a:latin typeface="Meiryo UI" panose="020B0604030504040204" pitchFamily="50" charset="-128"/>
                <a:ea typeface="Meiryo UI" panose="020B0604030504040204" pitchFamily="50" charset="-128"/>
              </a:rPr>
              <a:t>参考になった内容（複数回答・</a:t>
            </a:r>
            <a:r>
              <a:rPr kumimoji="1" lang="en-US" altLang="ja-JP" sz="1750" b="1">
                <a:solidFill>
                  <a:srgbClr val="1E293B"/>
                </a:solidFill>
                <a:latin typeface="Meiryo UI" panose="020B0604030504040204" pitchFamily="50" charset="-128"/>
                <a:ea typeface="Meiryo UI" panose="020B0604030504040204" pitchFamily="50" charset="-128"/>
              </a:rPr>
              <a:t>N=236</a:t>
            </a:r>
            <a:r>
              <a:rPr kumimoji="1" lang="ja-JP" altLang="en-US" sz="1750" b="1">
                <a:solidFill>
                  <a:srgbClr val="1E293B"/>
                </a:solidFill>
                <a:latin typeface="Meiryo UI" panose="020B0604030504040204" pitchFamily="50" charset="-128"/>
                <a:ea typeface="Meiryo UI" panose="020B0604030504040204" pitchFamily="50" charset="-128"/>
              </a:rPr>
              <a:t>）</a:t>
            </a:r>
          </a:p>
        </p:txBody>
      </p:sp>
      <p:sp>
        <p:nvSpPr>
          <p:cNvPr id="14" name="テキスト ボックス 13">
            <a:extLst>
              <a:ext uri="{FF2B5EF4-FFF2-40B4-BE49-F238E27FC236}">
                <a16:creationId xmlns:a16="http://schemas.microsoft.com/office/drawing/2014/main" id="{E8DA5F6B-F824-647F-42B9-25B6BF6F7495}"/>
              </a:ext>
            </a:extLst>
          </p:cNvPr>
          <p:cNvSpPr txBox="1"/>
          <p:nvPr/>
        </p:nvSpPr>
        <p:spPr>
          <a:xfrm>
            <a:off x="508000" y="2413000"/>
            <a:ext cx="2349500" cy="341119"/>
          </a:xfrm>
          <a:prstGeom prst="rect">
            <a:avLst/>
          </a:prstGeom>
          <a:noFill/>
        </p:spPr>
        <p:txBody>
          <a:bodyPr vert="horz" wrap="square" lIns="76200" tIns="50800" rIns="76200" bIns="50800" rtlCol="0">
            <a:spAutoFit/>
          </a:bodyPr>
          <a:lstStyle/>
          <a:p>
            <a:r>
              <a:rPr kumimoji="1" lang="zh-TW" altLang="en-US" sz="1550" b="1">
                <a:solidFill>
                  <a:srgbClr val="1E293B"/>
                </a:solidFill>
                <a:latin typeface="Meiryo UI" panose="020B0604030504040204" pitchFamily="50" charset="-128"/>
                <a:ea typeface="Meiryo UI" panose="020B0604030504040204" pitchFamily="50" charset="-128"/>
              </a:rPr>
              <a:t>血管年齢測定</a:t>
            </a:r>
            <a:endParaRPr kumimoji="1" lang="ja-JP" altLang="en-US" sz="1550" b="1">
              <a:solidFill>
                <a:srgbClr val="1E293B"/>
              </a:solidFill>
              <a:latin typeface="Meiryo UI" panose="020B0604030504040204" pitchFamily="50" charset="-128"/>
              <a:ea typeface="Meiryo UI" panose="020B0604030504040204" pitchFamily="50" charset="-128"/>
            </a:endParaRPr>
          </a:p>
        </p:txBody>
      </p:sp>
      <p:sp>
        <p:nvSpPr>
          <p:cNvPr id="15" name="四角形: 角を丸くする 14">
            <a:extLst>
              <a:ext uri="{FF2B5EF4-FFF2-40B4-BE49-F238E27FC236}">
                <a16:creationId xmlns:a16="http://schemas.microsoft.com/office/drawing/2014/main" id="{9D0061DE-FF1B-1589-C7F3-2FF26821213D}"/>
              </a:ext>
            </a:extLst>
          </p:cNvPr>
          <p:cNvSpPr/>
          <p:nvPr/>
        </p:nvSpPr>
        <p:spPr>
          <a:xfrm>
            <a:off x="2959100" y="2476500"/>
            <a:ext cx="2730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EBBB676B-1611-6D55-E2BD-7F635AF7BBCB}"/>
              </a:ext>
            </a:extLst>
          </p:cNvPr>
          <p:cNvSpPr/>
          <p:nvPr/>
        </p:nvSpPr>
        <p:spPr>
          <a:xfrm>
            <a:off x="2959100" y="2476500"/>
            <a:ext cx="1993900" cy="2540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AD099BA6-F360-F7EB-0189-6F54708F3D2F}"/>
              </a:ext>
            </a:extLst>
          </p:cNvPr>
          <p:cNvSpPr txBox="1"/>
          <p:nvPr/>
        </p:nvSpPr>
        <p:spPr>
          <a:xfrm>
            <a:off x="5816600" y="2413000"/>
            <a:ext cx="1841500" cy="341119"/>
          </a:xfrm>
          <a:prstGeom prst="rect">
            <a:avLst/>
          </a:prstGeom>
          <a:noFill/>
        </p:spPr>
        <p:txBody>
          <a:bodyPr vert="horz" wrap="square" lIns="76200" tIns="50800" rIns="76200" bIns="50800" rtlCol="0">
            <a:spAutoFit/>
          </a:bodyPr>
          <a:lstStyle/>
          <a:p>
            <a:r>
              <a:rPr kumimoji="1" lang="en-US" altLang="ja-JP" sz="1550" b="1">
                <a:solidFill>
                  <a:srgbClr val="2563EB"/>
                </a:solidFill>
                <a:latin typeface="Meiryo UI" panose="020B0604030504040204" pitchFamily="50" charset="-128"/>
                <a:ea typeface="Meiryo UI" panose="020B0604030504040204" pitchFamily="50" charset="-128"/>
              </a:rPr>
              <a:t>172</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(72.9%)</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27BE7BF3-9D4C-BB1F-B905-79B0A50CF43F}"/>
              </a:ext>
            </a:extLst>
          </p:cNvPr>
          <p:cNvSpPr txBox="1"/>
          <p:nvPr/>
        </p:nvSpPr>
        <p:spPr>
          <a:xfrm>
            <a:off x="508000" y="3175000"/>
            <a:ext cx="2349500" cy="341119"/>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筋肉量測定</a:t>
            </a:r>
            <a:r>
              <a:rPr kumimoji="1" lang="en-US" altLang="ja-JP" sz="1550" b="1">
                <a:solidFill>
                  <a:srgbClr val="1E293B"/>
                </a:solidFill>
                <a:latin typeface="Meiryo UI" panose="020B0604030504040204" pitchFamily="50" charset="-128"/>
                <a:ea typeface="Meiryo UI" panose="020B0604030504040204" pitchFamily="50" charset="-128"/>
              </a:rPr>
              <a:t>(InBody)</a:t>
            </a:r>
            <a:endParaRPr kumimoji="1" lang="ja-JP" altLang="en-US" sz="1550" b="1">
              <a:solidFill>
                <a:srgbClr val="1E293B"/>
              </a:solidFill>
              <a:latin typeface="Meiryo UI" panose="020B0604030504040204" pitchFamily="50" charset="-128"/>
              <a:ea typeface="Meiryo UI" panose="020B0604030504040204" pitchFamily="50" charset="-128"/>
            </a:endParaRPr>
          </a:p>
        </p:txBody>
      </p:sp>
      <p:sp>
        <p:nvSpPr>
          <p:cNvPr id="19" name="四角形: 角を丸くする 18">
            <a:extLst>
              <a:ext uri="{FF2B5EF4-FFF2-40B4-BE49-F238E27FC236}">
                <a16:creationId xmlns:a16="http://schemas.microsoft.com/office/drawing/2014/main" id="{6874EC4E-74E8-E189-404B-5350FCD9EC85}"/>
              </a:ext>
            </a:extLst>
          </p:cNvPr>
          <p:cNvSpPr/>
          <p:nvPr/>
        </p:nvSpPr>
        <p:spPr>
          <a:xfrm>
            <a:off x="2959100" y="3238500"/>
            <a:ext cx="2730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1FD4459F-AC53-23EB-8130-4EC2DB7C5A85}"/>
              </a:ext>
            </a:extLst>
          </p:cNvPr>
          <p:cNvSpPr/>
          <p:nvPr/>
        </p:nvSpPr>
        <p:spPr>
          <a:xfrm>
            <a:off x="2959100" y="3238500"/>
            <a:ext cx="1816100" cy="2540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92646EDE-8150-1C27-FAB9-A3B3376A7983}"/>
              </a:ext>
            </a:extLst>
          </p:cNvPr>
          <p:cNvSpPr txBox="1"/>
          <p:nvPr/>
        </p:nvSpPr>
        <p:spPr>
          <a:xfrm>
            <a:off x="5816600" y="3175000"/>
            <a:ext cx="1841500" cy="341119"/>
          </a:xfrm>
          <a:prstGeom prst="rect">
            <a:avLst/>
          </a:prstGeom>
          <a:noFill/>
        </p:spPr>
        <p:txBody>
          <a:bodyPr vert="horz" wrap="square" lIns="76200" tIns="50800" rIns="76200" bIns="50800" rtlCol="0">
            <a:spAutoFit/>
          </a:bodyPr>
          <a:lstStyle/>
          <a:p>
            <a:r>
              <a:rPr kumimoji="1" lang="en-US" altLang="ja-JP" sz="1550" b="1">
                <a:solidFill>
                  <a:srgbClr val="10B981"/>
                </a:solidFill>
                <a:latin typeface="Meiryo UI" panose="020B0604030504040204" pitchFamily="50" charset="-128"/>
                <a:ea typeface="Meiryo UI" panose="020B0604030504040204" pitchFamily="50" charset="-128"/>
              </a:rPr>
              <a:t>157</a:t>
            </a:r>
            <a:r>
              <a:rPr kumimoji="1" lang="ja-JP" altLang="en-US" sz="1550" b="1">
                <a:solidFill>
                  <a:srgbClr val="10B981"/>
                </a:solidFill>
                <a:latin typeface="Meiryo UI" panose="020B0604030504040204" pitchFamily="50" charset="-128"/>
                <a:ea typeface="Meiryo UI" panose="020B0604030504040204" pitchFamily="50" charset="-128"/>
              </a:rPr>
              <a:t>名 </a:t>
            </a:r>
            <a:r>
              <a:rPr kumimoji="1" lang="en-US" altLang="ja-JP" sz="1550" b="1">
                <a:solidFill>
                  <a:srgbClr val="10B981"/>
                </a:solidFill>
                <a:latin typeface="Meiryo UI" panose="020B0604030504040204" pitchFamily="50" charset="-128"/>
                <a:ea typeface="Meiryo UI" panose="020B0604030504040204" pitchFamily="50" charset="-128"/>
              </a:rPr>
              <a:t>(66.5%)</a:t>
            </a:r>
            <a:endParaRPr kumimoji="1" lang="ja-JP" altLang="en-US" sz="1550" b="1">
              <a:solidFill>
                <a:srgbClr val="10B981"/>
              </a:solidFill>
              <a:latin typeface="Meiryo UI" panose="020B0604030504040204" pitchFamily="50" charset="-128"/>
              <a:ea typeface="Meiryo UI" panose="020B0604030504040204" pitchFamily="50" charset="-128"/>
            </a:endParaRPr>
          </a:p>
        </p:txBody>
      </p:sp>
      <p:sp>
        <p:nvSpPr>
          <p:cNvPr id="22" name="テキスト ボックス 21">
            <a:extLst>
              <a:ext uri="{FF2B5EF4-FFF2-40B4-BE49-F238E27FC236}">
                <a16:creationId xmlns:a16="http://schemas.microsoft.com/office/drawing/2014/main" id="{4DBD6E88-4465-2BD7-9309-8520A733FC01}"/>
              </a:ext>
            </a:extLst>
          </p:cNvPr>
          <p:cNvSpPr txBox="1"/>
          <p:nvPr/>
        </p:nvSpPr>
        <p:spPr>
          <a:xfrm>
            <a:off x="508000" y="3937000"/>
            <a:ext cx="2349500" cy="341119"/>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栄養レッスン</a:t>
            </a:r>
          </a:p>
        </p:txBody>
      </p:sp>
      <p:sp>
        <p:nvSpPr>
          <p:cNvPr id="23" name="四角形: 角を丸くする 22">
            <a:extLst>
              <a:ext uri="{FF2B5EF4-FFF2-40B4-BE49-F238E27FC236}">
                <a16:creationId xmlns:a16="http://schemas.microsoft.com/office/drawing/2014/main" id="{2EB7FBD5-F69F-7FF6-D7B6-D637F7B1B893}"/>
              </a:ext>
            </a:extLst>
          </p:cNvPr>
          <p:cNvSpPr/>
          <p:nvPr/>
        </p:nvSpPr>
        <p:spPr>
          <a:xfrm>
            <a:off x="2959100" y="4000500"/>
            <a:ext cx="2730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58EA7711-C734-434A-9AF4-CA7C3CB3CB0D}"/>
              </a:ext>
            </a:extLst>
          </p:cNvPr>
          <p:cNvSpPr/>
          <p:nvPr/>
        </p:nvSpPr>
        <p:spPr>
          <a:xfrm>
            <a:off x="2959100" y="4000500"/>
            <a:ext cx="660400" cy="2540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B6C4050B-B6D9-F368-F3F0-2B4054D2BE92}"/>
              </a:ext>
            </a:extLst>
          </p:cNvPr>
          <p:cNvSpPr txBox="1"/>
          <p:nvPr/>
        </p:nvSpPr>
        <p:spPr>
          <a:xfrm>
            <a:off x="5816600" y="3937000"/>
            <a:ext cx="1841500" cy="341119"/>
          </a:xfrm>
          <a:prstGeom prst="rect">
            <a:avLst/>
          </a:prstGeom>
          <a:noFill/>
        </p:spPr>
        <p:txBody>
          <a:bodyPr vert="horz" wrap="square" lIns="76200" tIns="50800" rIns="76200" bIns="50800" rtlCol="0">
            <a:spAutoFit/>
          </a:bodyPr>
          <a:lstStyle/>
          <a:p>
            <a:r>
              <a:rPr kumimoji="1" lang="en-US" altLang="ja-JP" sz="1550" b="1">
                <a:solidFill>
                  <a:srgbClr val="F59E0B"/>
                </a:solidFill>
                <a:latin typeface="Meiryo UI" panose="020B0604030504040204" pitchFamily="50" charset="-128"/>
                <a:ea typeface="Meiryo UI" panose="020B0604030504040204" pitchFamily="50" charset="-128"/>
              </a:rPr>
              <a:t>57</a:t>
            </a:r>
            <a:r>
              <a:rPr kumimoji="1" lang="ja-JP" altLang="en-US" sz="1550" b="1">
                <a:solidFill>
                  <a:srgbClr val="F59E0B"/>
                </a:solidFill>
                <a:latin typeface="Meiryo UI" panose="020B0604030504040204" pitchFamily="50" charset="-128"/>
                <a:ea typeface="Meiryo UI" panose="020B0604030504040204" pitchFamily="50" charset="-128"/>
              </a:rPr>
              <a:t>名 </a:t>
            </a:r>
            <a:r>
              <a:rPr kumimoji="1" lang="en-US" altLang="ja-JP" sz="1550" b="1">
                <a:solidFill>
                  <a:srgbClr val="F59E0B"/>
                </a:solidFill>
                <a:latin typeface="Meiryo UI" panose="020B0604030504040204" pitchFamily="50" charset="-128"/>
                <a:ea typeface="Meiryo UI" panose="020B0604030504040204" pitchFamily="50" charset="-128"/>
              </a:rPr>
              <a:t>(24.2%)</a:t>
            </a:r>
            <a:endParaRPr kumimoji="1" lang="ja-JP" altLang="en-US" sz="1550" b="1">
              <a:solidFill>
                <a:srgbClr val="F59E0B"/>
              </a:solidFill>
              <a:latin typeface="Meiryo UI" panose="020B0604030504040204" pitchFamily="50" charset="-128"/>
              <a:ea typeface="Meiryo UI" panose="020B0604030504040204" pitchFamily="50" charset="-128"/>
            </a:endParaRPr>
          </a:p>
        </p:txBody>
      </p:sp>
      <p:sp>
        <p:nvSpPr>
          <p:cNvPr id="26" name="テキスト ボックス 25">
            <a:extLst>
              <a:ext uri="{FF2B5EF4-FFF2-40B4-BE49-F238E27FC236}">
                <a16:creationId xmlns:a16="http://schemas.microsoft.com/office/drawing/2014/main" id="{41C2C520-C510-5CBF-0915-B72CDBC411D8}"/>
              </a:ext>
            </a:extLst>
          </p:cNvPr>
          <p:cNvSpPr txBox="1"/>
          <p:nvPr/>
        </p:nvSpPr>
        <p:spPr>
          <a:xfrm>
            <a:off x="508000" y="4699000"/>
            <a:ext cx="2349500" cy="341119"/>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人生会議</a:t>
            </a:r>
            <a:r>
              <a:rPr kumimoji="1" lang="en-US" altLang="ja-JP" sz="1550" b="1">
                <a:solidFill>
                  <a:srgbClr val="1E293B"/>
                </a:solidFill>
                <a:latin typeface="Meiryo UI" panose="020B0604030504040204" pitchFamily="50" charset="-128"/>
                <a:ea typeface="Meiryo UI" panose="020B0604030504040204" pitchFamily="50" charset="-128"/>
              </a:rPr>
              <a:t>(</a:t>
            </a:r>
            <a:r>
              <a:rPr kumimoji="1" lang="ja-JP" altLang="en-US" sz="1550" b="1">
                <a:solidFill>
                  <a:srgbClr val="1E293B"/>
                </a:solidFill>
                <a:latin typeface="Meiryo UI" panose="020B0604030504040204" pitchFamily="50" charset="-128"/>
                <a:ea typeface="Meiryo UI" panose="020B0604030504040204" pitchFamily="50" charset="-128"/>
              </a:rPr>
              <a:t>終活</a:t>
            </a:r>
            <a:r>
              <a:rPr kumimoji="1" lang="en-US" altLang="ja-JP" sz="1550" b="1">
                <a:solidFill>
                  <a:srgbClr val="1E293B"/>
                </a:solidFill>
                <a:latin typeface="Meiryo UI" panose="020B0604030504040204" pitchFamily="50" charset="-128"/>
                <a:ea typeface="Meiryo UI" panose="020B0604030504040204" pitchFamily="50" charset="-128"/>
              </a:rPr>
              <a:t>)</a:t>
            </a:r>
            <a:r>
              <a:rPr kumimoji="1" lang="ja-JP" altLang="en-US" sz="1550" b="1">
                <a:solidFill>
                  <a:srgbClr val="1E293B"/>
                </a:solidFill>
                <a:latin typeface="Meiryo UI" panose="020B0604030504040204" pitchFamily="50" charset="-128"/>
                <a:ea typeface="Meiryo UI" panose="020B0604030504040204" pitchFamily="50" charset="-128"/>
              </a:rPr>
              <a:t>の案内</a:t>
            </a:r>
          </a:p>
        </p:txBody>
      </p:sp>
      <p:sp>
        <p:nvSpPr>
          <p:cNvPr id="27" name="四角形: 角を丸くする 26">
            <a:extLst>
              <a:ext uri="{FF2B5EF4-FFF2-40B4-BE49-F238E27FC236}">
                <a16:creationId xmlns:a16="http://schemas.microsoft.com/office/drawing/2014/main" id="{2ABD612C-8861-8197-7DC0-82F3F9214F47}"/>
              </a:ext>
            </a:extLst>
          </p:cNvPr>
          <p:cNvSpPr/>
          <p:nvPr/>
        </p:nvSpPr>
        <p:spPr>
          <a:xfrm>
            <a:off x="2959100" y="4762500"/>
            <a:ext cx="2730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AC4018B9-EB99-CA0D-B406-EDA2E57D33F2}"/>
              </a:ext>
            </a:extLst>
          </p:cNvPr>
          <p:cNvSpPr/>
          <p:nvPr/>
        </p:nvSpPr>
        <p:spPr>
          <a:xfrm>
            <a:off x="2959100" y="4762500"/>
            <a:ext cx="469900" cy="254000"/>
          </a:xfrm>
          <a:prstGeom prst="roundRect">
            <a:avLst>
              <a:gd name="adj" fmla="val 50000"/>
            </a:avLst>
          </a:prstGeom>
          <a:solidFill>
            <a:srgbClr val="8B5C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3C5C2491-38A6-8004-F76F-6FEACEA944B8}"/>
              </a:ext>
            </a:extLst>
          </p:cNvPr>
          <p:cNvSpPr txBox="1"/>
          <p:nvPr/>
        </p:nvSpPr>
        <p:spPr>
          <a:xfrm>
            <a:off x="5816600" y="4699000"/>
            <a:ext cx="1841500" cy="341119"/>
          </a:xfrm>
          <a:prstGeom prst="rect">
            <a:avLst/>
          </a:prstGeom>
          <a:noFill/>
        </p:spPr>
        <p:txBody>
          <a:bodyPr vert="horz" wrap="square" lIns="76200" tIns="50800" rIns="76200" bIns="50800" rtlCol="0">
            <a:spAutoFit/>
          </a:bodyPr>
          <a:lstStyle/>
          <a:p>
            <a:r>
              <a:rPr kumimoji="1" lang="en-US" altLang="ja-JP" sz="1550" b="1">
                <a:solidFill>
                  <a:srgbClr val="8B5CF6"/>
                </a:solidFill>
                <a:latin typeface="Meiryo UI" panose="020B0604030504040204" pitchFamily="50" charset="-128"/>
                <a:ea typeface="Meiryo UI" panose="020B0604030504040204" pitchFamily="50" charset="-128"/>
              </a:rPr>
              <a:t>41</a:t>
            </a:r>
            <a:r>
              <a:rPr kumimoji="1" lang="ja-JP" altLang="en-US" sz="1550" b="1">
                <a:solidFill>
                  <a:srgbClr val="8B5CF6"/>
                </a:solidFill>
                <a:latin typeface="Meiryo UI" panose="020B0604030504040204" pitchFamily="50" charset="-128"/>
                <a:ea typeface="Meiryo UI" panose="020B0604030504040204" pitchFamily="50" charset="-128"/>
              </a:rPr>
              <a:t>名 </a:t>
            </a:r>
            <a:r>
              <a:rPr kumimoji="1" lang="en-US" altLang="ja-JP" sz="1550" b="1">
                <a:solidFill>
                  <a:srgbClr val="8B5CF6"/>
                </a:solidFill>
                <a:latin typeface="Meiryo UI" panose="020B0604030504040204" pitchFamily="50" charset="-128"/>
                <a:ea typeface="Meiryo UI" panose="020B0604030504040204" pitchFamily="50" charset="-128"/>
              </a:rPr>
              <a:t>(17.4%)</a:t>
            </a:r>
            <a:endParaRPr kumimoji="1" lang="ja-JP" altLang="en-US" sz="1550" b="1">
              <a:solidFill>
                <a:srgbClr val="8B5CF6"/>
              </a:solidFill>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303775C2-458B-E832-FB2E-6558567ECD87}"/>
              </a:ext>
            </a:extLst>
          </p:cNvPr>
          <p:cNvSpPr txBox="1"/>
          <p:nvPr/>
        </p:nvSpPr>
        <p:spPr>
          <a:xfrm>
            <a:off x="508000" y="5461000"/>
            <a:ext cx="2349500" cy="341119"/>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お薬相談</a:t>
            </a:r>
          </a:p>
        </p:txBody>
      </p:sp>
      <p:sp>
        <p:nvSpPr>
          <p:cNvPr id="31" name="四角形: 角を丸くする 30">
            <a:extLst>
              <a:ext uri="{FF2B5EF4-FFF2-40B4-BE49-F238E27FC236}">
                <a16:creationId xmlns:a16="http://schemas.microsoft.com/office/drawing/2014/main" id="{528ECA51-1C3A-05BE-DB45-06F151BBD7BC}"/>
              </a:ext>
            </a:extLst>
          </p:cNvPr>
          <p:cNvSpPr/>
          <p:nvPr/>
        </p:nvSpPr>
        <p:spPr>
          <a:xfrm>
            <a:off x="2959100" y="5524500"/>
            <a:ext cx="27305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E2867015-F831-C725-0590-4AD3AC88F340}"/>
              </a:ext>
            </a:extLst>
          </p:cNvPr>
          <p:cNvSpPr/>
          <p:nvPr/>
        </p:nvSpPr>
        <p:spPr>
          <a:xfrm>
            <a:off x="2959100" y="5524500"/>
            <a:ext cx="368300" cy="254000"/>
          </a:xfrm>
          <a:prstGeom prst="roundRect">
            <a:avLst>
              <a:gd name="adj" fmla="val 50000"/>
            </a:avLst>
          </a:prstGeom>
          <a:solidFill>
            <a:srgbClr val="0EA5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2B35CF53-5D73-0305-2412-BF72E370444E}"/>
              </a:ext>
            </a:extLst>
          </p:cNvPr>
          <p:cNvSpPr txBox="1"/>
          <p:nvPr/>
        </p:nvSpPr>
        <p:spPr>
          <a:xfrm>
            <a:off x="5816600" y="5461000"/>
            <a:ext cx="1841500" cy="341119"/>
          </a:xfrm>
          <a:prstGeom prst="rect">
            <a:avLst/>
          </a:prstGeom>
          <a:noFill/>
        </p:spPr>
        <p:txBody>
          <a:bodyPr vert="horz" wrap="square" lIns="76200" tIns="50800" rIns="76200" bIns="50800" rtlCol="0">
            <a:spAutoFit/>
          </a:bodyPr>
          <a:lstStyle/>
          <a:p>
            <a:r>
              <a:rPr kumimoji="1" lang="en-US" altLang="ja-JP" sz="1550" b="1">
                <a:solidFill>
                  <a:srgbClr val="0EA5E9"/>
                </a:solidFill>
                <a:latin typeface="Meiryo UI" panose="020B0604030504040204" pitchFamily="50" charset="-128"/>
                <a:ea typeface="Meiryo UI" panose="020B0604030504040204" pitchFamily="50" charset="-128"/>
              </a:rPr>
              <a:t>32</a:t>
            </a:r>
            <a:r>
              <a:rPr kumimoji="1" lang="ja-JP" altLang="en-US" sz="1550" b="1">
                <a:solidFill>
                  <a:srgbClr val="0EA5E9"/>
                </a:solidFill>
                <a:latin typeface="Meiryo UI" panose="020B0604030504040204" pitchFamily="50" charset="-128"/>
                <a:ea typeface="Meiryo UI" panose="020B0604030504040204" pitchFamily="50" charset="-128"/>
              </a:rPr>
              <a:t>名 </a:t>
            </a:r>
            <a:r>
              <a:rPr kumimoji="1" lang="en-US" altLang="ja-JP" sz="1550" b="1">
                <a:solidFill>
                  <a:srgbClr val="0EA5E9"/>
                </a:solidFill>
                <a:latin typeface="Meiryo UI" panose="020B0604030504040204" pitchFamily="50" charset="-128"/>
                <a:ea typeface="Meiryo UI" panose="020B0604030504040204" pitchFamily="50" charset="-128"/>
              </a:rPr>
              <a:t>(13.6%)</a:t>
            </a:r>
            <a:endParaRPr kumimoji="1" lang="ja-JP" altLang="en-US" sz="1550" b="1">
              <a:solidFill>
                <a:srgbClr val="0EA5E9"/>
              </a:solidFill>
              <a:latin typeface="Meiryo UI" panose="020B0604030504040204" pitchFamily="50" charset="-128"/>
              <a:ea typeface="Meiryo UI" panose="020B0604030504040204" pitchFamily="50" charset="-128"/>
            </a:endParaRPr>
          </a:p>
        </p:txBody>
      </p:sp>
      <p:sp>
        <p:nvSpPr>
          <p:cNvPr id="34" name="四角形: 角を丸くする 33">
            <a:extLst>
              <a:ext uri="{FF2B5EF4-FFF2-40B4-BE49-F238E27FC236}">
                <a16:creationId xmlns:a16="http://schemas.microsoft.com/office/drawing/2014/main" id="{3E8A9E37-868B-FF4D-E8FE-3AA78AEDE137}"/>
              </a:ext>
            </a:extLst>
          </p:cNvPr>
          <p:cNvSpPr/>
          <p:nvPr/>
        </p:nvSpPr>
        <p:spPr>
          <a:xfrm>
            <a:off x="7696200" y="1549400"/>
            <a:ext cx="42418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四角形: 角を丸くする 34">
            <a:extLst>
              <a:ext uri="{FF2B5EF4-FFF2-40B4-BE49-F238E27FC236}">
                <a16:creationId xmlns:a16="http://schemas.microsoft.com/office/drawing/2014/main" id="{AAF10FD5-7ECE-EFD6-BA4E-4B7515478A12}"/>
              </a:ext>
            </a:extLst>
          </p:cNvPr>
          <p:cNvSpPr/>
          <p:nvPr/>
        </p:nvSpPr>
        <p:spPr>
          <a:xfrm>
            <a:off x="7924800" y="1778000"/>
            <a:ext cx="101600" cy="3302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54939E5F-CF9E-CCA3-C617-0B9692CDD6B7}"/>
              </a:ext>
            </a:extLst>
          </p:cNvPr>
          <p:cNvSpPr txBox="1"/>
          <p:nvPr/>
        </p:nvSpPr>
        <p:spPr>
          <a:xfrm>
            <a:off x="8128000" y="1739900"/>
            <a:ext cx="36068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結果の説明</a:t>
            </a:r>
          </a:p>
        </p:txBody>
      </p:sp>
      <p:sp>
        <p:nvSpPr>
          <p:cNvPr id="37" name="テキスト ボックス 36">
            <a:extLst>
              <a:ext uri="{FF2B5EF4-FFF2-40B4-BE49-F238E27FC236}">
                <a16:creationId xmlns:a16="http://schemas.microsoft.com/office/drawing/2014/main" id="{E412D574-0CBF-0847-6D44-2ADE2E7F579C}"/>
              </a:ext>
            </a:extLst>
          </p:cNvPr>
          <p:cNvSpPr txBox="1"/>
          <p:nvPr/>
        </p:nvSpPr>
        <p:spPr>
          <a:xfrm>
            <a:off x="7950200" y="2336800"/>
            <a:ext cx="3733800" cy="2387833"/>
          </a:xfrm>
          <a:prstGeom prst="rect">
            <a:avLst/>
          </a:prstGeom>
          <a:noFill/>
        </p:spPr>
        <p:txBody>
          <a:bodyPr vert="horz" wrap="square" lIns="76200" tIns="50800" rIns="76200" bIns="50800" rtlCol="0">
            <a:spAutoFit/>
          </a:bodyPr>
          <a:lstStyle/>
          <a:p>
            <a:r>
              <a:rPr kumimoji="1" lang="ja-JP" altLang="en-US" sz="1650">
                <a:solidFill>
                  <a:srgbClr val="1E293B"/>
                </a:solidFill>
                <a:latin typeface="Meiryo UI" panose="020B0604030504040204" pitchFamily="50" charset="-128"/>
                <a:ea typeface="Meiryo UI" panose="020B0604030504040204" pitchFamily="50" charset="-128"/>
              </a:rPr>
              <a:t>・</a:t>
            </a:r>
            <a:r>
              <a:rPr kumimoji="1" lang="en-US" altLang="ja-JP" sz="1650">
                <a:solidFill>
                  <a:srgbClr val="1E293B"/>
                </a:solidFill>
                <a:latin typeface="Meiryo UI" panose="020B0604030504040204" pitchFamily="50" charset="-128"/>
                <a:ea typeface="Meiryo UI" panose="020B0604030504040204" pitchFamily="50" charset="-128"/>
              </a:rPr>
              <a:t>1</a:t>
            </a:r>
            <a:r>
              <a:rPr kumimoji="1" lang="ja-JP" altLang="en-US" sz="1650">
                <a:solidFill>
                  <a:srgbClr val="1E293B"/>
                </a:solidFill>
                <a:latin typeface="Meiryo UI" panose="020B0604030504040204" pitchFamily="50" charset="-128"/>
                <a:ea typeface="Meiryo UI" panose="020B0604030504040204" pitchFamily="50" charset="-128"/>
              </a:rPr>
              <a:t>位は「血管年齢測定」で</a:t>
            </a:r>
            <a:r>
              <a:rPr kumimoji="1" lang="en-US" altLang="ja-JP" sz="1650">
                <a:solidFill>
                  <a:srgbClr val="1E293B"/>
                </a:solidFill>
                <a:latin typeface="Meiryo UI" panose="020B0604030504040204" pitchFamily="50" charset="-128"/>
                <a:ea typeface="Meiryo UI" panose="020B0604030504040204" pitchFamily="50" charset="-128"/>
              </a:rPr>
              <a:t>172</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72.9%</a:t>
            </a:r>
            <a:r>
              <a:rPr kumimoji="1" lang="ja-JP" altLang="en-US" sz="1650">
                <a:solidFill>
                  <a:srgbClr val="1E293B"/>
                </a:solidFill>
                <a:latin typeface="Meiryo UI" panose="020B0604030504040204" pitchFamily="50" charset="-128"/>
                <a:ea typeface="Meiryo UI" panose="020B0604030504040204" pitchFamily="50" charset="-128"/>
              </a:rPr>
              <a:t>）。
・</a:t>
            </a:r>
            <a:r>
              <a:rPr kumimoji="1" lang="en-US" altLang="ja-JP" sz="1650">
                <a:solidFill>
                  <a:srgbClr val="1E293B"/>
                </a:solidFill>
                <a:latin typeface="Meiryo UI" panose="020B0604030504040204" pitchFamily="50" charset="-128"/>
                <a:ea typeface="Meiryo UI" panose="020B0604030504040204" pitchFamily="50" charset="-128"/>
              </a:rPr>
              <a:t>2</a:t>
            </a:r>
            <a:r>
              <a:rPr kumimoji="1" lang="ja-JP" altLang="en-US" sz="1650">
                <a:solidFill>
                  <a:srgbClr val="1E293B"/>
                </a:solidFill>
                <a:latin typeface="Meiryo UI" panose="020B0604030504040204" pitchFamily="50" charset="-128"/>
                <a:ea typeface="Meiryo UI" panose="020B0604030504040204" pitchFamily="50" charset="-128"/>
              </a:rPr>
              <a:t>位は「筋肉量測定」で</a:t>
            </a:r>
            <a:r>
              <a:rPr kumimoji="1" lang="en-US" altLang="ja-JP" sz="1650">
                <a:solidFill>
                  <a:srgbClr val="1E293B"/>
                </a:solidFill>
                <a:latin typeface="Meiryo UI" panose="020B0604030504040204" pitchFamily="50" charset="-128"/>
                <a:ea typeface="Meiryo UI" panose="020B0604030504040204" pitchFamily="50" charset="-128"/>
              </a:rPr>
              <a:t>157</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66.5%</a:t>
            </a:r>
            <a:r>
              <a:rPr kumimoji="1" lang="ja-JP" altLang="en-US" sz="1650">
                <a:solidFill>
                  <a:srgbClr val="1E293B"/>
                </a:solidFill>
                <a:latin typeface="Meiryo UI" panose="020B0604030504040204" pitchFamily="50" charset="-128"/>
                <a:ea typeface="Meiryo UI" panose="020B0604030504040204" pitchFamily="50" charset="-128"/>
              </a:rPr>
              <a:t>）。
・以下、「栄養レッスン」</a:t>
            </a:r>
            <a:r>
              <a:rPr kumimoji="1" lang="en-US" altLang="ja-JP" sz="1650">
                <a:solidFill>
                  <a:srgbClr val="1E293B"/>
                </a:solidFill>
                <a:latin typeface="Meiryo UI" panose="020B0604030504040204" pitchFamily="50" charset="-128"/>
                <a:ea typeface="Meiryo UI" panose="020B0604030504040204" pitchFamily="50" charset="-128"/>
              </a:rPr>
              <a:t>57</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24.2%</a:t>
            </a:r>
            <a:r>
              <a:rPr kumimoji="1" lang="ja-JP" altLang="en-US" sz="1650">
                <a:solidFill>
                  <a:srgbClr val="1E293B"/>
                </a:solidFill>
                <a:latin typeface="Meiryo UI" panose="020B0604030504040204" pitchFamily="50" charset="-128"/>
                <a:ea typeface="Meiryo UI" panose="020B0604030504040204" pitchFamily="50" charset="-128"/>
              </a:rPr>
              <a:t>）、「人生会議の案内」</a:t>
            </a:r>
            <a:r>
              <a:rPr kumimoji="1" lang="en-US" altLang="ja-JP" sz="1650">
                <a:solidFill>
                  <a:srgbClr val="1E293B"/>
                </a:solidFill>
                <a:latin typeface="Meiryo UI" panose="020B0604030504040204" pitchFamily="50" charset="-128"/>
                <a:ea typeface="Meiryo UI" panose="020B0604030504040204" pitchFamily="50" charset="-128"/>
              </a:rPr>
              <a:t>41</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17.4%</a:t>
            </a:r>
            <a:r>
              <a:rPr kumimoji="1" lang="ja-JP" altLang="en-US" sz="1650">
                <a:solidFill>
                  <a:srgbClr val="1E293B"/>
                </a:solidFill>
                <a:latin typeface="Meiryo UI" panose="020B0604030504040204" pitchFamily="50" charset="-128"/>
                <a:ea typeface="Meiryo UI" panose="020B0604030504040204" pitchFamily="50" charset="-128"/>
              </a:rPr>
              <a:t>）、「お薬相談」</a:t>
            </a:r>
            <a:r>
              <a:rPr kumimoji="1" lang="en-US" altLang="ja-JP" sz="1650">
                <a:solidFill>
                  <a:srgbClr val="1E293B"/>
                </a:solidFill>
                <a:latin typeface="Meiryo UI" panose="020B0604030504040204" pitchFamily="50" charset="-128"/>
                <a:ea typeface="Meiryo UI" panose="020B0604030504040204" pitchFamily="50" charset="-128"/>
              </a:rPr>
              <a:t>32</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13.6%</a:t>
            </a:r>
            <a:r>
              <a:rPr kumimoji="1" lang="ja-JP" altLang="en-US" sz="1650">
                <a:solidFill>
                  <a:srgbClr val="1E293B"/>
                </a:solidFill>
                <a:latin typeface="Meiryo UI" panose="020B0604030504040204" pitchFamily="50" charset="-128"/>
                <a:ea typeface="Meiryo UI" panose="020B0604030504040204" pitchFamily="50" charset="-128"/>
              </a:rPr>
              <a:t>）であった。</a:t>
            </a:r>
          </a:p>
        </p:txBody>
      </p:sp>
    </p:spTree>
    <p:extLst>
      <p:ext uri="{BB962C8B-B14F-4D97-AF65-F5344CB8AC3E}">
        <p14:creationId xmlns:p14="http://schemas.microsoft.com/office/powerpoint/2010/main" val="1633152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756CB90-4F27-C316-1356-2104020E5A05}"/>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D3153913-FE7D-6DC3-F66A-ABEFF1C1321D}"/>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BF2C2502-E0A5-4074-8D52-2BF32B75720F}"/>
              </a:ext>
            </a:extLst>
          </p:cNvPr>
          <p:cNvSpPr/>
          <p:nvPr/>
        </p:nvSpPr>
        <p:spPr>
          <a:xfrm>
            <a:off x="457200" y="330200"/>
            <a:ext cx="2082800" cy="4064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27283670-135A-5657-6A46-531FEE626B63}"/>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部：来場者結果④</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4B6F47AC-5FEA-D810-780E-551193CECE4D}"/>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Q2. </a:t>
            </a:r>
            <a:r>
              <a:rPr kumimoji="1" lang="ja-JP" altLang="en-US" sz="2100" b="1">
                <a:solidFill>
                  <a:srgbClr val="1E293B"/>
                </a:solidFill>
                <a:latin typeface="Meiryo UI" panose="020B0604030504040204" pitchFamily="50" charset="-128"/>
                <a:ea typeface="Meiryo UI" panose="020B0604030504040204" pitchFamily="50" charset="-128"/>
              </a:rPr>
              <a:t>これまで当院をご存知でしたか？（現在の認知度）</a:t>
            </a:r>
          </a:p>
        </p:txBody>
      </p:sp>
      <p:sp>
        <p:nvSpPr>
          <p:cNvPr id="7" name="四角形: 角を丸くする 6">
            <a:extLst>
              <a:ext uri="{FF2B5EF4-FFF2-40B4-BE49-F238E27FC236}">
                <a16:creationId xmlns:a16="http://schemas.microsoft.com/office/drawing/2014/main" id="{1CCB70DD-920B-E546-C7A8-80E63F5D2442}"/>
              </a:ext>
            </a:extLst>
          </p:cNvPr>
          <p:cNvSpPr/>
          <p:nvPr/>
        </p:nvSpPr>
        <p:spPr>
          <a:xfrm>
            <a:off x="10871200" y="330200"/>
            <a:ext cx="863600" cy="381000"/>
          </a:xfrm>
          <a:prstGeom prst="roundRect">
            <a:avLst>
              <a:gd name="adj" fmla="val 50000"/>
            </a:avLst>
          </a:prstGeom>
          <a:solidFill>
            <a:srgbClr val="FFFB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DC7BF628-94B9-2A96-E186-F2C395BE8328}"/>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F59E0B"/>
                </a:solidFill>
                <a:latin typeface="Meiryo UI" panose="020B0604030504040204" pitchFamily="50" charset="-128"/>
                <a:ea typeface="Meiryo UI" panose="020B0604030504040204" pitchFamily="50" charset="-128"/>
              </a:rPr>
              <a:t>6 / 22</a:t>
            </a:r>
            <a:endParaRPr kumimoji="1" lang="ja-JP" altLang="en-US" sz="1250" b="1">
              <a:solidFill>
                <a:srgbClr val="F59E0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0C20C88C-E250-E2DC-677D-564E28BFE493}"/>
              </a:ext>
            </a:extLst>
          </p:cNvPr>
          <p:cNvSpPr/>
          <p:nvPr/>
        </p:nvSpPr>
        <p:spPr>
          <a:xfrm>
            <a:off x="457200" y="838200"/>
            <a:ext cx="11277600" cy="431800"/>
          </a:xfrm>
          <a:prstGeom prst="roundRect">
            <a:avLst>
              <a:gd name="adj" fmla="val 30000"/>
            </a:avLst>
          </a:prstGeom>
          <a:solidFill>
            <a:srgbClr val="FFFB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FE97B17A-B92C-79B1-8C40-C8BE4CDAB638}"/>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F59E0B"/>
                </a:solidFill>
                <a:latin typeface="Meiryo UI" panose="020B0604030504040204" pitchFamily="50" charset="-128"/>
                <a:ea typeface="Meiryo UI" panose="020B0604030504040204" pitchFamily="50" charset="-128"/>
              </a:rPr>
              <a:t>「名前や場所は知っている」が</a:t>
            </a:r>
            <a:r>
              <a:rPr kumimoji="1" lang="en-US" altLang="ja-JP" sz="1500" b="1">
                <a:solidFill>
                  <a:srgbClr val="F59E0B"/>
                </a:solidFill>
                <a:latin typeface="Meiryo UI" panose="020B0604030504040204" pitchFamily="50" charset="-128"/>
                <a:ea typeface="Meiryo UI" panose="020B0604030504040204" pitchFamily="50" charset="-128"/>
              </a:rPr>
              <a:t>53.4%</a:t>
            </a:r>
            <a:r>
              <a:rPr kumimoji="1" lang="ja-JP" altLang="en-US" sz="1500" b="1">
                <a:solidFill>
                  <a:srgbClr val="F59E0B"/>
                </a:solidFill>
                <a:latin typeface="Meiryo UI" panose="020B0604030504040204" pitchFamily="50" charset="-128"/>
                <a:ea typeface="Meiryo UI" panose="020B0604030504040204" pitchFamily="50" charset="-128"/>
              </a:rPr>
              <a:t>、「今日初めて知った」が</a:t>
            </a:r>
            <a:r>
              <a:rPr kumimoji="1" lang="en-US" altLang="ja-JP" sz="1500" b="1">
                <a:solidFill>
                  <a:srgbClr val="F59E0B"/>
                </a:solidFill>
                <a:latin typeface="Meiryo UI" panose="020B0604030504040204" pitchFamily="50" charset="-128"/>
                <a:ea typeface="Meiryo UI" panose="020B0604030504040204" pitchFamily="50" charset="-128"/>
              </a:rPr>
              <a:t>28.4%</a:t>
            </a:r>
            <a:r>
              <a:rPr kumimoji="1" lang="ja-JP" altLang="en-US" sz="1500" b="1">
                <a:solidFill>
                  <a:srgbClr val="F59E0B"/>
                </a:solidFill>
                <a:latin typeface="Meiryo UI" panose="020B0604030504040204" pitchFamily="50" charset="-128"/>
                <a:ea typeface="Meiryo UI" panose="020B0604030504040204" pitchFamily="50" charset="-128"/>
              </a:rPr>
              <a:t>、「よく知っている」は</a:t>
            </a:r>
            <a:r>
              <a:rPr kumimoji="1" lang="en-US" altLang="ja-JP" sz="1500" b="1">
                <a:solidFill>
                  <a:srgbClr val="F59E0B"/>
                </a:solidFill>
                <a:latin typeface="Meiryo UI" panose="020B0604030504040204" pitchFamily="50" charset="-128"/>
                <a:ea typeface="Meiryo UI" panose="020B0604030504040204" pitchFamily="50" charset="-128"/>
              </a:rPr>
              <a:t>16.5%</a:t>
            </a:r>
            <a:endParaRPr kumimoji="1" lang="ja-JP" altLang="en-US" sz="1500" b="1">
              <a:solidFill>
                <a:srgbClr val="F59E0B"/>
              </a:solidFill>
              <a:latin typeface="Meiryo UI" panose="020B0604030504040204" pitchFamily="50" charset="-128"/>
              <a:ea typeface="Meiryo UI" panose="020B0604030504040204" pitchFamily="50" charset="-128"/>
            </a:endParaRPr>
          </a:p>
        </p:txBody>
      </p:sp>
      <p:sp>
        <p:nvSpPr>
          <p:cNvPr id="11" name="四角形: 角を丸くする 10">
            <a:extLst>
              <a:ext uri="{FF2B5EF4-FFF2-40B4-BE49-F238E27FC236}">
                <a16:creationId xmlns:a16="http://schemas.microsoft.com/office/drawing/2014/main" id="{17246491-0DB1-425D-871E-49C265363705}"/>
              </a:ext>
            </a:extLst>
          </p:cNvPr>
          <p:cNvSpPr/>
          <p:nvPr/>
        </p:nvSpPr>
        <p:spPr>
          <a:xfrm>
            <a:off x="254000" y="1549400"/>
            <a:ext cx="116840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10026F91-22B2-3048-9659-6082C1D7EBA9}"/>
              </a:ext>
            </a:extLst>
          </p:cNvPr>
          <p:cNvSpPr/>
          <p:nvPr/>
        </p:nvSpPr>
        <p:spPr>
          <a:xfrm>
            <a:off x="482600" y="1778000"/>
            <a:ext cx="101600" cy="3302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E64E03F0-B280-F6E7-E76A-5CA5043F878C}"/>
              </a:ext>
            </a:extLst>
          </p:cNvPr>
          <p:cNvSpPr txBox="1"/>
          <p:nvPr/>
        </p:nvSpPr>
        <p:spPr>
          <a:xfrm>
            <a:off x="685800" y="1739900"/>
            <a:ext cx="11049000" cy="379591"/>
          </a:xfrm>
          <a:prstGeom prst="rect">
            <a:avLst/>
          </a:prstGeom>
          <a:noFill/>
        </p:spPr>
        <p:txBody>
          <a:bodyPr vert="horz" wrap="square" lIns="76200" tIns="50800" rIns="76200" bIns="50800" rtlCol="0">
            <a:spAutoFit/>
          </a:bodyPr>
          <a:lstStyle/>
          <a:p>
            <a:r>
              <a:rPr kumimoji="1" lang="en-US" altLang="ja-JP" sz="1750" b="1">
                <a:solidFill>
                  <a:srgbClr val="1E293B"/>
                </a:solidFill>
                <a:latin typeface="Meiryo UI" panose="020B0604030504040204" pitchFamily="50" charset="-128"/>
                <a:ea typeface="Meiryo UI" panose="020B0604030504040204" pitchFamily="50" charset="-128"/>
              </a:rPr>
              <a:t>Q2. </a:t>
            </a:r>
            <a:r>
              <a:rPr kumimoji="1" lang="ja-JP" altLang="en-US" sz="1750" b="1">
                <a:solidFill>
                  <a:srgbClr val="1E293B"/>
                </a:solidFill>
                <a:latin typeface="Meiryo UI" panose="020B0604030504040204" pitchFamily="50" charset="-128"/>
                <a:ea typeface="Meiryo UI" panose="020B0604030504040204" pitchFamily="50" charset="-128"/>
              </a:rPr>
              <a:t>当院の認知度（単一回答・</a:t>
            </a:r>
            <a:r>
              <a:rPr kumimoji="1" lang="en-US" altLang="ja-JP" sz="1750" b="1">
                <a:solidFill>
                  <a:srgbClr val="1E293B"/>
                </a:solidFill>
                <a:latin typeface="Meiryo UI" panose="020B0604030504040204" pitchFamily="50" charset="-128"/>
                <a:ea typeface="Meiryo UI" panose="020B0604030504040204" pitchFamily="50" charset="-128"/>
              </a:rPr>
              <a:t>N=236</a:t>
            </a:r>
            <a:r>
              <a:rPr kumimoji="1" lang="ja-JP" altLang="en-US" sz="1750" b="1">
                <a:solidFill>
                  <a:srgbClr val="1E293B"/>
                </a:solidFill>
                <a:latin typeface="Meiryo UI" panose="020B0604030504040204" pitchFamily="50" charset="-128"/>
                <a:ea typeface="Meiryo UI" panose="020B0604030504040204" pitchFamily="50" charset="-128"/>
              </a:rPr>
              <a:t>）</a:t>
            </a:r>
          </a:p>
        </p:txBody>
      </p:sp>
      <p:sp>
        <p:nvSpPr>
          <p:cNvPr id="14" name="部分円 13">
            <a:extLst>
              <a:ext uri="{FF2B5EF4-FFF2-40B4-BE49-F238E27FC236}">
                <a16:creationId xmlns:a16="http://schemas.microsoft.com/office/drawing/2014/main" id="{C45F85D1-441D-76C5-E650-D4F6636BFDB1}"/>
              </a:ext>
            </a:extLst>
          </p:cNvPr>
          <p:cNvSpPr/>
          <p:nvPr/>
        </p:nvSpPr>
        <p:spPr>
          <a:xfrm>
            <a:off x="1016000" y="2603500"/>
            <a:ext cx="3302000" cy="3302000"/>
          </a:xfrm>
          <a:prstGeom prst="pie">
            <a:avLst>
              <a:gd name="adj1" fmla="val 16200000"/>
              <a:gd name="adj2" fmla="val 61344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41935548-A160-02F7-A3EC-880435330512}"/>
              </a:ext>
            </a:extLst>
          </p:cNvPr>
          <p:cNvSpPr/>
          <p:nvPr/>
        </p:nvSpPr>
        <p:spPr>
          <a:xfrm>
            <a:off x="1016000" y="2603500"/>
            <a:ext cx="3302000" cy="3302000"/>
          </a:xfrm>
          <a:prstGeom prst="pie">
            <a:avLst>
              <a:gd name="adj1" fmla="val 6134400"/>
              <a:gd name="adj2" fmla="val 12268800"/>
            </a:avLst>
          </a:prstGeom>
          <a:solidFill>
            <a:srgbClr val="F59E0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部分円 15">
            <a:extLst>
              <a:ext uri="{FF2B5EF4-FFF2-40B4-BE49-F238E27FC236}">
                <a16:creationId xmlns:a16="http://schemas.microsoft.com/office/drawing/2014/main" id="{4DD1379F-0316-E1E0-9EF9-71C6CBE1C284}"/>
              </a:ext>
            </a:extLst>
          </p:cNvPr>
          <p:cNvSpPr/>
          <p:nvPr/>
        </p:nvSpPr>
        <p:spPr>
          <a:xfrm>
            <a:off x="1016000" y="2603500"/>
            <a:ext cx="3302000" cy="3302000"/>
          </a:xfrm>
          <a:prstGeom prst="pie">
            <a:avLst>
              <a:gd name="adj1" fmla="val 12268800"/>
              <a:gd name="adj2" fmla="val 158328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部分円 16">
            <a:extLst>
              <a:ext uri="{FF2B5EF4-FFF2-40B4-BE49-F238E27FC236}">
                <a16:creationId xmlns:a16="http://schemas.microsoft.com/office/drawing/2014/main" id="{FDA4F4D5-D3CD-1956-5A50-4578A5D61864}"/>
              </a:ext>
            </a:extLst>
          </p:cNvPr>
          <p:cNvSpPr/>
          <p:nvPr/>
        </p:nvSpPr>
        <p:spPr>
          <a:xfrm>
            <a:off x="1016000" y="2603500"/>
            <a:ext cx="3302000" cy="3302000"/>
          </a:xfrm>
          <a:prstGeom prst="pie">
            <a:avLst>
              <a:gd name="adj1" fmla="val 15832800"/>
              <a:gd name="adj2" fmla="val 16200000"/>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楕円 17">
            <a:extLst>
              <a:ext uri="{FF2B5EF4-FFF2-40B4-BE49-F238E27FC236}">
                <a16:creationId xmlns:a16="http://schemas.microsoft.com/office/drawing/2014/main" id="{54F997F2-9C9E-4F5D-BD5A-51597F08EAFF}"/>
              </a:ext>
            </a:extLst>
          </p:cNvPr>
          <p:cNvSpPr/>
          <p:nvPr/>
        </p:nvSpPr>
        <p:spPr>
          <a:xfrm>
            <a:off x="1775460" y="3362960"/>
            <a:ext cx="1783080" cy="178308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77D56CFA-3B5A-978C-4830-3C8574FC97AD}"/>
              </a:ext>
            </a:extLst>
          </p:cNvPr>
          <p:cNvSpPr txBox="1"/>
          <p:nvPr/>
        </p:nvSpPr>
        <p:spPr>
          <a:xfrm>
            <a:off x="1826260" y="3924300"/>
            <a:ext cx="1681480" cy="348813"/>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初認知 </a:t>
            </a:r>
            <a:r>
              <a:rPr kumimoji="1" lang="en-US" altLang="ja-JP" sz="1600" b="1">
                <a:solidFill>
                  <a:srgbClr val="1E293B"/>
                </a:solidFill>
                <a:latin typeface="Meiryo UI" panose="020B0604030504040204" pitchFamily="50" charset="-128"/>
                <a:ea typeface="Meiryo UI" panose="020B0604030504040204" pitchFamily="50" charset="-128"/>
              </a:rPr>
              <a:t>28.4%</a:t>
            </a:r>
            <a:endParaRPr kumimoji="1" lang="ja-JP" altLang="en-US" sz="1600" b="1">
              <a:solidFill>
                <a:srgbClr val="1E293B"/>
              </a:solidFill>
              <a:latin typeface="Meiryo UI" panose="020B0604030504040204" pitchFamily="50" charset="-128"/>
              <a:ea typeface="Meiryo UI" panose="020B0604030504040204" pitchFamily="50" charset="-128"/>
            </a:endParaRPr>
          </a:p>
        </p:txBody>
      </p:sp>
      <p:sp>
        <p:nvSpPr>
          <p:cNvPr id="20" name="テキスト ボックス 19">
            <a:extLst>
              <a:ext uri="{FF2B5EF4-FFF2-40B4-BE49-F238E27FC236}">
                <a16:creationId xmlns:a16="http://schemas.microsoft.com/office/drawing/2014/main" id="{DDF18CD6-0961-F23B-39FC-14046D1C45D9}"/>
              </a:ext>
            </a:extLst>
          </p:cNvPr>
          <p:cNvSpPr txBox="1"/>
          <p:nvPr/>
        </p:nvSpPr>
        <p:spPr>
          <a:xfrm>
            <a:off x="1826260" y="4279900"/>
            <a:ext cx="1681480" cy="294953"/>
          </a:xfrm>
          <a:prstGeom prst="rect">
            <a:avLst/>
          </a:prstGeom>
          <a:noFill/>
        </p:spPr>
        <p:txBody>
          <a:bodyPr vert="horz" wrap="square" lIns="76200" tIns="50800" rIns="76200" bIns="50800" rtlCol="0">
            <a:spAutoFit/>
          </a:bodyPr>
          <a:lstStyle/>
          <a:p>
            <a:pPr algn="ctr"/>
            <a:r>
              <a:rPr kumimoji="1" lang="ja-JP" altLang="en-US" sz="1250" b="1">
                <a:solidFill>
                  <a:srgbClr val="64748B"/>
                </a:solidFill>
                <a:latin typeface="Meiryo UI" panose="020B0604030504040204" pitchFamily="50" charset="-128"/>
                <a:ea typeface="Meiryo UI" panose="020B0604030504040204" pitchFamily="50" charset="-128"/>
              </a:rPr>
              <a:t>名前のみ </a:t>
            </a:r>
            <a:r>
              <a:rPr kumimoji="1" lang="en-US" altLang="ja-JP" sz="1250" b="1">
                <a:solidFill>
                  <a:srgbClr val="64748B"/>
                </a:solidFill>
                <a:latin typeface="Meiryo UI" panose="020B0604030504040204" pitchFamily="50" charset="-128"/>
                <a:ea typeface="Meiryo UI" panose="020B0604030504040204" pitchFamily="50" charset="-128"/>
              </a:rPr>
              <a:t>53.4%</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21" name="楕円 20">
            <a:extLst>
              <a:ext uri="{FF2B5EF4-FFF2-40B4-BE49-F238E27FC236}">
                <a16:creationId xmlns:a16="http://schemas.microsoft.com/office/drawing/2014/main" id="{0588DBDE-B1E9-25E1-B202-9D8C364C89B6}"/>
              </a:ext>
            </a:extLst>
          </p:cNvPr>
          <p:cNvSpPr/>
          <p:nvPr/>
        </p:nvSpPr>
        <p:spPr>
          <a:xfrm>
            <a:off x="5207000" y="24765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9D7E65A7-0DCD-A746-3B9D-4BAF4E27E973}"/>
              </a:ext>
            </a:extLst>
          </p:cNvPr>
          <p:cNvSpPr txBox="1"/>
          <p:nvPr/>
        </p:nvSpPr>
        <p:spPr>
          <a:xfrm>
            <a:off x="5537200" y="24130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名前や場所は知っている</a:t>
            </a:r>
          </a:p>
        </p:txBody>
      </p:sp>
      <p:sp>
        <p:nvSpPr>
          <p:cNvPr id="23" name="テキスト ボックス 22">
            <a:extLst>
              <a:ext uri="{FF2B5EF4-FFF2-40B4-BE49-F238E27FC236}">
                <a16:creationId xmlns:a16="http://schemas.microsoft.com/office/drawing/2014/main" id="{E4D78870-9604-98B8-1174-14CD6AB2A772}"/>
              </a:ext>
            </a:extLst>
          </p:cNvPr>
          <p:cNvSpPr txBox="1"/>
          <p:nvPr/>
        </p:nvSpPr>
        <p:spPr>
          <a:xfrm>
            <a:off x="9842500" y="2413000"/>
            <a:ext cx="1587500" cy="579646"/>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126</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(53.4%)</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24" name="四角形: 角を丸くする 23">
            <a:extLst>
              <a:ext uri="{FF2B5EF4-FFF2-40B4-BE49-F238E27FC236}">
                <a16:creationId xmlns:a16="http://schemas.microsoft.com/office/drawing/2014/main" id="{A8BC25AF-2987-7A7B-F6B0-58011A38981C}"/>
              </a:ext>
            </a:extLst>
          </p:cNvPr>
          <p:cNvSpPr/>
          <p:nvPr/>
        </p:nvSpPr>
        <p:spPr>
          <a:xfrm>
            <a:off x="5130800" y="3022600"/>
            <a:ext cx="63754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F3A64313-15BD-3179-9A37-78F8CDF9BF04}"/>
              </a:ext>
            </a:extLst>
          </p:cNvPr>
          <p:cNvSpPr/>
          <p:nvPr/>
        </p:nvSpPr>
        <p:spPr>
          <a:xfrm>
            <a:off x="5207000" y="3136900"/>
            <a:ext cx="228600" cy="228600"/>
          </a:xfrm>
          <a:prstGeom prst="ellipse">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C2F64BDC-0443-6893-C87F-4510BE50DB88}"/>
              </a:ext>
            </a:extLst>
          </p:cNvPr>
          <p:cNvSpPr txBox="1"/>
          <p:nvPr/>
        </p:nvSpPr>
        <p:spPr>
          <a:xfrm>
            <a:off x="5537200" y="30734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今日初めて知った</a:t>
            </a:r>
          </a:p>
        </p:txBody>
      </p:sp>
      <p:sp>
        <p:nvSpPr>
          <p:cNvPr id="27" name="テキスト ボックス 26">
            <a:extLst>
              <a:ext uri="{FF2B5EF4-FFF2-40B4-BE49-F238E27FC236}">
                <a16:creationId xmlns:a16="http://schemas.microsoft.com/office/drawing/2014/main" id="{810CF2A2-866C-F475-A706-BBBBBE5C2CF1}"/>
              </a:ext>
            </a:extLst>
          </p:cNvPr>
          <p:cNvSpPr txBox="1"/>
          <p:nvPr/>
        </p:nvSpPr>
        <p:spPr>
          <a:xfrm>
            <a:off x="9842500" y="30734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F59E0B"/>
                </a:solidFill>
                <a:latin typeface="Meiryo UI" panose="020B0604030504040204" pitchFamily="50" charset="-128"/>
                <a:ea typeface="Meiryo UI" panose="020B0604030504040204" pitchFamily="50" charset="-128"/>
              </a:rPr>
              <a:t>67</a:t>
            </a:r>
            <a:r>
              <a:rPr kumimoji="1" lang="ja-JP" altLang="en-US" sz="1550" b="1">
                <a:solidFill>
                  <a:srgbClr val="F59E0B"/>
                </a:solidFill>
                <a:latin typeface="Meiryo UI" panose="020B0604030504040204" pitchFamily="50" charset="-128"/>
                <a:ea typeface="Meiryo UI" panose="020B0604030504040204" pitchFamily="50" charset="-128"/>
              </a:rPr>
              <a:t>名 </a:t>
            </a:r>
            <a:r>
              <a:rPr kumimoji="1" lang="en-US" altLang="ja-JP" sz="1550" b="1">
                <a:solidFill>
                  <a:srgbClr val="F59E0B"/>
                </a:solidFill>
                <a:latin typeface="Meiryo UI" panose="020B0604030504040204" pitchFamily="50" charset="-128"/>
                <a:ea typeface="Meiryo UI" panose="020B0604030504040204" pitchFamily="50" charset="-128"/>
              </a:rPr>
              <a:t>(28.4%)</a:t>
            </a:r>
            <a:endParaRPr kumimoji="1" lang="ja-JP" altLang="en-US" sz="1550" b="1">
              <a:solidFill>
                <a:srgbClr val="F59E0B"/>
              </a:solidFill>
              <a:latin typeface="Meiryo UI" panose="020B0604030504040204" pitchFamily="50" charset="-128"/>
              <a:ea typeface="Meiryo UI" panose="020B0604030504040204" pitchFamily="50" charset="-128"/>
            </a:endParaRPr>
          </a:p>
        </p:txBody>
      </p:sp>
      <p:sp>
        <p:nvSpPr>
          <p:cNvPr id="28" name="楕円 27">
            <a:extLst>
              <a:ext uri="{FF2B5EF4-FFF2-40B4-BE49-F238E27FC236}">
                <a16:creationId xmlns:a16="http://schemas.microsoft.com/office/drawing/2014/main" id="{F5EF454D-9D4C-7AFD-3E1C-4CB882E83ABC}"/>
              </a:ext>
            </a:extLst>
          </p:cNvPr>
          <p:cNvSpPr/>
          <p:nvPr/>
        </p:nvSpPr>
        <p:spPr>
          <a:xfrm>
            <a:off x="5207000" y="3797300"/>
            <a:ext cx="228600" cy="22860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D2969F29-922E-5FA6-EF07-E48962E7C23A}"/>
              </a:ext>
            </a:extLst>
          </p:cNvPr>
          <p:cNvSpPr txBox="1"/>
          <p:nvPr/>
        </p:nvSpPr>
        <p:spPr>
          <a:xfrm>
            <a:off x="5537200" y="37338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よく知っている（利用経験有）</a:t>
            </a:r>
          </a:p>
        </p:txBody>
      </p:sp>
      <p:sp>
        <p:nvSpPr>
          <p:cNvPr id="30" name="テキスト ボックス 29">
            <a:extLst>
              <a:ext uri="{FF2B5EF4-FFF2-40B4-BE49-F238E27FC236}">
                <a16:creationId xmlns:a16="http://schemas.microsoft.com/office/drawing/2014/main" id="{5B0E7040-CBD9-152C-FCED-05A77DA9B6CD}"/>
              </a:ext>
            </a:extLst>
          </p:cNvPr>
          <p:cNvSpPr txBox="1"/>
          <p:nvPr/>
        </p:nvSpPr>
        <p:spPr>
          <a:xfrm>
            <a:off x="9842500" y="37338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10B981"/>
                </a:solidFill>
                <a:latin typeface="Meiryo UI" panose="020B0604030504040204" pitchFamily="50" charset="-128"/>
                <a:ea typeface="Meiryo UI" panose="020B0604030504040204" pitchFamily="50" charset="-128"/>
              </a:rPr>
              <a:t>39</a:t>
            </a:r>
            <a:r>
              <a:rPr kumimoji="1" lang="ja-JP" altLang="en-US" sz="1550" b="1">
                <a:solidFill>
                  <a:srgbClr val="10B981"/>
                </a:solidFill>
                <a:latin typeface="Meiryo UI" panose="020B0604030504040204" pitchFamily="50" charset="-128"/>
                <a:ea typeface="Meiryo UI" panose="020B0604030504040204" pitchFamily="50" charset="-128"/>
              </a:rPr>
              <a:t>名 </a:t>
            </a:r>
            <a:r>
              <a:rPr kumimoji="1" lang="en-US" altLang="ja-JP" sz="1550" b="1">
                <a:solidFill>
                  <a:srgbClr val="10B981"/>
                </a:solidFill>
                <a:latin typeface="Meiryo UI" panose="020B0604030504040204" pitchFamily="50" charset="-128"/>
                <a:ea typeface="Meiryo UI" panose="020B0604030504040204" pitchFamily="50" charset="-128"/>
              </a:rPr>
              <a:t>(16.5%)</a:t>
            </a:r>
            <a:endParaRPr kumimoji="1" lang="ja-JP" altLang="en-US" sz="1550" b="1">
              <a:solidFill>
                <a:srgbClr val="10B981"/>
              </a:solidFill>
              <a:latin typeface="Meiryo UI" panose="020B0604030504040204" pitchFamily="50" charset="-128"/>
              <a:ea typeface="Meiryo UI" panose="020B0604030504040204" pitchFamily="50" charset="-128"/>
            </a:endParaRPr>
          </a:p>
        </p:txBody>
      </p:sp>
      <p:sp>
        <p:nvSpPr>
          <p:cNvPr id="31" name="楕円 30">
            <a:extLst>
              <a:ext uri="{FF2B5EF4-FFF2-40B4-BE49-F238E27FC236}">
                <a16:creationId xmlns:a16="http://schemas.microsoft.com/office/drawing/2014/main" id="{2DE3E2DA-E1C8-9C11-A32F-84725DB9A5D1}"/>
              </a:ext>
            </a:extLst>
          </p:cNvPr>
          <p:cNvSpPr/>
          <p:nvPr/>
        </p:nvSpPr>
        <p:spPr>
          <a:xfrm>
            <a:off x="5207000" y="4406900"/>
            <a:ext cx="228600" cy="2286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B8A7739B-5327-175F-4096-280E3372717A}"/>
              </a:ext>
            </a:extLst>
          </p:cNvPr>
          <p:cNvSpPr txBox="1"/>
          <p:nvPr/>
        </p:nvSpPr>
        <p:spPr>
          <a:xfrm>
            <a:off x="5537200" y="43434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33" name="テキスト ボックス 32">
            <a:extLst>
              <a:ext uri="{FF2B5EF4-FFF2-40B4-BE49-F238E27FC236}">
                <a16:creationId xmlns:a16="http://schemas.microsoft.com/office/drawing/2014/main" id="{66DCCA09-11DA-F683-9441-C82F243050AF}"/>
              </a:ext>
            </a:extLst>
          </p:cNvPr>
          <p:cNvSpPr txBox="1"/>
          <p:nvPr/>
        </p:nvSpPr>
        <p:spPr>
          <a:xfrm>
            <a:off x="9842500" y="43434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94A3B8"/>
                </a:solidFill>
                <a:latin typeface="Meiryo UI" panose="020B0604030504040204" pitchFamily="50" charset="-128"/>
                <a:ea typeface="Meiryo UI" panose="020B0604030504040204" pitchFamily="50" charset="-128"/>
              </a:rPr>
              <a:t>4</a:t>
            </a:r>
            <a:r>
              <a:rPr kumimoji="1" lang="ja-JP" altLang="en-US" sz="1550" b="1">
                <a:solidFill>
                  <a:srgbClr val="94A3B8"/>
                </a:solidFill>
                <a:latin typeface="Meiryo UI" panose="020B0604030504040204" pitchFamily="50" charset="-128"/>
                <a:ea typeface="Meiryo UI" panose="020B0604030504040204" pitchFamily="50" charset="-128"/>
              </a:rPr>
              <a:t>名 </a:t>
            </a:r>
            <a:r>
              <a:rPr kumimoji="1" lang="en-US" altLang="ja-JP" sz="1550" b="1">
                <a:solidFill>
                  <a:srgbClr val="94A3B8"/>
                </a:solidFill>
                <a:latin typeface="Meiryo UI" panose="020B0604030504040204" pitchFamily="50" charset="-128"/>
                <a:ea typeface="Meiryo UI" panose="020B0604030504040204" pitchFamily="50" charset="-128"/>
              </a:rPr>
              <a:t>(1.7%)</a:t>
            </a:r>
            <a:endParaRPr kumimoji="1" lang="ja-JP" altLang="en-US" sz="1550" b="1">
              <a:solidFill>
                <a:srgbClr val="94A3B8"/>
              </a:solidFill>
              <a:latin typeface="Meiryo UI" panose="020B0604030504040204" pitchFamily="50" charset="-128"/>
              <a:ea typeface="Meiryo UI" panose="020B0604030504040204" pitchFamily="50" charset="-128"/>
            </a:endParaRPr>
          </a:p>
        </p:txBody>
      </p:sp>
      <p:sp>
        <p:nvSpPr>
          <p:cNvPr id="34" name="四角形: 角を丸くする 33">
            <a:extLst>
              <a:ext uri="{FF2B5EF4-FFF2-40B4-BE49-F238E27FC236}">
                <a16:creationId xmlns:a16="http://schemas.microsoft.com/office/drawing/2014/main" id="{82090F12-21D7-F74F-B77A-DF73A2B56B17}"/>
              </a:ext>
            </a:extLst>
          </p:cNvPr>
          <p:cNvSpPr/>
          <p:nvPr/>
        </p:nvSpPr>
        <p:spPr>
          <a:xfrm>
            <a:off x="5130800" y="5003800"/>
            <a:ext cx="6426200" cy="1295400"/>
          </a:xfrm>
          <a:prstGeom prst="roundRect">
            <a:avLst>
              <a:gd name="adj" fmla="val 12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81E2519C-7539-A675-37E2-E8886727D714}"/>
              </a:ext>
            </a:extLst>
          </p:cNvPr>
          <p:cNvSpPr txBox="1"/>
          <p:nvPr/>
        </p:nvSpPr>
        <p:spPr>
          <a:xfrm>
            <a:off x="5334000" y="5130800"/>
            <a:ext cx="6045200" cy="1056700"/>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・半数以上の</a:t>
            </a:r>
            <a:r>
              <a:rPr kumimoji="1" lang="en-US" altLang="ja-JP" sz="1550" b="1">
                <a:solidFill>
                  <a:srgbClr val="1E293B"/>
                </a:solidFill>
                <a:latin typeface="Meiryo UI" panose="020B0604030504040204" pitchFamily="50" charset="-128"/>
                <a:ea typeface="Meiryo UI" panose="020B0604030504040204" pitchFamily="50" charset="-128"/>
              </a:rPr>
              <a:t>126</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53.4%</a:t>
            </a:r>
            <a:r>
              <a:rPr kumimoji="1" lang="ja-JP" altLang="en-US" sz="1550" b="1">
                <a:solidFill>
                  <a:srgbClr val="1E293B"/>
                </a:solidFill>
                <a:latin typeface="Meiryo UI" panose="020B0604030504040204" pitchFamily="50" charset="-128"/>
                <a:ea typeface="Meiryo UI" panose="020B0604030504040204" pitchFamily="50" charset="-128"/>
              </a:rPr>
              <a:t>）が「名前や場所は知っている」と回答した。
・</a:t>
            </a:r>
            <a:r>
              <a:rPr kumimoji="1" lang="en-US" altLang="ja-JP" sz="1550" b="1">
                <a:solidFill>
                  <a:srgbClr val="1E293B"/>
                </a:solidFill>
                <a:latin typeface="Meiryo UI" panose="020B0604030504040204" pitchFamily="50" charset="-128"/>
                <a:ea typeface="Meiryo UI" panose="020B0604030504040204" pitchFamily="50" charset="-128"/>
              </a:rPr>
              <a:t>67</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28.4%</a:t>
            </a:r>
            <a:r>
              <a:rPr kumimoji="1" lang="ja-JP" altLang="en-US" sz="1550" b="1">
                <a:solidFill>
                  <a:srgbClr val="1E293B"/>
                </a:solidFill>
                <a:latin typeface="Meiryo UI" panose="020B0604030504040204" pitchFamily="50" charset="-128"/>
                <a:ea typeface="Meiryo UI" panose="020B0604030504040204" pitchFamily="50" charset="-128"/>
              </a:rPr>
              <a:t>）が「今日初めて知った」、</a:t>
            </a:r>
            <a:r>
              <a:rPr kumimoji="1" lang="en-US" altLang="ja-JP" sz="1550" b="1">
                <a:solidFill>
                  <a:srgbClr val="1E293B"/>
                </a:solidFill>
                <a:latin typeface="Meiryo UI" panose="020B0604030504040204" pitchFamily="50" charset="-128"/>
                <a:ea typeface="Meiryo UI" panose="020B0604030504040204" pitchFamily="50" charset="-128"/>
              </a:rPr>
              <a:t>39</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16.5%</a:t>
            </a:r>
            <a:r>
              <a:rPr kumimoji="1" lang="ja-JP" altLang="en-US" sz="1550" b="1">
                <a:solidFill>
                  <a:srgbClr val="1E293B"/>
                </a:solidFill>
                <a:latin typeface="Meiryo UI" panose="020B0604030504040204" pitchFamily="50" charset="-128"/>
                <a:ea typeface="Meiryo UI" panose="020B0604030504040204" pitchFamily="50" charset="-128"/>
              </a:rPr>
              <a:t>）が「よく知っている」と回答した。</a:t>
            </a:r>
          </a:p>
        </p:txBody>
      </p:sp>
    </p:spTree>
    <p:extLst>
      <p:ext uri="{BB962C8B-B14F-4D97-AF65-F5344CB8AC3E}">
        <p14:creationId xmlns:p14="http://schemas.microsoft.com/office/powerpoint/2010/main" val="761293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9ADA4B1-A4C3-3607-4D18-98844E90EBFF}"/>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8C432530-D95A-704E-1EB2-A735C59AB594}"/>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1BE6FC89-5E6E-62D6-AE35-6D7D875AD689}"/>
              </a:ext>
            </a:extLst>
          </p:cNvPr>
          <p:cNvSpPr/>
          <p:nvPr/>
        </p:nvSpPr>
        <p:spPr>
          <a:xfrm>
            <a:off x="457200" y="330200"/>
            <a:ext cx="2082800" cy="4064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67FA3643-0046-C767-2904-D0D145F1AFD8}"/>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部：来場者結果⑤</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F979D1E1-E477-2B39-B12E-5BD85332EB02}"/>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Q3. </a:t>
            </a:r>
            <a:r>
              <a:rPr kumimoji="1" lang="ja-JP" altLang="en-US" sz="2100" b="1">
                <a:solidFill>
                  <a:srgbClr val="1E293B"/>
                </a:solidFill>
                <a:latin typeface="Meiryo UI" panose="020B0604030504040204" pitchFamily="50" charset="-128"/>
                <a:ea typeface="Meiryo UI" panose="020B0604030504040204" pitchFamily="50" charset="-128"/>
              </a:rPr>
              <a:t>万が一の際、当院を利用したいですか？（当院の評価）</a:t>
            </a:r>
          </a:p>
        </p:txBody>
      </p:sp>
      <p:sp>
        <p:nvSpPr>
          <p:cNvPr id="7" name="四角形: 角を丸くする 6">
            <a:extLst>
              <a:ext uri="{FF2B5EF4-FFF2-40B4-BE49-F238E27FC236}">
                <a16:creationId xmlns:a16="http://schemas.microsoft.com/office/drawing/2014/main" id="{87C56D13-B102-F00E-884D-25D0F06F99AF}"/>
              </a:ext>
            </a:extLst>
          </p:cNvPr>
          <p:cNvSpPr/>
          <p:nvPr/>
        </p:nvSpPr>
        <p:spPr>
          <a:xfrm>
            <a:off x="10871200" y="330200"/>
            <a:ext cx="863600" cy="381000"/>
          </a:xfrm>
          <a:prstGeom prst="roundRect">
            <a:avLst>
              <a:gd name="adj" fmla="val 5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4AF73A06-5C2B-5A17-5E31-455D13419195}"/>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10B981"/>
                </a:solidFill>
                <a:latin typeface="Meiryo UI" panose="020B0604030504040204" pitchFamily="50" charset="-128"/>
                <a:ea typeface="Meiryo UI" panose="020B0604030504040204" pitchFamily="50" charset="-128"/>
              </a:rPr>
              <a:t>7 / 22</a:t>
            </a:r>
            <a:endParaRPr kumimoji="1" lang="ja-JP" altLang="en-US" sz="1250" b="1">
              <a:solidFill>
                <a:srgbClr val="10B98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D9BE6B3C-D29C-2BC6-16BD-FAF62F0CF899}"/>
              </a:ext>
            </a:extLst>
          </p:cNvPr>
          <p:cNvSpPr/>
          <p:nvPr/>
        </p:nvSpPr>
        <p:spPr>
          <a:xfrm>
            <a:off x="457200" y="838200"/>
            <a:ext cx="11277600" cy="431800"/>
          </a:xfrm>
          <a:prstGeom prst="roundRect">
            <a:avLst>
              <a:gd name="adj" fmla="val 3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982B04BB-0DF7-BD51-88B7-BFF79D5E277E}"/>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10B981"/>
                </a:solidFill>
                <a:latin typeface="Meiryo UI" panose="020B0604030504040204" pitchFamily="50" charset="-128"/>
                <a:ea typeface="Meiryo UI" panose="020B0604030504040204" pitchFamily="50" charset="-128"/>
              </a:rPr>
              <a:t>「ぜひ利用したい（</a:t>
            </a:r>
            <a:r>
              <a:rPr kumimoji="1" lang="en-US" altLang="ja-JP" sz="1500" b="1">
                <a:solidFill>
                  <a:srgbClr val="10B981"/>
                </a:solidFill>
                <a:latin typeface="Meiryo UI" panose="020B0604030504040204" pitchFamily="50" charset="-128"/>
                <a:ea typeface="Meiryo UI" panose="020B0604030504040204" pitchFamily="50" charset="-128"/>
              </a:rPr>
              <a:t>25.4%</a:t>
            </a:r>
            <a:r>
              <a:rPr kumimoji="1" lang="ja-JP" altLang="en-US" sz="1500" b="1">
                <a:solidFill>
                  <a:srgbClr val="10B981"/>
                </a:solidFill>
                <a:latin typeface="Meiryo UI" panose="020B0604030504040204" pitchFamily="50" charset="-128"/>
                <a:ea typeface="Meiryo UI" panose="020B0604030504040204" pitchFamily="50" charset="-128"/>
              </a:rPr>
              <a:t>）」と「候補として検討したい（</a:t>
            </a:r>
            <a:r>
              <a:rPr kumimoji="1" lang="en-US" altLang="ja-JP" sz="1500" b="1">
                <a:solidFill>
                  <a:srgbClr val="10B981"/>
                </a:solidFill>
                <a:latin typeface="Meiryo UI" panose="020B0604030504040204" pitchFamily="50" charset="-128"/>
                <a:ea typeface="Meiryo UI" panose="020B0604030504040204" pitchFamily="50" charset="-128"/>
              </a:rPr>
              <a:t>64.8%</a:t>
            </a:r>
            <a:r>
              <a:rPr kumimoji="1" lang="ja-JP" altLang="en-US" sz="1500" b="1">
                <a:solidFill>
                  <a:srgbClr val="10B981"/>
                </a:solidFill>
                <a:latin typeface="Meiryo UI" panose="020B0604030504040204" pitchFamily="50" charset="-128"/>
                <a:ea typeface="Meiryo UI" panose="020B0604030504040204" pitchFamily="50" charset="-128"/>
              </a:rPr>
              <a:t>）」を合わせ、</a:t>
            </a:r>
            <a:r>
              <a:rPr kumimoji="1" lang="en-US" altLang="ja-JP" sz="1500" b="1">
                <a:solidFill>
                  <a:srgbClr val="10B981"/>
                </a:solidFill>
                <a:latin typeface="Meiryo UI" panose="020B0604030504040204" pitchFamily="50" charset="-128"/>
                <a:ea typeface="Meiryo UI" panose="020B0604030504040204" pitchFamily="50" charset="-128"/>
              </a:rPr>
              <a:t>90.3%</a:t>
            </a:r>
            <a:r>
              <a:rPr kumimoji="1" lang="ja-JP" altLang="en-US" sz="1500" b="1">
                <a:solidFill>
                  <a:srgbClr val="10B981"/>
                </a:solidFill>
                <a:latin typeface="Meiryo UI" panose="020B0604030504040204" pitchFamily="50" charset="-128"/>
                <a:ea typeface="Meiryo UI" panose="020B0604030504040204" pitchFamily="50" charset="-128"/>
              </a:rPr>
              <a:t>が好意的評価</a:t>
            </a:r>
          </a:p>
        </p:txBody>
      </p:sp>
      <p:sp>
        <p:nvSpPr>
          <p:cNvPr id="11" name="四角形: 角を丸くする 10">
            <a:extLst>
              <a:ext uri="{FF2B5EF4-FFF2-40B4-BE49-F238E27FC236}">
                <a16:creationId xmlns:a16="http://schemas.microsoft.com/office/drawing/2014/main" id="{A46BACC8-F4F6-A56C-A52E-1A2AEAC9139F}"/>
              </a:ext>
            </a:extLst>
          </p:cNvPr>
          <p:cNvSpPr/>
          <p:nvPr/>
        </p:nvSpPr>
        <p:spPr>
          <a:xfrm>
            <a:off x="254000" y="1549400"/>
            <a:ext cx="116840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970DA3BC-A913-B697-C6F6-8293E109C564}"/>
              </a:ext>
            </a:extLst>
          </p:cNvPr>
          <p:cNvSpPr/>
          <p:nvPr/>
        </p:nvSpPr>
        <p:spPr>
          <a:xfrm>
            <a:off x="482600" y="1778000"/>
            <a:ext cx="101600" cy="3302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C28F2595-2319-8955-7315-DA6CABC129BB}"/>
              </a:ext>
            </a:extLst>
          </p:cNvPr>
          <p:cNvSpPr txBox="1"/>
          <p:nvPr/>
        </p:nvSpPr>
        <p:spPr>
          <a:xfrm>
            <a:off x="685800" y="1739900"/>
            <a:ext cx="11049000" cy="379591"/>
          </a:xfrm>
          <a:prstGeom prst="rect">
            <a:avLst/>
          </a:prstGeom>
          <a:noFill/>
        </p:spPr>
        <p:txBody>
          <a:bodyPr vert="horz" wrap="square" lIns="76200" tIns="50800" rIns="76200" bIns="50800" rtlCol="0">
            <a:spAutoFit/>
          </a:bodyPr>
          <a:lstStyle/>
          <a:p>
            <a:r>
              <a:rPr kumimoji="1" lang="en-US" altLang="ja-JP" sz="1750" b="1">
                <a:solidFill>
                  <a:srgbClr val="1E293B"/>
                </a:solidFill>
                <a:latin typeface="Meiryo UI" panose="020B0604030504040204" pitchFamily="50" charset="-128"/>
                <a:ea typeface="Meiryo UI" panose="020B0604030504040204" pitchFamily="50" charset="-128"/>
              </a:rPr>
              <a:t>Q3. </a:t>
            </a:r>
            <a:r>
              <a:rPr kumimoji="1" lang="ja-JP" altLang="en-US" sz="1750" b="1">
                <a:solidFill>
                  <a:srgbClr val="1E293B"/>
                </a:solidFill>
                <a:latin typeface="Meiryo UI" panose="020B0604030504040204" pitchFamily="50" charset="-128"/>
                <a:ea typeface="Meiryo UI" panose="020B0604030504040204" pitchFamily="50" charset="-128"/>
              </a:rPr>
              <a:t>万が一の際の利用意向（単一回答・</a:t>
            </a:r>
            <a:r>
              <a:rPr kumimoji="1" lang="en-US" altLang="ja-JP" sz="1750" b="1">
                <a:solidFill>
                  <a:srgbClr val="1E293B"/>
                </a:solidFill>
                <a:latin typeface="Meiryo UI" panose="020B0604030504040204" pitchFamily="50" charset="-128"/>
                <a:ea typeface="Meiryo UI" panose="020B0604030504040204" pitchFamily="50" charset="-128"/>
              </a:rPr>
              <a:t>N=236</a:t>
            </a:r>
            <a:r>
              <a:rPr kumimoji="1" lang="ja-JP" altLang="en-US" sz="1750" b="1">
                <a:solidFill>
                  <a:srgbClr val="1E293B"/>
                </a:solidFill>
                <a:latin typeface="Meiryo UI" panose="020B0604030504040204" pitchFamily="50" charset="-128"/>
                <a:ea typeface="Meiryo UI" panose="020B0604030504040204" pitchFamily="50" charset="-128"/>
              </a:rPr>
              <a:t>）</a:t>
            </a:r>
          </a:p>
        </p:txBody>
      </p:sp>
      <p:sp>
        <p:nvSpPr>
          <p:cNvPr id="14" name="部分円 13">
            <a:extLst>
              <a:ext uri="{FF2B5EF4-FFF2-40B4-BE49-F238E27FC236}">
                <a16:creationId xmlns:a16="http://schemas.microsoft.com/office/drawing/2014/main" id="{AF151CC6-E29F-103E-ACBC-F5F001201EF6}"/>
              </a:ext>
            </a:extLst>
          </p:cNvPr>
          <p:cNvSpPr/>
          <p:nvPr/>
        </p:nvSpPr>
        <p:spPr>
          <a:xfrm>
            <a:off x="1016000" y="2603500"/>
            <a:ext cx="3302000" cy="3302000"/>
          </a:xfrm>
          <a:prstGeom prst="pie">
            <a:avLst>
              <a:gd name="adj1" fmla="val 16200000"/>
              <a:gd name="adj2" fmla="val 864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7403DABE-B280-63D9-0207-8CD29CC8D7A0}"/>
              </a:ext>
            </a:extLst>
          </p:cNvPr>
          <p:cNvSpPr/>
          <p:nvPr/>
        </p:nvSpPr>
        <p:spPr>
          <a:xfrm>
            <a:off x="1016000" y="2603500"/>
            <a:ext cx="3302000" cy="3302000"/>
          </a:xfrm>
          <a:prstGeom prst="pie">
            <a:avLst>
              <a:gd name="adj1" fmla="val 86400"/>
              <a:gd name="adj2" fmla="val 140832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部分円 15">
            <a:extLst>
              <a:ext uri="{FF2B5EF4-FFF2-40B4-BE49-F238E27FC236}">
                <a16:creationId xmlns:a16="http://schemas.microsoft.com/office/drawing/2014/main" id="{CB51C52F-E220-EC95-E9BF-38E9CC9E3B85}"/>
              </a:ext>
            </a:extLst>
          </p:cNvPr>
          <p:cNvSpPr/>
          <p:nvPr/>
        </p:nvSpPr>
        <p:spPr>
          <a:xfrm>
            <a:off x="1016000" y="2603500"/>
            <a:ext cx="3302000" cy="3302000"/>
          </a:xfrm>
          <a:prstGeom prst="pie">
            <a:avLst>
              <a:gd name="adj1" fmla="val 14083200"/>
              <a:gd name="adj2" fmla="val 15638401"/>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部分円 16">
            <a:extLst>
              <a:ext uri="{FF2B5EF4-FFF2-40B4-BE49-F238E27FC236}">
                <a16:creationId xmlns:a16="http://schemas.microsoft.com/office/drawing/2014/main" id="{F63E92E0-5F39-2573-DA39-4D0D5C4501BC}"/>
              </a:ext>
            </a:extLst>
          </p:cNvPr>
          <p:cNvSpPr/>
          <p:nvPr/>
        </p:nvSpPr>
        <p:spPr>
          <a:xfrm>
            <a:off x="1016000" y="2603500"/>
            <a:ext cx="3302000" cy="3302000"/>
          </a:xfrm>
          <a:prstGeom prst="pie">
            <a:avLst>
              <a:gd name="adj1" fmla="val 15638401"/>
              <a:gd name="adj2" fmla="val 16178401"/>
            </a:avLst>
          </a:prstGeom>
          <a:solidFill>
            <a:srgbClr val="E2E8F0"/>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楕円 17">
            <a:extLst>
              <a:ext uri="{FF2B5EF4-FFF2-40B4-BE49-F238E27FC236}">
                <a16:creationId xmlns:a16="http://schemas.microsoft.com/office/drawing/2014/main" id="{0DDE23E4-76D4-4AB8-5549-DEF8BBBD60BA}"/>
              </a:ext>
            </a:extLst>
          </p:cNvPr>
          <p:cNvSpPr/>
          <p:nvPr/>
        </p:nvSpPr>
        <p:spPr>
          <a:xfrm>
            <a:off x="1775460" y="3362960"/>
            <a:ext cx="1783080" cy="178308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EDA5D22F-5649-3C8F-4691-CB20197D589E}"/>
              </a:ext>
            </a:extLst>
          </p:cNvPr>
          <p:cNvSpPr txBox="1"/>
          <p:nvPr/>
        </p:nvSpPr>
        <p:spPr>
          <a:xfrm>
            <a:off x="1826260" y="3924300"/>
            <a:ext cx="1681480" cy="348813"/>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好意的評価</a:t>
            </a:r>
          </a:p>
        </p:txBody>
      </p:sp>
      <p:sp>
        <p:nvSpPr>
          <p:cNvPr id="20" name="テキスト ボックス 19">
            <a:extLst>
              <a:ext uri="{FF2B5EF4-FFF2-40B4-BE49-F238E27FC236}">
                <a16:creationId xmlns:a16="http://schemas.microsoft.com/office/drawing/2014/main" id="{DE5EAF53-DE93-256D-92F4-9C229A5432DE}"/>
              </a:ext>
            </a:extLst>
          </p:cNvPr>
          <p:cNvSpPr txBox="1"/>
          <p:nvPr/>
        </p:nvSpPr>
        <p:spPr>
          <a:xfrm>
            <a:off x="1826260" y="4279900"/>
            <a:ext cx="1681480" cy="29495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90.3% (213</a:t>
            </a:r>
            <a:r>
              <a:rPr kumimoji="1" lang="ja-JP" altLang="en-US" sz="1250" b="1">
                <a:solidFill>
                  <a:srgbClr val="64748B"/>
                </a:solidFill>
                <a:latin typeface="Meiryo UI" panose="020B0604030504040204" pitchFamily="50" charset="-128"/>
                <a:ea typeface="Meiryo UI" panose="020B0604030504040204" pitchFamily="50" charset="-128"/>
              </a:rPr>
              <a:t>名</a:t>
            </a:r>
            <a:r>
              <a:rPr kumimoji="1" lang="en-US" altLang="ja-JP" sz="1250" b="1">
                <a:solidFill>
                  <a:srgbClr val="64748B"/>
                </a:solidFill>
                <a:latin typeface="Meiryo UI" panose="020B0604030504040204" pitchFamily="50" charset="-128"/>
                <a:ea typeface="Meiryo UI" panose="020B0604030504040204" pitchFamily="50" charset="-128"/>
              </a:rPr>
              <a:t>)</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21" name="四角形: 角を丸くする 20">
            <a:extLst>
              <a:ext uri="{FF2B5EF4-FFF2-40B4-BE49-F238E27FC236}">
                <a16:creationId xmlns:a16="http://schemas.microsoft.com/office/drawing/2014/main" id="{7617C48F-71D4-3F2A-8AB2-07D13F0CE8A3}"/>
              </a:ext>
            </a:extLst>
          </p:cNvPr>
          <p:cNvSpPr/>
          <p:nvPr/>
        </p:nvSpPr>
        <p:spPr>
          <a:xfrm>
            <a:off x="5130800" y="2362200"/>
            <a:ext cx="63754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36E315BC-7321-F39C-3D6C-43E9D6BC58E1}"/>
              </a:ext>
            </a:extLst>
          </p:cNvPr>
          <p:cNvSpPr/>
          <p:nvPr/>
        </p:nvSpPr>
        <p:spPr>
          <a:xfrm>
            <a:off x="5207000" y="2476500"/>
            <a:ext cx="228600" cy="22860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ACE24111-E518-3D22-9A31-B72C3B9BF14E}"/>
              </a:ext>
            </a:extLst>
          </p:cNvPr>
          <p:cNvSpPr txBox="1"/>
          <p:nvPr/>
        </p:nvSpPr>
        <p:spPr>
          <a:xfrm>
            <a:off x="5537200" y="24130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ぜひ利用したい</a:t>
            </a:r>
          </a:p>
        </p:txBody>
      </p:sp>
      <p:sp>
        <p:nvSpPr>
          <p:cNvPr id="24" name="テキスト ボックス 23">
            <a:extLst>
              <a:ext uri="{FF2B5EF4-FFF2-40B4-BE49-F238E27FC236}">
                <a16:creationId xmlns:a16="http://schemas.microsoft.com/office/drawing/2014/main" id="{F581DB06-6955-1954-8109-5C0EC00FFFA9}"/>
              </a:ext>
            </a:extLst>
          </p:cNvPr>
          <p:cNvSpPr txBox="1"/>
          <p:nvPr/>
        </p:nvSpPr>
        <p:spPr>
          <a:xfrm>
            <a:off x="9842500" y="24130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10B981"/>
                </a:solidFill>
                <a:latin typeface="Meiryo UI" panose="020B0604030504040204" pitchFamily="50" charset="-128"/>
                <a:ea typeface="Meiryo UI" panose="020B0604030504040204" pitchFamily="50" charset="-128"/>
              </a:rPr>
              <a:t>60</a:t>
            </a:r>
            <a:r>
              <a:rPr kumimoji="1" lang="ja-JP" altLang="en-US" sz="1550" b="1">
                <a:solidFill>
                  <a:srgbClr val="10B981"/>
                </a:solidFill>
                <a:latin typeface="Meiryo UI" panose="020B0604030504040204" pitchFamily="50" charset="-128"/>
                <a:ea typeface="Meiryo UI" panose="020B0604030504040204" pitchFamily="50" charset="-128"/>
              </a:rPr>
              <a:t>名 </a:t>
            </a:r>
            <a:r>
              <a:rPr kumimoji="1" lang="en-US" altLang="ja-JP" sz="1550" b="1">
                <a:solidFill>
                  <a:srgbClr val="10B981"/>
                </a:solidFill>
                <a:latin typeface="Meiryo UI" panose="020B0604030504040204" pitchFamily="50" charset="-128"/>
                <a:ea typeface="Meiryo UI" panose="020B0604030504040204" pitchFamily="50" charset="-128"/>
              </a:rPr>
              <a:t>(25.4%)</a:t>
            </a:r>
            <a:endParaRPr kumimoji="1" lang="ja-JP" altLang="en-US" sz="1550" b="1">
              <a:solidFill>
                <a:srgbClr val="10B981"/>
              </a:solidFill>
              <a:latin typeface="Meiryo UI" panose="020B0604030504040204" pitchFamily="50" charset="-128"/>
              <a:ea typeface="Meiryo UI" panose="020B0604030504040204" pitchFamily="50" charset="-128"/>
            </a:endParaRPr>
          </a:p>
        </p:txBody>
      </p:sp>
      <p:sp>
        <p:nvSpPr>
          <p:cNvPr id="25" name="楕円 24">
            <a:extLst>
              <a:ext uri="{FF2B5EF4-FFF2-40B4-BE49-F238E27FC236}">
                <a16:creationId xmlns:a16="http://schemas.microsoft.com/office/drawing/2014/main" id="{9A7779D8-E127-4347-4F03-231C4ADED17A}"/>
              </a:ext>
            </a:extLst>
          </p:cNvPr>
          <p:cNvSpPr/>
          <p:nvPr/>
        </p:nvSpPr>
        <p:spPr>
          <a:xfrm>
            <a:off x="5207000" y="31369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425DB3D7-E384-3BBA-8D2C-ACC7F7E290A4}"/>
              </a:ext>
            </a:extLst>
          </p:cNvPr>
          <p:cNvSpPr txBox="1"/>
          <p:nvPr/>
        </p:nvSpPr>
        <p:spPr>
          <a:xfrm>
            <a:off x="5537200" y="30734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候補の一つとして検討したい</a:t>
            </a:r>
          </a:p>
        </p:txBody>
      </p:sp>
      <p:sp>
        <p:nvSpPr>
          <p:cNvPr id="27" name="テキスト ボックス 26">
            <a:extLst>
              <a:ext uri="{FF2B5EF4-FFF2-40B4-BE49-F238E27FC236}">
                <a16:creationId xmlns:a16="http://schemas.microsoft.com/office/drawing/2014/main" id="{5B13C048-5DCC-0359-9D3B-6E48439185E9}"/>
              </a:ext>
            </a:extLst>
          </p:cNvPr>
          <p:cNvSpPr txBox="1"/>
          <p:nvPr/>
        </p:nvSpPr>
        <p:spPr>
          <a:xfrm>
            <a:off x="9842500" y="3073400"/>
            <a:ext cx="1587500" cy="579646"/>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153</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(64.8%)</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28" name="楕円 27">
            <a:extLst>
              <a:ext uri="{FF2B5EF4-FFF2-40B4-BE49-F238E27FC236}">
                <a16:creationId xmlns:a16="http://schemas.microsoft.com/office/drawing/2014/main" id="{DD065950-717A-E601-34B1-AA4DC14E2E41}"/>
              </a:ext>
            </a:extLst>
          </p:cNvPr>
          <p:cNvSpPr/>
          <p:nvPr/>
        </p:nvSpPr>
        <p:spPr>
          <a:xfrm>
            <a:off x="5207000" y="3797300"/>
            <a:ext cx="228600" cy="2286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94352DFC-E15F-D943-81AB-A7E59914631E}"/>
              </a:ext>
            </a:extLst>
          </p:cNvPr>
          <p:cNvSpPr txBox="1"/>
          <p:nvPr/>
        </p:nvSpPr>
        <p:spPr>
          <a:xfrm>
            <a:off x="5537200" y="37338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他の病院を選ぶ・わからない</a:t>
            </a:r>
          </a:p>
        </p:txBody>
      </p:sp>
      <p:sp>
        <p:nvSpPr>
          <p:cNvPr id="30" name="テキスト ボックス 29">
            <a:extLst>
              <a:ext uri="{FF2B5EF4-FFF2-40B4-BE49-F238E27FC236}">
                <a16:creationId xmlns:a16="http://schemas.microsoft.com/office/drawing/2014/main" id="{204CAC12-2AE4-6CAA-D39F-6FE2FF616DE3}"/>
              </a:ext>
            </a:extLst>
          </p:cNvPr>
          <p:cNvSpPr txBox="1"/>
          <p:nvPr/>
        </p:nvSpPr>
        <p:spPr>
          <a:xfrm>
            <a:off x="9842500" y="37338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94A3B8"/>
                </a:solidFill>
                <a:latin typeface="Meiryo UI" panose="020B0604030504040204" pitchFamily="50" charset="-128"/>
                <a:ea typeface="Meiryo UI" panose="020B0604030504040204" pitchFamily="50" charset="-128"/>
              </a:rPr>
              <a:t>17</a:t>
            </a:r>
            <a:r>
              <a:rPr kumimoji="1" lang="ja-JP" altLang="en-US" sz="1550" b="1">
                <a:solidFill>
                  <a:srgbClr val="94A3B8"/>
                </a:solidFill>
                <a:latin typeface="Meiryo UI" panose="020B0604030504040204" pitchFamily="50" charset="-128"/>
                <a:ea typeface="Meiryo UI" panose="020B0604030504040204" pitchFamily="50" charset="-128"/>
              </a:rPr>
              <a:t>名 </a:t>
            </a:r>
            <a:r>
              <a:rPr kumimoji="1" lang="en-US" altLang="ja-JP" sz="1550" b="1">
                <a:solidFill>
                  <a:srgbClr val="94A3B8"/>
                </a:solidFill>
                <a:latin typeface="Meiryo UI" panose="020B0604030504040204" pitchFamily="50" charset="-128"/>
                <a:ea typeface="Meiryo UI" panose="020B0604030504040204" pitchFamily="50" charset="-128"/>
              </a:rPr>
              <a:t>(7.2%)</a:t>
            </a:r>
            <a:endParaRPr kumimoji="1" lang="ja-JP" altLang="en-US" sz="1550" b="1">
              <a:solidFill>
                <a:srgbClr val="94A3B8"/>
              </a:solidFill>
              <a:latin typeface="Meiryo UI" panose="020B0604030504040204" pitchFamily="50" charset="-128"/>
              <a:ea typeface="Meiryo UI" panose="020B0604030504040204" pitchFamily="50" charset="-128"/>
            </a:endParaRPr>
          </a:p>
        </p:txBody>
      </p:sp>
      <p:sp>
        <p:nvSpPr>
          <p:cNvPr id="31" name="楕円 30">
            <a:extLst>
              <a:ext uri="{FF2B5EF4-FFF2-40B4-BE49-F238E27FC236}">
                <a16:creationId xmlns:a16="http://schemas.microsoft.com/office/drawing/2014/main" id="{7CE6E0C1-4295-497F-C377-2A4848AD7868}"/>
              </a:ext>
            </a:extLst>
          </p:cNvPr>
          <p:cNvSpPr/>
          <p:nvPr/>
        </p:nvSpPr>
        <p:spPr>
          <a:xfrm>
            <a:off x="5207000" y="4406900"/>
            <a:ext cx="228600" cy="228600"/>
          </a:xfrm>
          <a:prstGeom prst="ellipse">
            <a:avLst/>
          </a:prstGeom>
          <a:solidFill>
            <a:srgbClr val="0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99FB4D5D-9E80-6EB8-2CDB-271165ED5B13}"/>
              </a:ext>
            </a:extLst>
          </p:cNvPr>
          <p:cNvSpPr txBox="1"/>
          <p:nvPr/>
        </p:nvSpPr>
        <p:spPr>
          <a:xfrm>
            <a:off x="5537200" y="43434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33" name="テキスト ボックス 32">
            <a:extLst>
              <a:ext uri="{FF2B5EF4-FFF2-40B4-BE49-F238E27FC236}">
                <a16:creationId xmlns:a16="http://schemas.microsoft.com/office/drawing/2014/main" id="{AB6797F6-C568-E25D-98ED-2950810C277A}"/>
              </a:ext>
            </a:extLst>
          </p:cNvPr>
          <p:cNvSpPr txBox="1"/>
          <p:nvPr/>
        </p:nvSpPr>
        <p:spPr>
          <a:xfrm>
            <a:off x="9842500" y="43434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000000"/>
                </a:solidFill>
                <a:latin typeface="Meiryo UI" panose="020B0604030504040204" pitchFamily="50" charset="-128"/>
                <a:ea typeface="Meiryo UI" panose="020B0604030504040204" pitchFamily="50" charset="-128"/>
              </a:rPr>
              <a:t>6</a:t>
            </a:r>
            <a:r>
              <a:rPr kumimoji="1" lang="ja-JP" altLang="en-US" sz="1550" b="1">
                <a:solidFill>
                  <a:srgbClr val="000000"/>
                </a:solidFill>
                <a:latin typeface="Meiryo UI" panose="020B0604030504040204" pitchFamily="50" charset="-128"/>
                <a:ea typeface="Meiryo UI" panose="020B0604030504040204" pitchFamily="50" charset="-128"/>
              </a:rPr>
              <a:t>名 </a:t>
            </a:r>
            <a:r>
              <a:rPr kumimoji="1" lang="en-US" altLang="ja-JP" sz="1550" b="1">
                <a:solidFill>
                  <a:srgbClr val="000000"/>
                </a:solidFill>
                <a:latin typeface="Meiryo UI" panose="020B0604030504040204" pitchFamily="50" charset="-128"/>
                <a:ea typeface="Meiryo UI" panose="020B0604030504040204" pitchFamily="50" charset="-128"/>
              </a:rPr>
              <a:t>(2.5%)</a:t>
            </a:r>
            <a:endParaRPr kumimoji="1" lang="ja-JP" altLang="en-US" sz="1550" b="1">
              <a:solidFill>
                <a:srgbClr val="000000"/>
              </a:solidFill>
              <a:latin typeface="Meiryo UI" panose="020B0604030504040204" pitchFamily="50" charset="-128"/>
              <a:ea typeface="Meiryo UI" panose="020B0604030504040204" pitchFamily="50" charset="-128"/>
            </a:endParaRPr>
          </a:p>
        </p:txBody>
      </p:sp>
      <p:sp>
        <p:nvSpPr>
          <p:cNvPr id="34" name="四角形: 角を丸くする 33">
            <a:extLst>
              <a:ext uri="{FF2B5EF4-FFF2-40B4-BE49-F238E27FC236}">
                <a16:creationId xmlns:a16="http://schemas.microsoft.com/office/drawing/2014/main" id="{33885C1E-8A4A-2A6E-7252-F1032D5BF87A}"/>
              </a:ext>
            </a:extLst>
          </p:cNvPr>
          <p:cNvSpPr/>
          <p:nvPr/>
        </p:nvSpPr>
        <p:spPr>
          <a:xfrm>
            <a:off x="5130800" y="5003800"/>
            <a:ext cx="6426200" cy="1295400"/>
          </a:xfrm>
          <a:prstGeom prst="roundRect">
            <a:avLst>
              <a:gd name="adj" fmla="val 12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F06BC704-97A8-49C9-77E4-CDA04C41604B}"/>
              </a:ext>
            </a:extLst>
          </p:cNvPr>
          <p:cNvSpPr txBox="1"/>
          <p:nvPr/>
        </p:nvSpPr>
        <p:spPr>
          <a:xfrm>
            <a:off x="5334000" y="5130800"/>
            <a:ext cx="6045200" cy="841256"/>
          </a:xfrm>
          <a:prstGeom prst="rect">
            <a:avLst/>
          </a:prstGeom>
          <a:noFill/>
        </p:spPr>
        <p:txBody>
          <a:bodyPr vert="horz" wrap="square" lIns="76200" tIns="50800" rIns="76200" bIns="50800" rtlCol="0">
            <a:spAutoFit/>
          </a:bodyPr>
          <a:lstStyle/>
          <a:p>
            <a:r>
              <a:rPr kumimoji="1" lang="ja-JP" altLang="en-US" sz="1600" b="1">
                <a:solidFill>
                  <a:srgbClr val="1E293B"/>
                </a:solidFill>
                <a:latin typeface="Meiryo UI" panose="020B0604030504040204" pitchFamily="50" charset="-128"/>
                <a:ea typeface="Meiryo UI" panose="020B0604030504040204" pitchFamily="50" charset="-128"/>
              </a:rPr>
              <a:t>・「候補として検討したい」</a:t>
            </a:r>
            <a:r>
              <a:rPr kumimoji="1" lang="en-US" altLang="ja-JP" sz="1600" b="1">
                <a:solidFill>
                  <a:srgbClr val="1E293B"/>
                </a:solidFill>
                <a:latin typeface="Meiryo UI" panose="020B0604030504040204" pitchFamily="50" charset="-128"/>
                <a:ea typeface="Meiryo UI" panose="020B0604030504040204" pitchFamily="50" charset="-128"/>
              </a:rPr>
              <a:t>153</a:t>
            </a:r>
            <a:r>
              <a:rPr kumimoji="1" lang="ja-JP" altLang="en-US" sz="1600" b="1">
                <a:solidFill>
                  <a:srgbClr val="1E293B"/>
                </a:solidFill>
                <a:latin typeface="Meiryo UI" panose="020B0604030504040204" pitchFamily="50" charset="-128"/>
                <a:ea typeface="Meiryo UI" panose="020B0604030504040204" pitchFamily="50" charset="-128"/>
              </a:rPr>
              <a:t>名（</a:t>
            </a:r>
            <a:r>
              <a:rPr kumimoji="1" lang="en-US" altLang="ja-JP" sz="1600" b="1">
                <a:solidFill>
                  <a:srgbClr val="1E293B"/>
                </a:solidFill>
                <a:latin typeface="Meiryo UI" panose="020B0604030504040204" pitchFamily="50" charset="-128"/>
                <a:ea typeface="Meiryo UI" panose="020B0604030504040204" pitchFamily="50" charset="-128"/>
              </a:rPr>
              <a:t>64.8%</a:t>
            </a:r>
            <a:r>
              <a:rPr kumimoji="1" lang="ja-JP" altLang="en-US" sz="1600" b="1">
                <a:solidFill>
                  <a:srgbClr val="1E293B"/>
                </a:solidFill>
                <a:latin typeface="Meiryo UI" panose="020B0604030504040204" pitchFamily="50" charset="-128"/>
                <a:ea typeface="Meiryo UI" panose="020B0604030504040204" pitchFamily="50" charset="-128"/>
              </a:rPr>
              <a:t>）と「ぜひ利用したい」</a:t>
            </a:r>
            <a:r>
              <a:rPr kumimoji="1" lang="en-US" altLang="ja-JP" sz="1600" b="1">
                <a:solidFill>
                  <a:srgbClr val="1E293B"/>
                </a:solidFill>
                <a:latin typeface="Meiryo UI" panose="020B0604030504040204" pitchFamily="50" charset="-128"/>
                <a:ea typeface="Meiryo UI" panose="020B0604030504040204" pitchFamily="50" charset="-128"/>
              </a:rPr>
              <a:t>60</a:t>
            </a:r>
            <a:r>
              <a:rPr kumimoji="1" lang="ja-JP" altLang="en-US" sz="1600" b="1">
                <a:solidFill>
                  <a:srgbClr val="1E293B"/>
                </a:solidFill>
                <a:latin typeface="Meiryo UI" panose="020B0604030504040204" pitchFamily="50" charset="-128"/>
                <a:ea typeface="Meiryo UI" panose="020B0604030504040204" pitchFamily="50" charset="-128"/>
              </a:rPr>
              <a:t>名（</a:t>
            </a:r>
            <a:r>
              <a:rPr kumimoji="1" lang="en-US" altLang="ja-JP" sz="1600" b="1">
                <a:solidFill>
                  <a:srgbClr val="1E293B"/>
                </a:solidFill>
                <a:latin typeface="Meiryo UI" panose="020B0604030504040204" pitchFamily="50" charset="-128"/>
                <a:ea typeface="Meiryo UI" panose="020B0604030504040204" pitchFamily="50" charset="-128"/>
              </a:rPr>
              <a:t>25.4%</a:t>
            </a:r>
            <a:r>
              <a:rPr kumimoji="1" lang="ja-JP" altLang="en-US" sz="1600" b="1">
                <a:solidFill>
                  <a:srgbClr val="1E293B"/>
                </a:solidFill>
                <a:latin typeface="Meiryo UI" panose="020B0604030504040204" pitchFamily="50" charset="-128"/>
                <a:ea typeface="Meiryo UI" panose="020B0604030504040204" pitchFamily="50" charset="-128"/>
              </a:rPr>
              <a:t>）を合わせ、計</a:t>
            </a:r>
            <a:r>
              <a:rPr kumimoji="1" lang="en-US" altLang="ja-JP" sz="1600" b="1">
                <a:solidFill>
                  <a:srgbClr val="1E293B"/>
                </a:solidFill>
                <a:latin typeface="Meiryo UI" panose="020B0604030504040204" pitchFamily="50" charset="-128"/>
                <a:ea typeface="Meiryo UI" panose="020B0604030504040204" pitchFamily="50" charset="-128"/>
              </a:rPr>
              <a:t>213</a:t>
            </a:r>
            <a:r>
              <a:rPr kumimoji="1" lang="ja-JP" altLang="en-US" sz="1600" b="1">
                <a:solidFill>
                  <a:srgbClr val="1E293B"/>
                </a:solidFill>
                <a:latin typeface="Meiryo UI" panose="020B0604030504040204" pitchFamily="50" charset="-128"/>
                <a:ea typeface="Meiryo UI" panose="020B0604030504040204" pitchFamily="50" charset="-128"/>
              </a:rPr>
              <a:t>名（</a:t>
            </a:r>
            <a:r>
              <a:rPr kumimoji="1" lang="en-US" altLang="ja-JP" sz="1600" b="1">
                <a:solidFill>
                  <a:srgbClr val="1E293B"/>
                </a:solidFill>
                <a:latin typeface="Meiryo UI" panose="020B0604030504040204" pitchFamily="50" charset="-128"/>
                <a:ea typeface="Meiryo UI" panose="020B0604030504040204" pitchFamily="50" charset="-128"/>
              </a:rPr>
              <a:t>90.3%</a:t>
            </a:r>
            <a:r>
              <a:rPr kumimoji="1" lang="ja-JP" altLang="en-US" sz="1600" b="1">
                <a:solidFill>
                  <a:srgbClr val="1E293B"/>
                </a:solidFill>
                <a:latin typeface="Meiryo UI" panose="020B0604030504040204" pitchFamily="50" charset="-128"/>
                <a:ea typeface="Meiryo UI" panose="020B0604030504040204" pitchFamily="50" charset="-128"/>
              </a:rPr>
              <a:t>）が前向きな利用意向を示した。</a:t>
            </a:r>
          </a:p>
        </p:txBody>
      </p:sp>
    </p:spTree>
    <p:extLst>
      <p:ext uri="{BB962C8B-B14F-4D97-AF65-F5344CB8AC3E}">
        <p14:creationId xmlns:p14="http://schemas.microsoft.com/office/powerpoint/2010/main" val="1044259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9C49CD8B-C7C4-BD44-52A2-5F1B318D8330}"/>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BCBF57F8-FF13-0E29-C865-400B0A2F63B8}"/>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B065BF05-F89D-2E1F-09CF-6D40C405042B}"/>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672BA27D-2D10-4310-2316-BA7F09D7F24C}"/>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部：来場者結果⑥</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108FF400-D67E-8B73-51BF-440E7A5693CF}"/>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Q4. </a:t>
            </a:r>
            <a:r>
              <a:rPr kumimoji="1" lang="ja-JP" altLang="en-US" sz="2100" b="1">
                <a:solidFill>
                  <a:srgbClr val="1E293B"/>
                </a:solidFill>
                <a:latin typeface="Meiryo UI" panose="020B0604030504040204" pitchFamily="50" charset="-128"/>
                <a:ea typeface="Meiryo UI" panose="020B0604030504040204" pitchFamily="50" charset="-128"/>
              </a:rPr>
              <a:t>現在健康について気になること（課題・関心のチェック）</a:t>
            </a:r>
          </a:p>
        </p:txBody>
      </p:sp>
      <p:sp>
        <p:nvSpPr>
          <p:cNvPr id="7" name="四角形: 角を丸くする 6">
            <a:extLst>
              <a:ext uri="{FF2B5EF4-FFF2-40B4-BE49-F238E27FC236}">
                <a16:creationId xmlns:a16="http://schemas.microsoft.com/office/drawing/2014/main" id="{E6B1A8EF-53F9-F7E3-7929-8EDBD19F58B0}"/>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784853ED-E069-2FF1-CFCC-F2332734D74C}"/>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8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F825B048-D601-E646-B96E-3975F9C689C4}"/>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EFB02F9E-B7F7-ED7A-5B2E-C9F5DF2CBBF2}"/>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2563EB"/>
                </a:solidFill>
                <a:latin typeface="Meiryo UI" panose="020B0604030504040204" pitchFamily="50" charset="-128"/>
                <a:ea typeface="Meiryo UI" panose="020B0604030504040204" pitchFamily="50" charset="-128"/>
              </a:rPr>
              <a:t>「転倒（</a:t>
            </a:r>
            <a:r>
              <a:rPr kumimoji="1" lang="en-US" altLang="ja-JP" sz="1500" b="1">
                <a:solidFill>
                  <a:srgbClr val="2563EB"/>
                </a:solidFill>
                <a:latin typeface="Meiryo UI" panose="020B0604030504040204" pitchFamily="50" charset="-128"/>
                <a:ea typeface="Meiryo UI" panose="020B0604030504040204" pitchFamily="50" charset="-128"/>
              </a:rPr>
              <a:t>39.4%</a:t>
            </a:r>
            <a:r>
              <a:rPr kumimoji="1" lang="ja-JP" altLang="en-US" sz="1500" b="1">
                <a:solidFill>
                  <a:srgbClr val="2563EB"/>
                </a:solidFill>
                <a:latin typeface="Meiryo UI" panose="020B0604030504040204" pitchFamily="50" charset="-128"/>
                <a:ea typeface="Meiryo UI" panose="020B0604030504040204" pitchFamily="50" charset="-128"/>
              </a:rPr>
              <a:t>）」「栄養（</a:t>
            </a:r>
            <a:r>
              <a:rPr kumimoji="1" lang="en-US" altLang="ja-JP" sz="1500" b="1">
                <a:solidFill>
                  <a:srgbClr val="2563EB"/>
                </a:solidFill>
                <a:latin typeface="Meiryo UI" panose="020B0604030504040204" pitchFamily="50" charset="-128"/>
                <a:ea typeface="Meiryo UI" panose="020B0604030504040204" pitchFamily="50" charset="-128"/>
              </a:rPr>
              <a:t>33.5%</a:t>
            </a:r>
            <a:r>
              <a:rPr kumimoji="1" lang="ja-JP" altLang="en-US" sz="1500" b="1">
                <a:solidFill>
                  <a:srgbClr val="2563EB"/>
                </a:solidFill>
                <a:latin typeface="Meiryo UI" panose="020B0604030504040204" pitchFamily="50" charset="-128"/>
                <a:ea typeface="Meiryo UI" panose="020B0604030504040204" pitchFamily="50" charset="-128"/>
              </a:rPr>
              <a:t>）」「認知機能（</a:t>
            </a:r>
            <a:r>
              <a:rPr kumimoji="1" lang="en-US" altLang="ja-JP" sz="1500" b="1">
                <a:solidFill>
                  <a:srgbClr val="2563EB"/>
                </a:solidFill>
                <a:latin typeface="Meiryo UI" panose="020B0604030504040204" pitchFamily="50" charset="-128"/>
                <a:ea typeface="Meiryo UI" panose="020B0604030504040204" pitchFamily="50" charset="-128"/>
              </a:rPr>
              <a:t>33.1%</a:t>
            </a:r>
            <a:r>
              <a:rPr kumimoji="1" lang="ja-JP" altLang="en-US" sz="1500" b="1">
                <a:solidFill>
                  <a:srgbClr val="2563EB"/>
                </a:solidFill>
                <a:latin typeface="Meiryo UI" panose="020B0604030504040204" pitchFamily="50" charset="-128"/>
                <a:ea typeface="Meiryo UI" panose="020B0604030504040204" pitchFamily="50" charset="-128"/>
              </a:rPr>
              <a:t>）」「介護・終活（</a:t>
            </a:r>
            <a:r>
              <a:rPr kumimoji="1" lang="en-US" altLang="ja-JP" sz="1500" b="1">
                <a:solidFill>
                  <a:srgbClr val="2563EB"/>
                </a:solidFill>
                <a:latin typeface="Meiryo UI" panose="020B0604030504040204" pitchFamily="50" charset="-128"/>
                <a:ea typeface="Meiryo UI" panose="020B0604030504040204" pitchFamily="50" charset="-128"/>
              </a:rPr>
              <a:t>30.1%</a:t>
            </a:r>
            <a:r>
              <a:rPr kumimoji="1" lang="ja-JP" altLang="en-US" sz="1500" b="1">
                <a:solidFill>
                  <a:srgbClr val="2563EB"/>
                </a:solidFill>
                <a:latin typeface="Meiryo UI" panose="020B0604030504040204" pitchFamily="50" charset="-128"/>
                <a:ea typeface="Meiryo UI" panose="020B0604030504040204" pitchFamily="50" charset="-128"/>
              </a:rPr>
              <a:t>）」の</a:t>
            </a:r>
            <a:r>
              <a:rPr kumimoji="1" lang="en-US" altLang="ja-JP" sz="1500" b="1">
                <a:solidFill>
                  <a:srgbClr val="2563EB"/>
                </a:solidFill>
                <a:latin typeface="Meiryo UI" panose="020B0604030504040204" pitchFamily="50" charset="-128"/>
                <a:ea typeface="Meiryo UI" panose="020B0604030504040204" pitchFamily="50" charset="-128"/>
              </a:rPr>
              <a:t>4</a:t>
            </a:r>
            <a:r>
              <a:rPr kumimoji="1" lang="ja-JP" altLang="en-US" sz="1500" b="1">
                <a:solidFill>
                  <a:srgbClr val="2563EB"/>
                </a:solidFill>
                <a:latin typeface="Meiryo UI" panose="020B0604030504040204" pitchFamily="50" charset="-128"/>
                <a:ea typeface="Meiryo UI" panose="020B0604030504040204" pitchFamily="50" charset="-128"/>
              </a:rPr>
              <a:t>項目が</a:t>
            </a:r>
            <a:r>
              <a:rPr kumimoji="1" lang="en-US" altLang="ja-JP" sz="1500" b="1">
                <a:solidFill>
                  <a:srgbClr val="2563EB"/>
                </a:solidFill>
                <a:latin typeface="Meiryo UI" panose="020B0604030504040204" pitchFamily="50" charset="-128"/>
                <a:ea typeface="Meiryo UI" panose="020B0604030504040204" pitchFamily="50" charset="-128"/>
              </a:rPr>
              <a:t>3</a:t>
            </a:r>
            <a:r>
              <a:rPr kumimoji="1" lang="ja-JP" altLang="en-US" sz="1500" b="1">
                <a:solidFill>
                  <a:srgbClr val="2563EB"/>
                </a:solidFill>
                <a:latin typeface="Meiryo UI" panose="020B0604030504040204" pitchFamily="50" charset="-128"/>
                <a:ea typeface="Meiryo UI" panose="020B0604030504040204" pitchFamily="50" charset="-128"/>
              </a:rPr>
              <a:t>割超</a:t>
            </a:r>
          </a:p>
        </p:txBody>
      </p:sp>
      <p:sp>
        <p:nvSpPr>
          <p:cNvPr id="11" name="四角形: 角を丸くする 10">
            <a:extLst>
              <a:ext uri="{FF2B5EF4-FFF2-40B4-BE49-F238E27FC236}">
                <a16:creationId xmlns:a16="http://schemas.microsoft.com/office/drawing/2014/main" id="{B98DB4A0-9D06-2E92-95F8-D19DB970BFB7}"/>
              </a:ext>
            </a:extLst>
          </p:cNvPr>
          <p:cNvSpPr/>
          <p:nvPr/>
        </p:nvSpPr>
        <p:spPr>
          <a:xfrm>
            <a:off x="254000" y="1549400"/>
            <a:ext cx="72390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39E0683F-EB38-A611-CBC2-A41DC1CBAECF}"/>
              </a:ext>
            </a:extLst>
          </p:cNvPr>
          <p:cNvSpPr/>
          <p:nvPr/>
        </p:nvSpPr>
        <p:spPr>
          <a:xfrm>
            <a:off x="482600" y="17780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DD911DB-AB48-EA05-D4DE-5151F12A151B}"/>
              </a:ext>
            </a:extLst>
          </p:cNvPr>
          <p:cNvSpPr txBox="1"/>
          <p:nvPr/>
        </p:nvSpPr>
        <p:spPr>
          <a:xfrm>
            <a:off x="685800" y="1739900"/>
            <a:ext cx="6604000" cy="379591"/>
          </a:xfrm>
          <a:prstGeom prst="rect">
            <a:avLst/>
          </a:prstGeom>
          <a:noFill/>
        </p:spPr>
        <p:txBody>
          <a:bodyPr vert="horz" wrap="square" lIns="76200" tIns="50800" rIns="76200" bIns="50800" rtlCol="0">
            <a:spAutoFit/>
          </a:bodyPr>
          <a:lstStyle/>
          <a:p>
            <a:r>
              <a:rPr kumimoji="1" lang="en-US" altLang="ja-JP" sz="1750" b="1">
                <a:solidFill>
                  <a:srgbClr val="1E293B"/>
                </a:solidFill>
                <a:latin typeface="Meiryo UI" panose="020B0604030504040204" pitchFamily="50" charset="-128"/>
                <a:ea typeface="Meiryo UI" panose="020B0604030504040204" pitchFamily="50" charset="-128"/>
              </a:rPr>
              <a:t>Q4. </a:t>
            </a:r>
            <a:r>
              <a:rPr kumimoji="1" lang="ja-JP" altLang="en-US" sz="1750" b="1">
                <a:solidFill>
                  <a:srgbClr val="1E293B"/>
                </a:solidFill>
                <a:latin typeface="Meiryo UI" panose="020B0604030504040204" pitchFamily="50" charset="-128"/>
                <a:ea typeface="Meiryo UI" panose="020B0604030504040204" pitchFamily="50" charset="-128"/>
              </a:rPr>
              <a:t>健康について気になること（複数回答・</a:t>
            </a:r>
            <a:r>
              <a:rPr kumimoji="1" lang="en-US" altLang="ja-JP" sz="1750" b="1">
                <a:solidFill>
                  <a:srgbClr val="1E293B"/>
                </a:solidFill>
                <a:latin typeface="Meiryo UI" panose="020B0604030504040204" pitchFamily="50" charset="-128"/>
                <a:ea typeface="Meiryo UI" panose="020B0604030504040204" pitchFamily="50" charset="-128"/>
              </a:rPr>
              <a:t>N=236</a:t>
            </a:r>
            <a:r>
              <a:rPr kumimoji="1" lang="ja-JP" altLang="en-US" sz="1750" b="1">
                <a:solidFill>
                  <a:srgbClr val="1E293B"/>
                </a:solidFill>
                <a:latin typeface="Meiryo UI" panose="020B0604030504040204" pitchFamily="50" charset="-128"/>
                <a:ea typeface="Meiryo UI" panose="020B0604030504040204" pitchFamily="50" charset="-128"/>
              </a:rPr>
              <a:t>）</a:t>
            </a:r>
          </a:p>
        </p:txBody>
      </p:sp>
      <p:sp>
        <p:nvSpPr>
          <p:cNvPr id="14" name="テキスト ボックス 13">
            <a:extLst>
              <a:ext uri="{FF2B5EF4-FFF2-40B4-BE49-F238E27FC236}">
                <a16:creationId xmlns:a16="http://schemas.microsoft.com/office/drawing/2014/main" id="{AF4BB345-F3B1-337C-48BD-B1A9E8D6B4F9}"/>
              </a:ext>
            </a:extLst>
          </p:cNvPr>
          <p:cNvSpPr txBox="1"/>
          <p:nvPr/>
        </p:nvSpPr>
        <p:spPr>
          <a:xfrm>
            <a:off x="508000" y="22860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足腰の衰え・転倒</a:t>
            </a:r>
          </a:p>
        </p:txBody>
      </p:sp>
      <p:sp>
        <p:nvSpPr>
          <p:cNvPr id="15" name="四角形: 角を丸くする 14">
            <a:extLst>
              <a:ext uri="{FF2B5EF4-FFF2-40B4-BE49-F238E27FC236}">
                <a16:creationId xmlns:a16="http://schemas.microsoft.com/office/drawing/2014/main" id="{514CE4A7-7899-EBB1-B5AB-BF2EA9F106FE}"/>
              </a:ext>
            </a:extLst>
          </p:cNvPr>
          <p:cNvSpPr/>
          <p:nvPr/>
        </p:nvSpPr>
        <p:spPr>
          <a:xfrm>
            <a:off x="2832100" y="2349500"/>
            <a:ext cx="2794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2E1F124-BB4F-E5D6-4E76-09B548417F17}"/>
              </a:ext>
            </a:extLst>
          </p:cNvPr>
          <p:cNvSpPr/>
          <p:nvPr/>
        </p:nvSpPr>
        <p:spPr>
          <a:xfrm>
            <a:off x="2832100" y="2349500"/>
            <a:ext cx="1104900" cy="2540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A9B28C1D-8809-3DC3-E44E-67EBBDDE4C6B}"/>
              </a:ext>
            </a:extLst>
          </p:cNvPr>
          <p:cNvSpPr txBox="1"/>
          <p:nvPr/>
        </p:nvSpPr>
        <p:spPr>
          <a:xfrm>
            <a:off x="5753100" y="2286000"/>
            <a:ext cx="1841500" cy="333425"/>
          </a:xfrm>
          <a:prstGeom prst="rect">
            <a:avLst/>
          </a:prstGeom>
          <a:noFill/>
        </p:spPr>
        <p:txBody>
          <a:bodyPr vert="horz" wrap="square" lIns="76200" tIns="50800" rIns="76200" bIns="50800" rtlCol="0">
            <a:spAutoFit/>
          </a:bodyPr>
          <a:lstStyle/>
          <a:p>
            <a:r>
              <a:rPr kumimoji="1" lang="en-US" altLang="ja-JP" sz="1500" b="1">
                <a:solidFill>
                  <a:srgbClr val="2563EB"/>
                </a:solidFill>
                <a:latin typeface="Meiryo UI" panose="020B0604030504040204" pitchFamily="50" charset="-128"/>
                <a:ea typeface="Meiryo UI" panose="020B0604030504040204" pitchFamily="50" charset="-128"/>
              </a:rPr>
              <a:t>93</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(39.4%)</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182B7E98-6A9E-34B0-B5E8-A58937A531E0}"/>
              </a:ext>
            </a:extLst>
          </p:cNvPr>
          <p:cNvSpPr txBox="1"/>
          <p:nvPr/>
        </p:nvSpPr>
        <p:spPr>
          <a:xfrm>
            <a:off x="508000" y="29210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食事・栄養バランス</a:t>
            </a:r>
          </a:p>
        </p:txBody>
      </p:sp>
      <p:sp>
        <p:nvSpPr>
          <p:cNvPr id="19" name="四角形: 角を丸くする 18">
            <a:extLst>
              <a:ext uri="{FF2B5EF4-FFF2-40B4-BE49-F238E27FC236}">
                <a16:creationId xmlns:a16="http://schemas.microsoft.com/office/drawing/2014/main" id="{7E0F56F2-6D92-AA56-DB5E-470E61370A43}"/>
              </a:ext>
            </a:extLst>
          </p:cNvPr>
          <p:cNvSpPr/>
          <p:nvPr/>
        </p:nvSpPr>
        <p:spPr>
          <a:xfrm>
            <a:off x="2832100" y="2984500"/>
            <a:ext cx="2794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5648D96E-828F-F964-D0CF-3D76FCF97E25}"/>
              </a:ext>
            </a:extLst>
          </p:cNvPr>
          <p:cNvSpPr/>
          <p:nvPr/>
        </p:nvSpPr>
        <p:spPr>
          <a:xfrm>
            <a:off x="2832100" y="2984500"/>
            <a:ext cx="939800" cy="2540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3EC586F9-D7A5-0E0D-939F-A55EEDADAD3E}"/>
              </a:ext>
            </a:extLst>
          </p:cNvPr>
          <p:cNvSpPr txBox="1"/>
          <p:nvPr/>
        </p:nvSpPr>
        <p:spPr>
          <a:xfrm>
            <a:off x="5753100" y="2921000"/>
            <a:ext cx="1841500" cy="333425"/>
          </a:xfrm>
          <a:prstGeom prst="rect">
            <a:avLst/>
          </a:prstGeom>
          <a:noFill/>
        </p:spPr>
        <p:txBody>
          <a:bodyPr vert="horz" wrap="square" lIns="76200" tIns="50800" rIns="76200" bIns="50800" rtlCol="0">
            <a:spAutoFit/>
          </a:bodyPr>
          <a:lstStyle/>
          <a:p>
            <a:r>
              <a:rPr kumimoji="1" lang="en-US" altLang="ja-JP" sz="1500" b="1">
                <a:solidFill>
                  <a:srgbClr val="10B981"/>
                </a:solidFill>
                <a:latin typeface="Meiryo UI" panose="020B0604030504040204" pitchFamily="50" charset="-128"/>
                <a:ea typeface="Meiryo UI" panose="020B0604030504040204" pitchFamily="50" charset="-128"/>
              </a:rPr>
              <a:t>79</a:t>
            </a:r>
            <a:r>
              <a:rPr kumimoji="1" lang="ja-JP" altLang="en-US" sz="1500" b="1">
                <a:solidFill>
                  <a:srgbClr val="10B981"/>
                </a:solidFill>
                <a:latin typeface="Meiryo UI" panose="020B0604030504040204" pitchFamily="50" charset="-128"/>
                <a:ea typeface="Meiryo UI" panose="020B0604030504040204" pitchFamily="50" charset="-128"/>
              </a:rPr>
              <a:t>名 </a:t>
            </a:r>
            <a:r>
              <a:rPr kumimoji="1" lang="en-US" altLang="ja-JP" sz="1500" b="1">
                <a:solidFill>
                  <a:srgbClr val="10B981"/>
                </a:solidFill>
                <a:latin typeface="Meiryo UI" panose="020B0604030504040204" pitchFamily="50" charset="-128"/>
                <a:ea typeface="Meiryo UI" panose="020B0604030504040204" pitchFamily="50" charset="-128"/>
              </a:rPr>
              <a:t>(33.5%)</a:t>
            </a:r>
            <a:endParaRPr kumimoji="1" lang="ja-JP" altLang="en-US" sz="1500" b="1">
              <a:solidFill>
                <a:srgbClr val="10B981"/>
              </a:solidFill>
              <a:latin typeface="Meiryo UI" panose="020B0604030504040204" pitchFamily="50" charset="-128"/>
              <a:ea typeface="Meiryo UI" panose="020B0604030504040204" pitchFamily="50" charset="-128"/>
            </a:endParaRPr>
          </a:p>
        </p:txBody>
      </p:sp>
      <p:sp>
        <p:nvSpPr>
          <p:cNvPr id="22" name="テキスト ボックス 21">
            <a:extLst>
              <a:ext uri="{FF2B5EF4-FFF2-40B4-BE49-F238E27FC236}">
                <a16:creationId xmlns:a16="http://schemas.microsoft.com/office/drawing/2014/main" id="{1C7FB794-7FA7-AE92-4126-EA33B24CDAC1}"/>
              </a:ext>
            </a:extLst>
          </p:cNvPr>
          <p:cNvSpPr txBox="1"/>
          <p:nvPr/>
        </p:nvSpPr>
        <p:spPr>
          <a:xfrm>
            <a:off x="508000" y="35560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物忘れ・認知機能</a:t>
            </a:r>
          </a:p>
        </p:txBody>
      </p:sp>
      <p:sp>
        <p:nvSpPr>
          <p:cNvPr id="23" name="四角形: 角を丸くする 22">
            <a:extLst>
              <a:ext uri="{FF2B5EF4-FFF2-40B4-BE49-F238E27FC236}">
                <a16:creationId xmlns:a16="http://schemas.microsoft.com/office/drawing/2014/main" id="{93FAEE09-E691-3C01-636D-6D0AF51DEC8D}"/>
              </a:ext>
            </a:extLst>
          </p:cNvPr>
          <p:cNvSpPr/>
          <p:nvPr/>
        </p:nvSpPr>
        <p:spPr>
          <a:xfrm>
            <a:off x="2832100" y="3619500"/>
            <a:ext cx="2794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7463A7B2-7FDA-49D4-AF5F-A09ADF45EF70}"/>
              </a:ext>
            </a:extLst>
          </p:cNvPr>
          <p:cNvSpPr/>
          <p:nvPr/>
        </p:nvSpPr>
        <p:spPr>
          <a:xfrm>
            <a:off x="2832100" y="3619500"/>
            <a:ext cx="927100" cy="2540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3C77692B-2E7A-B55B-8EB7-D52225040387}"/>
              </a:ext>
            </a:extLst>
          </p:cNvPr>
          <p:cNvSpPr txBox="1"/>
          <p:nvPr/>
        </p:nvSpPr>
        <p:spPr>
          <a:xfrm>
            <a:off x="5753100" y="3556000"/>
            <a:ext cx="1841500" cy="333425"/>
          </a:xfrm>
          <a:prstGeom prst="rect">
            <a:avLst/>
          </a:prstGeom>
          <a:noFill/>
        </p:spPr>
        <p:txBody>
          <a:bodyPr vert="horz" wrap="square" lIns="76200" tIns="50800" rIns="76200" bIns="50800" rtlCol="0">
            <a:spAutoFit/>
          </a:bodyPr>
          <a:lstStyle/>
          <a:p>
            <a:r>
              <a:rPr kumimoji="1" lang="en-US" altLang="ja-JP" sz="1500" b="1">
                <a:solidFill>
                  <a:srgbClr val="F59E0B"/>
                </a:solidFill>
                <a:latin typeface="Meiryo UI" panose="020B0604030504040204" pitchFamily="50" charset="-128"/>
                <a:ea typeface="Meiryo UI" panose="020B0604030504040204" pitchFamily="50" charset="-128"/>
              </a:rPr>
              <a:t>78</a:t>
            </a:r>
            <a:r>
              <a:rPr kumimoji="1" lang="ja-JP" altLang="en-US" sz="1500" b="1">
                <a:solidFill>
                  <a:srgbClr val="F59E0B"/>
                </a:solidFill>
                <a:latin typeface="Meiryo UI" panose="020B0604030504040204" pitchFamily="50" charset="-128"/>
                <a:ea typeface="Meiryo UI" panose="020B0604030504040204" pitchFamily="50" charset="-128"/>
              </a:rPr>
              <a:t>名 </a:t>
            </a:r>
            <a:r>
              <a:rPr kumimoji="1" lang="en-US" altLang="ja-JP" sz="1500" b="1">
                <a:solidFill>
                  <a:srgbClr val="F59E0B"/>
                </a:solidFill>
                <a:latin typeface="Meiryo UI" panose="020B0604030504040204" pitchFamily="50" charset="-128"/>
                <a:ea typeface="Meiryo UI" panose="020B0604030504040204" pitchFamily="50" charset="-128"/>
              </a:rPr>
              <a:t>(33.1%)</a:t>
            </a:r>
            <a:endParaRPr kumimoji="1" lang="ja-JP" altLang="en-US" sz="1500" b="1">
              <a:solidFill>
                <a:srgbClr val="F59E0B"/>
              </a:solidFill>
              <a:latin typeface="Meiryo UI" panose="020B0604030504040204" pitchFamily="50" charset="-128"/>
              <a:ea typeface="Meiryo UI" panose="020B0604030504040204" pitchFamily="50" charset="-128"/>
            </a:endParaRPr>
          </a:p>
        </p:txBody>
      </p:sp>
      <p:sp>
        <p:nvSpPr>
          <p:cNvPr id="26" name="テキスト ボックス 25">
            <a:extLst>
              <a:ext uri="{FF2B5EF4-FFF2-40B4-BE49-F238E27FC236}">
                <a16:creationId xmlns:a16="http://schemas.microsoft.com/office/drawing/2014/main" id="{9A2A4B11-AEF3-3181-599B-21099731B5B6}"/>
              </a:ext>
            </a:extLst>
          </p:cNvPr>
          <p:cNvSpPr txBox="1"/>
          <p:nvPr/>
        </p:nvSpPr>
        <p:spPr>
          <a:xfrm>
            <a:off x="508000" y="41910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将来の介護や終活</a:t>
            </a:r>
          </a:p>
        </p:txBody>
      </p:sp>
      <p:sp>
        <p:nvSpPr>
          <p:cNvPr id="27" name="四角形: 角を丸くする 26">
            <a:extLst>
              <a:ext uri="{FF2B5EF4-FFF2-40B4-BE49-F238E27FC236}">
                <a16:creationId xmlns:a16="http://schemas.microsoft.com/office/drawing/2014/main" id="{8E06347E-6AD4-B377-1B8E-0292E9F43365}"/>
              </a:ext>
            </a:extLst>
          </p:cNvPr>
          <p:cNvSpPr/>
          <p:nvPr/>
        </p:nvSpPr>
        <p:spPr>
          <a:xfrm>
            <a:off x="2832100" y="4254500"/>
            <a:ext cx="2794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72F56597-A7B3-1A22-4264-D5B5740192C2}"/>
              </a:ext>
            </a:extLst>
          </p:cNvPr>
          <p:cNvSpPr/>
          <p:nvPr/>
        </p:nvSpPr>
        <p:spPr>
          <a:xfrm>
            <a:off x="2832100" y="4254500"/>
            <a:ext cx="838200" cy="254000"/>
          </a:xfrm>
          <a:prstGeom prst="roundRect">
            <a:avLst>
              <a:gd name="adj" fmla="val 50000"/>
            </a:avLst>
          </a:prstGeom>
          <a:solidFill>
            <a:srgbClr val="8B5C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E9C501DA-A56D-4B62-4EA3-CBA3333A862F}"/>
              </a:ext>
            </a:extLst>
          </p:cNvPr>
          <p:cNvSpPr txBox="1"/>
          <p:nvPr/>
        </p:nvSpPr>
        <p:spPr>
          <a:xfrm>
            <a:off x="5753100" y="4191000"/>
            <a:ext cx="1841500" cy="333425"/>
          </a:xfrm>
          <a:prstGeom prst="rect">
            <a:avLst/>
          </a:prstGeom>
          <a:noFill/>
        </p:spPr>
        <p:txBody>
          <a:bodyPr vert="horz" wrap="square" lIns="76200" tIns="50800" rIns="76200" bIns="50800" rtlCol="0">
            <a:spAutoFit/>
          </a:bodyPr>
          <a:lstStyle/>
          <a:p>
            <a:r>
              <a:rPr kumimoji="1" lang="en-US" altLang="ja-JP" sz="1500" b="1">
                <a:solidFill>
                  <a:srgbClr val="8B5CF6"/>
                </a:solidFill>
                <a:latin typeface="Meiryo UI" panose="020B0604030504040204" pitchFamily="50" charset="-128"/>
                <a:ea typeface="Meiryo UI" panose="020B0604030504040204" pitchFamily="50" charset="-128"/>
              </a:rPr>
              <a:t>71</a:t>
            </a:r>
            <a:r>
              <a:rPr kumimoji="1" lang="ja-JP" altLang="en-US" sz="1500" b="1">
                <a:solidFill>
                  <a:srgbClr val="8B5CF6"/>
                </a:solidFill>
                <a:latin typeface="Meiryo UI" panose="020B0604030504040204" pitchFamily="50" charset="-128"/>
                <a:ea typeface="Meiryo UI" panose="020B0604030504040204" pitchFamily="50" charset="-128"/>
              </a:rPr>
              <a:t>名 </a:t>
            </a:r>
            <a:r>
              <a:rPr kumimoji="1" lang="en-US" altLang="ja-JP" sz="1500" b="1">
                <a:solidFill>
                  <a:srgbClr val="8B5CF6"/>
                </a:solidFill>
                <a:latin typeface="Meiryo UI" panose="020B0604030504040204" pitchFamily="50" charset="-128"/>
                <a:ea typeface="Meiryo UI" panose="020B0604030504040204" pitchFamily="50" charset="-128"/>
              </a:rPr>
              <a:t>(30.1%)</a:t>
            </a:r>
            <a:endParaRPr kumimoji="1" lang="ja-JP" altLang="en-US" sz="1500" b="1">
              <a:solidFill>
                <a:srgbClr val="8B5CF6"/>
              </a:solidFill>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BE43570B-8C7F-6344-028C-99572D1832DF}"/>
              </a:ext>
            </a:extLst>
          </p:cNvPr>
          <p:cNvSpPr txBox="1"/>
          <p:nvPr/>
        </p:nvSpPr>
        <p:spPr>
          <a:xfrm>
            <a:off x="508000" y="48260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とくにない</a:t>
            </a:r>
          </a:p>
        </p:txBody>
      </p:sp>
      <p:sp>
        <p:nvSpPr>
          <p:cNvPr id="31" name="四角形: 角を丸くする 30">
            <a:extLst>
              <a:ext uri="{FF2B5EF4-FFF2-40B4-BE49-F238E27FC236}">
                <a16:creationId xmlns:a16="http://schemas.microsoft.com/office/drawing/2014/main" id="{4D19BCEE-26F8-A7A4-844C-A1EC76D647D3}"/>
              </a:ext>
            </a:extLst>
          </p:cNvPr>
          <p:cNvSpPr/>
          <p:nvPr/>
        </p:nvSpPr>
        <p:spPr>
          <a:xfrm>
            <a:off x="2832100" y="4889500"/>
            <a:ext cx="2794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ED8FC400-5ABB-D344-AB71-2A3584B068F4}"/>
              </a:ext>
            </a:extLst>
          </p:cNvPr>
          <p:cNvSpPr/>
          <p:nvPr/>
        </p:nvSpPr>
        <p:spPr>
          <a:xfrm>
            <a:off x="2832100" y="4889500"/>
            <a:ext cx="406400" cy="254000"/>
          </a:xfrm>
          <a:prstGeom prst="roundRect">
            <a:avLst>
              <a:gd name="adj" fmla="val 50000"/>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50724D67-6D86-195B-6D9A-2400E579E634}"/>
              </a:ext>
            </a:extLst>
          </p:cNvPr>
          <p:cNvSpPr txBox="1"/>
          <p:nvPr/>
        </p:nvSpPr>
        <p:spPr>
          <a:xfrm>
            <a:off x="5753100" y="4826000"/>
            <a:ext cx="1841500" cy="333425"/>
          </a:xfrm>
          <a:prstGeom prst="rect">
            <a:avLst/>
          </a:prstGeom>
          <a:noFill/>
        </p:spPr>
        <p:txBody>
          <a:bodyPr vert="horz" wrap="square" lIns="76200" tIns="50800" rIns="76200" bIns="50800" rtlCol="0">
            <a:spAutoFit/>
          </a:bodyPr>
          <a:lstStyle/>
          <a:p>
            <a:r>
              <a:rPr kumimoji="1" lang="en-US" altLang="ja-JP" sz="1500" b="1">
                <a:solidFill>
                  <a:srgbClr val="94A3B8"/>
                </a:solidFill>
                <a:latin typeface="Meiryo UI" panose="020B0604030504040204" pitchFamily="50" charset="-128"/>
                <a:ea typeface="Meiryo UI" panose="020B0604030504040204" pitchFamily="50" charset="-128"/>
              </a:rPr>
              <a:t>34</a:t>
            </a:r>
            <a:r>
              <a:rPr kumimoji="1" lang="ja-JP" altLang="en-US" sz="1500" b="1">
                <a:solidFill>
                  <a:srgbClr val="94A3B8"/>
                </a:solidFill>
                <a:latin typeface="Meiryo UI" panose="020B0604030504040204" pitchFamily="50" charset="-128"/>
                <a:ea typeface="Meiryo UI" panose="020B0604030504040204" pitchFamily="50" charset="-128"/>
              </a:rPr>
              <a:t>名 </a:t>
            </a:r>
            <a:r>
              <a:rPr kumimoji="1" lang="en-US" altLang="ja-JP" sz="1500" b="1">
                <a:solidFill>
                  <a:srgbClr val="94A3B8"/>
                </a:solidFill>
                <a:latin typeface="Meiryo UI" panose="020B0604030504040204" pitchFamily="50" charset="-128"/>
                <a:ea typeface="Meiryo UI" panose="020B0604030504040204" pitchFamily="50" charset="-128"/>
              </a:rPr>
              <a:t>(14.4%)</a:t>
            </a:r>
            <a:endParaRPr kumimoji="1" lang="ja-JP" altLang="en-US" sz="1500" b="1">
              <a:solidFill>
                <a:srgbClr val="94A3B8"/>
              </a:solidFill>
              <a:latin typeface="Meiryo UI" panose="020B0604030504040204" pitchFamily="50" charset="-128"/>
              <a:ea typeface="Meiryo UI" panose="020B0604030504040204" pitchFamily="50" charset="-128"/>
            </a:endParaRPr>
          </a:p>
        </p:txBody>
      </p:sp>
      <p:sp>
        <p:nvSpPr>
          <p:cNvPr id="34" name="テキスト ボックス 33">
            <a:extLst>
              <a:ext uri="{FF2B5EF4-FFF2-40B4-BE49-F238E27FC236}">
                <a16:creationId xmlns:a16="http://schemas.microsoft.com/office/drawing/2014/main" id="{3A08F8E6-DB03-340E-84B6-545BE929960E}"/>
              </a:ext>
            </a:extLst>
          </p:cNvPr>
          <p:cNvSpPr txBox="1"/>
          <p:nvPr/>
        </p:nvSpPr>
        <p:spPr>
          <a:xfrm>
            <a:off x="508000" y="54610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薬の飲み方 ／ その他</a:t>
            </a:r>
          </a:p>
        </p:txBody>
      </p:sp>
      <p:sp>
        <p:nvSpPr>
          <p:cNvPr id="35" name="四角形: 角を丸くする 34">
            <a:extLst>
              <a:ext uri="{FF2B5EF4-FFF2-40B4-BE49-F238E27FC236}">
                <a16:creationId xmlns:a16="http://schemas.microsoft.com/office/drawing/2014/main" id="{593CF331-7010-55CF-CCA9-1B946830CB25}"/>
              </a:ext>
            </a:extLst>
          </p:cNvPr>
          <p:cNvSpPr/>
          <p:nvPr/>
        </p:nvSpPr>
        <p:spPr>
          <a:xfrm>
            <a:off x="2832100" y="5524500"/>
            <a:ext cx="2794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四角形: 角を丸くする 35">
            <a:extLst>
              <a:ext uri="{FF2B5EF4-FFF2-40B4-BE49-F238E27FC236}">
                <a16:creationId xmlns:a16="http://schemas.microsoft.com/office/drawing/2014/main" id="{5C288648-62EA-D530-8390-ECDD8E7EF25C}"/>
              </a:ext>
            </a:extLst>
          </p:cNvPr>
          <p:cNvSpPr/>
          <p:nvPr/>
        </p:nvSpPr>
        <p:spPr>
          <a:xfrm>
            <a:off x="2832100" y="5524500"/>
            <a:ext cx="127000" cy="254000"/>
          </a:xfrm>
          <a:prstGeom prst="roundRect">
            <a:avLst>
              <a:gd name="adj" fmla="val 50000"/>
            </a:avLst>
          </a:prstGeom>
          <a:solidFill>
            <a:srgbClr val="0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12021530-EBFB-73E4-F779-7274DB23D2C9}"/>
              </a:ext>
            </a:extLst>
          </p:cNvPr>
          <p:cNvSpPr txBox="1"/>
          <p:nvPr/>
        </p:nvSpPr>
        <p:spPr>
          <a:xfrm>
            <a:off x="5753100" y="5461000"/>
            <a:ext cx="1841500" cy="333425"/>
          </a:xfrm>
          <a:prstGeom prst="rect">
            <a:avLst/>
          </a:prstGeom>
          <a:noFill/>
        </p:spPr>
        <p:txBody>
          <a:bodyPr vert="horz" wrap="square" lIns="76200" tIns="50800" rIns="76200" bIns="50800" rtlCol="0">
            <a:spAutoFit/>
          </a:bodyPr>
          <a:lstStyle/>
          <a:p>
            <a:r>
              <a:rPr kumimoji="1" lang="ja-JP" altLang="en-US" sz="1500" b="1">
                <a:solidFill>
                  <a:srgbClr val="000000"/>
                </a:solidFill>
                <a:latin typeface="Meiryo UI" panose="020B0604030504040204" pitchFamily="50" charset="-128"/>
                <a:ea typeface="Meiryo UI" panose="020B0604030504040204" pitchFamily="50" charset="-128"/>
              </a:rPr>
              <a:t>各</a:t>
            </a:r>
            <a:r>
              <a:rPr kumimoji="1" lang="en-US" altLang="ja-JP" sz="1500" b="1">
                <a:solidFill>
                  <a:srgbClr val="000000"/>
                </a:solidFill>
                <a:latin typeface="Meiryo UI" panose="020B0604030504040204" pitchFamily="50" charset="-128"/>
                <a:ea typeface="Meiryo UI" panose="020B0604030504040204" pitchFamily="50" charset="-128"/>
              </a:rPr>
              <a:t>11</a:t>
            </a:r>
            <a:r>
              <a:rPr kumimoji="1" lang="ja-JP" altLang="en-US" sz="1500" b="1">
                <a:solidFill>
                  <a:srgbClr val="000000"/>
                </a:solidFill>
                <a:latin typeface="Meiryo UI" panose="020B0604030504040204" pitchFamily="50" charset="-128"/>
                <a:ea typeface="Meiryo UI" panose="020B0604030504040204" pitchFamily="50" charset="-128"/>
              </a:rPr>
              <a:t>名 </a:t>
            </a:r>
            <a:r>
              <a:rPr kumimoji="1" lang="en-US" altLang="ja-JP" sz="1500" b="1">
                <a:solidFill>
                  <a:srgbClr val="000000"/>
                </a:solidFill>
                <a:latin typeface="Meiryo UI" panose="020B0604030504040204" pitchFamily="50" charset="-128"/>
                <a:ea typeface="Meiryo UI" panose="020B0604030504040204" pitchFamily="50" charset="-128"/>
              </a:rPr>
              <a:t>(4.7%)</a:t>
            </a:r>
            <a:endParaRPr kumimoji="1" lang="ja-JP" altLang="en-US" sz="1500" b="1">
              <a:solidFill>
                <a:srgbClr val="000000"/>
              </a:solidFill>
              <a:latin typeface="Meiryo UI" panose="020B0604030504040204" pitchFamily="50" charset="-128"/>
              <a:ea typeface="Meiryo UI" panose="020B0604030504040204" pitchFamily="50" charset="-128"/>
            </a:endParaRPr>
          </a:p>
        </p:txBody>
      </p:sp>
      <p:sp>
        <p:nvSpPr>
          <p:cNvPr id="38" name="四角形: 角を丸くする 37">
            <a:extLst>
              <a:ext uri="{FF2B5EF4-FFF2-40B4-BE49-F238E27FC236}">
                <a16:creationId xmlns:a16="http://schemas.microsoft.com/office/drawing/2014/main" id="{9DF0E4CF-5D9C-E908-6C6C-F1323D70439B}"/>
              </a:ext>
            </a:extLst>
          </p:cNvPr>
          <p:cNvSpPr/>
          <p:nvPr/>
        </p:nvSpPr>
        <p:spPr>
          <a:xfrm>
            <a:off x="7696200" y="1549400"/>
            <a:ext cx="42418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68F33F4A-CD71-0830-55B0-F9196F7ECCC8}"/>
              </a:ext>
            </a:extLst>
          </p:cNvPr>
          <p:cNvSpPr/>
          <p:nvPr/>
        </p:nvSpPr>
        <p:spPr>
          <a:xfrm>
            <a:off x="7924800" y="17780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380A4696-2666-8859-1686-5504637E6DAD}"/>
              </a:ext>
            </a:extLst>
          </p:cNvPr>
          <p:cNvSpPr txBox="1"/>
          <p:nvPr/>
        </p:nvSpPr>
        <p:spPr>
          <a:xfrm>
            <a:off x="8128000" y="1739900"/>
            <a:ext cx="36068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結果の説明</a:t>
            </a:r>
          </a:p>
        </p:txBody>
      </p:sp>
      <p:sp>
        <p:nvSpPr>
          <p:cNvPr id="41" name="テキスト ボックス 40">
            <a:extLst>
              <a:ext uri="{FF2B5EF4-FFF2-40B4-BE49-F238E27FC236}">
                <a16:creationId xmlns:a16="http://schemas.microsoft.com/office/drawing/2014/main" id="{CFC3A62B-E003-8885-CCC1-3843429B707C}"/>
              </a:ext>
            </a:extLst>
          </p:cNvPr>
          <p:cNvSpPr txBox="1"/>
          <p:nvPr/>
        </p:nvSpPr>
        <p:spPr>
          <a:xfrm>
            <a:off x="7950200" y="2336800"/>
            <a:ext cx="3733800" cy="1626086"/>
          </a:xfrm>
          <a:prstGeom prst="rect">
            <a:avLst/>
          </a:prstGeom>
          <a:noFill/>
        </p:spPr>
        <p:txBody>
          <a:bodyPr vert="horz" wrap="square" lIns="76200" tIns="50800" rIns="76200" bIns="50800" rtlCol="0">
            <a:spAutoFit/>
          </a:bodyPr>
          <a:lstStyle/>
          <a:p>
            <a:r>
              <a:rPr kumimoji="1" lang="ja-JP" altLang="en-US" sz="1650">
                <a:solidFill>
                  <a:srgbClr val="1E293B"/>
                </a:solidFill>
                <a:latin typeface="Meiryo UI" panose="020B0604030504040204" pitchFamily="50" charset="-128"/>
                <a:ea typeface="Meiryo UI" panose="020B0604030504040204" pitchFamily="50" charset="-128"/>
              </a:rPr>
              <a:t>・上位</a:t>
            </a:r>
            <a:r>
              <a:rPr kumimoji="1" lang="en-US" altLang="ja-JP" sz="1650">
                <a:solidFill>
                  <a:srgbClr val="1E293B"/>
                </a:solidFill>
                <a:latin typeface="Meiryo UI" panose="020B0604030504040204" pitchFamily="50" charset="-128"/>
                <a:ea typeface="Meiryo UI" panose="020B0604030504040204" pitchFamily="50" charset="-128"/>
              </a:rPr>
              <a:t>4</a:t>
            </a:r>
            <a:r>
              <a:rPr kumimoji="1" lang="ja-JP" altLang="en-US" sz="1650">
                <a:solidFill>
                  <a:srgbClr val="1E293B"/>
                </a:solidFill>
                <a:latin typeface="Meiryo UI" panose="020B0604030504040204" pitchFamily="50" charset="-128"/>
                <a:ea typeface="Meiryo UI" panose="020B0604030504040204" pitchFamily="50" charset="-128"/>
              </a:rPr>
              <a:t>項目（足腰の衰え・転倒、食事・栄養、物忘れ・認知機能、将来の介護や終活）がいずれも</a:t>
            </a:r>
            <a:r>
              <a:rPr kumimoji="1" lang="en-US" altLang="ja-JP" sz="1650">
                <a:solidFill>
                  <a:srgbClr val="1E293B"/>
                </a:solidFill>
                <a:latin typeface="Meiryo UI" panose="020B0604030504040204" pitchFamily="50" charset="-128"/>
                <a:ea typeface="Meiryo UI" panose="020B0604030504040204" pitchFamily="50" charset="-128"/>
              </a:rPr>
              <a:t>30%</a:t>
            </a:r>
            <a:r>
              <a:rPr kumimoji="1" lang="ja-JP" altLang="en-US" sz="1650">
                <a:solidFill>
                  <a:srgbClr val="1E293B"/>
                </a:solidFill>
                <a:latin typeface="Meiryo UI" panose="020B0604030504040204" pitchFamily="50" charset="-128"/>
                <a:ea typeface="Meiryo UI" panose="020B0604030504040204" pitchFamily="50" charset="-128"/>
              </a:rPr>
              <a:t>を超えた。
・「その他（</a:t>
            </a:r>
            <a:r>
              <a:rPr kumimoji="1" lang="en-US" altLang="ja-JP" sz="1650">
                <a:solidFill>
                  <a:srgbClr val="1E293B"/>
                </a:solidFill>
                <a:latin typeface="Meiryo UI" panose="020B0604030504040204" pitchFamily="50" charset="-128"/>
                <a:ea typeface="Meiryo UI" panose="020B0604030504040204" pitchFamily="50" charset="-128"/>
              </a:rPr>
              <a:t>11</a:t>
            </a:r>
            <a:r>
              <a:rPr kumimoji="1" lang="ja-JP" altLang="en-US" sz="1650">
                <a:solidFill>
                  <a:srgbClr val="1E293B"/>
                </a:solidFill>
                <a:latin typeface="Meiryo UI" panose="020B0604030504040204" pitchFamily="50" charset="-128"/>
                <a:ea typeface="Meiryo UI" panose="020B0604030504040204" pitchFamily="50" charset="-128"/>
              </a:rPr>
              <a:t>名）」には、高血圧、糖尿病、ひざの痛み、五十肩などが記載された。</a:t>
            </a:r>
          </a:p>
        </p:txBody>
      </p:sp>
    </p:spTree>
    <p:extLst>
      <p:ext uri="{BB962C8B-B14F-4D97-AF65-F5344CB8AC3E}">
        <p14:creationId xmlns:p14="http://schemas.microsoft.com/office/powerpoint/2010/main" val="2944077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1835C3C7-3A8E-7FB9-6C1A-2C19D257D728}"/>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5827AE68-D6F4-DC4F-C17D-A231214CBE8D}"/>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A38C8049-EA2B-93EB-8D6B-4F44A374255E}"/>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ED5FA969-B38A-C35B-9BAA-91A1ACBE8A6D}"/>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部：来場者結果⑦</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E27FDB4B-11FA-BE1C-A915-DD282031EB73}"/>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Q5. </a:t>
            </a:r>
            <a:r>
              <a:rPr kumimoji="1" lang="ja-JP" altLang="en-US" sz="2100" b="1">
                <a:solidFill>
                  <a:srgbClr val="1E293B"/>
                </a:solidFill>
                <a:latin typeface="Meiryo UI" panose="020B0604030504040204" pitchFamily="50" charset="-128"/>
                <a:ea typeface="Meiryo UI" panose="020B0604030504040204" pitchFamily="50" charset="-128"/>
              </a:rPr>
              <a:t>来年に期待する内容（来年度出展内容のヒント）</a:t>
            </a:r>
          </a:p>
        </p:txBody>
      </p:sp>
      <p:sp>
        <p:nvSpPr>
          <p:cNvPr id="7" name="四角形: 角を丸くする 6">
            <a:extLst>
              <a:ext uri="{FF2B5EF4-FFF2-40B4-BE49-F238E27FC236}">
                <a16:creationId xmlns:a16="http://schemas.microsoft.com/office/drawing/2014/main" id="{529CF0A9-9D86-E569-00EF-2B5612370AFD}"/>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C22EBC-9F03-3F21-3C69-0B328A6C8D03}"/>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9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CDEF93D4-2815-552F-207A-D1FA7490DAB2}"/>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12D259E9-C805-C868-FD9C-7C26E1956650}"/>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2563EB"/>
                </a:solidFill>
                <a:latin typeface="Meiryo UI" panose="020B0604030504040204" pitchFamily="50" charset="-128"/>
                <a:ea typeface="Meiryo UI" panose="020B0604030504040204" pitchFamily="50" charset="-128"/>
              </a:rPr>
              <a:t>「運動・転倒・骨密度チェック（</a:t>
            </a:r>
            <a:r>
              <a:rPr kumimoji="1" lang="en-US" altLang="ja-JP" sz="1500" b="1">
                <a:solidFill>
                  <a:srgbClr val="2563EB"/>
                </a:solidFill>
                <a:latin typeface="Meiryo UI" panose="020B0604030504040204" pitchFamily="50" charset="-128"/>
                <a:ea typeface="Meiryo UI" panose="020B0604030504040204" pitchFamily="50" charset="-128"/>
              </a:rPr>
              <a:t>12</a:t>
            </a:r>
            <a:r>
              <a:rPr kumimoji="1" lang="ja-JP" altLang="en-US" sz="1500" b="1">
                <a:solidFill>
                  <a:srgbClr val="2563EB"/>
                </a:solidFill>
                <a:latin typeface="Meiryo UI" panose="020B0604030504040204" pitchFamily="50" charset="-128"/>
                <a:ea typeface="Meiryo UI" panose="020B0604030504040204" pitchFamily="50" charset="-128"/>
              </a:rPr>
              <a:t>件）」「今年度と同様の測定継続（</a:t>
            </a:r>
            <a:r>
              <a:rPr kumimoji="1" lang="en-US" altLang="ja-JP" sz="1500" b="1">
                <a:solidFill>
                  <a:srgbClr val="2563EB"/>
                </a:solidFill>
                <a:latin typeface="Meiryo UI" panose="020B0604030504040204" pitchFamily="50" charset="-128"/>
                <a:ea typeface="Meiryo UI" panose="020B0604030504040204" pitchFamily="50" charset="-128"/>
              </a:rPr>
              <a:t>11</a:t>
            </a:r>
            <a:r>
              <a:rPr kumimoji="1" lang="ja-JP" altLang="en-US" sz="1500" b="1">
                <a:solidFill>
                  <a:srgbClr val="2563EB"/>
                </a:solidFill>
                <a:latin typeface="Meiryo UI" panose="020B0604030504040204" pitchFamily="50" charset="-128"/>
                <a:ea typeface="Meiryo UI" panose="020B0604030504040204" pitchFamily="50" charset="-128"/>
              </a:rPr>
              <a:t>件）」「認知機能チェック（</a:t>
            </a:r>
            <a:r>
              <a:rPr kumimoji="1" lang="en-US" altLang="ja-JP" sz="1500" b="1">
                <a:solidFill>
                  <a:srgbClr val="2563EB"/>
                </a:solidFill>
                <a:latin typeface="Meiryo UI" panose="020B0604030504040204" pitchFamily="50" charset="-128"/>
                <a:ea typeface="Meiryo UI" panose="020B0604030504040204" pitchFamily="50" charset="-128"/>
              </a:rPr>
              <a:t>6</a:t>
            </a:r>
            <a:r>
              <a:rPr kumimoji="1" lang="ja-JP" altLang="en-US" sz="1500" b="1">
                <a:solidFill>
                  <a:srgbClr val="2563EB"/>
                </a:solidFill>
                <a:latin typeface="Meiryo UI" panose="020B0604030504040204" pitchFamily="50" charset="-128"/>
                <a:ea typeface="Meiryo UI" panose="020B0604030504040204" pitchFamily="50" charset="-128"/>
              </a:rPr>
              <a:t>件）」が中心</a:t>
            </a:r>
          </a:p>
        </p:txBody>
      </p:sp>
      <p:sp>
        <p:nvSpPr>
          <p:cNvPr id="11" name="四角形: 角を丸くする 10">
            <a:extLst>
              <a:ext uri="{FF2B5EF4-FFF2-40B4-BE49-F238E27FC236}">
                <a16:creationId xmlns:a16="http://schemas.microsoft.com/office/drawing/2014/main" id="{06C48C32-41E7-C944-612D-198B592BF52C}"/>
              </a:ext>
            </a:extLst>
          </p:cNvPr>
          <p:cNvSpPr/>
          <p:nvPr/>
        </p:nvSpPr>
        <p:spPr>
          <a:xfrm>
            <a:off x="254000" y="1574800"/>
            <a:ext cx="5715000" cy="2362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F80D9C3D-C8E5-9D08-892C-50E83A9520E1}"/>
              </a:ext>
            </a:extLst>
          </p:cNvPr>
          <p:cNvSpPr/>
          <p:nvPr/>
        </p:nvSpPr>
        <p:spPr>
          <a:xfrm>
            <a:off x="482600" y="18034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9FA1642-86C0-16D2-F783-5CF52A471F42}"/>
              </a:ext>
            </a:extLst>
          </p:cNvPr>
          <p:cNvSpPr txBox="1"/>
          <p:nvPr/>
        </p:nvSpPr>
        <p:spPr>
          <a:xfrm>
            <a:off x="685800" y="17653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① 運動・転倒・骨密度のチェック（</a:t>
            </a:r>
            <a:r>
              <a:rPr kumimoji="1" lang="en-US" altLang="ja-JP" sz="1750" b="1">
                <a:solidFill>
                  <a:srgbClr val="1E293B"/>
                </a:solidFill>
                <a:latin typeface="Meiryo UI" panose="020B0604030504040204" pitchFamily="50" charset="-128"/>
                <a:ea typeface="Meiryo UI" panose="020B0604030504040204" pitchFamily="50" charset="-128"/>
              </a:rPr>
              <a:t>12</a:t>
            </a:r>
            <a:r>
              <a:rPr kumimoji="1" lang="ja-JP" altLang="en-US" sz="1750" b="1">
                <a:solidFill>
                  <a:srgbClr val="1E293B"/>
                </a:solidFill>
                <a:latin typeface="Meiryo UI" panose="020B0604030504040204" pitchFamily="50" charset="-128"/>
                <a:ea typeface="Meiryo UI" panose="020B0604030504040204" pitchFamily="50" charset="-128"/>
              </a:rPr>
              <a:t>件）</a:t>
            </a:r>
          </a:p>
        </p:txBody>
      </p:sp>
      <p:sp>
        <p:nvSpPr>
          <p:cNvPr id="14" name="テキスト ボックス 13">
            <a:extLst>
              <a:ext uri="{FF2B5EF4-FFF2-40B4-BE49-F238E27FC236}">
                <a16:creationId xmlns:a16="http://schemas.microsoft.com/office/drawing/2014/main" id="{3215AA25-AA22-F26E-0536-D16EE64724EC}"/>
              </a:ext>
            </a:extLst>
          </p:cNvPr>
          <p:cNvSpPr txBox="1"/>
          <p:nvPr/>
        </p:nvSpPr>
        <p:spPr>
          <a:xfrm>
            <a:off x="482600" y="2235200"/>
            <a:ext cx="5257800" cy="579646"/>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・「椅子に座ってできるストレッチや運動を知りたい」
・「骨粗しょう症・骨密度や転倒危険度のチェック」</a:t>
            </a:r>
          </a:p>
        </p:txBody>
      </p:sp>
      <p:sp>
        <p:nvSpPr>
          <p:cNvPr id="15" name="四角形: 角を丸くする 14">
            <a:extLst>
              <a:ext uri="{FF2B5EF4-FFF2-40B4-BE49-F238E27FC236}">
                <a16:creationId xmlns:a16="http://schemas.microsoft.com/office/drawing/2014/main" id="{694CD255-9A58-8F9D-C8E2-6E5DF1873A98}"/>
              </a:ext>
            </a:extLst>
          </p:cNvPr>
          <p:cNvSpPr/>
          <p:nvPr/>
        </p:nvSpPr>
        <p:spPr>
          <a:xfrm>
            <a:off x="6223000" y="1574800"/>
            <a:ext cx="5715000" cy="2362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CA353CB9-737D-6B0C-8F4E-01D974502E8F}"/>
              </a:ext>
            </a:extLst>
          </p:cNvPr>
          <p:cNvSpPr/>
          <p:nvPr/>
        </p:nvSpPr>
        <p:spPr>
          <a:xfrm>
            <a:off x="6451600" y="1803400"/>
            <a:ext cx="101600" cy="3302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5CFC62CC-4AFE-8EAC-C5F0-8D8133179443}"/>
              </a:ext>
            </a:extLst>
          </p:cNvPr>
          <p:cNvSpPr txBox="1"/>
          <p:nvPr/>
        </p:nvSpPr>
        <p:spPr>
          <a:xfrm>
            <a:off x="6654800" y="17653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② 今年度と同様の測定継続・好評の声（</a:t>
            </a:r>
            <a:r>
              <a:rPr kumimoji="1" lang="en-US" altLang="ja-JP" sz="1750" b="1">
                <a:solidFill>
                  <a:srgbClr val="1E293B"/>
                </a:solidFill>
                <a:latin typeface="Meiryo UI" panose="020B0604030504040204" pitchFamily="50" charset="-128"/>
                <a:ea typeface="Meiryo UI" panose="020B0604030504040204" pitchFamily="50" charset="-128"/>
              </a:rPr>
              <a:t>11</a:t>
            </a:r>
            <a:r>
              <a:rPr kumimoji="1" lang="ja-JP" altLang="en-US" sz="1750" b="1">
                <a:solidFill>
                  <a:srgbClr val="1E293B"/>
                </a:solidFill>
                <a:latin typeface="Meiryo UI" panose="020B0604030504040204" pitchFamily="50" charset="-128"/>
                <a:ea typeface="Meiryo UI" panose="020B0604030504040204" pitchFamily="50" charset="-128"/>
              </a:rPr>
              <a:t>件）</a:t>
            </a:r>
          </a:p>
        </p:txBody>
      </p:sp>
      <p:sp>
        <p:nvSpPr>
          <p:cNvPr id="18" name="テキスト ボックス 17">
            <a:extLst>
              <a:ext uri="{FF2B5EF4-FFF2-40B4-BE49-F238E27FC236}">
                <a16:creationId xmlns:a16="http://schemas.microsoft.com/office/drawing/2014/main" id="{6B040BC4-7237-A2E7-B446-449BBE5C68A8}"/>
              </a:ext>
            </a:extLst>
          </p:cNvPr>
          <p:cNvSpPr txBox="1"/>
          <p:nvPr/>
        </p:nvSpPr>
        <p:spPr>
          <a:xfrm>
            <a:off x="6451600" y="2235200"/>
            <a:ext cx="5257800" cy="579646"/>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・「筋肉量や血管年齢など今年と同じ測定を続けてほしい」
・「マンションの入院経験者</a:t>
            </a:r>
            <a:r>
              <a:rPr kumimoji="1" lang="en-US" altLang="ja-JP" sz="1550">
                <a:solidFill>
                  <a:srgbClr val="1E293B"/>
                </a:solidFill>
                <a:latin typeface="Meiryo UI" panose="020B0604030504040204" pitchFamily="50" charset="-128"/>
                <a:ea typeface="Meiryo UI" panose="020B0604030504040204" pitchFamily="50" charset="-128"/>
              </a:rPr>
              <a:t>5</a:t>
            </a:r>
            <a:r>
              <a:rPr kumimoji="1" lang="ja-JP" altLang="en-US" sz="1550">
                <a:solidFill>
                  <a:srgbClr val="1E293B"/>
                </a:solidFill>
                <a:latin typeface="Meiryo UI" panose="020B0604030504040204" pitchFamily="50" charset="-128"/>
                <a:ea typeface="Meiryo UI" panose="020B0604030504040204" pitchFamily="50" charset="-128"/>
              </a:rPr>
              <a:t>名からリハが良かったと聞いた」</a:t>
            </a:r>
          </a:p>
        </p:txBody>
      </p:sp>
      <p:sp>
        <p:nvSpPr>
          <p:cNvPr id="19" name="四角形: 角を丸くする 18">
            <a:extLst>
              <a:ext uri="{FF2B5EF4-FFF2-40B4-BE49-F238E27FC236}">
                <a16:creationId xmlns:a16="http://schemas.microsoft.com/office/drawing/2014/main" id="{C4D11F6C-F169-1D1A-3EED-6716472DD34F}"/>
              </a:ext>
            </a:extLst>
          </p:cNvPr>
          <p:cNvSpPr/>
          <p:nvPr/>
        </p:nvSpPr>
        <p:spPr>
          <a:xfrm>
            <a:off x="254000" y="4140200"/>
            <a:ext cx="3759200" cy="24130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DFE2FB9D-9021-9CB4-6602-5C1128275AFA}"/>
              </a:ext>
            </a:extLst>
          </p:cNvPr>
          <p:cNvSpPr/>
          <p:nvPr/>
        </p:nvSpPr>
        <p:spPr>
          <a:xfrm>
            <a:off x="482600" y="4368800"/>
            <a:ext cx="101600" cy="3302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A31CBDFC-65FC-02FD-4EFF-07062B8D8BBA}"/>
              </a:ext>
            </a:extLst>
          </p:cNvPr>
          <p:cNvSpPr txBox="1"/>
          <p:nvPr/>
        </p:nvSpPr>
        <p:spPr>
          <a:xfrm>
            <a:off x="685800" y="4330700"/>
            <a:ext cx="31242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③ 認知機能・フレイル（</a:t>
            </a:r>
            <a:r>
              <a:rPr kumimoji="1" lang="en-US" altLang="ja-JP" sz="1750" b="1">
                <a:solidFill>
                  <a:srgbClr val="1E293B"/>
                </a:solidFill>
                <a:latin typeface="Meiryo UI" panose="020B0604030504040204" pitchFamily="50" charset="-128"/>
                <a:ea typeface="Meiryo UI" panose="020B0604030504040204" pitchFamily="50" charset="-128"/>
              </a:rPr>
              <a:t>6</a:t>
            </a:r>
            <a:r>
              <a:rPr kumimoji="1" lang="ja-JP" altLang="en-US" sz="1750" b="1">
                <a:solidFill>
                  <a:srgbClr val="1E293B"/>
                </a:solidFill>
                <a:latin typeface="Meiryo UI" panose="020B0604030504040204" pitchFamily="50" charset="-128"/>
                <a:ea typeface="Meiryo UI" panose="020B0604030504040204" pitchFamily="50" charset="-128"/>
              </a:rPr>
              <a:t>件）</a:t>
            </a:r>
          </a:p>
        </p:txBody>
      </p:sp>
      <p:sp>
        <p:nvSpPr>
          <p:cNvPr id="22" name="テキスト ボックス 21">
            <a:extLst>
              <a:ext uri="{FF2B5EF4-FFF2-40B4-BE49-F238E27FC236}">
                <a16:creationId xmlns:a16="http://schemas.microsoft.com/office/drawing/2014/main" id="{B06C216C-E9BC-BE9D-5E73-7844F598EFF8}"/>
              </a:ext>
            </a:extLst>
          </p:cNvPr>
          <p:cNvSpPr txBox="1"/>
          <p:nvPr/>
        </p:nvSpPr>
        <p:spPr>
          <a:xfrm>
            <a:off x="457200" y="4800600"/>
            <a:ext cx="3352800" cy="564257"/>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・「認知機能の衰えチェックや体力測定、フレイル予防を知りたい」</a:t>
            </a:r>
          </a:p>
        </p:txBody>
      </p:sp>
      <p:sp>
        <p:nvSpPr>
          <p:cNvPr id="23" name="四角形: 角を丸くする 22">
            <a:extLst>
              <a:ext uri="{FF2B5EF4-FFF2-40B4-BE49-F238E27FC236}">
                <a16:creationId xmlns:a16="http://schemas.microsoft.com/office/drawing/2014/main" id="{2863CF41-DDE3-AE47-5F75-2059C809FD35}"/>
              </a:ext>
            </a:extLst>
          </p:cNvPr>
          <p:cNvSpPr/>
          <p:nvPr/>
        </p:nvSpPr>
        <p:spPr>
          <a:xfrm>
            <a:off x="4216400" y="4140200"/>
            <a:ext cx="3759200" cy="24130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52265EB3-BD64-CF95-5005-62AA1348A18C}"/>
              </a:ext>
            </a:extLst>
          </p:cNvPr>
          <p:cNvSpPr/>
          <p:nvPr/>
        </p:nvSpPr>
        <p:spPr>
          <a:xfrm>
            <a:off x="4445000" y="4368800"/>
            <a:ext cx="101600" cy="330200"/>
          </a:xfrm>
          <a:prstGeom prst="roundRect">
            <a:avLst>
              <a:gd name="adj" fmla="val 50000"/>
            </a:avLst>
          </a:prstGeom>
          <a:solidFill>
            <a:srgbClr val="8B5C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4F21DE78-7AE2-D9FC-5324-00D31403FDAD}"/>
              </a:ext>
            </a:extLst>
          </p:cNvPr>
          <p:cNvSpPr txBox="1"/>
          <p:nvPr/>
        </p:nvSpPr>
        <p:spPr>
          <a:xfrm>
            <a:off x="4648200" y="4330700"/>
            <a:ext cx="31242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④ 介護・薬・受診相談（</a:t>
            </a:r>
            <a:r>
              <a:rPr kumimoji="1" lang="en-US" altLang="ja-JP" sz="1750" b="1">
                <a:solidFill>
                  <a:srgbClr val="1E293B"/>
                </a:solidFill>
                <a:latin typeface="Meiryo UI" panose="020B0604030504040204" pitchFamily="50" charset="-128"/>
                <a:ea typeface="Meiryo UI" panose="020B0604030504040204" pitchFamily="50" charset="-128"/>
              </a:rPr>
              <a:t>4</a:t>
            </a:r>
            <a:r>
              <a:rPr kumimoji="1" lang="ja-JP" altLang="en-US" sz="1750" b="1">
                <a:solidFill>
                  <a:srgbClr val="1E293B"/>
                </a:solidFill>
                <a:latin typeface="Meiryo UI" panose="020B0604030504040204" pitchFamily="50" charset="-128"/>
                <a:ea typeface="Meiryo UI" panose="020B0604030504040204" pitchFamily="50" charset="-128"/>
              </a:rPr>
              <a:t>件）</a:t>
            </a:r>
          </a:p>
        </p:txBody>
      </p:sp>
      <p:sp>
        <p:nvSpPr>
          <p:cNvPr id="26" name="テキスト ボックス 25">
            <a:extLst>
              <a:ext uri="{FF2B5EF4-FFF2-40B4-BE49-F238E27FC236}">
                <a16:creationId xmlns:a16="http://schemas.microsoft.com/office/drawing/2014/main" id="{FACC8084-2E8C-7AAF-03AF-E566E5CD6BA7}"/>
              </a:ext>
            </a:extLst>
          </p:cNvPr>
          <p:cNvSpPr txBox="1"/>
          <p:nvPr/>
        </p:nvSpPr>
        <p:spPr>
          <a:xfrm>
            <a:off x="4419600" y="4800600"/>
            <a:ext cx="3352800" cy="564257"/>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・「介護生活の相談、家族が入院した際の薬、症状別の受診科」</a:t>
            </a:r>
          </a:p>
        </p:txBody>
      </p:sp>
      <p:sp>
        <p:nvSpPr>
          <p:cNvPr id="27" name="四角形: 角を丸くする 26">
            <a:extLst>
              <a:ext uri="{FF2B5EF4-FFF2-40B4-BE49-F238E27FC236}">
                <a16:creationId xmlns:a16="http://schemas.microsoft.com/office/drawing/2014/main" id="{A42B2D14-4F0A-8CC4-0237-15C098B71C7D}"/>
              </a:ext>
            </a:extLst>
          </p:cNvPr>
          <p:cNvSpPr/>
          <p:nvPr/>
        </p:nvSpPr>
        <p:spPr>
          <a:xfrm>
            <a:off x="8178800" y="4140200"/>
            <a:ext cx="3759200" cy="24130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CF1A1227-D7C1-CBFB-285D-F4E8BCD9EEFC}"/>
              </a:ext>
            </a:extLst>
          </p:cNvPr>
          <p:cNvSpPr/>
          <p:nvPr/>
        </p:nvSpPr>
        <p:spPr>
          <a:xfrm>
            <a:off x="8407400" y="4368800"/>
            <a:ext cx="101600" cy="3302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349DF152-6D17-5B53-6034-67A21B4578D5}"/>
              </a:ext>
            </a:extLst>
          </p:cNvPr>
          <p:cNvSpPr txBox="1"/>
          <p:nvPr/>
        </p:nvSpPr>
        <p:spPr>
          <a:xfrm>
            <a:off x="8610600" y="4330700"/>
            <a:ext cx="3124200" cy="656590"/>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⑤ 備品・案内順路の要望（</a:t>
            </a:r>
            <a:r>
              <a:rPr kumimoji="1" lang="en-US" altLang="ja-JP" sz="1750" b="1">
                <a:solidFill>
                  <a:srgbClr val="1E293B"/>
                </a:solidFill>
                <a:latin typeface="Meiryo UI" panose="020B0604030504040204" pitchFamily="50" charset="-128"/>
                <a:ea typeface="Meiryo UI" panose="020B0604030504040204" pitchFamily="50" charset="-128"/>
              </a:rPr>
              <a:t>3</a:t>
            </a:r>
            <a:r>
              <a:rPr kumimoji="1" lang="ja-JP" altLang="en-US" sz="1750" b="1">
                <a:solidFill>
                  <a:srgbClr val="1E293B"/>
                </a:solidFill>
                <a:latin typeface="Meiryo UI" panose="020B0604030504040204" pitchFamily="50" charset="-128"/>
                <a:ea typeface="Meiryo UI" panose="020B0604030504040204" pitchFamily="50" charset="-128"/>
              </a:rPr>
              <a:t>件）</a:t>
            </a:r>
          </a:p>
        </p:txBody>
      </p:sp>
      <p:sp>
        <p:nvSpPr>
          <p:cNvPr id="30" name="テキスト ボックス 29">
            <a:extLst>
              <a:ext uri="{FF2B5EF4-FFF2-40B4-BE49-F238E27FC236}">
                <a16:creationId xmlns:a16="http://schemas.microsoft.com/office/drawing/2014/main" id="{8AE355BD-241A-3DBE-8E77-605ED68BBEA2}"/>
              </a:ext>
            </a:extLst>
          </p:cNvPr>
          <p:cNvSpPr txBox="1"/>
          <p:nvPr/>
        </p:nvSpPr>
        <p:spPr>
          <a:xfrm>
            <a:off x="8382000" y="4800600"/>
            <a:ext cx="3352800" cy="564257"/>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・「記入用バインダー、</a:t>
            </a:r>
            <a:r>
              <a:rPr kumimoji="1" lang="en-US" altLang="ja-JP" sz="1500">
                <a:solidFill>
                  <a:srgbClr val="1E293B"/>
                </a:solidFill>
                <a:latin typeface="Meiryo UI" panose="020B0604030504040204" pitchFamily="50" charset="-128"/>
                <a:ea typeface="Meiryo UI" panose="020B0604030504040204" pitchFamily="50" charset="-128"/>
              </a:rPr>
              <a:t>InBody</a:t>
            </a:r>
            <a:r>
              <a:rPr kumimoji="1" lang="ja-JP" altLang="en-US" sz="1500">
                <a:solidFill>
                  <a:srgbClr val="1E293B"/>
                </a:solidFill>
                <a:latin typeface="Meiryo UI" panose="020B0604030504040204" pitchFamily="50" charset="-128"/>
                <a:ea typeface="Meiryo UI" panose="020B0604030504040204" pitchFamily="50" charset="-128"/>
              </a:rPr>
              <a:t>の靴入れ・靴ベラ、順路表示」</a:t>
            </a:r>
          </a:p>
        </p:txBody>
      </p:sp>
    </p:spTree>
    <p:extLst>
      <p:ext uri="{BB962C8B-B14F-4D97-AF65-F5344CB8AC3E}">
        <p14:creationId xmlns:p14="http://schemas.microsoft.com/office/powerpoint/2010/main" val="3832074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7996F88-5408-6B15-F441-4152979714FB}"/>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17DDB924-7F60-2340-84EE-C4995F6583EB}"/>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B76CDFAF-3BB4-178F-E083-9B0ACD58A969}"/>
              </a:ext>
            </a:extLst>
          </p:cNvPr>
          <p:cNvSpPr/>
          <p:nvPr/>
        </p:nvSpPr>
        <p:spPr>
          <a:xfrm>
            <a:off x="457200" y="330200"/>
            <a:ext cx="2082800" cy="4064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37B73F34-C0A4-6895-2FF3-FF0030783370}"/>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2</a:t>
            </a:r>
            <a:r>
              <a:rPr kumimoji="1" lang="ja-JP" altLang="en-US" sz="1300" b="1">
                <a:solidFill>
                  <a:srgbClr val="FFFFFF"/>
                </a:solidFill>
                <a:latin typeface="Meiryo UI" panose="020B0604030504040204" pitchFamily="50" charset="-128"/>
                <a:ea typeface="Meiryo UI" panose="020B0604030504040204" pitchFamily="50" charset="-128"/>
              </a:rPr>
              <a:t>部：スタッフ調査</a:t>
            </a:r>
          </a:p>
        </p:txBody>
      </p:sp>
      <p:sp>
        <p:nvSpPr>
          <p:cNvPr id="6" name="テキスト ボックス 5">
            <a:extLst>
              <a:ext uri="{FF2B5EF4-FFF2-40B4-BE49-F238E27FC236}">
                <a16:creationId xmlns:a16="http://schemas.microsoft.com/office/drawing/2014/main" id="{4E537CBB-BEA4-B46C-54DB-C4DCCA3AC7B3}"/>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スタッフアンケートの質問事項とそこから見えること</a:t>
            </a:r>
          </a:p>
        </p:txBody>
      </p:sp>
      <p:sp>
        <p:nvSpPr>
          <p:cNvPr id="7" name="四角形: 角を丸くする 6">
            <a:extLst>
              <a:ext uri="{FF2B5EF4-FFF2-40B4-BE49-F238E27FC236}">
                <a16:creationId xmlns:a16="http://schemas.microsoft.com/office/drawing/2014/main" id="{ACCBB031-317D-D086-EB5D-A09656A2DC2B}"/>
              </a:ext>
            </a:extLst>
          </p:cNvPr>
          <p:cNvSpPr/>
          <p:nvPr/>
        </p:nvSpPr>
        <p:spPr>
          <a:xfrm>
            <a:off x="10871200" y="330200"/>
            <a:ext cx="863600" cy="381000"/>
          </a:xfrm>
          <a:prstGeom prst="roundRect">
            <a:avLst>
              <a:gd name="adj" fmla="val 5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94BA4A0-EFB7-7AD8-1553-9FFACF17EAC0}"/>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10B981"/>
                </a:solidFill>
                <a:latin typeface="Meiryo UI" panose="020B0604030504040204" pitchFamily="50" charset="-128"/>
                <a:ea typeface="Meiryo UI" panose="020B0604030504040204" pitchFamily="50" charset="-128"/>
              </a:rPr>
              <a:t>10 / 22</a:t>
            </a:r>
            <a:endParaRPr kumimoji="1" lang="ja-JP" altLang="en-US" sz="1250" b="1">
              <a:solidFill>
                <a:srgbClr val="10B98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B3524268-9914-B351-8555-E6E5DEBC3888}"/>
              </a:ext>
            </a:extLst>
          </p:cNvPr>
          <p:cNvSpPr/>
          <p:nvPr/>
        </p:nvSpPr>
        <p:spPr>
          <a:xfrm>
            <a:off x="457200" y="838200"/>
            <a:ext cx="11277600" cy="431800"/>
          </a:xfrm>
          <a:prstGeom prst="roundRect">
            <a:avLst>
              <a:gd name="adj" fmla="val 3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0BB815D0-4984-67BF-CD3B-5AA6A295B85E}"/>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10B981"/>
                </a:solidFill>
                <a:latin typeface="Meiryo UI" panose="020B0604030504040204" pitchFamily="50" charset="-128"/>
                <a:ea typeface="Meiryo UI" panose="020B0604030504040204" pitchFamily="50" charset="-128"/>
              </a:rPr>
              <a:t>参加した</a:t>
            </a:r>
            <a:r>
              <a:rPr kumimoji="1" lang="en-US" altLang="ja-JP" sz="1500" b="1">
                <a:solidFill>
                  <a:srgbClr val="10B981"/>
                </a:solidFill>
                <a:latin typeface="Meiryo UI" panose="020B0604030504040204" pitchFamily="50" charset="-128"/>
                <a:ea typeface="Meiryo UI" panose="020B0604030504040204" pitchFamily="50" charset="-128"/>
              </a:rPr>
              <a:t>6</a:t>
            </a:r>
            <a:r>
              <a:rPr kumimoji="1" lang="ja-JP" altLang="en-US" sz="1500" b="1">
                <a:solidFill>
                  <a:srgbClr val="10B981"/>
                </a:solidFill>
                <a:latin typeface="Meiryo UI" panose="020B0604030504040204" pitchFamily="50" charset="-128"/>
                <a:ea typeface="Meiryo UI" panose="020B0604030504040204" pitchFamily="50" charset="-128"/>
              </a:rPr>
              <a:t>部署・全</a:t>
            </a:r>
            <a:r>
              <a:rPr kumimoji="1" lang="en-US" altLang="ja-JP" sz="1500" b="1">
                <a:solidFill>
                  <a:srgbClr val="10B981"/>
                </a:solidFill>
                <a:latin typeface="Meiryo UI" panose="020B0604030504040204" pitchFamily="50" charset="-128"/>
                <a:ea typeface="Meiryo UI" panose="020B0604030504040204" pitchFamily="50" charset="-128"/>
              </a:rPr>
              <a:t>14</a:t>
            </a:r>
            <a:r>
              <a:rPr kumimoji="1" lang="ja-JP" altLang="en-US" sz="1500" b="1">
                <a:solidFill>
                  <a:srgbClr val="10B981"/>
                </a:solidFill>
                <a:latin typeface="Meiryo UI" panose="020B0604030504040204" pitchFamily="50" charset="-128"/>
                <a:ea typeface="Meiryo UI" panose="020B0604030504040204" pitchFamily="50" charset="-128"/>
              </a:rPr>
              <a:t>名（現在</a:t>
            </a:r>
            <a:r>
              <a:rPr kumimoji="1" lang="en-US" altLang="ja-JP" sz="1500" b="1">
                <a:solidFill>
                  <a:srgbClr val="10B981"/>
                </a:solidFill>
                <a:latin typeface="Meiryo UI" panose="020B0604030504040204" pitchFamily="50" charset="-128"/>
                <a:ea typeface="Meiryo UI" panose="020B0604030504040204" pitchFamily="50" charset="-128"/>
              </a:rPr>
              <a:t>13</a:t>
            </a:r>
            <a:r>
              <a:rPr kumimoji="1" lang="ja-JP" altLang="en-US" sz="1500" b="1">
                <a:solidFill>
                  <a:srgbClr val="10B981"/>
                </a:solidFill>
                <a:latin typeface="Meiryo UI" panose="020B0604030504040204" pitchFamily="50" charset="-128"/>
                <a:ea typeface="Meiryo UI" panose="020B0604030504040204" pitchFamily="50" charset="-128"/>
              </a:rPr>
              <a:t>名回答済）を対象に、出展意義・広さ・人員配置・改善点を調査</a:t>
            </a:r>
          </a:p>
        </p:txBody>
      </p:sp>
      <p:graphicFrame>
        <p:nvGraphicFramePr>
          <p:cNvPr id="11" name="表 10">
            <a:extLst>
              <a:ext uri="{FF2B5EF4-FFF2-40B4-BE49-F238E27FC236}">
                <a16:creationId xmlns:a16="http://schemas.microsoft.com/office/drawing/2014/main" id="{7A3E250D-169B-C571-6CC5-39BC8B6B133C}"/>
              </a:ext>
            </a:extLst>
          </p:cNvPr>
          <p:cNvGraphicFramePr>
            <a:graphicFrameLocks noGrp="1"/>
          </p:cNvGraphicFramePr>
          <p:nvPr>
            <p:extLst>
              <p:ext uri="{D42A27DB-BD31-4B8C-83A1-F6EECF244321}">
                <p14:modId xmlns:p14="http://schemas.microsoft.com/office/powerpoint/2010/main" val="486884960"/>
              </p:ext>
            </p:extLst>
          </p:nvPr>
        </p:nvGraphicFramePr>
        <p:xfrm>
          <a:off x="304800" y="1574800"/>
          <a:ext cx="11582400" cy="4978400"/>
        </p:xfrm>
        <a:graphic>
          <a:graphicData uri="http://schemas.openxmlformats.org/drawingml/2006/table">
            <a:tbl>
              <a:tblPr firstRow="1" bandRow="1">
                <a:tableStyleId>{5C22544A-7EE6-4342-B048-85BDC9FD1C3A}</a:tableStyleId>
              </a:tblPr>
              <a:tblGrid>
                <a:gridCol w="3683000">
                  <a:extLst>
                    <a:ext uri="{9D8B030D-6E8A-4147-A177-3AD203B41FA5}">
                      <a16:colId xmlns:a16="http://schemas.microsoft.com/office/drawing/2014/main" val="2347273127"/>
                    </a:ext>
                  </a:extLst>
                </a:gridCol>
                <a:gridCol w="2540000">
                  <a:extLst>
                    <a:ext uri="{9D8B030D-6E8A-4147-A177-3AD203B41FA5}">
                      <a16:colId xmlns:a16="http://schemas.microsoft.com/office/drawing/2014/main" val="3092725629"/>
                    </a:ext>
                  </a:extLst>
                </a:gridCol>
                <a:gridCol w="5359400">
                  <a:extLst>
                    <a:ext uri="{9D8B030D-6E8A-4147-A177-3AD203B41FA5}">
                      <a16:colId xmlns:a16="http://schemas.microsoft.com/office/drawing/2014/main" val="2200620049"/>
                    </a:ext>
                  </a:extLst>
                </a:gridCol>
              </a:tblGrid>
              <a:tr h="711200">
                <a:tc>
                  <a:txBody>
                    <a:bodyPr/>
                    <a:lstStyle/>
                    <a:p>
                      <a:r>
                        <a:rPr kumimoji="1" lang="ja-JP" altLang="en-US" sz="1500" b="1">
                          <a:solidFill>
                            <a:srgbClr val="FFFFFF"/>
                          </a:solidFill>
                          <a:latin typeface="Meiryo UI" panose="020B0604030504040204" pitchFamily="50" charset="-128"/>
                          <a:ea typeface="Meiryo UI" panose="020B0604030504040204" pitchFamily="50" charset="-128"/>
                        </a:rPr>
                        <a:t>質問項目</a:t>
                      </a:r>
                    </a:p>
                  </a:txBody>
                  <a:tcPr>
                    <a:solidFill>
                      <a:srgbClr val="10B981"/>
                    </a:solidFill>
                  </a:tcPr>
                </a:tc>
                <a:tc>
                  <a:txBody>
                    <a:bodyPr/>
                    <a:lstStyle/>
                    <a:p>
                      <a:r>
                        <a:rPr kumimoji="1" lang="ja-JP" altLang="en-US" sz="1500" b="1">
                          <a:solidFill>
                            <a:srgbClr val="FFFFFF"/>
                          </a:solidFill>
                          <a:latin typeface="Meiryo UI" panose="020B0604030504040204" pitchFamily="50" charset="-128"/>
                          <a:ea typeface="Meiryo UI" panose="020B0604030504040204" pitchFamily="50" charset="-128"/>
                        </a:rPr>
                        <a:t>回答形式</a:t>
                      </a:r>
                    </a:p>
                  </a:txBody>
                  <a:tcPr>
                    <a:solidFill>
                      <a:srgbClr val="10B981"/>
                    </a:solidFill>
                  </a:tcPr>
                </a:tc>
                <a:tc>
                  <a:txBody>
                    <a:bodyPr/>
                    <a:lstStyle/>
                    <a:p>
                      <a:r>
                        <a:rPr kumimoji="1" lang="ja-JP" altLang="en-US" sz="1500" b="1">
                          <a:solidFill>
                            <a:srgbClr val="FFFFFF"/>
                          </a:solidFill>
                          <a:latin typeface="Meiryo UI" panose="020B0604030504040204" pitchFamily="50" charset="-128"/>
                          <a:ea typeface="Meiryo UI" panose="020B0604030504040204" pitchFamily="50" charset="-128"/>
                        </a:rPr>
                        <a:t>この質問から何が見えるか</a:t>
                      </a:r>
                    </a:p>
                  </a:txBody>
                  <a:tcPr>
                    <a:solidFill>
                      <a:srgbClr val="10B981"/>
                    </a:solidFill>
                  </a:tcPr>
                </a:tc>
                <a:extLst>
                  <a:ext uri="{0D108BD9-81ED-4DB2-BD59-A6C34878D82A}">
                    <a16:rowId xmlns:a16="http://schemas.microsoft.com/office/drawing/2014/main" val="453692536"/>
                  </a:ext>
                </a:extLst>
              </a:tr>
              <a:tr h="711200">
                <a:tc>
                  <a:txBody>
                    <a:bodyPr/>
                    <a:lstStyle/>
                    <a:p>
                      <a:r>
                        <a:rPr kumimoji="1" lang="ja-JP" altLang="en-US" sz="1500" b="1">
                          <a:solidFill>
                            <a:srgbClr val="1E293B"/>
                          </a:solidFill>
                          <a:latin typeface="Meiryo UI" panose="020B0604030504040204" pitchFamily="50" charset="-128"/>
                          <a:ea typeface="Meiryo UI" panose="020B0604030504040204" pitchFamily="50" charset="-128"/>
                        </a:rPr>
                        <a:t>① 参加して良かったか（＋②理由）</a:t>
                      </a:r>
                    </a:p>
                  </a:txBody>
                  <a:tcPr>
                    <a:solidFill>
                      <a:srgbClr val="FFFF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はい／いいえ＋記述</a:t>
                      </a:r>
                    </a:p>
                  </a:txBody>
                  <a:tcPr>
                    <a:solidFill>
                      <a:srgbClr val="FFFFFF"/>
                    </a:solidFill>
                  </a:tcPr>
                </a:tc>
                <a:tc>
                  <a:txBody>
                    <a:bodyPr/>
                    <a:lstStyle/>
                    <a:p>
                      <a:r>
                        <a:rPr kumimoji="1" lang="ja-JP" altLang="en-US" sz="1500" b="1">
                          <a:solidFill>
                            <a:srgbClr val="10B981"/>
                          </a:solidFill>
                          <a:latin typeface="Meiryo UI" panose="020B0604030504040204" pitchFamily="50" charset="-128"/>
                          <a:ea typeface="Meiryo UI" panose="020B0604030504040204" pitchFamily="50" charset="-128"/>
                        </a:rPr>
                        <a:t>参加満足度と多職種連携・地域</a:t>
                      </a:r>
                      <a:r>
                        <a:rPr kumimoji="1" lang="en-US" altLang="ja-JP" sz="1500" b="1">
                          <a:solidFill>
                            <a:srgbClr val="10B981"/>
                          </a:solidFill>
                          <a:latin typeface="Meiryo UI" panose="020B0604030504040204" pitchFamily="50" charset="-128"/>
                          <a:ea typeface="Meiryo UI" panose="020B0604030504040204" pitchFamily="50" charset="-128"/>
                        </a:rPr>
                        <a:t>PR</a:t>
                      </a:r>
                      <a:r>
                        <a:rPr kumimoji="1" lang="ja-JP" altLang="en-US" sz="1500" b="1">
                          <a:solidFill>
                            <a:srgbClr val="10B981"/>
                          </a:solidFill>
                          <a:latin typeface="Meiryo UI" panose="020B0604030504040204" pitchFamily="50" charset="-128"/>
                          <a:ea typeface="Meiryo UI" panose="020B0604030504040204" pitchFamily="50" charset="-128"/>
                        </a:rPr>
                        <a:t>の実感</a:t>
                      </a:r>
                    </a:p>
                  </a:txBody>
                  <a:tcPr>
                    <a:solidFill>
                      <a:srgbClr val="FFFFFF"/>
                    </a:solidFill>
                  </a:tcPr>
                </a:tc>
                <a:extLst>
                  <a:ext uri="{0D108BD9-81ED-4DB2-BD59-A6C34878D82A}">
                    <a16:rowId xmlns:a16="http://schemas.microsoft.com/office/drawing/2014/main" val="4203429734"/>
                  </a:ext>
                </a:extLst>
              </a:tr>
              <a:tr h="711200">
                <a:tc>
                  <a:txBody>
                    <a:bodyPr/>
                    <a:lstStyle/>
                    <a:p>
                      <a:r>
                        <a:rPr kumimoji="1" lang="ja-JP" altLang="en-US" sz="1500" b="1">
                          <a:solidFill>
                            <a:srgbClr val="1E293B"/>
                          </a:solidFill>
                          <a:latin typeface="Meiryo UI" panose="020B0604030504040204" pitchFamily="50" charset="-128"/>
                          <a:ea typeface="Meiryo UI" panose="020B0604030504040204" pitchFamily="50" charset="-128"/>
                        </a:rPr>
                        <a:t>③ 地域住民に貢献できたか（＋④理由）</a:t>
                      </a:r>
                    </a:p>
                  </a:txBody>
                  <a:tcPr>
                    <a:solidFill>
                      <a:srgbClr val="EFF6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はい／いいえ＋記述</a:t>
                      </a:r>
                    </a:p>
                  </a:txBody>
                  <a:tcPr>
                    <a:solidFill>
                      <a:srgbClr val="EFF6FF"/>
                    </a:solidFill>
                  </a:tcPr>
                </a:tc>
                <a:tc>
                  <a:txBody>
                    <a:bodyPr/>
                    <a:lstStyle/>
                    <a:p>
                      <a:r>
                        <a:rPr kumimoji="1" lang="ja-JP" altLang="en-US" sz="1500" b="1">
                          <a:solidFill>
                            <a:srgbClr val="10B981"/>
                          </a:solidFill>
                          <a:latin typeface="Meiryo UI" panose="020B0604030504040204" pitchFamily="50" charset="-128"/>
                          <a:ea typeface="Meiryo UI" panose="020B0604030504040204" pitchFamily="50" charset="-128"/>
                        </a:rPr>
                        <a:t>自部署の役割による地域貢献の達成度</a:t>
                      </a:r>
                    </a:p>
                  </a:txBody>
                  <a:tcPr>
                    <a:solidFill>
                      <a:srgbClr val="EFF6FF"/>
                    </a:solidFill>
                  </a:tcPr>
                </a:tc>
                <a:extLst>
                  <a:ext uri="{0D108BD9-81ED-4DB2-BD59-A6C34878D82A}">
                    <a16:rowId xmlns:a16="http://schemas.microsoft.com/office/drawing/2014/main" val="202090080"/>
                  </a:ext>
                </a:extLst>
              </a:tr>
              <a:tr h="711200">
                <a:tc>
                  <a:txBody>
                    <a:bodyPr/>
                    <a:lstStyle/>
                    <a:p>
                      <a:r>
                        <a:rPr kumimoji="1" lang="ja-JP" altLang="en-US" sz="1500" b="1">
                          <a:solidFill>
                            <a:srgbClr val="1E293B"/>
                          </a:solidFill>
                          <a:latin typeface="Meiryo UI" panose="020B0604030504040204" pitchFamily="50" charset="-128"/>
                          <a:ea typeface="Meiryo UI" panose="020B0604030504040204" pitchFamily="50" charset="-128"/>
                        </a:rPr>
                        <a:t>⑤ </a:t>
                      </a:r>
                      <a:r>
                        <a:rPr kumimoji="1" lang="en-US" altLang="ja-JP" sz="1500" b="1">
                          <a:solidFill>
                            <a:srgbClr val="1E293B"/>
                          </a:solidFill>
                          <a:latin typeface="Meiryo UI" panose="020B0604030504040204" pitchFamily="50" charset="-128"/>
                          <a:ea typeface="Meiryo UI" panose="020B0604030504040204" pitchFamily="50" charset="-128"/>
                        </a:rPr>
                        <a:t>3</a:t>
                      </a:r>
                      <a:r>
                        <a:rPr kumimoji="1" lang="ja-JP" altLang="en-US" sz="1500" b="1">
                          <a:solidFill>
                            <a:srgbClr val="1E293B"/>
                          </a:solidFill>
                          <a:latin typeface="Meiryo UI" panose="020B0604030504040204" pitchFamily="50" charset="-128"/>
                          <a:ea typeface="Meiryo UI" panose="020B0604030504040204" pitchFamily="50" charset="-128"/>
                        </a:rPr>
                        <a:t>区画の広さはどうだったか（＋⑥問題点）</a:t>
                      </a:r>
                    </a:p>
                  </a:txBody>
                  <a:tcPr>
                    <a:solidFill>
                      <a:srgbClr val="FFFF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問題なし／あり＋記述</a:t>
                      </a:r>
                    </a:p>
                  </a:txBody>
                  <a:tcPr>
                    <a:solidFill>
                      <a:srgbClr val="FFFFFF"/>
                    </a:solidFill>
                  </a:tcPr>
                </a:tc>
                <a:tc>
                  <a:txBody>
                    <a:bodyPr/>
                    <a:lstStyle/>
                    <a:p>
                      <a:r>
                        <a:rPr kumimoji="1" lang="en-US" altLang="ja-JP" sz="1500" b="1">
                          <a:solidFill>
                            <a:srgbClr val="10B981"/>
                          </a:solidFill>
                          <a:latin typeface="Meiryo UI" panose="020B0604030504040204" pitchFamily="50" charset="-128"/>
                          <a:ea typeface="Meiryo UI" panose="020B0604030504040204" pitchFamily="50" charset="-128"/>
                        </a:rPr>
                        <a:t>3</a:t>
                      </a:r>
                      <a:r>
                        <a:rPr kumimoji="1" lang="ja-JP" altLang="en-US" sz="1500" b="1">
                          <a:solidFill>
                            <a:srgbClr val="10B981"/>
                          </a:solidFill>
                          <a:latin typeface="Meiryo UI" panose="020B0604030504040204" pitchFamily="50" charset="-128"/>
                          <a:ea typeface="Meiryo UI" panose="020B0604030504040204" pitchFamily="50" charset="-128"/>
                        </a:rPr>
                        <a:t>区画の広さの妥当性と現場での問題点</a:t>
                      </a:r>
                    </a:p>
                  </a:txBody>
                  <a:tcPr>
                    <a:solidFill>
                      <a:srgbClr val="FFFFFF"/>
                    </a:solidFill>
                  </a:tcPr>
                </a:tc>
                <a:extLst>
                  <a:ext uri="{0D108BD9-81ED-4DB2-BD59-A6C34878D82A}">
                    <a16:rowId xmlns:a16="http://schemas.microsoft.com/office/drawing/2014/main" val="4163924253"/>
                  </a:ext>
                </a:extLst>
              </a:tr>
              <a:tr h="711200">
                <a:tc>
                  <a:txBody>
                    <a:bodyPr/>
                    <a:lstStyle/>
                    <a:p>
                      <a:r>
                        <a:rPr kumimoji="1" lang="ja-JP" altLang="en-US" sz="1500" b="1">
                          <a:solidFill>
                            <a:srgbClr val="1E293B"/>
                          </a:solidFill>
                          <a:latin typeface="Meiryo UI" panose="020B0604030504040204" pitchFamily="50" charset="-128"/>
                          <a:ea typeface="Meiryo UI" panose="020B0604030504040204" pitchFamily="50" charset="-128"/>
                        </a:rPr>
                        <a:t>⑦ 人員配置は適切だったか（＋⑧問題点）</a:t>
                      </a:r>
                    </a:p>
                  </a:txBody>
                  <a:tcPr>
                    <a:solidFill>
                      <a:srgbClr val="EFF6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問題なし／あり＋記述</a:t>
                      </a:r>
                    </a:p>
                  </a:txBody>
                  <a:tcPr>
                    <a:solidFill>
                      <a:srgbClr val="EFF6FF"/>
                    </a:solidFill>
                  </a:tcPr>
                </a:tc>
                <a:tc>
                  <a:txBody>
                    <a:bodyPr/>
                    <a:lstStyle/>
                    <a:p>
                      <a:r>
                        <a:rPr kumimoji="1" lang="ja-JP" altLang="en-US" sz="1500" b="1">
                          <a:solidFill>
                            <a:srgbClr val="10B981"/>
                          </a:solidFill>
                          <a:latin typeface="Meiryo UI" panose="020B0604030504040204" pitchFamily="50" charset="-128"/>
                          <a:ea typeface="Meiryo UI" panose="020B0604030504040204" pitchFamily="50" charset="-128"/>
                        </a:rPr>
                        <a:t>参加人数・休憩確保・誘導体制の妥当性</a:t>
                      </a:r>
                    </a:p>
                  </a:txBody>
                  <a:tcPr>
                    <a:solidFill>
                      <a:srgbClr val="EFF6FF"/>
                    </a:solidFill>
                  </a:tcPr>
                </a:tc>
                <a:extLst>
                  <a:ext uri="{0D108BD9-81ED-4DB2-BD59-A6C34878D82A}">
                    <a16:rowId xmlns:a16="http://schemas.microsoft.com/office/drawing/2014/main" val="1678512242"/>
                  </a:ext>
                </a:extLst>
              </a:tr>
              <a:tr h="711200">
                <a:tc>
                  <a:txBody>
                    <a:bodyPr/>
                    <a:lstStyle/>
                    <a:p>
                      <a:r>
                        <a:rPr kumimoji="1" lang="ja-JP" altLang="en-US" sz="1500" b="1">
                          <a:solidFill>
                            <a:srgbClr val="1E293B"/>
                          </a:solidFill>
                          <a:latin typeface="Meiryo UI" panose="020B0604030504040204" pitchFamily="50" charset="-128"/>
                          <a:ea typeface="Meiryo UI" panose="020B0604030504040204" pitchFamily="50" charset="-128"/>
                        </a:rPr>
                        <a:t>⑨ 来年も参加する必要はあるか（＋⑩理由）</a:t>
                      </a:r>
                    </a:p>
                  </a:txBody>
                  <a:tcPr>
                    <a:solidFill>
                      <a:srgbClr val="FFFF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はい／いいえ＋記述</a:t>
                      </a:r>
                    </a:p>
                  </a:txBody>
                  <a:tcPr>
                    <a:solidFill>
                      <a:srgbClr val="FFFFFF"/>
                    </a:solidFill>
                  </a:tcPr>
                </a:tc>
                <a:tc>
                  <a:txBody>
                    <a:bodyPr/>
                    <a:lstStyle/>
                    <a:p>
                      <a:r>
                        <a:rPr kumimoji="1" lang="ja-JP" altLang="en-US" sz="1500" b="1">
                          <a:solidFill>
                            <a:srgbClr val="10B981"/>
                          </a:solidFill>
                          <a:latin typeface="Meiryo UI" panose="020B0604030504040204" pitchFamily="50" charset="-128"/>
                          <a:ea typeface="Meiryo UI" panose="020B0604030504040204" pitchFamily="50" charset="-128"/>
                        </a:rPr>
                        <a:t>来年度の継続参加に対する意向と理由</a:t>
                      </a:r>
                    </a:p>
                  </a:txBody>
                  <a:tcPr>
                    <a:solidFill>
                      <a:srgbClr val="FFFFFF"/>
                    </a:solidFill>
                  </a:tcPr>
                </a:tc>
                <a:extLst>
                  <a:ext uri="{0D108BD9-81ED-4DB2-BD59-A6C34878D82A}">
                    <a16:rowId xmlns:a16="http://schemas.microsoft.com/office/drawing/2014/main" val="297197659"/>
                  </a:ext>
                </a:extLst>
              </a:tr>
              <a:tr h="711200">
                <a:tc>
                  <a:txBody>
                    <a:bodyPr/>
                    <a:lstStyle/>
                    <a:p>
                      <a:r>
                        <a:rPr kumimoji="1" lang="ja-JP" altLang="en-US" sz="1500" b="1">
                          <a:solidFill>
                            <a:srgbClr val="1E293B"/>
                          </a:solidFill>
                          <a:latin typeface="Meiryo UI" panose="020B0604030504040204" pitchFamily="50" charset="-128"/>
                          <a:ea typeface="Meiryo UI" panose="020B0604030504040204" pitchFamily="50" charset="-128"/>
                        </a:rPr>
                        <a:t>⑪ 来年に向けて改善・強化したいこと</a:t>
                      </a:r>
                    </a:p>
                  </a:txBody>
                  <a:tcPr>
                    <a:solidFill>
                      <a:srgbClr val="EFF6FF"/>
                    </a:solidFill>
                  </a:tcPr>
                </a:tc>
                <a:tc>
                  <a:txBody>
                    <a:bodyPr/>
                    <a:lstStyle/>
                    <a:p>
                      <a:r>
                        <a:rPr kumimoji="1" lang="ja-JP" altLang="en-US" sz="1500">
                          <a:solidFill>
                            <a:srgbClr val="1E293B"/>
                          </a:solidFill>
                          <a:latin typeface="Meiryo UI" panose="020B0604030504040204" pitchFamily="50" charset="-128"/>
                          <a:ea typeface="Meiryo UI" panose="020B0604030504040204" pitchFamily="50" charset="-128"/>
                        </a:rPr>
                        <a:t>自由記述</a:t>
                      </a:r>
                    </a:p>
                  </a:txBody>
                  <a:tcPr>
                    <a:solidFill>
                      <a:srgbClr val="EFF6FF"/>
                    </a:solidFill>
                  </a:tcPr>
                </a:tc>
                <a:tc>
                  <a:txBody>
                    <a:bodyPr/>
                    <a:lstStyle/>
                    <a:p>
                      <a:r>
                        <a:rPr kumimoji="1" lang="ja-JP" altLang="en-US" sz="1500" b="1">
                          <a:solidFill>
                            <a:srgbClr val="10B981"/>
                          </a:solidFill>
                          <a:latin typeface="Meiryo UI" panose="020B0604030504040204" pitchFamily="50" charset="-128"/>
                          <a:ea typeface="Meiryo UI" panose="020B0604030504040204" pitchFamily="50" charset="-128"/>
                        </a:rPr>
                        <a:t>来年度の運営・設備・広報の改善提案</a:t>
                      </a:r>
                    </a:p>
                  </a:txBody>
                  <a:tcPr>
                    <a:solidFill>
                      <a:srgbClr val="EFF6FF"/>
                    </a:solidFill>
                  </a:tcPr>
                </a:tc>
                <a:extLst>
                  <a:ext uri="{0D108BD9-81ED-4DB2-BD59-A6C34878D82A}">
                    <a16:rowId xmlns:a16="http://schemas.microsoft.com/office/drawing/2014/main" val="2554003421"/>
                  </a:ext>
                </a:extLst>
              </a:tr>
            </a:tbl>
          </a:graphicData>
        </a:graphic>
      </p:graphicFrame>
    </p:spTree>
    <p:extLst>
      <p:ext uri="{BB962C8B-B14F-4D97-AF65-F5344CB8AC3E}">
        <p14:creationId xmlns:p14="http://schemas.microsoft.com/office/powerpoint/2010/main" val="170530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4FCBA88C-1911-2B30-ABBD-30BDA5DC3962}"/>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6E8559CA-FE56-E1F9-F1F3-8497320928F5}"/>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1AC89F68-B977-A2C4-F0FE-DC7C2EA7C21A}"/>
              </a:ext>
            </a:extLst>
          </p:cNvPr>
          <p:cNvSpPr/>
          <p:nvPr/>
        </p:nvSpPr>
        <p:spPr>
          <a:xfrm>
            <a:off x="457200" y="330200"/>
            <a:ext cx="2082800" cy="4064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60174D70-D9F3-5BB6-AEAF-0AC36B1B13B0}"/>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2</a:t>
            </a:r>
            <a:r>
              <a:rPr kumimoji="1" lang="ja-JP" altLang="en-US" sz="1300" b="1">
                <a:solidFill>
                  <a:srgbClr val="FFFFFF"/>
                </a:solidFill>
                <a:latin typeface="Meiryo UI" panose="020B0604030504040204" pitchFamily="50" charset="-128"/>
                <a:ea typeface="Meiryo UI" panose="020B0604030504040204" pitchFamily="50" charset="-128"/>
              </a:rPr>
              <a:t>部：スタッフ結果①</a:t>
            </a:r>
          </a:p>
        </p:txBody>
      </p:sp>
      <p:sp>
        <p:nvSpPr>
          <p:cNvPr id="6" name="テキスト ボックス 5">
            <a:extLst>
              <a:ext uri="{FF2B5EF4-FFF2-40B4-BE49-F238E27FC236}">
                <a16:creationId xmlns:a16="http://schemas.microsoft.com/office/drawing/2014/main" id="{C857A941-F609-7B20-5BBD-929D368DA7EE}"/>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スタッフ集計①：参加満足度（①）と 地域貢献度（③）</a:t>
            </a:r>
          </a:p>
        </p:txBody>
      </p:sp>
      <p:sp>
        <p:nvSpPr>
          <p:cNvPr id="7" name="四角形: 角を丸くする 6">
            <a:extLst>
              <a:ext uri="{FF2B5EF4-FFF2-40B4-BE49-F238E27FC236}">
                <a16:creationId xmlns:a16="http://schemas.microsoft.com/office/drawing/2014/main" id="{8FDDF17C-541A-20C8-9D9B-D8134A0DD7BA}"/>
              </a:ext>
            </a:extLst>
          </p:cNvPr>
          <p:cNvSpPr/>
          <p:nvPr/>
        </p:nvSpPr>
        <p:spPr>
          <a:xfrm>
            <a:off x="10871200" y="330200"/>
            <a:ext cx="863600" cy="381000"/>
          </a:xfrm>
          <a:prstGeom prst="roundRect">
            <a:avLst>
              <a:gd name="adj" fmla="val 5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853B8D7A-B826-CAB8-34C3-490BE1F870C8}"/>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10B981"/>
                </a:solidFill>
                <a:latin typeface="Meiryo UI" panose="020B0604030504040204" pitchFamily="50" charset="-128"/>
                <a:ea typeface="Meiryo UI" panose="020B0604030504040204" pitchFamily="50" charset="-128"/>
              </a:rPr>
              <a:t>11 / 22</a:t>
            </a:r>
            <a:endParaRPr kumimoji="1" lang="ja-JP" altLang="en-US" sz="1250" b="1">
              <a:solidFill>
                <a:srgbClr val="10B98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2A31668E-5FEE-F29B-94ED-CDBFCDDDE327}"/>
              </a:ext>
            </a:extLst>
          </p:cNvPr>
          <p:cNvSpPr/>
          <p:nvPr/>
        </p:nvSpPr>
        <p:spPr>
          <a:xfrm>
            <a:off x="457200" y="838200"/>
            <a:ext cx="11277600" cy="431800"/>
          </a:xfrm>
          <a:prstGeom prst="roundRect">
            <a:avLst>
              <a:gd name="adj" fmla="val 3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CD7E1932-D6C5-C619-2400-FF3C4FB2B47F}"/>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10B981"/>
                </a:solidFill>
                <a:latin typeface="Meiryo UI" panose="020B0604030504040204" pitchFamily="50" charset="-128"/>
                <a:ea typeface="Meiryo UI" panose="020B0604030504040204" pitchFamily="50" charset="-128"/>
              </a:rPr>
              <a:t>回答</a:t>
            </a:r>
            <a:r>
              <a:rPr kumimoji="1" lang="en-US" altLang="ja-JP" sz="1500" b="1">
                <a:solidFill>
                  <a:srgbClr val="10B981"/>
                </a:solidFill>
                <a:latin typeface="Meiryo UI" panose="020B0604030504040204" pitchFamily="50" charset="-128"/>
                <a:ea typeface="Meiryo UI" panose="020B0604030504040204" pitchFamily="50" charset="-128"/>
              </a:rPr>
              <a:t>13</a:t>
            </a:r>
            <a:r>
              <a:rPr kumimoji="1" lang="ja-JP" altLang="en-US" sz="1500" b="1">
                <a:solidFill>
                  <a:srgbClr val="10B981"/>
                </a:solidFill>
                <a:latin typeface="Meiryo UI" panose="020B0604030504040204" pitchFamily="50" charset="-128"/>
                <a:ea typeface="Meiryo UI" panose="020B0604030504040204" pitchFamily="50" charset="-128"/>
              </a:rPr>
              <a:t>名全員（</a:t>
            </a:r>
            <a:r>
              <a:rPr kumimoji="1" lang="en-US" altLang="ja-JP" sz="1500" b="1">
                <a:solidFill>
                  <a:srgbClr val="10B981"/>
                </a:solidFill>
                <a:latin typeface="Meiryo UI" panose="020B0604030504040204" pitchFamily="50" charset="-128"/>
                <a:ea typeface="Meiryo UI" panose="020B0604030504040204" pitchFamily="50" charset="-128"/>
              </a:rPr>
              <a:t>100%</a:t>
            </a:r>
            <a:r>
              <a:rPr kumimoji="1" lang="ja-JP" altLang="en-US" sz="1500" b="1">
                <a:solidFill>
                  <a:srgbClr val="10B981"/>
                </a:solidFill>
                <a:latin typeface="Meiryo UI" panose="020B0604030504040204" pitchFamily="50" charset="-128"/>
                <a:ea typeface="Meiryo UI" panose="020B0604030504040204" pitchFamily="50" charset="-128"/>
              </a:rPr>
              <a:t>）が「参加して良かった」、</a:t>
            </a:r>
            <a:r>
              <a:rPr kumimoji="1" lang="en-US" altLang="ja-JP" sz="1500" b="1">
                <a:solidFill>
                  <a:srgbClr val="10B981"/>
                </a:solidFill>
                <a:latin typeface="Meiryo UI" panose="020B0604030504040204" pitchFamily="50" charset="-128"/>
                <a:ea typeface="Meiryo UI" panose="020B0604030504040204" pitchFamily="50" charset="-128"/>
              </a:rPr>
              <a:t>92.3%</a:t>
            </a:r>
            <a:r>
              <a:rPr kumimoji="1" lang="ja-JP" altLang="en-US" sz="1500" b="1">
                <a:solidFill>
                  <a:srgbClr val="10B981"/>
                </a:solidFill>
                <a:latin typeface="Meiryo UI" panose="020B0604030504040204" pitchFamily="50" charset="-128"/>
                <a:ea typeface="Meiryo UI" panose="020B0604030504040204" pitchFamily="50" charset="-128"/>
              </a:rPr>
              <a:t>（</a:t>
            </a:r>
            <a:r>
              <a:rPr kumimoji="1" lang="en-US" altLang="ja-JP" sz="1500" b="1">
                <a:solidFill>
                  <a:srgbClr val="10B981"/>
                </a:solidFill>
                <a:latin typeface="Meiryo UI" panose="020B0604030504040204" pitchFamily="50" charset="-128"/>
                <a:ea typeface="Meiryo UI" panose="020B0604030504040204" pitchFamily="50" charset="-128"/>
              </a:rPr>
              <a:t>12</a:t>
            </a:r>
            <a:r>
              <a:rPr kumimoji="1" lang="ja-JP" altLang="en-US" sz="1500" b="1">
                <a:solidFill>
                  <a:srgbClr val="10B981"/>
                </a:solidFill>
                <a:latin typeface="Meiryo UI" panose="020B0604030504040204" pitchFamily="50" charset="-128"/>
                <a:ea typeface="Meiryo UI" panose="020B0604030504040204" pitchFamily="50" charset="-128"/>
              </a:rPr>
              <a:t>名）が「地域貢献できた」と回答</a:t>
            </a:r>
          </a:p>
        </p:txBody>
      </p:sp>
      <p:sp>
        <p:nvSpPr>
          <p:cNvPr id="11" name="四角形: 角を丸くする 10">
            <a:extLst>
              <a:ext uri="{FF2B5EF4-FFF2-40B4-BE49-F238E27FC236}">
                <a16:creationId xmlns:a16="http://schemas.microsoft.com/office/drawing/2014/main" id="{CE40FF04-4DF9-41A3-FF18-072AF21588CF}"/>
              </a:ext>
            </a:extLst>
          </p:cNvPr>
          <p:cNvSpPr/>
          <p:nvPr/>
        </p:nvSpPr>
        <p:spPr>
          <a:xfrm>
            <a:off x="254000" y="1549400"/>
            <a:ext cx="57150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D7EE6E25-C263-055C-D502-F0BB6E2C4887}"/>
              </a:ext>
            </a:extLst>
          </p:cNvPr>
          <p:cNvSpPr/>
          <p:nvPr/>
        </p:nvSpPr>
        <p:spPr>
          <a:xfrm>
            <a:off x="482600" y="1778000"/>
            <a:ext cx="101600" cy="3302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101FD05A-1B5B-FBFF-D6BB-D15A8A887979}"/>
              </a:ext>
            </a:extLst>
          </p:cNvPr>
          <p:cNvSpPr txBox="1"/>
          <p:nvPr/>
        </p:nvSpPr>
        <p:spPr>
          <a:xfrm>
            <a:off x="685800" y="17399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① 参加して良かったか（</a:t>
            </a:r>
            <a:r>
              <a:rPr kumimoji="1" lang="en-US" altLang="ja-JP" sz="1750" b="1">
                <a:solidFill>
                  <a:srgbClr val="1E293B"/>
                </a:solidFill>
                <a:latin typeface="Meiryo UI" panose="020B0604030504040204" pitchFamily="50" charset="-128"/>
                <a:ea typeface="Meiryo UI" panose="020B0604030504040204" pitchFamily="50" charset="-128"/>
              </a:rPr>
              <a:t>N=13</a:t>
            </a:r>
            <a:r>
              <a:rPr kumimoji="1" lang="ja-JP" altLang="en-US" sz="1750" b="1">
                <a:solidFill>
                  <a:srgbClr val="1E293B"/>
                </a:solidFill>
                <a:latin typeface="Meiryo UI" panose="020B0604030504040204" pitchFamily="50" charset="-128"/>
                <a:ea typeface="Meiryo UI" panose="020B0604030504040204" pitchFamily="50" charset="-128"/>
              </a:rPr>
              <a:t>）</a:t>
            </a:r>
          </a:p>
        </p:txBody>
      </p:sp>
      <p:sp>
        <p:nvSpPr>
          <p:cNvPr id="14" name="楕円 13">
            <a:extLst>
              <a:ext uri="{FF2B5EF4-FFF2-40B4-BE49-F238E27FC236}">
                <a16:creationId xmlns:a16="http://schemas.microsoft.com/office/drawing/2014/main" id="{97EB5E46-EF9E-991F-3852-21BFFCF2B7EA}"/>
              </a:ext>
            </a:extLst>
          </p:cNvPr>
          <p:cNvSpPr/>
          <p:nvPr/>
        </p:nvSpPr>
        <p:spPr>
          <a:xfrm>
            <a:off x="635000" y="2349500"/>
            <a:ext cx="2413000" cy="2413000"/>
          </a:xfrm>
          <a:prstGeom prst="ellipse">
            <a:avLst/>
          </a:prstGeom>
          <a:solidFill>
            <a:srgbClr val="10B981"/>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2A3B106E-8047-184D-8A6A-7266BB02B241}"/>
              </a:ext>
            </a:extLst>
          </p:cNvPr>
          <p:cNvSpPr/>
          <p:nvPr/>
        </p:nvSpPr>
        <p:spPr>
          <a:xfrm>
            <a:off x="1189990" y="2904490"/>
            <a:ext cx="1303020" cy="130302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A72764A4-5E03-EA62-19AE-1C989212D99D}"/>
              </a:ext>
            </a:extLst>
          </p:cNvPr>
          <p:cNvSpPr txBox="1"/>
          <p:nvPr/>
        </p:nvSpPr>
        <p:spPr>
          <a:xfrm>
            <a:off x="1240790" y="3225800"/>
            <a:ext cx="1201420" cy="595035"/>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はい </a:t>
            </a:r>
            <a:r>
              <a:rPr kumimoji="1" lang="en-US" altLang="ja-JP" sz="1600" b="1">
                <a:solidFill>
                  <a:srgbClr val="1E293B"/>
                </a:solidFill>
                <a:latin typeface="Meiryo UI" panose="020B0604030504040204" pitchFamily="50" charset="-128"/>
                <a:ea typeface="Meiryo UI" panose="020B0604030504040204" pitchFamily="50" charset="-128"/>
              </a:rPr>
              <a:t>100%</a:t>
            </a:r>
            <a:endParaRPr kumimoji="1" lang="ja-JP" altLang="en-US" sz="1600" b="1">
              <a:solidFill>
                <a:srgbClr val="1E293B"/>
              </a:solidFill>
              <a:latin typeface="Meiryo UI" panose="020B0604030504040204" pitchFamily="50" charset="-128"/>
              <a:ea typeface="Meiryo UI" panose="020B0604030504040204" pitchFamily="50" charset="-128"/>
            </a:endParaRPr>
          </a:p>
        </p:txBody>
      </p:sp>
      <p:sp>
        <p:nvSpPr>
          <p:cNvPr id="17" name="テキスト ボックス 16">
            <a:extLst>
              <a:ext uri="{FF2B5EF4-FFF2-40B4-BE49-F238E27FC236}">
                <a16:creationId xmlns:a16="http://schemas.microsoft.com/office/drawing/2014/main" id="{D2727D19-503E-7FE8-8DAF-FE5ED82A6E0E}"/>
              </a:ext>
            </a:extLst>
          </p:cNvPr>
          <p:cNvSpPr txBox="1"/>
          <p:nvPr/>
        </p:nvSpPr>
        <p:spPr>
          <a:xfrm>
            <a:off x="1240790" y="3581400"/>
            <a:ext cx="1201420" cy="29495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13</a:t>
            </a:r>
            <a:r>
              <a:rPr kumimoji="1" lang="ja-JP" altLang="en-US" sz="1250" b="1">
                <a:solidFill>
                  <a:srgbClr val="64748B"/>
                </a:solidFill>
                <a:latin typeface="Meiryo UI" panose="020B0604030504040204" pitchFamily="50" charset="-128"/>
                <a:ea typeface="Meiryo UI" panose="020B0604030504040204" pitchFamily="50" charset="-128"/>
              </a:rPr>
              <a:t>名 </a:t>
            </a:r>
            <a:r>
              <a:rPr kumimoji="1" lang="en-US" altLang="ja-JP" sz="1250" b="1">
                <a:solidFill>
                  <a:srgbClr val="64748B"/>
                </a:solidFill>
                <a:latin typeface="Meiryo UI" panose="020B0604030504040204" pitchFamily="50" charset="-128"/>
                <a:ea typeface="Meiryo UI" panose="020B0604030504040204" pitchFamily="50" charset="-128"/>
              </a:rPr>
              <a:t>/ 13</a:t>
            </a:r>
            <a:r>
              <a:rPr kumimoji="1" lang="ja-JP" altLang="en-US" sz="1250" b="1">
                <a:solidFill>
                  <a:srgbClr val="64748B"/>
                </a:solidFill>
                <a:latin typeface="Meiryo UI" panose="020B0604030504040204" pitchFamily="50" charset="-128"/>
                <a:ea typeface="Meiryo UI" panose="020B0604030504040204" pitchFamily="50" charset="-128"/>
              </a:rPr>
              <a:t>名</a:t>
            </a:r>
          </a:p>
        </p:txBody>
      </p:sp>
      <p:sp>
        <p:nvSpPr>
          <p:cNvPr id="18" name="四角形: 角を丸くする 17">
            <a:extLst>
              <a:ext uri="{FF2B5EF4-FFF2-40B4-BE49-F238E27FC236}">
                <a16:creationId xmlns:a16="http://schemas.microsoft.com/office/drawing/2014/main" id="{C7B9E976-A776-2D84-B564-C402484949B3}"/>
              </a:ext>
            </a:extLst>
          </p:cNvPr>
          <p:cNvSpPr/>
          <p:nvPr/>
        </p:nvSpPr>
        <p:spPr>
          <a:xfrm>
            <a:off x="3162300" y="2870200"/>
            <a:ext cx="26289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6DA55E4F-F486-F74E-DF6F-75B640E4510E}"/>
              </a:ext>
            </a:extLst>
          </p:cNvPr>
          <p:cNvSpPr/>
          <p:nvPr/>
        </p:nvSpPr>
        <p:spPr>
          <a:xfrm>
            <a:off x="3238500" y="2984500"/>
            <a:ext cx="228600" cy="22860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F4BFDC96-C8AD-C2FD-9FB3-57AFE8319906}"/>
              </a:ext>
            </a:extLst>
          </p:cNvPr>
          <p:cNvSpPr txBox="1"/>
          <p:nvPr/>
        </p:nvSpPr>
        <p:spPr>
          <a:xfrm>
            <a:off x="3568700" y="2921000"/>
            <a:ext cx="698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はい</a:t>
            </a:r>
          </a:p>
        </p:txBody>
      </p:sp>
      <p:sp>
        <p:nvSpPr>
          <p:cNvPr id="21" name="テキスト ボックス 20">
            <a:extLst>
              <a:ext uri="{FF2B5EF4-FFF2-40B4-BE49-F238E27FC236}">
                <a16:creationId xmlns:a16="http://schemas.microsoft.com/office/drawing/2014/main" id="{F45E85A5-E992-D23F-9B27-B55560564397}"/>
              </a:ext>
            </a:extLst>
          </p:cNvPr>
          <p:cNvSpPr txBox="1"/>
          <p:nvPr/>
        </p:nvSpPr>
        <p:spPr>
          <a:xfrm>
            <a:off x="4127500" y="29210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10B981"/>
                </a:solidFill>
                <a:latin typeface="Meiryo UI" panose="020B0604030504040204" pitchFamily="50" charset="-128"/>
                <a:ea typeface="Meiryo UI" panose="020B0604030504040204" pitchFamily="50" charset="-128"/>
              </a:rPr>
              <a:t>13</a:t>
            </a:r>
            <a:r>
              <a:rPr kumimoji="1" lang="ja-JP" altLang="en-US" sz="1550" b="1">
                <a:solidFill>
                  <a:srgbClr val="10B981"/>
                </a:solidFill>
                <a:latin typeface="Meiryo UI" panose="020B0604030504040204" pitchFamily="50" charset="-128"/>
                <a:ea typeface="Meiryo UI" panose="020B0604030504040204" pitchFamily="50" charset="-128"/>
              </a:rPr>
              <a:t>名 </a:t>
            </a:r>
            <a:r>
              <a:rPr kumimoji="1" lang="en-US" altLang="ja-JP" sz="1550" b="1">
                <a:solidFill>
                  <a:srgbClr val="10B981"/>
                </a:solidFill>
                <a:latin typeface="Meiryo UI" panose="020B0604030504040204" pitchFamily="50" charset="-128"/>
                <a:ea typeface="Meiryo UI" panose="020B0604030504040204" pitchFamily="50" charset="-128"/>
              </a:rPr>
              <a:t>(100%)</a:t>
            </a:r>
            <a:endParaRPr kumimoji="1" lang="ja-JP" altLang="en-US" sz="1550" b="1">
              <a:solidFill>
                <a:srgbClr val="10B981"/>
              </a:solidFill>
              <a:latin typeface="Meiryo UI" panose="020B0604030504040204" pitchFamily="50" charset="-128"/>
              <a:ea typeface="Meiryo UI" panose="020B0604030504040204" pitchFamily="50" charset="-128"/>
            </a:endParaRPr>
          </a:p>
        </p:txBody>
      </p:sp>
      <p:sp>
        <p:nvSpPr>
          <p:cNvPr id="22" name="楕円 21">
            <a:extLst>
              <a:ext uri="{FF2B5EF4-FFF2-40B4-BE49-F238E27FC236}">
                <a16:creationId xmlns:a16="http://schemas.microsoft.com/office/drawing/2014/main" id="{DC15835A-423B-5F66-9729-EA860C969D65}"/>
              </a:ext>
            </a:extLst>
          </p:cNvPr>
          <p:cNvSpPr/>
          <p:nvPr/>
        </p:nvSpPr>
        <p:spPr>
          <a:xfrm>
            <a:off x="3238500" y="3644900"/>
            <a:ext cx="228600" cy="2286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530B5C49-3852-0823-1E29-EC62FA3784ED}"/>
              </a:ext>
            </a:extLst>
          </p:cNvPr>
          <p:cNvSpPr txBox="1"/>
          <p:nvPr/>
        </p:nvSpPr>
        <p:spPr>
          <a:xfrm>
            <a:off x="3568700" y="3581400"/>
            <a:ext cx="698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いいえ</a:t>
            </a:r>
          </a:p>
        </p:txBody>
      </p:sp>
      <p:sp>
        <p:nvSpPr>
          <p:cNvPr id="24" name="テキスト ボックス 23">
            <a:extLst>
              <a:ext uri="{FF2B5EF4-FFF2-40B4-BE49-F238E27FC236}">
                <a16:creationId xmlns:a16="http://schemas.microsoft.com/office/drawing/2014/main" id="{AAF371ED-F076-ACC7-1B2F-E89315FD4E91}"/>
              </a:ext>
            </a:extLst>
          </p:cNvPr>
          <p:cNvSpPr txBox="1"/>
          <p:nvPr/>
        </p:nvSpPr>
        <p:spPr>
          <a:xfrm>
            <a:off x="4127500" y="35814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94A3B8"/>
                </a:solidFill>
                <a:latin typeface="Meiryo UI" panose="020B0604030504040204" pitchFamily="50" charset="-128"/>
                <a:ea typeface="Meiryo UI" panose="020B0604030504040204" pitchFamily="50" charset="-128"/>
              </a:rPr>
              <a:t>0</a:t>
            </a:r>
            <a:r>
              <a:rPr kumimoji="1" lang="ja-JP" altLang="en-US" sz="1550" b="1">
                <a:solidFill>
                  <a:srgbClr val="94A3B8"/>
                </a:solidFill>
                <a:latin typeface="Meiryo UI" panose="020B0604030504040204" pitchFamily="50" charset="-128"/>
                <a:ea typeface="Meiryo UI" panose="020B0604030504040204" pitchFamily="50" charset="-128"/>
              </a:rPr>
              <a:t>名 </a:t>
            </a:r>
            <a:r>
              <a:rPr kumimoji="1" lang="en-US" altLang="ja-JP" sz="1550" b="1">
                <a:solidFill>
                  <a:srgbClr val="94A3B8"/>
                </a:solidFill>
                <a:latin typeface="Meiryo UI" panose="020B0604030504040204" pitchFamily="50" charset="-128"/>
                <a:ea typeface="Meiryo UI" panose="020B0604030504040204" pitchFamily="50" charset="-128"/>
              </a:rPr>
              <a:t>(0.0%)</a:t>
            </a:r>
            <a:endParaRPr kumimoji="1" lang="ja-JP" altLang="en-US" sz="1550" b="1">
              <a:solidFill>
                <a:srgbClr val="94A3B8"/>
              </a:solidFill>
              <a:latin typeface="Meiryo UI" panose="020B0604030504040204" pitchFamily="50" charset="-128"/>
              <a:ea typeface="Meiryo UI" panose="020B0604030504040204" pitchFamily="50" charset="-128"/>
            </a:endParaRPr>
          </a:p>
        </p:txBody>
      </p:sp>
      <p:sp>
        <p:nvSpPr>
          <p:cNvPr id="25" name="四角形: 角を丸くする 24">
            <a:extLst>
              <a:ext uri="{FF2B5EF4-FFF2-40B4-BE49-F238E27FC236}">
                <a16:creationId xmlns:a16="http://schemas.microsoft.com/office/drawing/2014/main" id="{2AFCB9E3-BF33-ADE3-59F0-35A5044BF873}"/>
              </a:ext>
            </a:extLst>
          </p:cNvPr>
          <p:cNvSpPr/>
          <p:nvPr/>
        </p:nvSpPr>
        <p:spPr>
          <a:xfrm>
            <a:off x="6223000" y="1549400"/>
            <a:ext cx="57150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 角を丸くする 25">
            <a:extLst>
              <a:ext uri="{FF2B5EF4-FFF2-40B4-BE49-F238E27FC236}">
                <a16:creationId xmlns:a16="http://schemas.microsoft.com/office/drawing/2014/main" id="{F8B5D656-5A20-D737-6218-94F5710E11B3}"/>
              </a:ext>
            </a:extLst>
          </p:cNvPr>
          <p:cNvSpPr/>
          <p:nvPr/>
        </p:nvSpPr>
        <p:spPr>
          <a:xfrm>
            <a:off x="6451600" y="17780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42BD96A2-F487-0597-177D-E78DB8F398CC}"/>
              </a:ext>
            </a:extLst>
          </p:cNvPr>
          <p:cNvSpPr txBox="1"/>
          <p:nvPr/>
        </p:nvSpPr>
        <p:spPr>
          <a:xfrm>
            <a:off x="6654800" y="17399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③ 地域住民に貢献できたか（</a:t>
            </a:r>
            <a:r>
              <a:rPr kumimoji="1" lang="en-US" altLang="ja-JP" sz="1750" b="1">
                <a:solidFill>
                  <a:srgbClr val="1E293B"/>
                </a:solidFill>
                <a:latin typeface="Meiryo UI" panose="020B0604030504040204" pitchFamily="50" charset="-128"/>
                <a:ea typeface="Meiryo UI" panose="020B0604030504040204" pitchFamily="50" charset="-128"/>
              </a:rPr>
              <a:t>N=13</a:t>
            </a:r>
            <a:r>
              <a:rPr kumimoji="1" lang="ja-JP" altLang="en-US" sz="1750" b="1">
                <a:solidFill>
                  <a:srgbClr val="1E293B"/>
                </a:solidFill>
                <a:latin typeface="Meiryo UI" panose="020B0604030504040204" pitchFamily="50" charset="-128"/>
                <a:ea typeface="Meiryo UI" panose="020B0604030504040204" pitchFamily="50" charset="-128"/>
              </a:rPr>
              <a:t>）</a:t>
            </a:r>
          </a:p>
        </p:txBody>
      </p:sp>
      <p:sp>
        <p:nvSpPr>
          <p:cNvPr id="28" name="部分円 27">
            <a:extLst>
              <a:ext uri="{FF2B5EF4-FFF2-40B4-BE49-F238E27FC236}">
                <a16:creationId xmlns:a16="http://schemas.microsoft.com/office/drawing/2014/main" id="{B984AF97-D72B-638C-0C1F-5550CBE9BDA6}"/>
              </a:ext>
            </a:extLst>
          </p:cNvPr>
          <p:cNvSpPr/>
          <p:nvPr/>
        </p:nvSpPr>
        <p:spPr>
          <a:xfrm>
            <a:off x="6604000" y="2349500"/>
            <a:ext cx="2413000" cy="2413000"/>
          </a:xfrm>
          <a:prstGeom prst="pie">
            <a:avLst>
              <a:gd name="adj1" fmla="val 16200000"/>
              <a:gd name="adj2" fmla="val 145368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9" name="部分円 28">
            <a:extLst>
              <a:ext uri="{FF2B5EF4-FFF2-40B4-BE49-F238E27FC236}">
                <a16:creationId xmlns:a16="http://schemas.microsoft.com/office/drawing/2014/main" id="{27E99F47-67FB-FD94-11DF-B3B52B763D86}"/>
              </a:ext>
            </a:extLst>
          </p:cNvPr>
          <p:cNvSpPr/>
          <p:nvPr/>
        </p:nvSpPr>
        <p:spPr>
          <a:xfrm>
            <a:off x="6604000" y="2349500"/>
            <a:ext cx="2413000" cy="2413000"/>
          </a:xfrm>
          <a:prstGeom prst="pie">
            <a:avLst>
              <a:gd name="adj1" fmla="val 14536800"/>
              <a:gd name="adj2" fmla="val 16200000"/>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0" name="楕円 29">
            <a:extLst>
              <a:ext uri="{FF2B5EF4-FFF2-40B4-BE49-F238E27FC236}">
                <a16:creationId xmlns:a16="http://schemas.microsoft.com/office/drawing/2014/main" id="{A7F264B5-033D-39FF-1923-6DB5E22B22A8}"/>
              </a:ext>
            </a:extLst>
          </p:cNvPr>
          <p:cNvSpPr/>
          <p:nvPr/>
        </p:nvSpPr>
        <p:spPr>
          <a:xfrm>
            <a:off x="7158990" y="2904490"/>
            <a:ext cx="1303020" cy="130302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90628D23-2B9C-7E0A-774F-42DD7B63BCD1}"/>
              </a:ext>
            </a:extLst>
          </p:cNvPr>
          <p:cNvSpPr txBox="1"/>
          <p:nvPr/>
        </p:nvSpPr>
        <p:spPr>
          <a:xfrm>
            <a:off x="7209790" y="3225800"/>
            <a:ext cx="1201420" cy="595035"/>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はい </a:t>
            </a:r>
            <a:r>
              <a:rPr kumimoji="1" lang="en-US" altLang="ja-JP" sz="1600" b="1">
                <a:solidFill>
                  <a:srgbClr val="1E293B"/>
                </a:solidFill>
                <a:latin typeface="Meiryo UI" panose="020B0604030504040204" pitchFamily="50" charset="-128"/>
                <a:ea typeface="Meiryo UI" panose="020B0604030504040204" pitchFamily="50" charset="-128"/>
              </a:rPr>
              <a:t>92.3%</a:t>
            </a:r>
            <a:endParaRPr kumimoji="1" lang="ja-JP" altLang="en-US" sz="1600" b="1">
              <a:solidFill>
                <a:srgbClr val="1E293B"/>
              </a:solidFill>
              <a:latin typeface="Meiryo UI" panose="020B0604030504040204" pitchFamily="50" charset="-128"/>
              <a:ea typeface="Meiryo UI" panose="020B0604030504040204" pitchFamily="50" charset="-128"/>
            </a:endParaRPr>
          </a:p>
        </p:txBody>
      </p:sp>
      <p:sp>
        <p:nvSpPr>
          <p:cNvPr id="32" name="テキスト ボックス 31">
            <a:extLst>
              <a:ext uri="{FF2B5EF4-FFF2-40B4-BE49-F238E27FC236}">
                <a16:creationId xmlns:a16="http://schemas.microsoft.com/office/drawing/2014/main" id="{70ED6734-D2AF-76CA-C859-7E77DEC05D05}"/>
              </a:ext>
            </a:extLst>
          </p:cNvPr>
          <p:cNvSpPr txBox="1"/>
          <p:nvPr/>
        </p:nvSpPr>
        <p:spPr>
          <a:xfrm>
            <a:off x="7209790" y="3581400"/>
            <a:ext cx="1201420" cy="29495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12</a:t>
            </a:r>
            <a:r>
              <a:rPr kumimoji="1" lang="ja-JP" altLang="en-US" sz="1250" b="1">
                <a:solidFill>
                  <a:srgbClr val="64748B"/>
                </a:solidFill>
                <a:latin typeface="Meiryo UI" panose="020B0604030504040204" pitchFamily="50" charset="-128"/>
                <a:ea typeface="Meiryo UI" panose="020B0604030504040204" pitchFamily="50" charset="-128"/>
              </a:rPr>
              <a:t>名 </a:t>
            </a:r>
            <a:r>
              <a:rPr kumimoji="1" lang="en-US" altLang="ja-JP" sz="1250" b="1">
                <a:solidFill>
                  <a:srgbClr val="64748B"/>
                </a:solidFill>
                <a:latin typeface="Meiryo UI" panose="020B0604030504040204" pitchFamily="50" charset="-128"/>
                <a:ea typeface="Meiryo UI" panose="020B0604030504040204" pitchFamily="50" charset="-128"/>
              </a:rPr>
              <a:t>/ 13</a:t>
            </a:r>
            <a:r>
              <a:rPr kumimoji="1" lang="ja-JP" altLang="en-US" sz="1250" b="1">
                <a:solidFill>
                  <a:srgbClr val="64748B"/>
                </a:solidFill>
                <a:latin typeface="Meiryo UI" panose="020B0604030504040204" pitchFamily="50" charset="-128"/>
                <a:ea typeface="Meiryo UI" panose="020B0604030504040204" pitchFamily="50" charset="-128"/>
              </a:rPr>
              <a:t>名</a:t>
            </a:r>
          </a:p>
        </p:txBody>
      </p:sp>
      <p:sp>
        <p:nvSpPr>
          <p:cNvPr id="33" name="四角形: 角を丸くする 32">
            <a:extLst>
              <a:ext uri="{FF2B5EF4-FFF2-40B4-BE49-F238E27FC236}">
                <a16:creationId xmlns:a16="http://schemas.microsoft.com/office/drawing/2014/main" id="{060D5370-CED2-46F1-22A1-2FEB630B1726}"/>
              </a:ext>
            </a:extLst>
          </p:cNvPr>
          <p:cNvSpPr/>
          <p:nvPr/>
        </p:nvSpPr>
        <p:spPr>
          <a:xfrm>
            <a:off x="9131300" y="2870200"/>
            <a:ext cx="26289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楕円 33">
            <a:extLst>
              <a:ext uri="{FF2B5EF4-FFF2-40B4-BE49-F238E27FC236}">
                <a16:creationId xmlns:a16="http://schemas.microsoft.com/office/drawing/2014/main" id="{EBC714C4-9272-3266-3308-E2884BE15122}"/>
              </a:ext>
            </a:extLst>
          </p:cNvPr>
          <p:cNvSpPr/>
          <p:nvPr/>
        </p:nvSpPr>
        <p:spPr>
          <a:xfrm>
            <a:off x="9207500" y="29845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CC1CF938-9FE2-1D72-7260-9D22B7F2D52B}"/>
              </a:ext>
            </a:extLst>
          </p:cNvPr>
          <p:cNvSpPr txBox="1"/>
          <p:nvPr/>
        </p:nvSpPr>
        <p:spPr>
          <a:xfrm>
            <a:off x="9537700" y="2921000"/>
            <a:ext cx="698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はい</a:t>
            </a:r>
          </a:p>
        </p:txBody>
      </p:sp>
      <p:sp>
        <p:nvSpPr>
          <p:cNvPr id="36" name="テキスト ボックス 35">
            <a:extLst>
              <a:ext uri="{FF2B5EF4-FFF2-40B4-BE49-F238E27FC236}">
                <a16:creationId xmlns:a16="http://schemas.microsoft.com/office/drawing/2014/main" id="{D2DC854A-1B3B-6871-385B-C71A2951CC88}"/>
              </a:ext>
            </a:extLst>
          </p:cNvPr>
          <p:cNvSpPr txBox="1"/>
          <p:nvPr/>
        </p:nvSpPr>
        <p:spPr>
          <a:xfrm>
            <a:off x="10096500" y="29210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12</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(92.3%)</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37" name="楕円 36">
            <a:extLst>
              <a:ext uri="{FF2B5EF4-FFF2-40B4-BE49-F238E27FC236}">
                <a16:creationId xmlns:a16="http://schemas.microsoft.com/office/drawing/2014/main" id="{D09A1ADB-2AFD-F524-DAB9-6A6B3E477ED8}"/>
              </a:ext>
            </a:extLst>
          </p:cNvPr>
          <p:cNvSpPr/>
          <p:nvPr/>
        </p:nvSpPr>
        <p:spPr>
          <a:xfrm>
            <a:off x="9207500" y="3644900"/>
            <a:ext cx="228600" cy="2286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ED19D9E9-21E5-9EA1-D541-5DD0C8AE0D76}"/>
              </a:ext>
            </a:extLst>
          </p:cNvPr>
          <p:cNvSpPr txBox="1"/>
          <p:nvPr/>
        </p:nvSpPr>
        <p:spPr>
          <a:xfrm>
            <a:off x="9537700" y="3581400"/>
            <a:ext cx="698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いいえ</a:t>
            </a:r>
          </a:p>
        </p:txBody>
      </p:sp>
      <p:sp>
        <p:nvSpPr>
          <p:cNvPr id="39" name="テキスト ボックス 38">
            <a:extLst>
              <a:ext uri="{FF2B5EF4-FFF2-40B4-BE49-F238E27FC236}">
                <a16:creationId xmlns:a16="http://schemas.microsoft.com/office/drawing/2014/main" id="{EC0CC1D2-935F-7945-5D15-B0C093C87515}"/>
              </a:ext>
            </a:extLst>
          </p:cNvPr>
          <p:cNvSpPr txBox="1"/>
          <p:nvPr/>
        </p:nvSpPr>
        <p:spPr>
          <a:xfrm>
            <a:off x="10096500" y="35814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94A3B8"/>
                </a:solidFill>
                <a:latin typeface="Meiryo UI" panose="020B0604030504040204" pitchFamily="50" charset="-128"/>
                <a:ea typeface="Meiryo UI" panose="020B0604030504040204" pitchFamily="50" charset="-128"/>
              </a:rPr>
              <a:t>1</a:t>
            </a:r>
            <a:r>
              <a:rPr kumimoji="1" lang="ja-JP" altLang="en-US" sz="1550" b="1">
                <a:solidFill>
                  <a:srgbClr val="94A3B8"/>
                </a:solidFill>
                <a:latin typeface="Meiryo UI" panose="020B0604030504040204" pitchFamily="50" charset="-128"/>
                <a:ea typeface="Meiryo UI" panose="020B0604030504040204" pitchFamily="50" charset="-128"/>
              </a:rPr>
              <a:t>名 </a:t>
            </a:r>
            <a:r>
              <a:rPr kumimoji="1" lang="en-US" altLang="ja-JP" sz="1550" b="1">
                <a:solidFill>
                  <a:srgbClr val="94A3B8"/>
                </a:solidFill>
                <a:latin typeface="Meiryo UI" panose="020B0604030504040204" pitchFamily="50" charset="-128"/>
                <a:ea typeface="Meiryo UI" panose="020B0604030504040204" pitchFamily="50" charset="-128"/>
              </a:rPr>
              <a:t>(7.7%)</a:t>
            </a:r>
            <a:endParaRPr kumimoji="1" lang="ja-JP" altLang="en-US" sz="1550" b="1">
              <a:solidFill>
                <a:srgbClr val="94A3B8"/>
              </a:solidFill>
              <a:latin typeface="Meiryo UI" panose="020B0604030504040204" pitchFamily="50" charset="-128"/>
              <a:ea typeface="Meiryo UI" panose="020B0604030504040204" pitchFamily="50" charset="-128"/>
            </a:endParaRPr>
          </a:p>
        </p:txBody>
      </p:sp>
      <p:sp>
        <p:nvSpPr>
          <p:cNvPr id="40" name="四角形: 角を丸くする 39">
            <a:extLst>
              <a:ext uri="{FF2B5EF4-FFF2-40B4-BE49-F238E27FC236}">
                <a16:creationId xmlns:a16="http://schemas.microsoft.com/office/drawing/2014/main" id="{0DB40EBF-B3DF-D2AC-3A3A-B4C6EDB1F284}"/>
              </a:ext>
            </a:extLst>
          </p:cNvPr>
          <p:cNvSpPr/>
          <p:nvPr/>
        </p:nvSpPr>
        <p:spPr>
          <a:xfrm>
            <a:off x="254000" y="53594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E86772D1-FD85-2D67-299F-209C96592CBE}"/>
              </a:ext>
            </a:extLst>
          </p:cNvPr>
          <p:cNvSpPr txBox="1"/>
          <p:nvPr/>
        </p:nvSpPr>
        <p:spPr>
          <a:xfrm>
            <a:off x="508000" y="5486400"/>
            <a:ext cx="11176000" cy="579646"/>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・設問①は</a:t>
            </a:r>
            <a:r>
              <a:rPr kumimoji="1" lang="en-US" altLang="ja-JP" sz="1550" b="1">
                <a:solidFill>
                  <a:srgbClr val="1E293B"/>
                </a:solidFill>
                <a:latin typeface="Meiryo UI" panose="020B0604030504040204" pitchFamily="50" charset="-128"/>
                <a:ea typeface="Meiryo UI" panose="020B0604030504040204" pitchFamily="50" charset="-128"/>
              </a:rPr>
              <a:t>13</a:t>
            </a:r>
            <a:r>
              <a:rPr kumimoji="1" lang="ja-JP" altLang="en-US" sz="1550" b="1">
                <a:solidFill>
                  <a:srgbClr val="1E293B"/>
                </a:solidFill>
                <a:latin typeface="Meiryo UI" panose="020B0604030504040204" pitchFamily="50" charset="-128"/>
                <a:ea typeface="Meiryo UI" panose="020B0604030504040204" pitchFamily="50" charset="-128"/>
              </a:rPr>
              <a:t>名全員（</a:t>
            </a:r>
            <a:r>
              <a:rPr kumimoji="1" lang="en-US" altLang="ja-JP" sz="1550" b="1">
                <a:solidFill>
                  <a:srgbClr val="1E293B"/>
                </a:solidFill>
                <a:latin typeface="Meiryo UI" panose="020B0604030504040204" pitchFamily="50" charset="-128"/>
                <a:ea typeface="Meiryo UI" panose="020B0604030504040204" pitchFamily="50" charset="-128"/>
              </a:rPr>
              <a:t>100%</a:t>
            </a:r>
            <a:r>
              <a:rPr kumimoji="1" lang="ja-JP" altLang="en-US" sz="1550" b="1">
                <a:solidFill>
                  <a:srgbClr val="1E293B"/>
                </a:solidFill>
                <a:latin typeface="Meiryo UI" panose="020B0604030504040204" pitchFamily="50" charset="-128"/>
                <a:ea typeface="Meiryo UI" panose="020B0604030504040204" pitchFamily="50" charset="-128"/>
              </a:rPr>
              <a:t>）が「はい」と回答し、地域住民との直接交流や他部門との一致団結・結束力が理由に挙げられた。
・設問③は</a:t>
            </a:r>
            <a:r>
              <a:rPr kumimoji="1" lang="en-US" altLang="ja-JP" sz="1550" b="1">
                <a:solidFill>
                  <a:srgbClr val="1E293B"/>
                </a:solidFill>
                <a:latin typeface="Meiryo UI" panose="020B0604030504040204" pitchFamily="50" charset="-128"/>
                <a:ea typeface="Meiryo UI" panose="020B0604030504040204" pitchFamily="50" charset="-128"/>
              </a:rPr>
              <a:t>12</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92.3%</a:t>
            </a:r>
            <a:r>
              <a:rPr kumimoji="1" lang="ja-JP" altLang="en-US" sz="1550" b="1">
                <a:solidFill>
                  <a:srgbClr val="1E293B"/>
                </a:solidFill>
                <a:latin typeface="Meiryo UI" panose="020B0604030504040204" pitchFamily="50" charset="-128"/>
                <a:ea typeface="Meiryo UI" panose="020B0604030504040204" pitchFamily="50" charset="-128"/>
              </a:rPr>
              <a:t>）が「はい」と回答し、測定結果に基づく運動・栄養・生活指導やお薬カレンダー配布が評価された。</a:t>
            </a:r>
          </a:p>
        </p:txBody>
      </p:sp>
    </p:spTree>
    <p:extLst>
      <p:ext uri="{BB962C8B-B14F-4D97-AF65-F5344CB8AC3E}">
        <p14:creationId xmlns:p14="http://schemas.microsoft.com/office/powerpoint/2010/main" val="488868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E7AC410-2924-28BF-E758-5F61E5919620}"/>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62AB9A54-C191-4CB6-D726-C0C1C498BD17}"/>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7206B0A2-CF6C-3667-C5AB-6C9CEC4F4796}"/>
              </a:ext>
            </a:extLst>
          </p:cNvPr>
          <p:cNvSpPr/>
          <p:nvPr/>
        </p:nvSpPr>
        <p:spPr>
          <a:xfrm>
            <a:off x="457200" y="330200"/>
            <a:ext cx="2082800" cy="4064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74D045A-9F56-2812-84FB-3443504D289D}"/>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2</a:t>
            </a:r>
            <a:r>
              <a:rPr kumimoji="1" lang="ja-JP" altLang="en-US" sz="1300" b="1">
                <a:solidFill>
                  <a:srgbClr val="FFFFFF"/>
                </a:solidFill>
                <a:latin typeface="Meiryo UI" panose="020B0604030504040204" pitchFamily="50" charset="-128"/>
                <a:ea typeface="Meiryo UI" panose="020B0604030504040204" pitchFamily="50" charset="-128"/>
              </a:rPr>
              <a:t>部：スタッフ結果②</a:t>
            </a:r>
          </a:p>
        </p:txBody>
      </p:sp>
      <p:sp>
        <p:nvSpPr>
          <p:cNvPr id="6" name="テキスト ボックス 5">
            <a:extLst>
              <a:ext uri="{FF2B5EF4-FFF2-40B4-BE49-F238E27FC236}">
                <a16:creationId xmlns:a16="http://schemas.microsoft.com/office/drawing/2014/main" id="{8EF0D3E5-7099-72A6-9C56-886AF9DA646E}"/>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スタッフ集計②：</a:t>
            </a:r>
            <a:r>
              <a:rPr kumimoji="1" lang="en-US" altLang="ja-JP" sz="2100" b="1">
                <a:solidFill>
                  <a:srgbClr val="1E293B"/>
                </a:solidFill>
                <a:latin typeface="Meiryo UI" panose="020B0604030504040204" pitchFamily="50" charset="-128"/>
                <a:ea typeface="Meiryo UI" panose="020B0604030504040204" pitchFamily="50" charset="-128"/>
              </a:rPr>
              <a:t>3</a:t>
            </a:r>
            <a:r>
              <a:rPr kumimoji="1" lang="ja-JP" altLang="en-US" sz="2100" b="1">
                <a:solidFill>
                  <a:srgbClr val="1E293B"/>
                </a:solidFill>
                <a:latin typeface="Meiryo UI" panose="020B0604030504040204" pitchFamily="50" charset="-128"/>
                <a:ea typeface="Meiryo UI" panose="020B0604030504040204" pitchFamily="50" charset="-128"/>
              </a:rPr>
              <a:t>区画の広さ（⑤）と 人員配置（⑦）</a:t>
            </a:r>
          </a:p>
        </p:txBody>
      </p:sp>
      <p:sp>
        <p:nvSpPr>
          <p:cNvPr id="7" name="四角形: 角を丸くする 6">
            <a:extLst>
              <a:ext uri="{FF2B5EF4-FFF2-40B4-BE49-F238E27FC236}">
                <a16:creationId xmlns:a16="http://schemas.microsoft.com/office/drawing/2014/main" id="{E7A59861-B8DA-8689-EFDF-612F107B83C9}"/>
              </a:ext>
            </a:extLst>
          </p:cNvPr>
          <p:cNvSpPr/>
          <p:nvPr/>
        </p:nvSpPr>
        <p:spPr>
          <a:xfrm>
            <a:off x="10871200" y="330200"/>
            <a:ext cx="863600" cy="381000"/>
          </a:xfrm>
          <a:prstGeom prst="roundRect">
            <a:avLst>
              <a:gd name="adj" fmla="val 5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CCD4C7D0-2A8C-B85D-17D7-1955F0351F8A}"/>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EF4444"/>
                </a:solidFill>
                <a:latin typeface="Meiryo UI" panose="020B0604030504040204" pitchFamily="50" charset="-128"/>
                <a:ea typeface="Meiryo UI" panose="020B0604030504040204" pitchFamily="50" charset="-128"/>
              </a:rPr>
              <a:t>12 / 22</a:t>
            </a:r>
            <a:endParaRPr kumimoji="1" lang="ja-JP" altLang="en-US" sz="1250" b="1">
              <a:solidFill>
                <a:srgbClr val="EF4444"/>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C57C6C93-6D8A-507E-0680-3EB20079B0C2}"/>
              </a:ext>
            </a:extLst>
          </p:cNvPr>
          <p:cNvSpPr/>
          <p:nvPr/>
        </p:nvSpPr>
        <p:spPr>
          <a:xfrm>
            <a:off x="457200" y="838200"/>
            <a:ext cx="11277600" cy="431800"/>
          </a:xfrm>
          <a:prstGeom prst="roundRect">
            <a:avLst>
              <a:gd name="adj" fmla="val 3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A15C01B1-3D79-F639-B156-2D9507C363DB}"/>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en-US" altLang="ja-JP" sz="1500" b="1">
                <a:solidFill>
                  <a:srgbClr val="EF4444"/>
                </a:solidFill>
                <a:latin typeface="Meiryo UI" panose="020B0604030504040204" pitchFamily="50" charset="-128"/>
                <a:ea typeface="Meiryo UI" panose="020B0604030504040204" pitchFamily="50" charset="-128"/>
              </a:rPr>
              <a:t>3</a:t>
            </a:r>
            <a:r>
              <a:rPr kumimoji="1" lang="ja-JP" altLang="en-US" sz="1500" b="1">
                <a:solidFill>
                  <a:srgbClr val="EF4444"/>
                </a:solidFill>
                <a:latin typeface="Meiryo UI" panose="020B0604030504040204" pitchFamily="50" charset="-128"/>
                <a:ea typeface="Meiryo UI" panose="020B0604030504040204" pitchFamily="50" charset="-128"/>
              </a:rPr>
              <a:t>区画の広さは</a:t>
            </a:r>
            <a:r>
              <a:rPr kumimoji="1" lang="en-US" altLang="ja-JP" sz="1500" b="1">
                <a:solidFill>
                  <a:srgbClr val="EF4444"/>
                </a:solidFill>
                <a:latin typeface="Meiryo UI" panose="020B0604030504040204" pitchFamily="50" charset="-128"/>
                <a:ea typeface="Meiryo UI" panose="020B0604030504040204" pitchFamily="50" charset="-128"/>
              </a:rPr>
              <a:t>38.5%</a:t>
            </a:r>
            <a:r>
              <a:rPr kumimoji="1" lang="ja-JP" altLang="en-US" sz="1500" b="1">
                <a:solidFill>
                  <a:srgbClr val="EF4444"/>
                </a:solidFill>
                <a:latin typeface="Meiryo UI" panose="020B0604030504040204" pitchFamily="50" charset="-128"/>
                <a:ea typeface="Meiryo UI" panose="020B0604030504040204" pitchFamily="50" charset="-128"/>
              </a:rPr>
              <a:t>（</a:t>
            </a:r>
            <a:r>
              <a:rPr kumimoji="1" lang="en-US" altLang="ja-JP" sz="1500" b="1">
                <a:solidFill>
                  <a:srgbClr val="EF4444"/>
                </a:solidFill>
                <a:latin typeface="Meiryo UI" panose="020B0604030504040204" pitchFamily="50" charset="-128"/>
                <a:ea typeface="Meiryo UI" panose="020B0604030504040204" pitchFamily="50" charset="-128"/>
              </a:rPr>
              <a:t>5</a:t>
            </a:r>
            <a:r>
              <a:rPr kumimoji="1" lang="ja-JP" altLang="en-US" sz="1500" b="1">
                <a:solidFill>
                  <a:srgbClr val="EF4444"/>
                </a:solidFill>
                <a:latin typeface="Meiryo UI" panose="020B0604030504040204" pitchFamily="50" charset="-128"/>
                <a:ea typeface="Meiryo UI" panose="020B0604030504040204" pitchFamily="50" charset="-128"/>
              </a:rPr>
              <a:t>名）、人員配置は</a:t>
            </a:r>
            <a:r>
              <a:rPr kumimoji="1" lang="en-US" altLang="ja-JP" sz="1500" b="1">
                <a:solidFill>
                  <a:srgbClr val="EF4444"/>
                </a:solidFill>
                <a:latin typeface="Meiryo UI" panose="020B0604030504040204" pitchFamily="50" charset="-128"/>
                <a:ea typeface="Meiryo UI" panose="020B0604030504040204" pitchFamily="50" charset="-128"/>
              </a:rPr>
              <a:t>76.9%</a:t>
            </a:r>
            <a:r>
              <a:rPr kumimoji="1" lang="ja-JP" altLang="en-US" sz="1500" b="1">
                <a:solidFill>
                  <a:srgbClr val="EF4444"/>
                </a:solidFill>
                <a:latin typeface="Meiryo UI" panose="020B0604030504040204" pitchFamily="50" charset="-128"/>
                <a:ea typeface="Meiryo UI" panose="020B0604030504040204" pitchFamily="50" charset="-128"/>
              </a:rPr>
              <a:t>（</a:t>
            </a:r>
            <a:r>
              <a:rPr kumimoji="1" lang="en-US" altLang="ja-JP" sz="1500" b="1">
                <a:solidFill>
                  <a:srgbClr val="EF4444"/>
                </a:solidFill>
                <a:latin typeface="Meiryo UI" panose="020B0604030504040204" pitchFamily="50" charset="-128"/>
                <a:ea typeface="Meiryo UI" panose="020B0604030504040204" pitchFamily="50" charset="-128"/>
              </a:rPr>
              <a:t>10</a:t>
            </a:r>
            <a:r>
              <a:rPr kumimoji="1" lang="ja-JP" altLang="en-US" sz="1500" b="1">
                <a:solidFill>
                  <a:srgbClr val="EF4444"/>
                </a:solidFill>
                <a:latin typeface="Meiryo UI" panose="020B0604030504040204" pitchFamily="50" charset="-128"/>
                <a:ea typeface="Meiryo UI" panose="020B0604030504040204" pitchFamily="50" charset="-128"/>
              </a:rPr>
              <a:t>名）が「問題あり」と回答</a:t>
            </a:r>
          </a:p>
        </p:txBody>
      </p:sp>
      <p:sp>
        <p:nvSpPr>
          <p:cNvPr id="11" name="四角形: 角を丸くする 10">
            <a:extLst>
              <a:ext uri="{FF2B5EF4-FFF2-40B4-BE49-F238E27FC236}">
                <a16:creationId xmlns:a16="http://schemas.microsoft.com/office/drawing/2014/main" id="{E3CA7D97-724C-6CB2-9BE7-A42A2C57ED18}"/>
              </a:ext>
            </a:extLst>
          </p:cNvPr>
          <p:cNvSpPr/>
          <p:nvPr/>
        </p:nvSpPr>
        <p:spPr>
          <a:xfrm>
            <a:off x="254000" y="1549400"/>
            <a:ext cx="57150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EEA26875-E5AE-83EC-0AA5-50B783AF3487}"/>
              </a:ext>
            </a:extLst>
          </p:cNvPr>
          <p:cNvSpPr/>
          <p:nvPr/>
        </p:nvSpPr>
        <p:spPr>
          <a:xfrm>
            <a:off x="482600" y="1778000"/>
            <a:ext cx="101600" cy="3302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647AF687-E688-AC4C-EA33-B3D8341A13B0}"/>
              </a:ext>
            </a:extLst>
          </p:cNvPr>
          <p:cNvSpPr txBox="1"/>
          <p:nvPr/>
        </p:nvSpPr>
        <p:spPr>
          <a:xfrm>
            <a:off x="685800" y="17399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⑤ </a:t>
            </a:r>
            <a:r>
              <a:rPr kumimoji="1" lang="en-US" altLang="ja-JP" sz="1750" b="1">
                <a:solidFill>
                  <a:srgbClr val="1E293B"/>
                </a:solidFill>
                <a:latin typeface="Meiryo UI" panose="020B0604030504040204" pitchFamily="50" charset="-128"/>
                <a:ea typeface="Meiryo UI" panose="020B0604030504040204" pitchFamily="50" charset="-128"/>
              </a:rPr>
              <a:t>3</a:t>
            </a:r>
            <a:r>
              <a:rPr kumimoji="1" lang="ja-JP" altLang="en-US" sz="1750" b="1">
                <a:solidFill>
                  <a:srgbClr val="1E293B"/>
                </a:solidFill>
                <a:latin typeface="Meiryo UI" panose="020B0604030504040204" pitchFamily="50" charset="-128"/>
                <a:ea typeface="Meiryo UI" panose="020B0604030504040204" pitchFamily="50" charset="-128"/>
              </a:rPr>
              <a:t>区画の広さは適切だったか</a:t>
            </a:r>
          </a:p>
        </p:txBody>
      </p:sp>
      <p:sp>
        <p:nvSpPr>
          <p:cNvPr id="14" name="部分円 13">
            <a:extLst>
              <a:ext uri="{FF2B5EF4-FFF2-40B4-BE49-F238E27FC236}">
                <a16:creationId xmlns:a16="http://schemas.microsoft.com/office/drawing/2014/main" id="{BCFC34E9-825C-7DDF-9143-45ACA5F0D2EE}"/>
              </a:ext>
            </a:extLst>
          </p:cNvPr>
          <p:cNvSpPr/>
          <p:nvPr/>
        </p:nvSpPr>
        <p:spPr>
          <a:xfrm>
            <a:off x="635000" y="2349500"/>
            <a:ext cx="2413000" cy="2413000"/>
          </a:xfrm>
          <a:prstGeom prst="pie">
            <a:avLst>
              <a:gd name="adj1" fmla="val 16200000"/>
              <a:gd name="adj2" fmla="val 7884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8BA35589-9941-6CE4-C28F-3A3470FFBE6D}"/>
              </a:ext>
            </a:extLst>
          </p:cNvPr>
          <p:cNvSpPr/>
          <p:nvPr/>
        </p:nvSpPr>
        <p:spPr>
          <a:xfrm>
            <a:off x="635000" y="2349500"/>
            <a:ext cx="2413000" cy="2413000"/>
          </a:xfrm>
          <a:prstGeom prst="pie">
            <a:avLst>
              <a:gd name="adj1" fmla="val 7884000"/>
              <a:gd name="adj2" fmla="val 16200000"/>
            </a:avLst>
          </a:prstGeom>
          <a:solidFill>
            <a:srgbClr val="EF4444"/>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楕円 15">
            <a:extLst>
              <a:ext uri="{FF2B5EF4-FFF2-40B4-BE49-F238E27FC236}">
                <a16:creationId xmlns:a16="http://schemas.microsoft.com/office/drawing/2014/main" id="{3576224A-560C-906B-54D9-3EEF078067CA}"/>
              </a:ext>
            </a:extLst>
          </p:cNvPr>
          <p:cNvSpPr/>
          <p:nvPr/>
        </p:nvSpPr>
        <p:spPr>
          <a:xfrm>
            <a:off x="1189990" y="2904490"/>
            <a:ext cx="1303020" cy="130302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9A67E7B1-6C9C-0B7F-44EA-0B8558256511}"/>
              </a:ext>
            </a:extLst>
          </p:cNvPr>
          <p:cNvSpPr txBox="1"/>
          <p:nvPr/>
        </p:nvSpPr>
        <p:spPr>
          <a:xfrm>
            <a:off x="1240790" y="3225800"/>
            <a:ext cx="1201420" cy="348813"/>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問題あり</a:t>
            </a:r>
          </a:p>
        </p:txBody>
      </p:sp>
      <p:sp>
        <p:nvSpPr>
          <p:cNvPr id="18" name="テキスト ボックス 17">
            <a:extLst>
              <a:ext uri="{FF2B5EF4-FFF2-40B4-BE49-F238E27FC236}">
                <a16:creationId xmlns:a16="http://schemas.microsoft.com/office/drawing/2014/main" id="{B3F11339-5EBD-B8C3-ECAB-0B9EBE91EC46}"/>
              </a:ext>
            </a:extLst>
          </p:cNvPr>
          <p:cNvSpPr txBox="1"/>
          <p:nvPr/>
        </p:nvSpPr>
        <p:spPr>
          <a:xfrm>
            <a:off x="1240790" y="3581400"/>
            <a:ext cx="1201420" cy="29495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38.5% (5</a:t>
            </a:r>
            <a:r>
              <a:rPr kumimoji="1" lang="ja-JP" altLang="en-US" sz="1250" b="1">
                <a:solidFill>
                  <a:srgbClr val="64748B"/>
                </a:solidFill>
                <a:latin typeface="Meiryo UI" panose="020B0604030504040204" pitchFamily="50" charset="-128"/>
                <a:ea typeface="Meiryo UI" panose="020B0604030504040204" pitchFamily="50" charset="-128"/>
              </a:rPr>
              <a:t>名</a:t>
            </a:r>
            <a:r>
              <a:rPr kumimoji="1" lang="en-US" altLang="ja-JP" sz="1250" b="1">
                <a:solidFill>
                  <a:srgbClr val="64748B"/>
                </a:solidFill>
                <a:latin typeface="Meiryo UI" panose="020B0604030504040204" pitchFamily="50" charset="-128"/>
                <a:ea typeface="Meiryo UI" panose="020B0604030504040204" pitchFamily="50" charset="-128"/>
              </a:rPr>
              <a:t>)</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19" name="楕円 18">
            <a:extLst>
              <a:ext uri="{FF2B5EF4-FFF2-40B4-BE49-F238E27FC236}">
                <a16:creationId xmlns:a16="http://schemas.microsoft.com/office/drawing/2014/main" id="{FB40D0F7-BE74-D4D4-BF9B-0A9DACD1097F}"/>
              </a:ext>
            </a:extLst>
          </p:cNvPr>
          <p:cNvSpPr/>
          <p:nvPr/>
        </p:nvSpPr>
        <p:spPr>
          <a:xfrm>
            <a:off x="3238500" y="29845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AD2A22F4-075D-B13D-6417-B26CA48FA8DE}"/>
              </a:ext>
            </a:extLst>
          </p:cNvPr>
          <p:cNvSpPr txBox="1"/>
          <p:nvPr/>
        </p:nvSpPr>
        <p:spPr>
          <a:xfrm>
            <a:off x="3568700" y="2921000"/>
            <a:ext cx="698500" cy="564257"/>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問題なし</a:t>
            </a:r>
          </a:p>
        </p:txBody>
      </p:sp>
      <p:sp>
        <p:nvSpPr>
          <p:cNvPr id="21" name="テキスト ボックス 20">
            <a:extLst>
              <a:ext uri="{FF2B5EF4-FFF2-40B4-BE49-F238E27FC236}">
                <a16:creationId xmlns:a16="http://schemas.microsoft.com/office/drawing/2014/main" id="{1E41A451-E67E-5C26-16B9-48C0C59992FE}"/>
              </a:ext>
            </a:extLst>
          </p:cNvPr>
          <p:cNvSpPr txBox="1"/>
          <p:nvPr/>
        </p:nvSpPr>
        <p:spPr>
          <a:xfrm>
            <a:off x="4127500" y="29210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8</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(61.5%)</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22" name="四角形: 角を丸くする 21">
            <a:extLst>
              <a:ext uri="{FF2B5EF4-FFF2-40B4-BE49-F238E27FC236}">
                <a16:creationId xmlns:a16="http://schemas.microsoft.com/office/drawing/2014/main" id="{468E5E52-284C-A103-8D1C-F4EEA2D72CCF}"/>
              </a:ext>
            </a:extLst>
          </p:cNvPr>
          <p:cNvSpPr/>
          <p:nvPr/>
        </p:nvSpPr>
        <p:spPr>
          <a:xfrm>
            <a:off x="3162300" y="3530600"/>
            <a:ext cx="26289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D71F6D24-2F33-A065-B573-C657022983B3}"/>
              </a:ext>
            </a:extLst>
          </p:cNvPr>
          <p:cNvSpPr/>
          <p:nvPr/>
        </p:nvSpPr>
        <p:spPr>
          <a:xfrm>
            <a:off x="3238500" y="3644900"/>
            <a:ext cx="228600" cy="228600"/>
          </a:xfrm>
          <a:prstGeom prst="ellipse">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5E789188-3C88-0D73-CF6C-485694625B54}"/>
              </a:ext>
            </a:extLst>
          </p:cNvPr>
          <p:cNvSpPr txBox="1"/>
          <p:nvPr/>
        </p:nvSpPr>
        <p:spPr>
          <a:xfrm>
            <a:off x="3568700" y="3581400"/>
            <a:ext cx="698500" cy="564257"/>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問題あり</a:t>
            </a:r>
          </a:p>
        </p:txBody>
      </p:sp>
      <p:sp>
        <p:nvSpPr>
          <p:cNvPr id="25" name="テキスト ボックス 24">
            <a:extLst>
              <a:ext uri="{FF2B5EF4-FFF2-40B4-BE49-F238E27FC236}">
                <a16:creationId xmlns:a16="http://schemas.microsoft.com/office/drawing/2014/main" id="{B86ABB1D-1F4D-35D7-C4F3-8679FDDF8C11}"/>
              </a:ext>
            </a:extLst>
          </p:cNvPr>
          <p:cNvSpPr txBox="1"/>
          <p:nvPr/>
        </p:nvSpPr>
        <p:spPr>
          <a:xfrm>
            <a:off x="4127500" y="35814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EF4444"/>
                </a:solidFill>
                <a:latin typeface="Meiryo UI" panose="020B0604030504040204" pitchFamily="50" charset="-128"/>
                <a:ea typeface="Meiryo UI" panose="020B0604030504040204" pitchFamily="50" charset="-128"/>
              </a:rPr>
              <a:t>5</a:t>
            </a:r>
            <a:r>
              <a:rPr kumimoji="1" lang="ja-JP" altLang="en-US" sz="1550" b="1">
                <a:solidFill>
                  <a:srgbClr val="EF4444"/>
                </a:solidFill>
                <a:latin typeface="Meiryo UI" panose="020B0604030504040204" pitchFamily="50" charset="-128"/>
                <a:ea typeface="Meiryo UI" panose="020B0604030504040204" pitchFamily="50" charset="-128"/>
              </a:rPr>
              <a:t>名 </a:t>
            </a:r>
            <a:r>
              <a:rPr kumimoji="1" lang="en-US" altLang="ja-JP" sz="1550" b="1">
                <a:solidFill>
                  <a:srgbClr val="EF4444"/>
                </a:solidFill>
                <a:latin typeface="Meiryo UI" panose="020B0604030504040204" pitchFamily="50" charset="-128"/>
                <a:ea typeface="Meiryo UI" panose="020B0604030504040204" pitchFamily="50" charset="-128"/>
              </a:rPr>
              <a:t>(38.5%)</a:t>
            </a:r>
            <a:endParaRPr kumimoji="1" lang="ja-JP" altLang="en-US" sz="1550" b="1">
              <a:solidFill>
                <a:srgbClr val="EF4444"/>
              </a:solidFill>
              <a:latin typeface="Meiryo UI" panose="020B0604030504040204" pitchFamily="50" charset="-128"/>
              <a:ea typeface="Meiryo UI" panose="020B0604030504040204" pitchFamily="50" charset="-128"/>
            </a:endParaRPr>
          </a:p>
        </p:txBody>
      </p:sp>
      <p:sp>
        <p:nvSpPr>
          <p:cNvPr id="26" name="四角形: 角を丸くする 25">
            <a:extLst>
              <a:ext uri="{FF2B5EF4-FFF2-40B4-BE49-F238E27FC236}">
                <a16:creationId xmlns:a16="http://schemas.microsoft.com/office/drawing/2014/main" id="{5CE67AE6-1C01-ACE0-34F9-4A6F813FBD57}"/>
              </a:ext>
            </a:extLst>
          </p:cNvPr>
          <p:cNvSpPr/>
          <p:nvPr/>
        </p:nvSpPr>
        <p:spPr>
          <a:xfrm>
            <a:off x="6223000" y="1549400"/>
            <a:ext cx="57150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D1963070-40E8-FDBD-2C8A-4FCE87A49C80}"/>
              </a:ext>
            </a:extLst>
          </p:cNvPr>
          <p:cNvSpPr/>
          <p:nvPr/>
        </p:nvSpPr>
        <p:spPr>
          <a:xfrm>
            <a:off x="6451600" y="1778000"/>
            <a:ext cx="101600" cy="3302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F360B62A-277A-EC6D-DA08-7F2D96EF32D2}"/>
              </a:ext>
            </a:extLst>
          </p:cNvPr>
          <p:cNvSpPr txBox="1"/>
          <p:nvPr/>
        </p:nvSpPr>
        <p:spPr>
          <a:xfrm>
            <a:off x="6654800" y="17399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⑦ 人員配置（参加人数）は適切だったか</a:t>
            </a:r>
          </a:p>
        </p:txBody>
      </p:sp>
      <p:sp>
        <p:nvSpPr>
          <p:cNvPr id="29" name="部分円 28">
            <a:extLst>
              <a:ext uri="{FF2B5EF4-FFF2-40B4-BE49-F238E27FC236}">
                <a16:creationId xmlns:a16="http://schemas.microsoft.com/office/drawing/2014/main" id="{CBBA2042-CB99-7AE2-465E-A7BEB5BC7919}"/>
              </a:ext>
            </a:extLst>
          </p:cNvPr>
          <p:cNvSpPr/>
          <p:nvPr/>
        </p:nvSpPr>
        <p:spPr>
          <a:xfrm>
            <a:off x="6604000" y="2349500"/>
            <a:ext cx="2413000" cy="2413000"/>
          </a:xfrm>
          <a:prstGeom prst="pie">
            <a:avLst>
              <a:gd name="adj1" fmla="val 16200000"/>
              <a:gd name="adj2" fmla="val 11210400"/>
            </a:avLst>
          </a:prstGeom>
          <a:solidFill>
            <a:srgbClr val="EF4444"/>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0" name="部分円 29">
            <a:extLst>
              <a:ext uri="{FF2B5EF4-FFF2-40B4-BE49-F238E27FC236}">
                <a16:creationId xmlns:a16="http://schemas.microsoft.com/office/drawing/2014/main" id="{6F1F79B2-88BA-3F94-8188-471186902244}"/>
              </a:ext>
            </a:extLst>
          </p:cNvPr>
          <p:cNvSpPr/>
          <p:nvPr/>
        </p:nvSpPr>
        <p:spPr>
          <a:xfrm>
            <a:off x="6604000" y="2349500"/>
            <a:ext cx="2413000" cy="2413000"/>
          </a:xfrm>
          <a:prstGeom prst="pie">
            <a:avLst>
              <a:gd name="adj1" fmla="val 11210400"/>
              <a:gd name="adj2" fmla="val 16200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1" name="楕円 30">
            <a:extLst>
              <a:ext uri="{FF2B5EF4-FFF2-40B4-BE49-F238E27FC236}">
                <a16:creationId xmlns:a16="http://schemas.microsoft.com/office/drawing/2014/main" id="{A72D9B15-3E8C-EDC7-B7E2-93EF16A04A58}"/>
              </a:ext>
            </a:extLst>
          </p:cNvPr>
          <p:cNvSpPr/>
          <p:nvPr/>
        </p:nvSpPr>
        <p:spPr>
          <a:xfrm>
            <a:off x="7158990" y="2904490"/>
            <a:ext cx="1303020" cy="130302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B132261B-D956-B21C-5AC6-B0C4BE76C8DB}"/>
              </a:ext>
            </a:extLst>
          </p:cNvPr>
          <p:cNvSpPr txBox="1"/>
          <p:nvPr/>
        </p:nvSpPr>
        <p:spPr>
          <a:xfrm>
            <a:off x="7209790" y="3225800"/>
            <a:ext cx="1201420" cy="348813"/>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問題あり</a:t>
            </a:r>
          </a:p>
        </p:txBody>
      </p:sp>
      <p:sp>
        <p:nvSpPr>
          <p:cNvPr id="33" name="テキスト ボックス 32">
            <a:extLst>
              <a:ext uri="{FF2B5EF4-FFF2-40B4-BE49-F238E27FC236}">
                <a16:creationId xmlns:a16="http://schemas.microsoft.com/office/drawing/2014/main" id="{C417AB98-0868-BFAA-9023-75B74FA53BF9}"/>
              </a:ext>
            </a:extLst>
          </p:cNvPr>
          <p:cNvSpPr txBox="1"/>
          <p:nvPr/>
        </p:nvSpPr>
        <p:spPr>
          <a:xfrm>
            <a:off x="7209790" y="3581400"/>
            <a:ext cx="1201420" cy="48731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76.9% (10</a:t>
            </a:r>
            <a:r>
              <a:rPr kumimoji="1" lang="ja-JP" altLang="en-US" sz="1250" b="1">
                <a:solidFill>
                  <a:srgbClr val="64748B"/>
                </a:solidFill>
                <a:latin typeface="Meiryo UI" panose="020B0604030504040204" pitchFamily="50" charset="-128"/>
                <a:ea typeface="Meiryo UI" panose="020B0604030504040204" pitchFamily="50" charset="-128"/>
              </a:rPr>
              <a:t>名</a:t>
            </a:r>
            <a:r>
              <a:rPr kumimoji="1" lang="en-US" altLang="ja-JP" sz="1250" b="1">
                <a:solidFill>
                  <a:srgbClr val="64748B"/>
                </a:solidFill>
                <a:latin typeface="Meiryo UI" panose="020B0604030504040204" pitchFamily="50" charset="-128"/>
                <a:ea typeface="Meiryo UI" panose="020B0604030504040204" pitchFamily="50" charset="-128"/>
              </a:rPr>
              <a:t>)</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34" name="四角形: 角を丸くする 33">
            <a:extLst>
              <a:ext uri="{FF2B5EF4-FFF2-40B4-BE49-F238E27FC236}">
                <a16:creationId xmlns:a16="http://schemas.microsoft.com/office/drawing/2014/main" id="{13AE4AED-B2D1-2654-706E-BF2307416773}"/>
              </a:ext>
            </a:extLst>
          </p:cNvPr>
          <p:cNvSpPr/>
          <p:nvPr/>
        </p:nvSpPr>
        <p:spPr>
          <a:xfrm>
            <a:off x="9131300" y="2870200"/>
            <a:ext cx="26289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楕円 34">
            <a:extLst>
              <a:ext uri="{FF2B5EF4-FFF2-40B4-BE49-F238E27FC236}">
                <a16:creationId xmlns:a16="http://schemas.microsoft.com/office/drawing/2014/main" id="{B8FD2278-4F6E-E757-9150-0E4CD1C075A6}"/>
              </a:ext>
            </a:extLst>
          </p:cNvPr>
          <p:cNvSpPr/>
          <p:nvPr/>
        </p:nvSpPr>
        <p:spPr>
          <a:xfrm>
            <a:off x="9207500" y="2984500"/>
            <a:ext cx="228600" cy="228600"/>
          </a:xfrm>
          <a:prstGeom prst="ellipse">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36EE8733-4E25-AC95-FC22-57B0564524A3}"/>
              </a:ext>
            </a:extLst>
          </p:cNvPr>
          <p:cNvSpPr txBox="1"/>
          <p:nvPr/>
        </p:nvSpPr>
        <p:spPr>
          <a:xfrm>
            <a:off x="9537700" y="2921000"/>
            <a:ext cx="698500" cy="564257"/>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問題あり</a:t>
            </a:r>
          </a:p>
        </p:txBody>
      </p:sp>
      <p:sp>
        <p:nvSpPr>
          <p:cNvPr id="37" name="テキスト ボックス 36">
            <a:extLst>
              <a:ext uri="{FF2B5EF4-FFF2-40B4-BE49-F238E27FC236}">
                <a16:creationId xmlns:a16="http://schemas.microsoft.com/office/drawing/2014/main" id="{AE8AF158-C2F3-B305-E989-536DEF15B951}"/>
              </a:ext>
            </a:extLst>
          </p:cNvPr>
          <p:cNvSpPr txBox="1"/>
          <p:nvPr/>
        </p:nvSpPr>
        <p:spPr>
          <a:xfrm>
            <a:off x="10096500" y="29210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EF4444"/>
                </a:solidFill>
                <a:latin typeface="Meiryo UI" panose="020B0604030504040204" pitchFamily="50" charset="-128"/>
                <a:ea typeface="Meiryo UI" panose="020B0604030504040204" pitchFamily="50" charset="-128"/>
              </a:rPr>
              <a:t>10</a:t>
            </a:r>
            <a:r>
              <a:rPr kumimoji="1" lang="ja-JP" altLang="en-US" sz="1550" b="1">
                <a:solidFill>
                  <a:srgbClr val="EF4444"/>
                </a:solidFill>
                <a:latin typeface="Meiryo UI" panose="020B0604030504040204" pitchFamily="50" charset="-128"/>
                <a:ea typeface="Meiryo UI" panose="020B0604030504040204" pitchFamily="50" charset="-128"/>
              </a:rPr>
              <a:t>名 </a:t>
            </a:r>
            <a:r>
              <a:rPr kumimoji="1" lang="en-US" altLang="ja-JP" sz="1550" b="1">
                <a:solidFill>
                  <a:srgbClr val="EF4444"/>
                </a:solidFill>
                <a:latin typeface="Meiryo UI" panose="020B0604030504040204" pitchFamily="50" charset="-128"/>
                <a:ea typeface="Meiryo UI" panose="020B0604030504040204" pitchFamily="50" charset="-128"/>
              </a:rPr>
              <a:t>(76.9%)</a:t>
            </a:r>
            <a:endParaRPr kumimoji="1" lang="ja-JP" altLang="en-US" sz="1550" b="1">
              <a:solidFill>
                <a:srgbClr val="EF4444"/>
              </a:solidFill>
              <a:latin typeface="Meiryo UI" panose="020B0604030504040204" pitchFamily="50" charset="-128"/>
              <a:ea typeface="Meiryo UI" panose="020B0604030504040204" pitchFamily="50" charset="-128"/>
            </a:endParaRPr>
          </a:p>
        </p:txBody>
      </p:sp>
      <p:sp>
        <p:nvSpPr>
          <p:cNvPr id="38" name="楕円 37">
            <a:extLst>
              <a:ext uri="{FF2B5EF4-FFF2-40B4-BE49-F238E27FC236}">
                <a16:creationId xmlns:a16="http://schemas.microsoft.com/office/drawing/2014/main" id="{B3502752-A79D-8240-C0E0-B68F36DC343E}"/>
              </a:ext>
            </a:extLst>
          </p:cNvPr>
          <p:cNvSpPr/>
          <p:nvPr/>
        </p:nvSpPr>
        <p:spPr>
          <a:xfrm>
            <a:off x="9207500" y="36449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D9D56F5F-9990-29A3-8D3F-A5C2B974F1C3}"/>
              </a:ext>
            </a:extLst>
          </p:cNvPr>
          <p:cNvSpPr txBox="1"/>
          <p:nvPr/>
        </p:nvSpPr>
        <p:spPr>
          <a:xfrm>
            <a:off x="9537700" y="3581400"/>
            <a:ext cx="698500" cy="564257"/>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問題なし</a:t>
            </a:r>
          </a:p>
        </p:txBody>
      </p:sp>
      <p:sp>
        <p:nvSpPr>
          <p:cNvPr id="40" name="テキスト ボックス 39">
            <a:extLst>
              <a:ext uri="{FF2B5EF4-FFF2-40B4-BE49-F238E27FC236}">
                <a16:creationId xmlns:a16="http://schemas.microsoft.com/office/drawing/2014/main" id="{D2104786-02F0-B0E1-C9D2-24BEC014CA46}"/>
              </a:ext>
            </a:extLst>
          </p:cNvPr>
          <p:cNvSpPr txBox="1"/>
          <p:nvPr/>
        </p:nvSpPr>
        <p:spPr>
          <a:xfrm>
            <a:off x="10096500" y="35814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3</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(23.1%)</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41" name="四角形: 角を丸くする 40">
            <a:extLst>
              <a:ext uri="{FF2B5EF4-FFF2-40B4-BE49-F238E27FC236}">
                <a16:creationId xmlns:a16="http://schemas.microsoft.com/office/drawing/2014/main" id="{88EBE002-8A9A-B876-454A-1F8259DB0C08}"/>
              </a:ext>
            </a:extLst>
          </p:cNvPr>
          <p:cNvSpPr/>
          <p:nvPr/>
        </p:nvSpPr>
        <p:spPr>
          <a:xfrm>
            <a:off x="254000" y="53594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93B5438B-5A86-F928-DA93-FC046F7888D7}"/>
              </a:ext>
            </a:extLst>
          </p:cNvPr>
          <p:cNvSpPr txBox="1"/>
          <p:nvPr/>
        </p:nvSpPr>
        <p:spPr>
          <a:xfrm>
            <a:off x="508000" y="5486400"/>
            <a:ext cx="11176000" cy="795089"/>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・設問⑤（広さ）は</a:t>
            </a:r>
            <a:r>
              <a:rPr kumimoji="1" lang="en-US" altLang="ja-JP" sz="1500" b="1">
                <a:solidFill>
                  <a:srgbClr val="1E293B"/>
                </a:solidFill>
                <a:latin typeface="Meiryo UI" panose="020B0604030504040204" pitchFamily="50" charset="-128"/>
                <a:ea typeface="Meiryo UI" panose="020B0604030504040204" pitchFamily="50" charset="-128"/>
              </a:rPr>
              <a:t>5</a:t>
            </a:r>
            <a:r>
              <a:rPr kumimoji="1" lang="ja-JP" altLang="en-US" sz="1500" b="1">
                <a:solidFill>
                  <a:srgbClr val="1E293B"/>
                </a:solidFill>
                <a:latin typeface="Meiryo UI" panose="020B0604030504040204" pitchFamily="50" charset="-128"/>
                <a:ea typeface="Meiryo UI" panose="020B0604030504040204" pitchFamily="50" charset="-128"/>
              </a:rPr>
              <a:t>名（</a:t>
            </a:r>
            <a:r>
              <a:rPr kumimoji="1" lang="en-US" altLang="ja-JP" sz="1500" b="1">
                <a:solidFill>
                  <a:srgbClr val="1E293B"/>
                </a:solidFill>
                <a:latin typeface="Meiryo UI" panose="020B0604030504040204" pitchFamily="50" charset="-128"/>
                <a:ea typeface="Meiryo UI" panose="020B0604030504040204" pitchFamily="50" charset="-128"/>
              </a:rPr>
              <a:t>38.5%</a:t>
            </a:r>
            <a:r>
              <a:rPr kumimoji="1" lang="ja-JP" altLang="en-US" sz="1500" b="1">
                <a:solidFill>
                  <a:srgbClr val="1E293B"/>
                </a:solidFill>
                <a:latin typeface="Meiryo UI" panose="020B0604030504040204" pitchFamily="50" charset="-128"/>
                <a:ea typeface="Meiryo UI" panose="020B0604030504040204" pitchFamily="50" charset="-128"/>
              </a:rPr>
              <a:t>）が「問題あり（常時混雑・待合椅子不足で外出案内・</a:t>
            </a:r>
            <a:r>
              <a:rPr kumimoji="1" lang="en-US" altLang="ja-JP" sz="1500" b="1">
                <a:solidFill>
                  <a:srgbClr val="1E293B"/>
                </a:solidFill>
                <a:latin typeface="Meiryo UI" panose="020B0604030504040204" pitchFamily="50" charset="-128"/>
                <a:ea typeface="Meiryo UI" panose="020B0604030504040204" pitchFamily="50" charset="-128"/>
              </a:rPr>
              <a:t>InBody</a:t>
            </a:r>
            <a:r>
              <a:rPr kumimoji="1" lang="ja-JP" altLang="en-US" sz="1500" b="1">
                <a:solidFill>
                  <a:srgbClr val="1E293B"/>
                </a:solidFill>
                <a:latin typeface="Meiryo UI" panose="020B0604030504040204" pitchFamily="50" charset="-128"/>
                <a:ea typeface="Meiryo UI" panose="020B0604030504040204" pitchFamily="50" charset="-128"/>
              </a:rPr>
              <a:t>が狭い）」と回答した。
・設問⑦（人員配置）は</a:t>
            </a:r>
            <a:r>
              <a:rPr kumimoji="1" lang="en-US" altLang="ja-JP" sz="1500" b="1">
                <a:solidFill>
                  <a:srgbClr val="1E293B"/>
                </a:solidFill>
                <a:latin typeface="Meiryo UI" panose="020B0604030504040204" pitchFamily="50" charset="-128"/>
                <a:ea typeface="Meiryo UI" panose="020B0604030504040204" pitchFamily="50" charset="-128"/>
              </a:rPr>
              <a:t>10</a:t>
            </a:r>
            <a:r>
              <a:rPr kumimoji="1" lang="ja-JP" altLang="en-US" sz="1500" b="1">
                <a:solidFill>
                  <a:srgbClr val="1E293B"/>
                </a:solidFill>
                <a:latin typeface="Meiryo UI" panose="020B0604030504040204" pitchFamily="50" charset="-128"/>
                <a:ea typeface="Meiryo UI" panose="020B0604030504040204" pitchFamily="50" charset="-128"/>
              </a:rPr>
              <a:t>名（</a:t>
            </a:r>
            <a:r>
              <a:rPr kumimoji="1" lang="en-US" altLang="ja-JP" sz="1500" b="1">
                <a:solidFill>
                  <a:srgbClr val="1E293B"/>
                </a:solidFill>
                <a:latin typeface="Meiryo UI" panose="020B0604030504040204" pitchFamily="50" charset="-128"/>
                <a:ea typeface="Meiryo UI" panose="020B0604030504040204" pitchFamily="50" charset="-128"/>
              </a:rPr>
              <a:t>76.9%</a:t>
            </a:r>
            <a:r>
              <a:rPr kumimoji="1" lang="ja-JP" altLang="en-US" sz="1500" b="1">
                <a:solidFill>
                  <a:srgbClr val="1E293B"/>
                </a:solidFill>
                <a:latin typeface="Meiryo UI" panose="020B0604030504040204" pitchFamily="50" charset="-128"/>
                <a:ea typeface="Meiryo UI" panose="020B0604030504040204" pitchFamily="50" charset="-128"/>
              </a:rPr>
              <a:t>）が「問題あり（休憩が取れない・誘導係や測定補助が必要）」と回答した（⑨来年参加必要性は</a:t>
            </a:r>
            <a:r>
              <a:rPr kumimoji="1" lang="en-US" altLang="ja-JP" sz="1500" b="1">
                <a:solidFill>
                  <a:srgbClr val="1E293B"/>
                </a:solidFill>
                <a:latin typeface="Meiryo UI" panose="020B0604030504040204" pitchFamily="50" charset="-128"/>
                <a:ea typeface="Meiryo UI" panose="020B0604030504040204" pitchFamily="50" charset="-128"/>
              </a:rPr>
              <a:t>84.6%</a:t>
            </a:r>
            <a:r>
              <a:rPr kumimoji="1" lang="ja-JP" altLang="en-US" sz="1500" b="1">
                <a:solidFill>
                  <a:srgbClr val="1E293B"/>
                </a:solidFill>
                <a:latin typeface="Meiryo UI" panose="020B0604030504040204" pitchFamily="50" charset="-128"/>
                <a:ea typeface="Meiryo UI" panose="020B0604030504040204" pitchFamily="50" charset="-128"/>
              </a:rPr>
              <a:t>が「はい」）。</a:t>
            </a:r>
          </a:p>
        </p:txBody>
      </p:sp>
    </p:spTree>
    <p:extLst>
      <p:ext uri="{BB962C8B-B14F-4D97-AF65-F5344CB8AC3E}">
        <p14:creationId xmlns:p14="http://schemas.microsoft.com/office/powerpoint/2010/main" val="2633444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218BA394-3DEA-F5C4-76E5-F7C34F89A47C}"/>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90FCCECF-0536-3C22-8EDF-4790C14B1040}"/>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82351185-5904-3F31-FD66-07D13B7C7982}"/>
              </a:ext>
            </a:extLst>
          </p:cNvPr>
          <p:cNvSpPr/>
          <p:nvPr/>
        </p:nvSpPr>
        <p:spPr>
          <a:xfrm>
            <a:off x="457200" y="330200"/>
            <a:ext cx="2082800" cy="4064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D543999-496D-B63D-C4D9-D12950FB1F4A}"/>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2</a:t>
            </a:r>
            <a:r>
              <a:rPr kumimoji="1" lang="ja-JP" altLang="en-US" sz="1300" b="1">
                <a:solidFill>
                  <a:srgbClr val="FFFFFF"/>
                </a:solidFill>
                <a:latin typeface="Meiryo UI" panose="020B0604030504040204" pitchFamily="50" charset="-128"/>
                <a:ea typeface="Meiryo UI" panose="020B0604030504040204" pitchFamily="50" charset="-128"/>
              </a:rPr>
              <a:t>部：スタッフ結果③</a:t>
            </a:r>
          </a:p>
        </p:txBody>
      </p:sp>
      <p:sp>
        <p:nvSpPr>
          <p:cNvPr id="6" name="テキスト ボックス 5">
            <a:extLst>
              <a:ext uri="{FF2B5EF4-FFF2-40B4-BE49-F238E27FC236}">
                <a16:creationId xmlns:a16="http://schemas.microsoft.com/office/drawing/2014/main" id="{49AC6191-810F-FC7E-E7EB-06DA4BCE6D03}"/>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スタッフ自由記述の要点（良かった点 と 現場の問題点）</a:t>
            </a:r>
          </a:p>
        </p:txBody>
      </p:sp>
      <p:sp>
        <p:nvSpPr>
          <p:cNvPr id="7" name="四角形: 角を丸くする 6">
            <a:extLst>
              <a:ext uri="{FF2B5EF4-FFF2-40B4-BE49-F238E27FC236}">
                <a16:creationId xmlns:a16="http://schemas.microsoft.com/office/drawing/2014/main" id="{1A60BD94-A63B-77B9-A8C1-A5143885348D}"/>
              </a:ext>
            </a:extLst>
          </p:cNvPr>
          <p:cNvSpPr/>
          <p:nvPr/>
        </p:nvSpPr>
        <p:spPr>
          <a:xfrm>
            <a:off x="10871200" y="330200"/>
            <a:ext cx="863600" cy="381000"/>
          </a:xfrm>
          <a:prstGeom prst="roundRect">
            <a:avLst>
              <a:gd name="adj" fmla="val 5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DB2330A-F6BB-3989-8668-F49EA849BA98}"/>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10B981"/>
                </a:solidFill>
                <a:latin typeface="Meiryo UI" panose="020B0604030504040204" pitchFamily="50" charset="-128"/>
                <a:ea typeface="Meiryo UI" panose="020B0604030504040204" pitchFamily="50" charset="-128"/>
              </a:rPr>
              <a:t>13 / 22</a:t>
            </a:r>
            <a:endParaRPr kumimoji="1" lang="ja-JP" altLang="en-US" sz="1250" b="1">
              <a:solidFill>
                <a:srgbClr val="10B98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D52134CA-8D00-49EB-9CDC-439B30606B1A}"/>
              </a:ext>
            </a:extLst>
          </p:cNvPr>
          <p:cNvSpPr/>
          <p:nvPr/>
        </p:nvSpPr>
        <p:spPr>
          <a:xfrm>
            <a:off x="457200" y="838200"/>
            <a:ext cx="11277600" cy="431800"/>
          </a:xfrm>
          <a:prstGeom prst="roundRect">
            <a:avLst>
              <a:gd name="adj" fmla="val 3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F5A3CCE7-508E-1DA8-41AD-4B7F0DCF5AC2}"/>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10B981"/>
                </a:solidFill>
                <a:latin typeface="Meiryo UI" panose="020B0604030504040204" pitchFamily="50" charset="-128"/>
                <a:ea typeface="Meiryo UI" panose="020B0604030504040204" pitchFamily="50" charset="-128"/>
              </a:rPr>
              <a:t>「多職種の一致団結・連携」が高く評価された一方、「狭さ・</a:t>
            </a:r>
            <a:r>
              <a:rPr kumimoji="1" lang="en-US" altLang="ja-JP" sz="1500" b="1">
                <a:solidFill>
                  <a:srgbClr val="10B981"/>
                </a:solidFill>
                <a:latin typeface="Meiryo UI" panose="020B0604030504040204" pitchFamily="50" charset="-128"/>
                <a:ea typeface="Meiryo UI" panose="020B0604030504040204" pitchFamily="50" charset="-128"/>
              </a:rPr>
              <a:t>InBody</a:t>
            </a:r>
            <a:r>
              <a:rPr kumimoji="1" lang="ja-JP" altLang="en-US" sz="1500" b="1">
                <a:solidFill>
                  <a:srgbClr val="10B981"/>
                </a:solidFill>
                <a:latin typeface="Meiryo UI" panose="020B0604030504040204" pitchFamily="50" charset="-128"/>
                <a:ea typeface="Meiryo UI" panose="020B0604030504040204" pitchFamily="50" charset="-128"/>
              </a:rPr>
              <a:t>待ち・休憩不足」が課題に</a:t>
            </a:r>
          </a:p>
        </p:txBody>
      </p:sp>
      <p:sp>
        <p:nvSpPr>
          <p:cNvPr id="11" name="四角形: 角を丸くする 10">
            <a:extLst>
              <a:ext uri="{FF2B5EF4-FFF2-40B4-BE49-F238E27FC236}">
                <a16:creationId xmlns:a16="http://schemas.microsoft.com/office/drawing/2014/main" id="{E00FE693-0C2B-1EFD-BBF0-DC6B5B7F314B}"/>
              </a:ext>
            </a:extLst>
          </p:cNvPr>
          <p:cNvSpPr/>
          <p:nvPr/>
        </p:nvSpPr>
        <p:spPr>
          <a:xfrm>
            <a:off x="254000" y="1574800"/>
            <a:ext cx="5715000" cy="49784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560C6040-92F8-B829-8B69-1CAE848967CB}"/>
              </a:ext>
            </a:extLst>
          </p:cNvPr>
          <p:cNvSpPr/>
          <p:nvPr/>
        </p:nvSpPr>
        <p:spPr>
          <a:xfrm>
            <a:off x="482600" y="1803400"/>
            <a:ext cx="101600" cy="3302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C417AA91-8D39-D75A-091A-2C33325F2589}"/>
              </a:ext>
            </a:extLst>
          </p:cNvPr>
          <p:cNvSpPr txBox="1"/>
          <p:nvPr/>
        </p:nvSpPr>
        <p:spPr>
          <a:xfrm>
            <a:off x="685800" y="17653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良かった点（多職種連携・地域貢献）</a:t>
            </a:r>
          </a:p>
        </p:txBody>
      </p:sp>
      <p:sp>
        <p:nvSpPr>
          <p:cNvPr id="14" name="テキスト ボックス 13">
            <a:extLst>
              <a:ext uri="{FF2B5EF4-FFF2-40B4-BE49-F238E27FC236}">
                <a16:creationId xmlns:a16="http://schemas.microsoft.com/office/drawing/2014/main" id="{E2006730-0181-5FA3-7CC2-0D09B68A9C61}"/>
              </a:ext>
            </a:extLst>
          </p:cNvPr>
          <p:cNvSpPr txBox="1"/>
          <p:nvPr/>
        </p:nvSpPr>
        <p:spPr>
          <a:xfrm>
            <a:off x="508000" y="2286000"/>
            <a:ext cx="5207000" cy="2487861"/>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・他部門と同じ目標に向かって一致団結し、普段できないコミュニケーションが取れた。
・多職種と楽しく関われ、当院の結束力を感じた。
・</a:t>
            </a:r>
            <a:r>
              <a:rPr kumimoji="1" lang="en-US" altLang="ja-JP" sz="1550">
                <a:solidFill>
                  <a:srgbClr val="1E293B"/>
                </a:solidFill>
                <a:latin typeface="Meiryo UI" panose="020B0604030504040204" pitchFamily="50" charset="-128"/>
                <a:ea typeface="Meiryo UI" panose="020B0604030504040204" pitchFamily="50" charset="-128"/>
              </a:rPr>
              <a:t>InBody</a:t>
            </a:r>
            <a:r>
              <a:rPr kumimoji="1" lang="ja-JP" altLang="en-US" sz="1550">
                <a:solidFill>
                  <a:srgbClr val="1E293B"/>
                </a:solidFill>
                <a:latin typeface="Meiryo UI" panose="020B0604030504040204" pitchFamily="50" charset="-128"/>
                <a:ea typeface="Meiryo UI" panose="020B0604030504040204" pitchFamily="50" charset="-128"/>
              </a:rPr>
              <a:t>（リハ）の結果をもとに栄養相談や看護指導を行うなど、専門職間の連携がしやすかった。
・当院の認知度の低さ（医療センターと誤認される等）を現場で肌で知る機会になった。</a:t>
            </a:r>
          </a:p>
        </p:txBody>
      </p:sp>
      <p:sp>
        <p:nvSpPr>
          <p:cNvPr id="15" name="四角形: 角を丸くする 14">
            <a:extLst>
              <a:ext uri="{FF2B5EF4-FFF2-40B4-BE49-F238E27FC236}">
                <a16:creationId xmlns:a16="http://schemas.microsoft.com/office/drawing/2014/main" id="{9498C5C8-DFDF-6EB6-3C52-9986D7F0BB61}"/>
              </a:ext>
            </a:extLst>
          </p:cNvPr>
          <p:cNvSpPr/>
          <p:nvPr/>
        </p:nvSpPr>
        <p:spPr>
          <a:xfrm>
            <a:off x="6223000" y="1574800"/>
            <a:ext cx="5715000" cy="49784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5A98BDF1-17D0-8F45-9A3B-0A69D13B6DC7}"/>
              </a:ext>
            </a:extLst>
          </p:cNvPr>
          <p:cNvSpPr/>
          <p:nvPr/>
        </p:nvSpPr>
        <p:spPr>
          <a:xfrm>
            <a:off x="6451600" y="1803400"/>
            <a:ext cx="101600" cy="3302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1EE1C0B0-DCCE-605C-DA47-325AB20D19AB}"/>
              </a:ext>
            </a:extLst>
          </p:cNvPr>
          <p:cNvSpPr txBox="1"/>
          <p:nvPr/>
        </p:nvSpPr>
        <p:spPr>
          <a:xfrm>
            <a:off x="6654800" y="1765300"/>
            <a:ext cx="5080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問題点（広さ・人員・機器・</a:t>
            </a:r>
            <a:r>
              <a:rPr kumimoji="1" lang="en-US" altLang="ja-JP" sz="1750" b="1">
                <a:solidFill>
                  <a:srgbClr val="1E293B"/>
                </a:solidFill>
                <a:latin typeface="Meiryo UI" panose="020B0604030504040204" pitchFamily="50" charset="-128"/>
                <a:ea typeface="Meiryo UI" panose="020B0604030504040204" pitchFamily="50" charset="-128"/>
              </a:rPr>
              <a:t>PR</a:t>
            </a:r>
            <a:r>
              <a:rPr kumimoji="1" lang="ja-JP" altLang="en-US" sz="1750" b="1">
                <a:solidFill>
                  <a:srgbClr val="1E293B"/>
                </a:solidFill>
                <a:latin typeface="Meiryo UI" panose="020B0604030504040204" pitchFamily="50" charset="-128"/>
                <a:ea typeface="Meiryo UI" panose="020B0604030504040204" pitchFamily="50" charset="-128"/>
              </a:rPr>
              <a:t>）</a:t>
            </a:r>
          </a:p>
        </p:txBody>
      </p:sp>
      <p:sp>
        <p:nvSpPr>
          <p:cNvPr id="18" name="テキスト ボックス 17">
            <a:extLst>
              <a:ext uri="{FF2B5EF4-FFF2-40B4-BE49-F238E27FC236}">
                <a16:creationId xmlns:a16="http://schemas.microsoft.com/office/drawing/2014/main" id="{C80C3ED6-330E-777C-906D-818F68DB3C9B}"/>
              </a:ext>
            </a:extLst>
          </p:cNvPr>
          <p:cNvSpPr txBox="1"/>
          <p:nvPr/>
        </p:nvSpPr>
        <p:spPr>
          <a:xfrm>
            <a:off x="6477000" y="2286000"/>
            <a:ext cx="5207000" cy="2726387"/>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a:t>
            </a:r>
            <a:r>
              <a:rPr kumimoji="1" lang="en-US" altLang="ja-JP" sz="1550">
                <a:solidFill>
                  <a:srgbClr val="1E293B"/>
                </a:solidFill>
                <a:latin typeface="Meiryo UI" panose="020B0604030504040204" pitchFamily="50" charset="-128"/>
                <a:ea typeface="Meiryo UI" panose="020B0604030504040204" pitchFamily="50" charset="-128"/>
              </a:rPr>
              <a:t>3</a:t>
            </a:r>
            <a:r>
              <a:rPr kumimoji="1" lang="ja-JP" altLang="en-US" sz="1550">
                <a:solidFill>
                  <a:srgbClr val="1E293B"/>
                </a:solidFill>
                <a:latin typeface="Meiryo UI" panose="020B0604030504040204" pitchFamily="50" charset="-128"/>
                <a:ea typeface="Meiryo UI" panose="020B0604030504040204" pitchFamily="50" charset="-128"/>
              </a:rPr>
              <a:t>区画では狭く満席が続き、座れない方に外出を勧めた。規模を広げるなら</a:t>
            </a:r>
            <a:r>
              <a:rPr kumimoji="1" lang="en-US" altLang="ja-JP" sz="1550">
                <a:solidFill>
                  <a:srgbClr val="1E293B"/>
                </a:solidFill>
                <a:latin typeface="Meiryo UI" panose="020B0604030504040204" pitchFamily="50" charset="-128"/>
                <a:ea typeface="Meiryo UI" panose="020B0604030504040204" pitchFamily="50" charset="-128"/>
              </a:rPr>
              <a:t>4</a:t>
            </a:r>
            <a:r>
              <a:rPr kumimoji="1" lang="ja-JP" altLang="en-US" sz="1550">
                <a:solidFill>
                  <a:srgbClr val="1E293B"/>
                </a:solidFill>
                <a:latin typeface="Meiryo UI" panose="020B0604030504040204" pitchFamily="50" charset="-128"/>
                <a:ea typeface="Meiryo UI" panose="020B0604030504040204" pitchFamily="50" charset="-128"/>
              </a:rPr>
              <a:t>区画が必要。
・</a:t>
            </a:r>
            <a:r>
              <a:rPr kumimoji="1" lang="en-US" altLang="ja-JP" sz="1550">
                <a:solidFill>
                  <a:srgbClr val="1E293B"/>
                </a:solidFill>
                <a:latin typeface="Meiryo UI" panose="020B0604030504040204" pitchFamily="50" charset="-128"/>
                <a:ea typeface="Meiryo UI" panose="020B0604030504040204" pitchFamily="50" charset="-128"/>
              </a:rPr>
              <a:t>InBody</a:t>
            </a:r>
            <a:r>
              <a:rPr kumimoji="1" lang="ja-JP" altLang="en-US" sz="1550">
                <a:solidFill>
                  <a:srgbClr val="1E293B"/>
                </a:solidFill>
                <a:latin typeface="Meiryo UI" panose="020B0604030504040204" pitchFamily="50" charset="-128"/>
                <a:ea typeface="Meiryo UI" panose="020B0604030504040204" pitchFamily="50" charset="-128"/>
              </a:rPr>
              <a:t>の待ち時間が</a:t>
            </a:r>
            <a:r>
              <a:rPr kumimoji="1" lang="en-US" altLang="ja-JP" sz="1550">
                <a:solidFill>
                  <a:srgbClr val="1E293B"/>
                </a:solidFill>
                <a:latin typeface="Meiryo UI" panose="020B0604030504040204" pitchFamily="50" charset="-128"/>
                <a:ea typeface="Meiryo UI" panose="020B0604030504040204" pitchFamily="50" charset="-128"/>
              </a:rPr>
              <a:t>30</a:t>
            </a:r>
            <a:r>
              <a:rPr kumimoji="1" lang="ja-JP" altLang="en-US" sz="1550">
                <a:solidFill>
                  <a:srgbClr val="1E293B"/>
                </a:solidFill>
                <a:latin typeface="Meiryo UI" panose="020B0604030504040204" pitchFamily="50" charset="-128"/>
                <a:ea typeface="Meiryo UI" panose="020B0604030504040204" pitchFamily="50" charset="-128"/>
              </a:rPr>
              <a:t>分以上となり、最後は並ぶのを中止（お断り）した。</a:t>
            </a:r>
            <a:r>
              <a:rPr kumimoji="1" lang="en-US" altLang="ja-JP" sz="1550">
                <a:solidFill>
                  <a:srgbClr val="1E293B"/>
                </a:solidFill>
                <a:latin typeface="Meiryo UI" panose="020B0604030504040204" pitchFamily="50" charset="-128"/>
                <a:ea typeface="Meiryo UI" panose="020B0604030504040204" pitchFamily="50" charset="-128"/>
              </a:rPr>
              <a:t>2</a:t>
            </a:r>
            <a:r>
              <a:rPr kumimoji="1" lang="ja-JP" altLang="en-US" sz="1550">
                <a:solidFill>
                  <a:srgbClr val="1E293B"/>
                </a:solidFill>
                <a:latin typeface="Meiryo UI" panose="020B0604030504040204" pitchFamily="50" charset="-128"/>
                <a:ea typeface="Meiryo UI" panose="020B0604030504040204" pitchFamily="50" charset="-128"/>
              </a:rPr>
              <a:t>台体制が必要。
・休憩時間がほとんど取れなかった（</a:t>
            </a:r>
            <a:r>
              <a:rPr kumimoji="1" lang="en-US" altLang="ja-JP" sz="1550">
                <a:solidFill>
                  <a:srgbClr val="1E293B"/>
                </a:solidFill>
                <a:latin typeface="Meiryo UI" panose="020B0604030504040204" pitchFamily="50" charset="-128"/>
                <a:ea typeface="Meiryo UI" panose="020B0604030504040204" pitchFamily="50" charset="-128"/>
              </a:rPr>
              <a:t>10〜15</a:t>
            </a:r>
            <a:r>
              <a:rPr kumimoji="1" lang="ja-JP" altLang="en-US" sz="1550">
                <a:solidFill>
                  <a:srgbClr val="1E293B"/>
                </a:solidFill>
                <a:latin typeface="Meiryo UI" panose="020B0604030504040204" pitchFamily="50" charset="-128"/>
                <a:ea typeface="Meiryo UI" panose="020B0604030504040204" pitchFamily="50" charset="-128"/>
              </a:rPr>
              <a:t>分</a:t>
            </a:r>
            <a:r>
              <a:rPr kumimoji="1" lang="en-US" altLang="ja-JP" sz="1550">
                <a:solidFill>
                  <a:srgbClr val="1E293B"/>
                </a:solidFill>
                <a:latin typeface="Meiryo UI" panose="020B0604030504040204" pitchFamily="50" charset="-128"/>
                <a:ea typeface="Meiryo UI" panose="020B0604030504040204" pitchFamily="50" charset="-128"/>
              </a:rPr>
              <a:t>×2</a:t>
            </a:r>
            <a:r>
              <a:rPr kumimoji="1" lang="ja-JP" altLang="en-US" sz="1550">
                <a:solidFill>
                  <a:srgbClr val="1E293B"/>
                </a:solidFill>
                <a:latin typeface="Meiryo UI" panose="020B0604030504040204" pitchFamily="50" charset="-128"/>
                <a:ea typeface="Meiryo UI" panose="020B0604030504040204" pitchFamily="50" charset="-128"/>
              </a:rPr>
              <a:t>回程度）。誘導係・統括・測定の増員が必要。
・広報誌や病院案内パネルを持参せず、リハ病院の役割を十分に伝えきれなかった。</a:t>
            </a:r>
          </a:p>
        </p:txBody>
      </p:sp>
    </p:spTree>
    <p:extLst>
      <p:ext uri="{BB962C8B-B14F-4D97-AF65-F5344CB8AC3E}">
        <p14:creationId xmlns:p14="http://schemas.microsoft.com/office/powerpoint/2010/main" val="28913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9640167D-9907-6A07-435E-30743C30B896}"/>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FB9E666D-FDA7-519E-145C-461E8E0B064E}"/>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0ED5AAA6-D497-9ECE-007E-0711F65E8FF8}"/>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4B4148B7-F8C0-5C6F-A983-79775478472A}"/>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3</a:t>
            </a:r>
            <a:r>
              <a:rPr kumimoji="1" lang="zh-TW" altLang="en-US" sz="1300" b="1">
                <a:solidFill>
                  <a:srgbClr val="FFFFFF"/>
                </a:solidFill>
                <a:latin typeface="Meiryo UI" panose="020B0604030504040204" pitchFamily="50" charset="-128"/>
                <a:ea typeface="Meiryo UI" panose="020B0604030504040204" pitchFamily="50" charset="-128"/>
              </a:rPr>
              <a:t>部：達成報告</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0167B824-3BF2-6917-33D9-28E588E135AD}"/>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起案書の</a:t>
            </a:r>
            <a:r>
              <a:rPr kumimoji="1" lang="en-US" altLang="ja-JP" sz="2100" b="1">
                <a:solidFill>
                  <a:srgbClr val="1E293B"/>
                </a:solidFill>
                <a:latin typeface="Meiryo UI" panose="020B0604030504040204" pitchFamily="50" charset="-128"/>
                <a:ea typeface="Meiryo UI" panose="020B0604030504040204" pitchFamily="50" charset="-128"/>
              </a:rPr>
              <a:t>KPI</a:t>
            </a:r>
            <a:r>
              <a:rPr kumimoji="1" lang="ja-JP" altLang="en-US" sz="2100" b="1">
                <a:solidFill>
                  <a:srgbClr val="1E293B"/>
                </a:solidFill>
                <a:latin typeface="Meiryo UI" panose="020B0604030504040204" pitchFamily="50" charset="-128"/>
                <a:ea typeface="Meiryo UI" panose="020B0604030504040204" pitchFamily="50" charset="-128"/>
              </a:rPr>
              <a:t>（目標数値）と </a:t>
            </a:r>
            <a:r>
              <a:rPr kumimoji="1" lang="en-US" altLang="ja-JP" sz="2100" b="1">
                <a:solidFill>
                  <a:srgbClr val="1E293B"/>
                </a:solidFill>
                <a:latin typeface="Meiryo UI" panose="020B0604030504040204" pitchFamily="50" charset="-128"/>
                <a:ea typeface="Meiryo UI" panose="020B0604030504040204" pitchFamily="50" charset="-128"/>
              </a:rPr>
              <a:t>3</a:t>
            </a:r>
            <a:r>
              <a:rPr kumimoji="1" lang="ja-JP" altLang="en-US" sz="2100" b="1">
                <a:solidFill>
                  <a:srgbClr val="1E293B"/>
                </a:solidFill>
                <a:latin typeface="Meiryo UI" panose="020B0604030504040204" pitchFamily="50" charset="-128"/>
                <a:ea typeface="Meiryo UI" panose="020B0604030504040204" pitchFamily="50" charset="-128"/>
              </a:rPr>
              <a:t>つの目的の達成報告</a:t>
            </a:r>
          </a:p>
        </p:txBody>
      </p:sp>
      <p:sp>
        <p:nvSpPr>
          <p:cNvPr id="7" name="四角形: 角を丸くする 6">
            <a:extLst>
              <a:ext uri="{FF2B5EF4-FFF2-40B4-BE49-F238E27FC236}">
                <a16:creationId xmlns:a16="http://schemas.microsoft.com/office/drawing/2014/main" id="{F12B59C5-45AD-D107-A627-CF7CD09041B0}"/>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D8D7622E-7D2C-B5E5-87AD-FCD51D2CBF56}"/>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14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9F5D5C3A-76BA-4528-6DFF-4E10F109ED46}"/>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456B1C46-1626-6DD1-56A3-87ED9E7A3DCE}"/>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2563EB"/>
                </a:solidFill>
                <a:latin typeface="Meiryo UI" panose="020B0604030504040204" pitchFamily="50" charset="-128"/>
                <a:ea typeface="Meiryo UI" panose="020B0604030504040204" pitchFamily="50" charset="-128"/>
              </a:rPr>
              <a:t>ブース来場</a:t>
            </a:r>
            <a:r>
              <a:rPr kumimoji="1" lang="en-US" altLang="ja-JP" sz="1500" b="1">
                <a:solidFill>
                  <a:srgbClr val="2563EB"/>
                </a:solidFill>
                <a:latin typeface="Meiryo UI" panose="020B0604030504040204" pitchFamily="50" charset="-128"/>
                <a:ea typeface="Meiryo UI" panose="020B0604030504040204" pitchFamily="50" charset="-128"/>
              </a:rPr>
              <a:t>268</a:t>
            </a:r>
            <a:r>
              <a:rPr kumimoji="1" lang="ja-JP" altLang="en-US" sz="1500" b="1">
                <a:solidFill>
                  <a:srgbClr val="2563EB"/>
                </a:solidFill>
                <a:latin typeface="Meiryo UI" panose="020B0604030504040204" pitchFamily="50" charset="-128"/>
                <a:ea typeface="Meiryo UI" panose="020B0604030504040204" pitchFamily="50" charset="-128"/>
              </a:rPr>
              <a:t>名（目標比</a:t>
            </a:r>
            <a:r>
              <a:rPr kumimoji="1" lang="en-US" altLang="ja-JP" sz="1500" b="1">
                <a:solidFill>
                  <a:srgbClr val="2563EB"/>
                </a:solidFill>
                <a:latin typeface="Meiryo UI" panose="020B0604030504040204" pitchFamily="50" charset="-128"/>
                <a:ea typeface="Meiryo UI" panose="020B0604030504040204" pitchFamily="50" charset="-128"/>
              </a:rPr>
              <a:t>134%</a:t>
            </a:r>
            <a:r>
              <a:rPr kumimoji="1" lang="ja-JP" altLang="en-US" sz="1500" b="1">
                <a:solidFill>
                  <a:srgbClr val="2563EB"/>
                </a:solidFill>
                <a:latin typeface="Meiryo UI" panose="020B0604030504040204" pitchFamily="50" charset="-128"/>
                <a:ea typeface="Meiryo UI" panose="020B0604030504040204" pitchFamily="50" charset="-128"/>
              </a:rPr>
              <a:t>）・アンケート</a:t>
            </a:r>
            <a:r>
              <a:rPr kumimoji="1" lang="en-US" altLang="ja-JP" sz="1500" b="1">
                <a:solidFill>
                  <a:srgbClr val="2563EB"/>
                </a:solidFill>
                <a:latin typeface="Meiryo UI" panose="020B0604030504040204" pitchFamily="50" charset="-128"/>
                <a:ea typeface="Meiryo UI" panose="020B0604030504040204" pitchFamily="50" charset="-128"/>
              </a:rPr>
              <a:t>236</a:t>
            </a:r>
            <a:r>
              <a:rPr kumimoji="1" lang="ja-JP" altLang="en-US" sz="1500" b="1">
                <a:solidFill>
                  <a:srgbClr val="2563EB"/>
                </a:solidFill>
                <a:latin typeface="Meiryo UI" panose="020B0604030504040204" pitchFamily="50" charset="-128"/>
                <a:ea typeface="Meiryo UI" panose="020B0604030504040204" pitchFamily="50" charset="-128"/>
              </a:rPr>
              <a:t>名（目標比</a:t>
            </a:r>
            <a:r>
              <a:rPr kumimoji="1" lang="en-US" altLang="ja-JP" sz="1500" b="1">
                <a:solidFill>
                  <a:srgbClr val="2563EB"/>
                </a:solidFill>
                <a:latin typeface="Meiryo UI" panose="020B0604030504040204" pitchFamily="50" charset="-128"/>
                <a:ea typeface="Meiryo UI" panose="020B0604030504040204" pitchFamily="50" charset="-128"/>
              </a:rPr>
              <a:t>472%</a:t>
            </a:r>
            <a:r>
              <a:rPr kumimoji="1" lang="ja-JP" altLang="en-US" sz="1500" b="1">
                <a:solidFill>
                  <a:srgbClr val="2563EB"/>
                </a:solidFill>
                <a:latin typeface="Meiryo UI" panose="020B0604030504040204" pitchFamily="50" charset="-128"/>
                <a:ea typeface="Meiryo UI" panose="020B0604030504040204" pitchFamily="50" charset="-128"/>
              </a:rPr>
              <a:t>）を達成し、</a:t>
            </a:r>
            <a:r>
              <a:rPr kumimoji="1" lang="en-US" altLang="ja-JP" sz="1500" b="1">
                <a:solidFill>
                  <a:srgbClr val="2563EB"/>
                </a:solidFill>
                <a:latin typeface="Meiryo UI" panose="020B0604030504040204" pitchFamily="50" charset="-128"/>
                <a:ea typeface="Meiryo UI" panose="020B0604030504040204" pitchFamily="50" charset="-128"/>
              </a:rPr>
              <a:t>3</a:t>
            </a:r>
            <a:r>
              <a:rPr kumimoji="1" lang="ja-JP" altLang="en-US" sz="1500" b="1">
                <a:solidFill>
                  <a:srgbClr val="2563EB"/>
                </a:solidFill>
                <a:latin typeface="Meiryo UI" panose="020B0604030504040204" pitchFamily="50" charset="-128"/>
                <a:ea typeface="Meiryo UI" panose="020B0604030504040204" pitchFamily="50" charset="-128"/>
              </a:rPr>
              <a:t>目的すべてを達成</a:t>
            </a:r>
          </a:p>
        </p:txBody>
      </p:sp>
      <p:sp>
        <p:nvSpPr>
          <p:cNvPr id="11" name="四角形: 角を丸くする 10">
            <a:extLst>
              <a:ext uri="{FF2B5EF4-FFF2-40B4-BE49-F238E27FC236}">
                <a16:creationId xmlns:a16="http://schemas.microsoft.com/office/drawing/2014/main" id="{0496B29E-A022-967F-6C14-E0CEFDDBC728}"/>
              </a:ext>
            </a:extLst>
          </p:cNvPr>
          <p:cNvSpPr/>
          <p:nvPr/>
        </p:nvSpPr>
        <p:spPr>
          <a:xfrm>
            <a:off x="254000" y="1574800"/>
            <a:ext cx="5715000" cy="19812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DD00BEE4-0011-9144-E7BA-B4E7ED06C7F9}"/>
              </a:ext>
            </a:extLst>
          </p:cNvPr>
          <p:cNvSpPr/>
          <p:nvPr/>
        </p:nvSpPr>
        <p:spPr>
          <a:xfrm>
            <a:off x="457200" y="1778000"/>
            <a:ext cx="2032000" cy="4064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4A525210-DE39-4D18-3D67-2C6EA7C08C86}"/>
              </a:ext>
            </a:extLst>
          </p:cNvPr>
          <p:cNvSpPr txBox="1"/>
          <p:nvPr/>
        </p:nvSpPr>
        <p:spPr>
          <a:xfrm>
            <a:off x="457200" y="1816100"/>
            <a:ext cx="2032000" cy="318036"/>
          </a:xfrm>
          <a:prstGeom prst="rect">
            <a:avLst/>
          </a:prstGeom>
          <a:noFill/>
        </p:spPr>
        <p:txBody>
          <a:bodyPr vert="horz" wrap="square" lIns="76200" tIns="50800" rIns="76200" bIns="50800" rtlCol="0">
            <a:spAutoFit/>
          </a:bodyPr>
          <a:lstStyle/>
          <a:p>
            <a:pPr algn="ctr"/>
            <a:r>
              <a:rPr kumimoji="1" lang="en-US" altLang="ja-JP" sz="1400" b="1">
                <a:solidFill>
                  <a:srgbClr val="2563EB"/>
                </a:solidFill>
                <a:latin typeface="Meiryo UI" panose="020B0604030504040204" pitchFamily="50" charset="-128"/>
                <a:ea typeface="Meiryo UI" panose="020B0604030504040204" pitchFamily="50" charset="-128"/>
              </a:rPr>
              <a:t>KPI① </a:t>
            </a:r>
            <a:r>
              <a:rPr kumimoji="1" lang="ja-JP" altLang="en-US" sz="1400" b="1">
                <a:solidFill>
                  <a:srgbClr val="2563EB"/>
                </a:solidFill>
                <a:latin typeface="Meiryo UI" panose="020B0604030504040204" pitchFamily="50" charset="-128"/>
                <a:ea typeface="Meiryo UI" panose="020B0604030504040204" pitchFamily="50" charset="-128"/>
              </a:rPr>
              <a:t>ブース来場者数</a:t>
            </a:r>
          </a:p>
        </p:txBody>
      </p:sp>
      <p:sp>
        <p:nvSpPr>
          <p:cNvPr id="14" name="テキスト ボックス 13">
            <a:extLst>
              <a:ext uri="{FF2B5EF4-FFF2-40B4-BE49-F238E27FC236}">
                <a16:creationId xmlns:a16="http://schemas.microsoft.com/office/drawing/2014/main" id="{0524F47F-5D8B-6863-7295-B7672FCDFE7D}"/>
              </a:ext>
            </a:extLst>
          </p:cNvPr>
          <p:cNvSpPr txBox="1"/>
          <p:nvPr/>
        </p:nvSpPr>
        <p:spPr>
          <a:xfrm>
            <a:off x="457200" y="2286000"/>
            <a:ext cx="5334000" cy="533479"/>
          </a:xfrm>
          <a:prstGeom prst="rect">
            <a:avLst/>
          </a:prstGeom>
          <a:noFill/>
        </p:spPr>
        <p:txBody>
          <a:bodyPr vert="horz" wrap="square" lIns="76200" tIns="50800" rIns="76200" bIns="50800" rtlCol="0">
            <a:spAutoFit/>
          </a:bodyPr>
          <a:lstStyle/>
          <a:p>
            <a:r>
              <a:rPr kumimoji="1" lang="en-US" altLang="zh-TW" sz="2800" b="1">
                <a:solidFill>
                  <a:srgbClr val="2563EB"/>
                </a:solidFill>
                <a:latin typeface="Meiryo UI" panose="020B0604030504040204" pitchFamily="50" charset="-128"/>
                <a:ea typeface="Meiryo UI" panose="020B0604030504040204" pitchFamily="50" charset="-128"/>
              </a:rPr>
              <a:t>268 </a:t>
            </a:r>
            <a:r>
              <a:rPr kumimoji="1" lang="zh-TW" altLang="en-US" sz="2800" b="1">
                <a:solidFill>
                  <a:srgbClr val="2563EB"/>
                </a:solidFill>
                <a:latin typeface="Meiryo UI" panose="020B0604030504040204" pitchFamily="50" charset="-128"/>
                <a:ea typeface="Meiryo UI" panose="020B0604030504040204" pitchFamily="50" charset="-128"/>
              </a:rPr>
              <a:t>名 （達成率 </a:t>
            </a:r>
            <a:r>
              <a:rPr kumimoji="1" lang="en-US" altLang="zh-TW" sz="2800" b="1">
                <a:solidFill>
                  <a:srgbClr val="2563EB"/>
                </a:solidFill>
                <a:latin typeface="Meiryo UI" panose="020B0604030504040204" pitchFamily="50" charset="-128"/>
                <a:ea typeface="Meiryo UI" panose="020B0604030504040204" pitchFamily="50" charset="-128"/>
              </a:rPr>
              <a:t>134%</a:t>
            </a:r>
            <a:r>
              <a:rPr kumimoji="1" lang="zh-TW" altLang="en-US" sz="2800" b="1">
                <a:solidFill>
                  <a:srgbClr val="2563EB"/>
                </a:solidFill>
                <a:latin typeface="Meiryo UI" panose="020B0604030504040204" pitchFamily="50" charset="-128"/>
                <a:ea typeface="Meiryo UI" panose="020B0604030504040204" pitchFamily="50" charset="-128"/>
              </a:rPr>
              <a:t>）</a:t>
            </a:r>
            <a:endParaRPr kumimoji="1" lang="ja-JP" altLang="en-US" sz="2800" b="1">
              <a:solidFill>
                <a:srgbClr val="2563EB"/>
              </a:solidFill>
              <a:latin typeface="Meiryo UI" panose="020B0604030504040204" pitchFamily="50" charset="-128"/>
              <a:ea typeface="Meiryo UI" panose="020B0604030504040204" pitchFamily="50" charset="-128"/>
            </a:endParaRPr>
          </a:p>
        </p:txBody>
      </p:sp>
      <p:sp>
        <p:nvSpPr>
          <p:cNvPr id="15" name="テキスト ボックス 14">
            <a:extLst>
              <a:ext uri="{FF2B5EF4-FFF2-40B4-BE49-F238E27FC236}">
                <a16:creationId xmlns:a16="http://schemas.microsoft.com/office/drawing/2014/main" id="{91468792-B958-DD7C-57DB-5F85ABFF36DB}"/>
              </a:ext>
            </a:extLst>
          </p:cNvPr>
          <p:cNvSpPr txBox="1"/>
          <p:nvPr/>
        </p:nvSpPr>
        <p:spPr>
          <a:xfrm>
            <a:off x="457200" y="2971800"/>
            <a:ext cx="5334000" cy="325730"/>
          </a:xfrm>
          <a:prstGeom prst="rect">
            <a:avLst/>
          </a:prstGeom>
          <a:noFill/>
        </p:spPr>
        <p:txBody>
          <a:bodyPr vert="horz" wrap="square" lIns="76200" tIns="50800" rIns="76200" bIns="50800" rtlCol="0">
            <a:spAutoFit/>
          </a:bodyPr>
          <a:lstStyle/>
          <a:p>
            <a:r>
              <a:rPr kumimoji="1" lang="ja-JP" altLang="en-US" sz="1450" b="1">
                <a:solidFill>
                  <a:srgbClr val="64748B"/>
                </a:solidFill>
                <a:latin typeface="Meiryo UI" panose="020B0604030504040204" pitchFamily="50" charset="-128"/>
                <a:ea typeface="Meiryo UI" panose="020B0604030504040204" pitchFamily="50" charset="-128"/>
              </a:rPr>
              <a:t>起案目標 </a:t>
            </a:r>
            <a:r>
              <a:rPr kumimoji="1" lang="en-US" altLang="ja-JP" sz="1450" b="1">
                <a:solidFill>
                  <a:srgbClr val="64748B"/>
                </a:solidFill>
                <a:latin typeface="Meiryo UI" panose="020B0604030504040204" pitchFamily="50" charset="-128"/>
                <a:ea typeface="Meiryo UI" panose="020B0604030504040204" pitchFamily="50" charset="-128"/>
              </a:rPr>
              <a:t>200</a:t>
            </a:r>
            <a:r>
              <a:rPr kumimoji="1" lang="ja-JP" altLang="en-US" sz="1450" b="1">
                <a:solidFill>
                  <a:srgbClr val="64748B"/>
                </a:solidFill>
                <a:latin typeface="Meiryo UI" panose="020B0604030504040204" pitchFamily="50" charset="-128"/>
                <a:ea typeface="Meiryo UI" panose="020B0604030504040204" pitchFamily="50" charset="-128"/>
              </a:rPr>
              <a:t>名 ／ 内訳：</a:t>
            </a:r>
            <a:r>
              <a:rPr kumimoji="1" lang="en-US" altLang="ja-JP" sz="1450" b="1">
                <a:solidFill>
                  <a:srgbClr val="64748B"/>
                </a:solidFill>
                <a:latin typeface="Meiryo UI" panose="020B0604030504040204" pitchFamily="50" charset="-128"/>
                <a:ea typeface="Meiryo UI" panose="020B0604030504040204" pitchFamily="50" charset="-128"/>
              </a:rPr>
              <a:t>1</a:t>
            </a:r>
            <a:r>
              <a:rPr kumimoji="1" lang="ja-JP" altLang="en-US" sz="1450" b="1">
                <a:solidFill>
                  <a:srgbClr val="64748B"/>
                </a:solidFill>
                <a:latin typeface="Meiryo UI" panose="020B0604030504040204" pitchFamily="50" charset="-128"/>
                <a:ea typeface="Meiryo UI" panose="020B0604030504040204" pitchFamily="50" charset="-128"/>
              </a:rPr>
              <a:t>日目 </a:t>
            </a:r>
            <a:r>
              <a:rPr kumimoji="1" lang="en-US" altLang="ja-JP" sz="1450" b="1">
                <a:solidFill>
                  <a:srgbClr val="64748B"/>
                </a:solidFill>
                <a:latin typeface="Meiryo UI" panose="020B0604030504040204" pitchFamily="50" charset="-128"/>
                <a:ea typeface="Meiryo UI" panose="020B0604030504040204" pitchFamily="50" charset="-128"/>
              </a:rPr>
              <a:t>120</a:t>
            </a:r>
            <a:r>
              <a:rPr kumimoji="1" lang="ja-JP" altLang="en-US" sz="1450" b="1">
                <a:solidFill>
                  <a:srgbClr val="64748B"/>
                </a:solidFill>
                <a:latin typeface="Meiryo UI" panose="020B0604030504040204" pitchFamily="50" charset="-128"/>
                <a:ea typeface="Meiryo UI" panose="020B0604030504040204" pitchFamily="50" charset="-128"/>
              </a:rPr>
              <a:t>名・</a:t>
            </a:r>
            <a:r>
              <a:rPr kumimoji="1" lang="en-US" altLang="ja-JP" sz="1450" b="1">
                <a:solidFill>
                  <a:srgbClr val="64748B"/>
                </a:solidFill>
                <a:latin typeface="Meiryo UI" panose="020B0604030504040204" pitchFamily="50" charset="-128"/>
                <a:ea typeface="Meiryo UI" panose="020B0604030504040204" pitchFamily="50" charset="-128"/>
              </a:rPr>
              <a:t>2</a:t>
            </a:r>
            <a:r>
              <a:rPr kumimoji="1" lang="ja-JP" altLang="en-US" sz="1450" b="1">
                <a:solidFill>
                  <a:srgbClr val="64748B"/>
                </a:solidFill>
                <a:latin typeface="Meiryo UI" panose="020B0604030504040204" pitchFamily="50" charset="-128"/>
                <a:ea typeface="Meiryo UI" panose="020B0604030504040204" pitchFamily="50" charset="-128"/>
              </a:rPr>
              <a:t>日目 </a:t>
            </a:r>
            <a:r>
              <a:rPr kumimoji="1" lang="en-US" altLang="ja-JP" sz="1450" b="1">
                <a:solidFill>
                  <a:srgbClr val="64748B"/>
                </a:solidFill>
                <a:latin typeface="Meiryo UI" panose="020B0604030504040204" pitchFamily="50" charset="-128"/>
                <a:ea typeface="Meiryo UI" panose="020B0604030504040204" pitchFamily="50" charset="-128"/>
              </a:rPr>
              <a:t>148</a:t>
            </a:r>
            <a:r>
              <a:rPr kumimoji="1" lang="ja-JP" altLang="en-US" sz="1450" b="1">
                <a:solidFill>
                  <a:srgbClr val="64748B"/>
                </a:solidFill>
                <a:latin typeface="Meiryo UI" panose="020B0604030504040204" pitchFamily="50" charset="-128"/>
                <a:ea typeface="Meiryo UI" panose="020B0604030504040204" pitchFamily="50" charset="-128"/>
              </a:rPr>
              <a:t>名</a:t>
            </a:r>
          </a:p>
        </p:txBody>
      </p:sp>
      <p:sp>
        <p:nvSpPr>
          <p:cNvPr id="16" name="四角形: 角を丸くする 15">
            <a:extLst>
              <a:ext uri="{FF2B5EF4-FFF2-40B4-BE49-F238E27FC236}">
                <a16:creationId xmlns:a16="http://schemas.microsoft.com/office/drawing/2014/main" id="{D0BBAE0E-3155-D1F2-EE3F-DF740296F100}"/>
              </a:ext>
            </a:extLst>
          </p:cNvPr>
          <p:cNvSpPr/>
          <p:nvPr/>
        </p:nvSpPr>
        <p:spPr>
          <a:xfrm>
            <a:off x="6223000" y="1574800"/>
            <a:ext cx="5715000" cy="19812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3B37C7CF-5AE0-A4DE-BB06-E52EE98E8388}"/>
              </a:ext>
            </a:extLst>
          </p:cNvPr>
          <p:cNvSpPr/>
          <p:nvPr/>
        </p:nvSpPr>
        <p:spPr>
          <a:xfrm>
            <a:off x="6426200" y="1778000"/>
            <a:ext cx="2286000" cy="406400"/>
          </a:xfrm>
          <a:prstGeom prst="roundRect">
            <a:avLst>
              <a:gd name="adj" fmla="val 4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0C22EA3B-356F-0371-6C5F-F65910CE26AD}"/>
              </a:ext>
            </a:extLst>
          </p:cNvPr>
          <p:cNvSpPr txBox="1"/>
          <p:nvPr/>
        </p:nvSpPr>
        <p:spPr>
          <a:xfrm>
            <a:off x="6426200" y="1816100"/>
            <a:ext cx="2286000" cy="318036"/>
          </a:xfrm>
          <a:prstGeom prst="rect">
            <a:avLst/>
          </a:prstGeom>
          <a:noFill/>
        </p:spPr>
        <p:txBody>
          <a:bodyPr vert="horz" wrap="square" lIns="76200" tIns="50800" rIns="76200" bIns="50800" rtlCol="0">
            <a:spAutoFit/>
          </a:bodyPr>
          <a:lstStyle/>
          <a:p>
            <a:pPr algn="ctr"/>
            <a:r>
              <a:rPr kumimoji="1" lang="en-US" altLang="ja-JP" sz="1400" b="1">
                <a:solidFill>
                  <a:srgbClr val="10B981"/>
                </a:solidFill>
                <a:latin typeface="Meiryo UI" panose="020B0604030504040204" pitchFamily="50" charset="-128"/>
                <a:ea typeface="Meiryo UI" panose="020B0604030504040204" pitchFamily="50" charset="-128"/>
              </a:rPr>
              <a:t>KPI② </a:t>
            </a:r>
            <a:r>
              <a:rPr kumimoji="1" lang="ja-JP" altLang="en-US" sz="1400" b="1">
                <a:solidFill>
                  <a:srgbClr val="10B981"/>
                </a:solidFill>
                <a:latin typeface="Meiryo UI" panose="020B0604030504040204" pitchFamily="50" charset="-128"/>
                <a:ea typeface="Meiryo UI" panose="020B0604030504040204" pitchFamily="50" charset="-128"/>
              </a:rPr>
              <a:t>アンケート回答数</a:t>
            </a:r>
          </a:p>
        </p:txBody>
      </p:sp>
      <p:sp>
        <p:nvSpPr>
          <p:cNvPr id="19" name="テキスト ボックス 18">
            <a:extLst>
              <a:ext uri="{FF2B5EF4-FFF2-40B4-BE49-F238E27FC236}">
                <a16:creationId xmlns:a16="http://schemas.microsoft.com/office/drawing/2014/main" id="{0F280509-A9A6-D78E-F5F0-013042E5F1ED}"/>
              </a:ext>
            </a:extLst>
          </p:cNvPr>
          <p:cNvSpPr txBox="1"/>
          <p:nvPr/>
        </p:nvSpPr>
        <p:spPr>
          <a:xfrm>
            <a:off x="6426200" y="2286000"/>
            <a:ext cx="5334000" cy="533479"/>
          </a:xfrm>
          <a:prstGeom prst="rect">
            <a:avLst/>
          </a:prstGeom>
          <a:noFill/>
        </p:spPr>
        <p:txBody>
          <a:bodyPr vert="horz" wrap="square" lIns="76200" tIns="50800" rIns="76200" bIns="50800" rtlCol="0">
            <a:spAutoFit/>
          </a:bodyPr>
          <a:lstStyle/>
          <a:p>
            <a:r>
              <a:rPr kumimoji="1" lang="en-US" altLang="zh-TW" sz="2800" b="1">
                <a:solidFill>
                  <a:srgbClr val="10B981"/>
                </a:solidFill>
                <a:latin typeface="Meiryo UI" panose="020B0604030504040204" pitchFamily="50" charset="-128"/>
                <a:ea typeface="Meiryo UI" panose="020B0604030504040204" pitchFamily="50" charset="-128"/>
              </a:rPr>
              <a:t>236 </a:t>
            </a:r>
            <a:r>
              <a:rPr kumimoji="1" lang="zh-TW" altLang="en-US" sz="2800" b="1">
                <a:solidFill>
                  <a:srgbClr val="10B981"/>
                </a:solidFill>
                <a:latin typeface="Meiryo UI" panose="020B0604030504040204" pitchFamily="50" charset="-128"/>
                <a:ea typeface="Meiryo UI" panose="020B0604030504040204" pitchFamily="50" charset="-128"/>
              </a:rPr>
              <a:t>名 （達成率 </a:t>
            </a:r>
            <a:r>
              <a:rPr kumimoji="1" lang="en-US" altLang="zh-TW" sz="2800" b="1">
                <a:solidFill>
                  <a:srgbClr val="10B981"/>
                </a:solidFill>
                <a:latin typeface="Meiryo UI" panose="020B0604030504040204" pitchFamily="50" charset="-128"/>
                <a:ea typeface="Meiryo UI" panose="020B0604030504040204" pitchFamily="50" charset="-128"/>
              </a:rPr>
              <a:t>472%</a:t>
            </a:r>
            <a:r>
              <a:rPr kumimoji="1" lang="zh-TW" altLang="en-US" sz="2800" b="1">
                <a:solidFill>
                  <a:srgbClr val="10B981"/>
                </a:solidFill>
                <a:latin typeface="Meiryo UI" panose="020B0604030504040204" pitchFamily="50" charset="-128"/>
                <a:ea typeface="Meiryo UI" panose="020B0604030504040204" pitchFamily="50" charset="-128"/>
              </a:rPr>
              <a:t>）</a:t>
            </a:r>
            <a:endParaRPr kumimoji="1" lang="ja-JP" altLang="en-US" sz="2800" b="1">
              <a:solidFill>
                <a:srgbClr val="10B981"/>
              </a:solidFill>
              <a:latin typeface="Meiryo UI" panose="020B0604030504040204" pitchFamily="50" charset="-128"/>
              <a:ea typeface="Meiryo UI" panose="020B0604030504040204" pitchFamily="50" charset="-128"/>
            </a:endParaRPr>
          </a:p>
        </p:txBody>
      </p:sp>
      <p:sp>
        <p:nvSpPr>
          <p:cNvPr id="20" name="テキスト ボックス 19">
            <a:extLst>
              <a:ext uri="{FF2B5EF4-FFF2-40B4-BE49-F238E27FC236}">
                <a16:creationId xmlns:a16="http://schemas.microsoft.com/office/drawing/2014/main" id="{D8EC3AD2-3439-E9EB-A32C-473F3211CA49}"/>
              </a:ext>
            </a:extLst>
          </p:cNvPr>
          <p:cNvSpPr txBox="1"/>
          <p:nvPr/>
        </p:nvSpPr>
        <p:spPr>
          <a:xfrm>
            <a:off x="6426200" y="2971800"/>
            <a:ext cx="5334000" cy="548868"/>
          </a:xfrm>
          <a:prstGeom prst="rect">
            <a:avLst/>
          </a:prstGeom>
          <a:noFill/>
        </p:spPr>
        <p:txBody>
          <a:bodyPr vert="horz" wrap="square" lIns="76200" tIns="50800" rIns="76200" bIns="50800" rtlCol="0">
            <a:spAutoFit/>
          </a:bodyPr>
          <a:lstStyle/>
          <a:p>
            <a:r>
              <a:rPr kumimoji="1" lang="ja-JP" altLang="en-US" sz="1450" b="1">
                <a:solidFill>
                  <a:srgbClr val="64748B"/>
                </a:solidFill>
                <a:latin typeface="Meiryo UI" panose="020B0604030504040204" pitchFamily="50" charset="-128"/>
                <a:ea typeface="Meiryo UI" panose="020B0604030504040204" pitchFamily="50" charset="-128"/>
              </a:rPr>
              <a:t>起案目標 </a:t>
            </a:r>
            <a:r>
              <a:rPr kumimoji="1" lang="en-US" altLang="ja-JP" sz="1450" b="1">
                <a:solidFill>
                  <a:srgbClr val="64748B"/>
                </a:solidFill>
                <a:latin typeface="Meiryo UI" panose="020B0604030504040204" pitchFamily="50" charset="-128"/>
                <a:ea typeface="Meiryo UI" panose="020B0604030504040204" pitchFamily="50" charset="-128"/>
              </a:rPr>
              <a:t>50</a:t>
            </a:r>
            <a:r>
              <a:rPr kumimoji="1" lang="ja-JP" altLang="en-US" sz="1450" b="1">
                <a:solidFill>
                  <a:srgbClr val="64748B"/>
                </a:solidFill>
                <a:latin typeface="Meiryo UI" panose="020B0604030504040204" pitchFamily="50" charset="-128"/>
                <a:ea typeface="Meiryo UI" panose="020B0604030504040204" pitchFamily="50" charset="-128"/>
              </a:rPr>
              <a:t>名の約</a:t>
            </a:r>
            <a:r>
              <a:rPr kumimoji="1" lang="en-US" altLang="ja-JP" sz="1450" b="1">
                <a:solidFill>
                  <a:srgbClr val="64748B"/>
                </a:solidFill>
                <a:latin typeface="Meiryo UI" panose="020B0604030504040204" pitchFamily="50" charset="-128"/>
                <a:ea typeface="Meiryo UI" panose="020B0604030504040204" pitchFamily="50" charset="-128"/>
              </a:rPr>
              <a:t>4.7</a:t>
            </a:r>
            <a:r>
              <a:rPr kumimoji="1" lang="ja-JP" altLang="en-US" sz="1450" b="1">
                <a:solidFill>
                  <a:srgbClr val="64748B"/>
                </a:solidFill>
                <a:latin typeface="Meiryo UI" panose="020B0604030504040204" pitchFamily="50" charset="-128"/>
                <a:ea typeface="Meiryo UI" panose="020B0604030504040204" pitchFamily="50" charset="-128"/>
              </a:rPr>
              <a:t>倍 ／ 内訳：</a:t>
            </a:r>
            <a:r>
              <a:rPr kumimoji="1" lang="en-US" altLang="ja-JP" sz="1450" b="1">
                <a:solidFill>
                  <a:srgbClr val="64748B"/>
                </a:solidFill>
                <a:latin typeface="Meiryo UI" panose="020B0604030504040204" pitchFamily="50" charset="-128"/>
                <a:ea typeface="Meiryo UI" panose="020B0604030504040204" pitchFamily="50" charset="-128"/>
              </a:rPr>
              <a:t>1</a:t>
            </a:r>
            <a:r>
              <a:rPr kumimoji="1" lang="ja-JP" altLang="en-US" sz="1450" b="1">
                <a:solidFill>
                  <a:srgbClr val="64748B"/>
                </a:solidFill>
                <a:latin typeface="Meiryo UI" panose="020B0604030504040204" pitchFamily="50" charset="-128"/>
                <a:ea typeface="Meiryo UI" panose="020B0604030504040204" pitchFamily="50" charset="-128"/>
              </a:rPr>
              <a:t>日目 </a:t>
            </a:r>
            <a:r>
              <a:rPr kumimoji="1" lang="en-US" altLang="ja-JP" sz="1450" b="1">
                <a:solidFill>
                  <a:srgbClr val="64748B"/>
                </a:solidFill>
                <a:latin typeface="Meiryo UI" panose="020B0604030504040204" pitchFamily="50" charset="-128"/>
                <a:ea typeface="Meiryo UI" panose="020B0604030504040204" pitchFamily="50" charset="-128"/>
              </a:rPr>
              <a:t>106</a:t>
            </a:r>
            <a:r>
              <a:rPr kumimoji="1" lang="ja-JP" altLang="en-US" sz="1450" b="1">
                <a:solidFill>
                  <a:srgbClr val="64748B"/>
                </a:solidFill>
                <a:latin typeface="Meiryo UI" panose="020B0604030504040204" pitchFamily="50" charset="-128"/>
                <a:ea typeface="Meiryo UI" panose="020B0604030504040204" pitchFamily="50" charset="-128"/>
              </a:rPr>
              <a:t>名・</a:t>
            </a:r>
            <a:r>
              <a:rPr kumimoji="1" lang="en-US" altLang="ja-JP" sz="1450" b="1">
                <a:solidFill>
                  <a:srgbClr val="64748B"/>
                </a:solidFill>
                <a:latin typeface="Meiryo UI" panose="020B0604030504040204" pitchFamily="50" charset="-128"/>
                <a:ea typeface="Meiryo UI" panose="020B0604030504040204" pitchFamily="50" charset="-128"/>
              </a:rPr>
              <a:t>2</a:t>
            </a:r>
            <a:r>
              <a:rPr kumimoji="1" lang="ja-JP" altLang="en-US" sz="1450" b="1">
                <a:solidFill>
                  <a:srgbClr val="64748B"/>
                </a:solidFill>
                <a:latin typeface="Meiryo UI" panose="020B0604030504040204" pitchFamily="50" charset="-128"/>
                <a:ea typeface="Meiryo UI" panose="020B0604030504040204" pitchFamily="50" charset="-128"/>
              </a:rPr>
              <a:t>日目 </a:t>
            </a:r>
            <a:r>
              <a:rPr kumimoji="1" lang="en-US" altLang="ja-JP" sz="1450" b="1">
                <a:solidFill>
                  <a:srgbClr val="64748B"/>
                </a:solidFill>
                <a:latin typeface="Meiryo UI" panose="020B0604030504040204" pitchFamily="50" charset="-128"/>
                <a:ea typeface="Meiryo UI" panose="020B0604030504040204" pitchFamily="50" charset="-128"/>
              </a:rPr>
              <a:t>130</a:t>
            </a:r>
            <a:r>
              <a:rPr kumimoji="1" lang="ja-JP" altLang="en-US" sz="1450" b="1">
                <a:solidFill>
                  <a:srgbClr val="64748B"/>
                </a:solidFill>
                <a:latin typeface="Meiryo UI" panose="020B0604030504040204" pitchFamily="50" charset="-128"/>
                <a:ea typeface="Meiryo UI" panose="020B0604030504040204" pitchFamily="50" charset="-128"/>
              </a:rPr>
              <a:t>名</a:t>
            </a:r>
          </a:p>
        </p:txBody>
      </p:sp>
      <p:sp>
        <p:nvSpPr>
          <p:cNvPr id="21" name="四角形: 角を丸くする 20">
            <a:extLst>
              <a:ext uri="{FF2B5EF4-FFF2-40B4-BE49-F238E27FC236}">
                <a16:creationId xmlns:a16="http://schemas.microsoft.com/office/drawing/2014/main" id="{C7BA03D8-DA14-AB98-6133-9850CA142586}"/>
              </a:ext>
            </a:extLst>
          </p:cNvPr>
          <p:cNvSpPr/>
          <p:nvPr/>
        </p:nvSpPr>
        <p:spPr>
          <a:xfrm>
            <a:off x="254000" y="3733800"/>
            <a:ext cx="11684000" cy="28194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B6584D1-0581-DEC9-BE2F-F23CCAA7E22C}"/>
              </a:ext>
            </a:extLst>
          </p:cNvPr>
          <p:cNvSpPr/>
          <p:nvPr/>
        </p:nvSpPr>
        <p:spPr>
          <a:xfrm>
            <a:off x="482600" y="39624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895E0020-0C9B-D586-1493-A9209A0FEC0D}"/>
              </a:ext>
            </a:extLst>
          </p:cNvPr>
          <p:cNvSpPr txBox="1"/>
          <p:nvPr/>
        </p:nvSpPr>
        <p:spPr>
          <a:xfrm>
            <a:off x="685800" y="3924300"/>
            <a:ext cx="11049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起案書における</a:t>
            </a:r>
            <a:r>
              <a:rPr kumimoji="1" lang="en-US" altLang="ja-JP" sz="1750" b="1">
                <a:solidFill>
                  <a:srgbClr val="1E293B"/>
                </a:solidFill>
                <a:latin typeface="Meiryo UI" panose="020B0604030504040204" pitchFamily="50" charset="-128"/>
                <a:ea typeface="Meiryo UI" panose="020B0604030504040204" pitchFamily="50" charset="-128"/>
              </a:rPr>
              <a:t>3</a:t>
            </a:r>
            <a:r>
              <a:rPr kumimoji="1" lang="ja-JP" altLang="en-US" sz="1750" b="1">
                <a:solidFill>
                  <a:srgbClr val="1E293B"/>
                </a:solidFill>
                <a:latin typeface="Meiryo UI" panose="020B0604030504040204" pitchFamily="50" charset="-128"/>
                <a:ea typeface="Meiryo UI" panose="020B0604030504040204" pitchFamily="50" charset="-128"/>
              </a:rPr>
              <a:t>つの目的の達成状況</a:t>
            </a:r>
          </a:p>
        </p:txBody>
      </p:sp>
      <p:sp>
        <p:nvSpPr>
          <p:cNvPr id="24" name="テキスト ボックス 23">
            <a:extLst>
              <a:ext uri="{FF2B5EF4-FFF2-40B4-BE49-F238E27FC236}">
                <a16:creationId xmlns:a16="http://schemas.microsoft.com/office/drawing/2014/main" id="{3A367D12-8D7E-CA8E-8CE9-B1979820EC5E}"/>
              </a:ext>
            </a:extLst>
          </p:cNvPr>
          <p:cNvSpPr txBox="1"/>
          <p:nvPr/>
        </p:nvSpPr>
        <p:spPr>
          <a:xfrm>
            <a:off x="508000" y="4419600"/>
            <a:ext cx="11176000" cy="1533753"/>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① 地域貢献（達成）：</a:t>
            </a:r>
            <a:r>
              <a:rPr kumimoji="1" lang="en-US" altLang="ja-JP" sz="1550" b="1">
                <a:solidFill>
                  <a:srgbClr val="1E293B"/>
                </a:solidFill>
                <a:latin typeface="Meiryo UI" panose="020B0604030504040204" pitchFamily="50" charset="-128"/>
                <a:ea typeface="Meiryo UI" panose="020B0604030504040204" pitchFamily="50" charset="-128"/>
              </a:rPr>
              <a:t>268</a:t>
            </a:r>
            <a:r>
              <a:rPr kumimoji="1" lang="ja-JP" altLang="en-US" sz="1550" b="1">
                <a:solidFill>
                  <a:srgbClr val="1E293B"/>
                </a:solidFill>
                <a:latin typeface="Meiryo UI" panose="020B0604030504040204" pitchFamily="50" charset="-128"/>
                <a:ea typeface="Meiryo UI" panose="020B0604030504040204" pitchFamily="50" charset="-128"/>
              </a:rPr>
              <a:t>名に測定・健康相談を提供し、スタッフの</a:t>
            </a:r>
            <a:r>
              <a:rPr kumimoji="1" lang="en-US" altLang="ja-JP" sz="1550" b="1">
                <a:solidFill>
                  <a:srgbClr val="1E293B"/>
                </a:solidFill>
                <a:latin typeface="Meiryo UI" panose="020B0604030504040204" pitchFamily="50" charset="-128"/>
                <a:ea typeface="Meiryo UI" panose="020B0604030504040204" pitchFamily="50" charset="-128"/>
              </a:rPr>
              <a:t>92.3%</a:t>
            </a:r>
            <a:r>
              <a:rPr kumimoji="1" lang="ja-JP" altLang="en-US" sz="1550" b="1">
                <a:solidFill>
                  <a:srgbClr val="1E293B"/>
                </a:solidFill>
                <a:latin typeface="Meiryo UI" panose="020B0604030504040204" pitchFamily="50" charset="-128"/>
                <a:ea typeface="Meiryo UI" panose="020B0604030504040204" pitchFamily="50" charset="-128"/>
              </a:rPr>
              <a:t>が地域貢献を実感した。
② 認知・集患（達成）：初認知</a:t>
            </a:r>
            <a:r>
              <a:rPr kumimoji="1" lang="en-US" altLang="ja-JP" sz="1550" b="1">
                <a:solidFill>
                  <a:srgbClr val="1E293B"/>
                </a:solidFill>
                <a:latin typeface="Meiryo UI" panose="020B0604030504040204" pitchFamily="50" charset="-128"/>
                <a:ea typeface="Meiryo UI" panose="020B0604030504040204" pitchFamily="50" charset="-128"/>
              </a:rPr>
              <a:t>67</a:t>
            </a:r>
            <a:r>
              <a:rPr kumimoji="1" lang="ja-JP" altLang="en-US" sz="1550" b="1">
                <a:solidFill>
                  <a:srgbClr val="1E293B"/>
                </a:solidFill>
                <a:latin typeface="Meiryo UI" panose="020B0604030504040204" pitchFamily="50" charset="-128"/>
                <a:ea typeface="Meiryo UI" panose="020B0604030504040204" pitchFamily="50" charset="-128"/>
              </a:rPr>
              <a:t>名・名前のみ</a:t>
            </a:r>
            <a:r>
              <a:rPr kumimoji="1" lang="en-US" altLang="ja-JP" sz="1550" b="1">
                <a:solidFill>
                  <a:srgbClr val="1E293B"/>
                </a:solidFill>
                <a:latin typeface="Meiryo UI" panose="020B0604030504040204" pitchFamily="50" charset="-128"/>
                <a:ea typeface="Meiryo UI" panose="020B0604030504040204" pitchFamily="50" charset="-128"/>
              </a:rPr>
              <a:t>126</a:t>
            </a:r>
            <a:r>
              <a:rPr kumimoji="1" lang="ja-JP" altLang="en-US" sz="1550" b="1">
                <a:solidFill>
                  <a:srgbClr val="1E293B"/>
                </a:solidFill>
                <a:latin typeface="Meiryo UI" panose="020B0604030504040204" pitchFamily="50" charset="-128"/>
                <a:ea typeface="Meiryo UI" panose="020B0604030504040204" pitchFamily="50" charset="-128"/>
              </a:rPr>
              <a:t>名と接点を持ち、</a:t>
            </a:r>
            <a:r>
              <a:rPr kumimoji="1" lang="en-US" altLang="ja-JP" sz="1550" b="1">
                <a:solidFill>
                  <a:srgbClr val="1E293B"/>
                </a:solidFill>
                <a:latin typeface="Meiryo UI" panose="020B0604030504040204" pitchFamily="50" charset="-128"/>
                <a:ea typeface="Meiryo UI" panose="020B0604030504040204" pitchFamily="50" charset="-128"/>
              </a:rPr>
              <a:t>90.3%</a:t>
            </a:r>
            <a:r>
              <a:rPr kumimoji="1" lang="ja-JP" altLang="en-US" sz="1550" b="1">
                <a:solidFill>
                  <a:srgbClr val="1E293B"/>
                </a:solidFill>
                <a:latin typeface="Meiryo UI" panose="020B0604030504040204" pitchFamily="50" charset="-128"/>
                <a:ea typeface="Meiryo UI" panose="020B0604030504040204" pitchFamily="50" charset="-128"/>
              </a:rPr>
              <a:t>（</a:t>
            </a:r>
            <a:r>
              <a:rPr kumimoji="1" lang="en-US" altLang="ja-JP" sz="1550" b="1">
                <a:solidFill>
                  <a:srgbClr val="1E293B"/>
                </a:solidFill>
                <a:latin typeface="Meiryo UI" panose="020B0604030504040204" pitchFamily="50" charset="-128"/>
                <a:ea typeface="Meiryo UI" panose="020B0604030504040204" pitchFamily="50" charset="-128"/>
              </a:rPr>
              <a:t>213</a:t>
            </a:r>
            <a:r>
              <a:rPr kumimoji="1" lang="ja-JP" altLang="en-US" sz="1550" b="1">
                <a:solidFill>
                  <a:srgbClr val="1E293B"/>
                </a:solidFill>
                <a:latin typeface="Meiryo UI" panose="020B0604030504040204" pitchFamily="50" charset="-128"/>
                <a:ea typeface="Meiryo UI" panose="020B0604030504040204" pitchFamily="50" charset="-128"/>
              </a:rPr>
              <a:t>名）から「利用・検討したい」との評価を獲得した。
③ 多職種連携の強化（達成）：</a:t>
            </a:r>
            <a:r>
              <a:rPr kumimoji="1" lang="en-US" altLang="ja-JP" sz="1550" b="1">
                <a:solidFill>
                  <a:srgbClr val="1E293B"/>
                </a:solidFill>
                <a:latin typeface="Meiryo UI" panose="020B0604030504040204" pitchFamily="50" charset="-128"/>
                <a:ea typeface="Meiryo UI" panose="020B0604030504040204" pitchFamily="50" charset="-128"/>
              </a:rPr>
              <a:t>6</a:t>
            </a:r>
            <a:r>
              <a:rPr kumimoji="1" lang="ja-JP" altLang="en-US" sz="1550" b="1">
                <a:solidFill>
                  <a:srgbClr val="1E293B"/>
                </a:solidFill>
                <a:latin typeface="Meiryo UI" panose="020B0604030504040204" pitchFamily="50" charset="-128"/>
                <a:ea typeface="Meiryo UI" panose="020B0604030504040204" pitchFamily="50" charset="-128"/>
              </a:rPr>
              <a:t>部署</a:t>
            </a:r>
            <a:r>
              <a:rPr kumimoji="1" lang="en-US" altLang="ja-JP" sz="1550" b="1">
                <a:solidFill>
                  <a:srgbClr val="1E293B"/>
                </a:solidFill>
                <a:latin typeface="Meiryo UI" panose="020B0604030504040204" pitchFamily="50" charset="-128"/>
                <a:ea typeface="Meiryo UI" panose="020B0604030504040204" pitchFamily="50" charset="-128"/>
              </a:rPr>
              <a:t>14</a:t>
            </a:r>
            <a:r>
              <a:rPr kumimoji="1" lang="ja-JP" altLang="en-US" sz="1550" b="1">
                <a:solidFill>
                  <a:srgbClr val="1E293B"/>
                </a:solidFill>
                <a:latin typeface="Meiryo UI" panose="020B0604030504040204" pitchFamily="50" charset="-128"/>
                <a:ea typeface="Meiryo UI" panose="020B0604030504040204" pitchFamily="50" charset="-128"/>
              </a:rPr>
              <a:t>名が協働して満足度</a:t>
            </a:r>
            <a:r>
              <a:rPr kumimoji="1" lang="en-US" altLang="ja-JP" sz="1550" b="1">
                <a:solidFill>
                  <a:srgbClr val="1E293B"/>
                </a:solidFill>
                <a:latin typeface="Meiryo UI" panose="020B0604030504040204" pitchFamily="50" charset="-128"/>
                <a:ea typeface="Meiryo UI" panose="020B0604030504040204" pitchFamily="50" charset="-128"/>
              </a:rPr>
              <a:t>100%</a:t>
            </a:r>
            <a:r>
              <a:rPr kumimoji="1" lang="ja-JP" altLang="en-US" sz="1550" b="1">
                <a:solidFill>
                  <a:srgbClr val="1E293B"/>
                </a:solidFill>
                <a:latin typeface="Meiryo UI" panose="020B0604030504040204" pitchFamily="50" charset="-128"/>
                <a:ea typeface="Meiryo UI" panose="020B0604030504040204" pitchFamily="50" charset="-128"/>
              </a:rPr>
              <a:t>を達成し、測定から栄養・看護・相談へつなぐ多職種連携と院内の結束力を強化できた。</a:t>
            </a:r>
          </a:p>
        </p:txBody>
      </p:sp>
    </p:spTree>
    <p:extLst>
      <p:ext uri="{BB962C8B-B14F-4D97-AF65-F5344CB8AC3E}">
        <p14:creationId xmlns:p14="http://schemas.microsoft.com/office/powerpoint/2010/main" val="3885150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2792BDA4-A150-9A40-6C52-469A107B2B50}"/>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E2DC9960-0F4B-20E8-C976-85DD72D15F3C}"/>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605A2DFE-6463-1AA0-051F-E4772D3F35B3}"/>
              </a:ext>
            </a:extLst>
          </p:cNvPr>
          <p:cNvSpPr/>
          <p:nvPr/>
        </p:nvSpPr>
        <p:spPr>
          <a:xfrm>
            <a:off x="457200" y="330200"/>
            <a:ext cx="2082800" cy="4064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7D867-F118-41FD-53F0-708E894FC591}"/>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3</a:t>
            </a:r>
            <a:r>
              <a:rPr kumimoji="1" lang="ja-JP" altLang="en-US" sz="1300" b="1">
                <a:solidFill>
                  <a:srgbClr val="FFFFFF"/>
                </a:solidFill>
                <a:latin typeface="Meiryo UI" panose="020B0604030504040204" pitchFamily="50" charset="-128"/>
                <a:ea typeface="Meiryo UI" panose="020B0604030504040204" pitchFamily="50" charset="-128"/>
              </a:rPr>
              <a:t>部：得られたこと</a:t>
            </a:r>
          </a:p>
        </p:txBody>
      </p:sp>
      <p:sp>
        <p:nvSpPr>
          <p:cNvPr id="6" name="テキスト ボックス 5">
            <a:extLst>
              <a:ext uri="{FF2B5EF4-FFF2-40B4-BE49-F238E27FC236}">
                <a16:creationId xmlns:a16="http://schemas.microsoft.com/office/drawing/2014/main" id="{F59A9F7C-539E-1EC6-19A1-2EC59FA83F38}"/>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今回の出展で得られたこと（事実の整理）</a:t>
            </a:r>
          </a:p>
        </p:txBody>
      </p:sp>
      <p:sp>
        <p:nvSpPr>
          <p:cNvPr id="7" name="四角形: 角を丸くする 6">
            <a:extLst>
              <a:ext uri="{FF2B5EF4-FFF2-40B4-BE49-F238E27FC236}">
                <a16:creationId xmlns:a16="http://schemas.microsoft.com/office/drawing/2014/main" id="{C058664A-7526-1DAE-5CA6-6252C7FE5BC2}"/>
              </a:ext>
            </a:extLst>
          </p:cNvPr>
          <p:cNvSpPr/>
          <p:nvPr/>
        </p:nvSpPr>
        <p:spPr>
          <a:xfrm>
            <a:off x="10871200" y="330200"/>
            <a:ext cx="863600" cy="381000"/>
          </a:xfrm>
          <a:prstGeom prst="roundRect">
            <a:avLst>
              <a:gd name="adj" fmla="val 5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0861D99-A9F7-09FE-1191-62046BDEDE90}"/>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10B981"/>
                </a:solidFill>
                <a:latin typeface="Meiryo UI" panose="020B0604030504040204" pitchFamily="50" charset="-128"/>
                <a:ea typeface="Meiryo UI" panose="020B0604030504040204" pitchFamily="50" charset="-128"/>
              </a:rPr>
              <a:t>15 / 22</a:t>
            </a:r>
            <a:endParaRPr kumimoji="1" lang="ja-JP" altLang="en-US" sz="1250" b="1">
              <a:solidFill>
                <a:srgbClr val="10B98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211F8B6B-AE70-BBC0-E4B0-E92AD83813C1}"/>
              </a:ext>
            </a:extLst>
          </p:cNvPr>
          <p:cNvSpPr/>
          <p:nvPr/>
        </p:nvSpPr>
        <p:spPr>
          <a:xfrm>
            <a:off x="457200" y="838200"/>
            <a:ext cx="11277600" cy="431800"/>
          </a:xfrm>
          <a:prstGeom prst="roundRect">
            <a:avLst>
              <a:gd name="adj" fmla="val 3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C7BCD5A7-9D2C-9597-AED8-02A0F47B5426}"/>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en-US" altLang="ja-JP" sz="1500" b="1">
                <a:solidFill>
                  <a:srgbClr val="10B981"/>
                </a:solidFill>
                <a:latin typeface="Meiryo UI" panose="020B0604030504040204" pitchFamily="50" charset="-128"/>
                <a:ea typeface="Meiryo UI" panose="020B0604030504040204" pitchFamily="50" charset="-128"/>
              </a:rPr>
              <a:t>2</a:t>
            </a:r>
            <a:r>
              <a:rPr kumimoji="1" lang="ja-JP" altLang="en-US" sz="1500" b="1">
                <a:solidFill>
                  <a:srgbClr val="10B981"/>
                </a:solidFill>
                <a:latin typeface="Meiryo UI" panose="020B0604030504040204" pitchFamily="50" charset="-128"/>
                <a:ea typeface="Meiryo UI" panose="020B0604030504040204" pitchFamily="50" charset="-128"/>
              </a:rPr>
              <a:t>日間の出展を通じて得られた</a:t>
            </a:r>
            <a:r>
              <a:rPr kumimoji="1" lang="en-US" altLang="ja-JP" sz="1500" b="1">
                <a:solidFill>
                  <a:srgbClr val="10B981"/>
                </a:solidFill>
                <a:latin typeface="Meiryo UI" panose="020B0604030504040204" pitchFamily="50" charset="-128"/>
                <a:ea typeface="Meiryo UI" panose="020B0604030504040204" pitchFamily="50" charset="-128"/>
              </a:rPr>
              <a:t>6</a:t>
            </a:r>
            <a:r>
              <a:rPr kumimoji="1" lang="ja-JP" altLang="en-US" sz="1500" b="1">
                <a:solidFill>
                  <a:srgbClr val="10B981"/>
                </a:solidFill>
                <a:latin typeface="Meiryo UI" panose="020B0604030504040204" pitchFamily="50" charset="-128"/>
                <a:ea typeface="Meiryo UI" panose="020B0604030504040204" pitchFamily="50" charset="-128"/>
              </a:rPr>
              <a:t>つの客観的ファクト</a:t>
            </a:r>
          </a:p>
        </p:txBody>
      </p:sp>
      <p:sp>
        <p:nvSpPr>
          <p:cNvPr id="11" name="四角形: 角を丸くする 10">
            <a:extLst>
              <a:ext uri="{FF2B5EF4-FFF2-40B4-BE49-F238E27FC236}">
                <a16:creationId xmlns:a16="http://schemas.microsoft.com/office/drawing/2014/main" id="{4935E21A-C52C-52AC-E3A0-A1634416FFCF}"/>
              </a:ext>
            </a:extLst>
          </p:cNvPr>
          <p:cNvSpPr/>
          <p:nvPr/>
        </p:nvSpPr>
        <p:spPr>
          <a:xfrm>
            <a:off x="254000" y="1600200"/>
            <a:ext cx="3759200" cy="22860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1DF451D6-4F25-E050-CEE4-9B09FE2BD12B}"/>
              </a:ext>
            </a:extLst>
          </p:cNvPr>
          <p:cNvSpPr/>
          <p:nvPr/>
        </p:nvSpPr>
        <p:spPr>
          <a:xfrm>
            <a:off x="457200" y="1803400"/>
            <a:ext cx="3352800" cy="4572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2631A5AF-86EB-9665-F951-9672F495A4C6}"/>
              </a:ext>
            </a:extLst>
          </p:cNvPr>
          <p:cNvSpPr txBox="1"/>
          <p:nvPr/>
        </p:nvSpPr>
        <p:spPr>
          <a:xfrm>
            <a:off x="457200" y="18542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2563EB"/>
                </a:solidFill>
                <a:latin typeface="Meiryo UI" panose="020B0604030504040204" pitchFamily="50" charset="-128"/>
                <a:ea typeface="Meiryo UI" panose="020B0604030504040204" pitchFamily="50" charset="-128"/>
              </a:rPr>
              <a:t>① 目標を大きく上回る集客</a:t>
            </a:r>
          </a:p>
        </p:txBody>
      </p:sp>
      <p:sp>
        <p:nvSpPr>
          <p:cNvPr id="14" name="テキスト ボックス 13">
            <a:extLst>
              <a:ext uri="{FF2B5EF4-FFF2-40B4-BE49-F238E27FC236}">
                <a16:creationId xmlns:a16="http://schemas.microsoft.com/office/drawing/2014/main" id="{D70A2466-93AB-2B28-4447-D8F9A8B48718}"/>
              </a:ext>
            </a:extLst>
          </p:cNvPr>
          <p:cNvSpPr txBox="1"/>
          <p:nvPr/>
        </p:nvSpPr>
        <p:spPr>
          <a:xfrm>
            <a:off x="482600" y="2413000"/>
            <a:ext cx="3302000" cy="564257"/>
          </a:xfrm>
          <a:prstGeom prst="rect">
            <a:avLst/>
          </a:prstGeom>
          <a:noFill/>
        </p:spPr>
        <p:txBody>
          <a:bodyPr vert="horz" wrap="square" lIns="76200" tIns="50800" rIns="76200" bIns="50800" rtlCol="0">
            <a:spAutoFit/>
          </a:bodyPr>
          <a:lstStyle/>
          <a:p>
            <a:r>
              <a:rPr kumimoji="1" lang="en-US" altLang="ja-JP" sz="1500">
                <a:solidFill>
                  <a:srgbClr val="1E293B"/>
                </a:solidFill>
                <a:latin typeface="Meiryo UI" panose="020B0604030504040204" pitchFamily="50" charset="-128"/>
                <a:ea typeface="Meiryo UI" panose="020B0604030504040204" pitchFamily="50" charset="-128"/>
              </a:rPr>
              <a:t>2</a:t>
            </a:r>
            <a:r>
              <a:rPr kumimoji="1" lang="ja-JP" altLang="en-US" sz="1500">
                <a:solidFill>
                  <a:srgbClr val="1E293B"/>
                </a:solidFill>
                <a:latin typeface="Meiryo UI" panose="020B0604030504040204" pitchFamily="50" charset="-128"/>
                <a:ea typeface="Meiryo UI" panose="020B0604030504040204" pitchFamily="50" charset="-128"/>
              </a:rPr>
              <a:t>日間で</a:t>
            </a:r>
            <a:r>
              <a:rPr kumimoji="1" lang="en-US" altLang="ja-JP" sz="1500">
                <a:solidFill>
                  <a:srgbClr val="1E293B"/>
                </a:solidFill>
                <a:latin typeface="Meiryo UI" panose="020B0604030504040204" pitchFamily="50" charset="-128"/>
                <a:ea typeface="Meiryo UI" panose="020B0604030504040204" pitchFamily="50" charset="-128"/>
              </a:rPr>
              <a:t>268</a:t>
            </a:r>
            <a:r>
              <a:rPr kumimoji="1" lang="ja-JP" altLang="en-US" sz="1500">
                <a:solidFill>
                  <a:srgbClr val="1E293B"/>
                </a:solidFill>
                <a:latin typeface="Meiryo UI" panose="020B0604030504040204" pitchFamily="50" charset="-128"/>
                <a:ea typeface="Meiryo UI" panose="020B0604030504040204" pitchFamily="50" charset="-128"/>
              </a:rPr>
              <a:t>名が来場し、目標</a:t>
            </a:r>
            <a:r>
              <a:rPr kumimoji="1" lang="en-US" altLang="ja-JP" sz="1500">
                <a:solidFill>
                  <a:srgbClr val="1E293B"/>
                </a:solidFill>
                <a:latin typeface="Meiryo UI" panose="020B0604030504040204" pitchFamily="50" charset="-128"/>
                <a:ea typeface="Meiryo UI" panose="020B0604030504040204" pitchFamily="50" charset="-128"/>
              </a:rPr>
              <a:t>50</a:t>
            </a:r>
            <a:r>
              <a:rPr kumimoji="1" lang="ja-JP" altLang="en-US" sz="1500">
                <a:solidFill>
                  <a:srgbClr val="1E293B"/>
                </a:solidFill>
                <a:latin typeface="Meiryo UI" panose="020B0604030504040204" pitchFamily="50" charset="-128"/>
                <a:ea typeface="Meiryo UI" panose="020B0604030504040204" pitchFamily="50" charset="-128"/>
              </a:rPr>
              <a:t>名の</a:t>
            </a:r>
            <a:r>
              <a:rPr kumimoji="1" lang="en-US" altLang="ja-JP" sz="1500">
                <a:solidFill>
                  <a:srgbClr val="1E293B"/>
                </a:solidFill>
                <a:latin typeface="Meiryo UI" panose="020B0604030504040204" pitchFamily="50" charset="-128"/>
                <a:ea typeface="Meiryo UI" panose="020B0604030504040204" pitchFamily="50" charset="-128"/>
              </a:rPr>
              <a:t>4.7</a:t>
            </a:r>
            <a:r>
              <a:rPr kumimoji="1" lang="ja-JP" altLang="en-US" sz="1500">
                <a:solidFill>
                  <a:srgbClr val="1E293B"/>
                </a:solidFill>
                <a:latin typeface="Meiryo UI" panose="020B0604030504040204" pitchFamily="50" charset="-128"/>
                <a:ea typeface="Meiryo UI" panose="020B0604030504040204" pitchFamily="50" charset="-128"/>
              </a:rPr>
              <a:t>倍となる</a:t>
            </a:r>
            <a:r>
              <a:rPr kumimoji="1" lang="en-US" altLang="ja-JP" sz="1500">
                <a:solidFill>
                  <a:srgbClr val="1E293B"/>
                </a:solidFill>
                <a:latin typeface="Meiryo UI" panose="020B0604030504040204" pitchFamily="50" charset="-128"/>
                <a:ea typeface="Meiryo UI" panose="020B0604030504040204" pitchFamily="50" charset="-128"/>
              </a:rPr>
              <a:t>236</a:t>
            </a:r>
            <a:r>
              <a:rPr kumimoji="1" lang="ja-JP" altLang="en-US" sz="1500">
                <a:solidFill>
                  <a:srgbClr val="1E293B"/>
                </a:solidFill>
                <a:latin typeface="Meiryo UI" panose="020B0604030504040204" pitchFamily="50" charset="-128"/>
                <a:ea typeface="Meiryo UI" panose="020B0604030504040204" pitchFamily="50" charset="-128"/>
              </a:rPr>
              <a:t>名の回答を取得できた。</a:t>
            </a:r>
          </a:p>
        </p:txBody>
      </p:sp>
      <p:sp>
        <p:nvSpPr>
          <p:cNvPr id="15" name="四角形: 角を丸くする 14">
            <a:extLst>
              <a:ext uri="{FF2B5EF4-FFF2-40B4-BE49-F238E27FC236}">
                <a16:creationId xmlns:a16="http://schemas.microsoft.com/office/drawing/2014/main" id="{9D4C1D25-97C9-6F6F-2BAF-4FD2B8DCA0F2}"/>
              </a:ext>
            </a:extLst>
          </p:cNvPr>
          <p:cNvSpPr/>
          <p:nvPr/>
        </p:nvSpPr>
        <p:spPr>
          <a:xfrm>
            <a:off x="4191000" y="1600200"/>
            <a:ext cx="3759200" cy="22860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23A85CC6-6852-9CBE-97CC-47F6E1468609}"/>
              </a:ext>
            </a:extLst>
          </p:cNvPr>
          <p:cNvSpPr/>
          <p:nvPr/>
        </p:nvSpPr>
        <p:spPr>
          <a:xfrm>
            <a:off x="4394200" y="1803400"/>
            <a:ext cx="3352800" cy="457200"/>
          </a:xfrm>
          <a:prstGeom prst="roundRect">
            <a:avLst>
              <a:gd name="adj" fmla="val 4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27C92470-BF51-199C-A6BE-FDB61D8729B9}"/>
              </a:ext>
            </a:extLst>
          </p:cNvPr>
          <p:cNvSpPr txBox="1"/>
          <p:nvPr/>
        </p:nvSpPr>
        <p:spPr>
          <a:xfrm>
            <a:off x="4394200" y="18542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10B981"/>
                </a:solidFill>
                <a:latin typeface="Meiryo UI" panose="020B0604030504040204" pitchFamily="50" charset="-128"/>
                <a:ea typeface="Meiryo UI" panose="020B0604030504040204" pitchFamily="50" charset="-128"/>
              </a:rPr>
              <a:t>② 土日で異なる世代との接点</a:t>
            </a:r>
          </a:p>
        </p:txBody>
      </p:sp>
      <p:sp>
        <p:nvSpPr>
          <p:cNvPr id="18" name="テキスト ボックス 17">
            <a:extLst>
              <a:ext uri="{FF2B5EF4-FFF2-40B4-BE49-F238E27FC236}">
                <a16:creationId xmlns:a16="http://schemas.microsoft.com/office/drawing/2014/main" id="{F30FDA08-FF2C-2229-746D-30D411BA8887}"/>
              </a:ext>
            </a:extLst>
          </p:cNvPr>
          <p:cNvSpPr txBox="1"/>
          <p:nvPr/>
        </p:nvSpPr>
        <p:spPr>
          <a:xfrm>
            <a:off x="4419600" y="2413000"/>
            <a:ext cx="3302000" cy="795089"/>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土曜は</a:t>
            </a:r>
            <a:r>
              <a:rPr kumimoji="1" lang="en-US" altLang="ja-JP" sz="1500">
                <a:solidFill>
                  <a:srgbClr val="1E293B"/>
                </a:solidFill>
                <a:latin typeface="Meiryo UI" panose="020B0604030504040204" pitchFamily="50" charset="-128"/>
                <a:ea typeface="Meiryo UI" panose="020B0604030504040204" pitchFamily="50" charset="-128"/>
              </a:rPr>
              <a:t>60</a:t>
            </a:r>
            <a:r>
              <a:rPr kumimoji="1" lang="ja-JP" altLang="en-US" sz="1500">
                <a:solidFill>
                  <a:srgbClr val="1E293B"/>
                </a:solidFill>
                <a:latin typeface="Meiryo UI" panose="020B0604030504040204" pitchFamily="50" charset="-128"/>
                <a:ea typeface="Meiryo UI" panose="020B0604030504040204" pitchFamily="50" charset="-128"/>
              </a:rPr>
              <a:t>代以上（</a:t>
            </a:r>
            <a:r>
              <a:rPr kumimoji="1" lang="en-US" altLang="ja-JP" sz="1500">
                <a:solidFill>
                  <a:srgbClr val="1E293B"/>
                </a:solidFill>
                <a:latin typeface="Meiryo UI" panose="020B0604030504040204" pitchFamily="50" charset="-128"/>
                <a:ea typeface="Meiryo UI" panose="020B0604030504040204" pitchFamily="50" charset="-128"/>
              </a:rPr>
              <a:t>52.8%</a:t>
            </a:r>
            <a:r>
              <a:rPr kumimoji="1" lang="ja-JP" altLang="en-US" sz="1500">
                <a:solidFill>
                  <a:srgbClr val="1E293B"/>
                </a:solidFill>
                <a:latin typeface="Meiryo UI" panose="020B0604030504040204" pitchFamily="50" charset="-128"/>
                <a:ea typeface="Meiryo UI" panose="020B0604030504040204" pitchFamily="50" charset="-128"/>
              </a:rPr>
              <a:t>）、日曜は</a:t>
            </a:r>
            <a:r>
              <a:rPr kumimoji="1" lang="en-US" altLang="ja-JP" sz="1500">
                <a:solidFill>
                  <a:srgbClr val="1E293B"/>
                </a:solidFill>
                <a:latin typeface="Meiryo UI" panose="020B0604030504040204" pitchFamily="50" charset="-128"/>
                <a:ea typeface="Meiryo UI" panose="020B0604030504040204" pitchFamily="50" charset="-128"/>
              </a:rPr>
              <a:t>40</a:t>
            </a:r>
            <a:r>
              <a:rPr kumimoji="1" lang="ja-JP" altLang="en-US" sz="1500">
                <a:solidFill>
                  <a:srgbClr val="1E293B"/>
                </a:solidFill>
                <a:latin typeface="Meiryo UI" panose="020B0604030504040204" pitchFamily="50" charset="-128"/>
                <a:ea typeface="Meiryo UI" panose="020B0604030504040204" pitchFamily="50" charset="-128"/>
              </a:rPr>
              <a:t>代以下が倍増（</a:t>
            </a:r>
            <a:r>
              <a:rPr kumimoji="1" lang="en-US" altLang="ja-JP" sz="1500">
                <a:solidFill>
                  <a:srgbClr val="1E293B"/>
                </a:solidFill>
                <a:latin typeface="Meiryo UI" panose="020B0604030504040204" pitchFamily="50" charset="-128"/>
                <a:ea typeface="Meiryo UI" panose="020B0604030504040204" pitchFamily="50" charset="-128"/>
              </a:rPr>
              <a:t>32.3%</a:t>
            </a:r>
            <a:r>
              <a:rPr kumimoji="1" lang="ja-JP" altLang="en-US" sz="1500">
                <a:solidFill>
                  <a:srgbClr val="1E293B"/>
                </a:solidFill>
                <a:latin typeface="Meiryo UI" panose="020B0604030504040204" pitchFamily="50" charset="-128"/>
                <a:ea typeface="Meiryo UI" panose="020B0604030504040204" pitchFamily="50" charset="-128"/>
              </a:rPr>
              <a:t>）し幅広い層と接した。</a:t>
            </a:r>
          </a:p>
        </p:txBody>
      </p:sp>
      <p:sp>
        <p:nvSpPr>
          <p:cNvPr id="19" name="四角形: 角を丸くする 18">
            <a:extLst>
              <a:ext uri="{FF2B5EF4-FFF2-40B4-BE49-F238E27FC236}">
                <a16:creationId xmlns:a16="http://schemas.microsoft.com/office/drawing/2014/main" id="{88DF0461-0A67-073F-5AF0-5E6798821523}"/>
              </a:ext>
            </a:extLst>
          </p:cNvPr>
          <p:cNvSpPr/>
          <p:nvPr/>
        </p:nvSpPr>
        <p:spPr>
          <a:xfrm>
            <a:off x="8128000" y="1600200"/>
            <a:ext cx="3759200" cy="22860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AB4BCFE6-B41B-0DE9-7BE0-91F8F0534EBC}"/>
              </a:ext>
            </a:extLst>
          </p:cNvPr>
          <p:cNvSpPr/>
          <p:nvPr/>
        </p:nvSpPr>
        <p:spPr>
          <a:xfrm>
            <a:off x="8331200" y="1803400"/>
            <a:ext cx="3352800" cy="457200"/>
          </a:xfrm>
          <a:prstGeom prst="roundRect">
            <a:avLst>
              <a:gd name="adj" fmla="val 40000"/>
            </a:avLst>
          </a:prstGeom>
          <a:solidFill>
            <a:srgbClr val="FFFB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DB231705-BFB6-6A37-B68F-6922839E2A11}"/>
              </a:ext>
            </a:extLst>
          </p:cNvPr>
          <p:cNvSpPr txBox="1"/>
          <p:nvPr/>
        </p:nvSpPr>
        <p:spPr>
          <a:xfrm>
            <a:off x="8331200" y="18542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F59E0B"/>
                </a:solidFill>
                <a:latin typeface="Meiryo UI" panose="020B0604030504040204" pitchFamily="50" charset="-128"/>
                <a:ea typeface="Meiryo UI" panose="020B0604030504040204" pitchFamily="50" charset="-128"/>
              </a:rPr>
              <a:t>③ 市内＋市外へのアプローチ</a:t>
            </a:r>
          </a:p>
        </p:txBody>
      </p:sp>
      <p:sp>
        <p:nvSpPr>
          <p:cNvPr id="22" name="テキスト ボックス 21">
            <a:extLst>
              <a:ext uri="{FF2B5EF4-FFF2-40B4-BE49-F238E27FC236}">
                <a16:creationId xmlns:a16="http://schemas.microsoft.com/office/drawing/2014/main" id="{473121D4-D4AA-66F3-AF62-4FEBDACAE6CD}"/>
              </a:ext>
            </a:extLst>
          </p:cNvPr>
          <p:cNvSpPr txBox="1"/>
          <p:nvPr/>
        </p:nvSpPr>
        <p:spPr>
          <a:xfrm>
            <a:off x="8356600" y="2413000"/>
            <a:ext cx="3302000" cy="795089"/>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八千代市内（</a:t>
            </a:r>
            <a:r>
              <a:rPr kumimoji="1" lang="en-US" altLang="ja-JP" sz="1500">
                <a:solidFill>
                  <a:srgbClr val="1E293B"/>
                </a:solidFill>
                <a:latin typeface="Meiryo UI" panose="020B0604030504040204" pitchFamily="50" charset="-128"/>
                <a:ea typeface="Meiryo UI" panose="020B0604030504040204" pitchFamily="50" charset="-128"/>
              </a:rPr>
              <a:t>72.5%</a:t>
            </a:r>
            <a:r>
              <a:rPr kumimoji="1" lang="ja-JP" altLang="en-US" sz="1500">
                <a:solidFill>
                  <a:srgbClr val="1E293B"/>
                </a:solidFill>
                <a:latin typeface="Meiryo UI" panose="020B0604030504040204" pitchFamily="50" charset="-128"/>
                <a:ea typeface="Meiryo UI" panose="020B0604030504040204" pitchFamily="50" charset="-128"/>
              </a:rPr>
              <a:t>）に加え、市外（</a:t>
            </a:r>
            <a:r>
              <a:rPr kumimoji="1" lang="en-US" altLang="ja-JP" sz="1500">
                <a:solidFill>
                  <a:srgbClr val="1E293B"/>
                </a:solidFill>
                <a:latin typeface="Meiryo UI" panose="020B0604030504040204" pitchFamily="50" charset="-128"/>
                <a:ea typeface="Meiryo UI" panose="020B0604030504040204" pitchFamily="50" charset="-128"/>
              </a:rPr>
              <a:t>26.3%</a:t>
            </a:r>
            <a:r>
              <a:rPr kumimoji="1" lang="ja-JP" altLang="en-US" sz="1500">
                <a:solidFill>
                  <a:srgbClr val="1E293B"/>
                </a:solidFill>
                <a:latin typeface="Meiryo UI" panose="020B0604030504040204" pitchFamily="50" charset="-128"/>
                <a:ea typeface="Meiryo UI" panose="020B0604030504040204" pitchFamily="50" charset="-128"/>
              </a:rPr>
              <a:t>・</a:t>
            </a:r>
            <a:r>
              <a:rPr kumimoji="1" lang="en-US" altLang="ja-JP" sz="1500">
                <a:solidFill>
                  <a:srgbClr val="1E293B"/>
                </a:solidFill>
                <a:latin typeface="Meiryo UI" panose="020B0604030504040204" pitchFamily="50" charset="-128"/>
                <a:ea typeface="Meiryo UI" panose="020B0604030504040204" pitchFamily="50" charset="-128"/>
              </a:rPr>
              <a:t>62</a:t>
            </a:r>
            <a:r>
              <a:rPr kumimoji="1" lang="ja-JP" altLang="en-US" sz="1500">
                <a:solidFill>
                  <a:srgbClr val="1E293B"/>
                </a:solidFill>
                <a:latin typeface="Meiryo UI" panose="020B0604030504040204" pitchFamily="50" charset="-128"/>
                <a:ea typeface="Meiryo UI" panose="020B0604030504040204" pitchFamily="50" charset="-128"/>
              </a:rPr>
              <a:t>名）の住民とも接点を持てた。</a:t>
            </a:r>
          </a:p>
        </p:txBody>
      </p:sp>
      <p:sp>
        <p:nvSpPr>
          <p:cNvPr id="23" name="四角形: 角を丸くする 22">
            <a:extLst>
              <a:ext uri="{FF2B5EF4-FFF2-40B4-BE49-F238E27FC236}">
                <a16:creationId xmlns:a16="http://schemas.microsoft.com/office/drawing/2014/main" id="{D6EB1EFC-0D41-ED58-CBB4-CA68FD00B06F}"/>
              </a:ext>
            </a:extLst>
          </p:cNvPr>
          <p:cNvSpPr/>
          <p:nvPr/>
        </p:nvSpPr>
        <p:spPr>
          <a:xfrm>
            <a:off x="254000" y="4089400"/>
            <a:ext cx="3759200" cy="22860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A58E0A3D-8948-650A-8BDD-6DFA3DF15594}"/>
              </a:ext>
            </a:extLst>
          </p:cNvPr>
          <p:cNvSpPr/>
          <p:nvPr/>
        </p:nvSpPr>
        <p:spPr>
          <a:xfrm>
            <a:off x="457200" y="4292600"/>
            <a:ext cx="3352800" cy="457200"/>
          </a:xfrm>
          <a:prstGeom prst="roundRect">
            <a:avLst>
              <a:gd name="adj" fmla="val 40000"/>
            </a:avLst>
          </a:prstGeom>
          <a:solidFill>
            <a:srgbClr val="F5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BA0A9B81-FC52-40DB-3EFE-1EDF07901323}"/>
              </a:ext>
            </a:extLst>
          </p:cNvPr>
          <p:cNvSpPr txBox="1"/>
          <p:nvPr/>
        </p:nvSpPr>
        <p:spPr>
          <a:xfrm>
            <a:off x="457200" y="43434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8B5CF6"/>
                </a:solidFill>
                <a:latin typeface="Meiryo UI" panose="020B0604030504040204" pitchFamily="50" charset="-128"/>
                <a:ea typeface="Meiryo UI" panose="020B0604030504040204" pitchFamily="50" charset="-128"/>
              </a:rPr>
              <a:t>④ 人気コンテンツの明確化</a:t>
            </a:r>
          </a:p>
        </p:txBody>
      </p:sp>
      <p:sp>
        <p:nvSpPr>
          <p:cNvPr id="26" name="テキスト ボックス 25">
            <a:extLst>
              <a:ext uri="{FF2B5EF4-FFF2-40B4-BE49-F238E27FC236}">
                <a16:creationId xmlns:a16="http://schemas.microsoft.com/office/drawing/2014/main" id="{5E8A81E1-6827-96F7-041D-9908FF16F95F}"/>
              </a:ext>
            </a:extLst>
          </p:cNvPr>
          <p:cNvSpPr txBox="1"/>
          <p:nvPr/>
        </p:nvSpPr>
        <p:spPr>
          <a:xfrm>
            <a:off x="482600" y="4902200"/>
            <a:ext cx="3302000" cy="795089"/>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血管年齢（</a:t>
            </a:r>
            <a:r>
              <a:rPr kumimoji="1" lang="en-US" altLang="ja-JP" sz="1500">
                <a:solidFill>
                  <a:srgbClr val="1E293B"/>
                </a:solidFill>
                <a:latin typeface="Meiryo UI" panose="020B0604030504040204" pitchFamily="50" charset="-128"/>
                <a:ea typeface="Meiryo UI" panose="020B0604030504040204" pitchFamily="50" charset="-128"/>
              </a:rPr>
              <a:t>72.9%</a:t>
            </a:r>
            <a:r>
              <a:rPr kumimoji="1" lang="ja-JP" altLang="en-US" sz="1500">
                <a:solidFill>
                  <a:srgbClr val="1E293B"/>
                </a:solidFill>
                <a:latin typeface="Meiryo UI" panose="020B0604030504040204" pitchFamily="50" charset="-128"/>
                <a:ea typeface="Meiryo UI" panose="020B0604030504040204" pitchFamily="50" charset="-128"/>
              </a:rPr>
              <a:t>）と筋肉量測定（</a:t>
            </a:r>
            <a:r>
              <a:rPr kumimoji="1" lang="en-US" altLang="ja-JP" sz="1500">
                <a:solidFill>
                  <a:srgbClr val="1E293B"/>
                </a:solidFill>
                <a:latin typeface="Meiryo UI" panose="020B0604030504040204" pitchFamily="50" charset="-128"/>
                <a:ea typeface="Meiryo UI" panose="020B0604030504040204" pitchFamily="50" charset="-128"/>
              </a:rPr>
              <a:t>66.5%</a:t>
            </a:r>
            <a:r>
              <a:rPr kumimoji="1" lang="ja-JP" altLang="en-US" sz="1500">
                <a:solidFill>
                  <a:srgbClr val="1E293B"/>
                </a:solidFill>
                <a:latin typeface="Meiryo UI" panose="020B0604030504040204" pitchFamily="50" charset="-128"/>
                <a:ea typeface="Meiryo UI" panose="020B0604030504040204" pitchFamily="50" charset="-128"/>
              </a:rPr>
              <a:t>）が強い集客力を持つと確認できた。</a:t>
            </a:r>
          </a:p>
        </p:txBody>
      </p:sp>
      <p:sp>
        <p:nvSpPr>
          <p:cNvPr id="27" name="四角形: 角を丸くする 26">
            <a:extLst>
              <a:ext uri="{FF2B5EF4-FFF2-40B4-BE49-F238E27FC236}">
                <a16:creationId xmlns:a16="http://schemas.microsoft.com/office/drawing/2014/main" id="{57F4A177-E2FA-E416-98C1-0F72A300F093}"/>
              </a:ext>
            </a:extLst>
          </p:cNvPr>
          <p:cNvSpPr/>
          <p:nvPr/>
        </p:nvSpPr>
        <p:spPr>
          <a:xfrm>
            <a:off x="4191000" y="4089400"/>
            <a:ext cx="3759200" cy="22860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E82AE6E1-1C8F-43CF-2E22-BF87638FE866}"/>
              </a:ext>
            </a:extLst>
          </p:cNvPr>
          <p:cNvSpPr/>
          <p:nvPr/>
        </p:nvSpPr>
        <p:spPr>
          <a:xfrm>
            <a:off x="4394200" y="4292600"/>
            <a:ext cx="3352800" cy="457200"/>
          </a:xfrm>
          <a:prstGeom prst="roundRect">
            <a:avLst>
              <a:gd name="adj" fmla="val 4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79597BA7-8615-DDCF-1A2A-D9E596ECAB2B}"/>
              </a:ext>
            </a:extLst>
          </p:cNvPr>
          <p:cNvSpPr txBox="1"/>
          <p:nvPr/>
        </p:nvSpPr>
        <p:spPr>
          <a:xfrm>
            <a:off x="4394200" y="43434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10B981"/>
                </a:solidFill>
                <a:latin typeface="Meiryo UI" panose="020B0604030504040204" pitchFamily="50" charset="-128"/>
                <a:ea typeface="Meiryo UI" panose="020B0604030504040204" pitchFamily="50" charset="-128"/>
              </a:rPr>
              <a:t>⑤ </a:t>
            </a:r>
            <a:r>
              <a:rPr kumimoji="1" lang="en-US" altLang="ja-JP" sz="1550" b="1">
                <a:solidFill>
                  <a:srgbClr val="10B981"/>
                </a:solidFill>
                <a:latin typeface="Meiryo UI" panose="020B0604030504040204" pitchFamily="50" charset="-128"/>
                <a:ea typeface="Meiryo UI" panose="020B0604030504040204" pitchFamily="50" charset="-128"/>
              </a:rPr>
              <a:t>9</a:t>
            </a:r>
            <a:r>
              <a:rPr kumimoji="1" lang="ja-JP" altLang="en-US" sz="1550" b="1">
                <a:solidFill>
                  <a:srgbClr val="10B981"/>
                </a:solidFill>
                <a:latin typeface="Meiryo UI" panose="020B0604030504040204" pitchFamily="50" charset="-128"/>
                <a:ea typeface="Meiryo UI" panose="020B0604030504040204" pitchFamily="50" charset="-128"/>
              </a:rPr>
              <a:t>割超の好意的な利用意向</a:t>
            </a:r>
          </a:p>
        </p:txBody>
      </p:sp>
      <p:sp>
        <p:nvSpPr>
          <p:cNvPr id="30" name="テキスト ボックス 29">
            <a:extLst>
              <a:ext uri="{FF2B5EF4-FFF2-40B4-BE49-F238E27FC236}">
                <a16:creationId xmlns:a16="http://schemas.microsoft.com/office/drawing/2014/main" id="{EC5F75A9-372C-954B-B255-A172EBCE64F9}"/>
              </a:ext>
            </a:extLst>
          </p:cNvPr>
          <p:cNvSpPr txBox="1"/>
          <p:nvPr/>
        </p:nvSpPr>
        <p:spPr>
          <a:xfrm>
            <a:off x="4419600" y="4902200"/>
            <a:ext cx="3302000" cy="795089"/>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体験者の</a:t>
            </a:r>
            <a:r>
              <a:rPr kumimoji="1" lang="en-US" altLang="ja-JP" sz="1500">
                <a:solidFill>
                  <a:srgbClr val="1E293B"/>
                </a:solidFill>
                <a:latin typeface="Meiryo UI" panose="020B0604030504040204" pitchFamily="50" charset="-128"/>
                <a:ea typeface="Meiryo UI" panose="020B0604030504040204" pitchFamily="50" charset="-128"/>
              </a:rPr>
              <a:t>90.3%</a:t>
            </a:r>
            <a:r>
              <a:rPr kumimoji="1" lang="ja-JP" altLang="en-US" sz="1500">
                <a:solidFill>
                  <a:srgbClr val="1E293B"/>
                </a:solidFill>
                <a:latin typeface="Meiryo UI" panose="020B0604030504040204" pitchFamily="50" charset="-128"/>
                <a:ea typeface="Meiryo UI" panose="020B0604030504040204" pitchFamily="50" charset="-128"/>
              </a:rPr>
              <a:t>（</a:t>
            </a:r>
            <a:r>
              <a:rPr kumimoji="1" lang="en-US" altLang="ja-JP" sz="1500">
                <a:solidFill>
                  <a:srgbClr val="1E293B"/>
                </a:solidFill>
                <a:latin typeface="Meiryo UI" panose="020B0604030504040204" pitchFamily="50" charset="-128"/>
                <a:ea typeface="Meiryo UI" panose="020B0604030504040204" pitchFamily="50" charset="-128"/>
              </a:rPr>
              <a:t>213</a:t>
            </a:r>
            <a:r>
              <a:rPr kumimoji="1" lang="ja-JP" altLang="en-US" sz="1500">
                <a:solidFill>
                  <a:srgbClr val="1E293B"/>
                </a:solidFill>
                <a:latin typeface="Meiryo UI" panose="020B0604030504040204" pitchFamily="50" charset="-128"/>
                <a:ea typeface="Meiryo UI" panose="020B0604030504040204" pitchFamily="50" charset="-128"/>
              </a:rPr>
              <a:t>名）が、万が一の際に当院を「利用・検討したい」と回答した。</a:t>
            </a:r>
          </a:p>
        </p:txBody>
      </p:sp>
      <p:sp>
        <p:nvSpPr>
          <p:cNvPr id="31" name="四角形: 角を丸くする 30">
            <a:extLst>
              <a:ext uri="{FF2B5EF4-FFF2-40B4-BE49-F238E27FC236}">
                <a16:creationId xmlns:a16="http://schemas.microsoft.com/office/drawing/2014/main" id="{22CD64EC-7E71-FBB7-9B91-0ADA8090F474}"/>
              </a:ext>
            </a:extLst>
          </p:cNvPr>
          <p:cNvSpPr/>
          <p:nvPr/>
        </p:nvSpPr>
        <p:spPr>
          <a:xfrm>
            <a:off x="8128000" y="4089400"/>
            <a:ext cx="3759200" cy="22860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324F5C2F-F100-3793-C05E-7D3D42397C9F}"/>
              </a:ext>
            </a:extLst>
          </p:cNvPr>
          <p:cNvSpPr/>
          <p:nvPr/>
        </p:nvSpPr>
        <p:spPr>
          <a:xfrm>
            <a:off x="8331200" y="4292600"/>
            <a:ext cx="3352800" cy="4572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AFAC144A-48F8-9529-24DB-AF95DCBF0DAE}"/>
              </a:ext>
            </a:extLst>
          </p:cNvPr>
          <p:cNvSpPr txBox="1"/>
          <p:nvPr/>
        </p:nvSpPr>
        <p:spPr>
          <a:xfrm>
            <a:off x="8331200" y="43434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2563EB"/>
                </a:solidFill>
                <a:latin typeface="Meiryo UI" panose="020B0604030504040204" pitchFamily="50" charset="-128"/>
                <a:ea typeface="Meiryo UI" panose="020B0604030504040204" pitchFamily="50" charset="-128"/>
              </a:rPr>
              <a:t>⑥ 健康教室の</a:t>
            </a:r>
            <a:r>
              <a:rPr kumimoji="1" lang="en-US" altLang="ja-JP" sz="1550" b="1">
                <a:solidFill>
                  <a:srgbClr val="2563EB"/>
                </a:solidFill>
                <a:latin typeface="Meiryo UI" panose="020B0604030504040204" pitchFamily="50" charset="-128"/>
                <a:ea typeface="Meiryo UI" panose="020B0604030504040204" pitchFamily="50" charset="-128"/>
              </a:rPr>
              <a:t>4</a:t>
            </a:r>
            <a:r>
              <a:rPr kumimoji="1" lang="ja-JP" altLang="en-US" sz="1550" b="1">
                <a:solidFill>
                  <a:srgbClr val="2563EB"/>
                </a:solidFill>
                <a:latin typeface="Meiryo UI" panose="020B0604030504040204" pitchFamily="50" charset="-128"/>
                <a:ea typeface="Meiryo UI" panose="020B0604030504040204" pitchFamily="50" charset="-128"/>
              </a:rPr>
              <a:t>大テーマ把握</a:t>
            </a:r>
          </a:p>
        </p:txBody>
      </p:sp>
      <p:sp>
        <p:nvSpPr>
          <p:cNvPr id="34" name="テキスト ボックス 33">
            <a:extLst>
              <a:ext uri="{FF2B5EF4-FFF2-40B4-BE49-F238E27FC236}">
                <a16:creationId xmlns:a16="http://schemas.microsoft.com/office/drawing/2014/main" id="{26108C65-0BA2-AB04-603A-6218B458C7D5}"/>
              </a:ext>
            </a:extLst>
          </p:cNvPr>
          <p:cNvSpPr txBox="1"/>
          <p:nvPr/>
        </p:nvSpPr>
        <p:spPr>
          <a:xfrm>
            <a:off x="8356600" y="4902200"/>
            <a:ext cx="3302000" cy="795089"/>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今後の知名度向上に向けた健康教室の</a:t>
            </a:r>
            <a:r>
              <a:rPr kumimoji="1" lang="en-US" altLang="ja-JP" sz="1500">
                <a:solidFill>
                  <a:srgbClr val="1E293B"/>
                </a:solidFill>
                <a:latin typeface="Meiryo UI" panose="020B0604030504040204" pitchFamily="50" charset="-128"/>
                <a:ea typeface="Meiryo UI" panose="020B0604030504040204" pitchFamily="50" charset="-128"/>
              </a:rPr>
              <a:t>4</a:t>
            </a:r>
            <a:r>
              <a:rPr kumimoji="1" lang="ja-JP" altLang="en-US" sz="1500">
                <a:solidFill>
                  <a:srgbClr val="1E293B"/>
                </a:solidFill>
                <a:latin typeface="Meiryo UI" panose="020B0604030504040204" pitchFamily="50" charset="-128"/>
                <a:ea typeface="Meiryo UI" panose="020B0604030504040204" pitchFamily="50" charset="-128"/>
              </a:rPr>
              <a:t>大関心テーマ（転倒・栄養・認知・終活）が判明した。</a:t>
            </a:r>
          </a:p>
        </p:txBody>
      </p:sp>
    </p:spTree>
    <p:extLst>
      <p:ext uri="{BB962C8B-B14F-4D97-AF65-F5344CB8AC3E}">
        <p14:creationId xmlns:p14="http://schemas.microsoft.com/office/powerpoint/2010/main" val="2633366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4277C64-870A-1135-8CE6-23C7B3C16EDE}"/>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2213F7AD-A04D-CA37-3FB7-A0AC4138C231}"/>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025DE9FC-733E-2A06-70B2-1237F1A5CB7B}"/>
              </a:ext>
            </a:extLst>
          </p:cNvPr>
          <p:cNvSpPr/>
          <p:nvPr/>
        </p:nvSpPr>
        <p:spPr>
          <a:xfrm>
            <a:off x="457200" y="330200"/>
            <a:ext cx="2082800" cy="4064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D2513D9-7321-10C1-B72B-98613700B2CE}"/>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3</a:t>
            </a:r>
            <a:r>
              <a:rPr kumimoji="1" lang="zh-TW" altLang="en-US" sz="1300" b="1">
                <a:solidFill>
                  <a:srgbClr val="FFFFFF"/>
                </a:solidFill>
                <a:latin typeface="Meiryo UI" panose="020B0604030504040204" pitchFamily="50" charset="-128"/>
                <a:ea typeface="Meiryo UI" panose="020B0604030504040204" pitchFamily="50" charset="-128"/>
              </a:rPr>
              <a:t>部：考察① 日別比較</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8049AB3E-342C-471B-6819-5FD6C9C43874}"/>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1</a:t>
            </a:r>
            <a:r>
              <a:rPr kumimoji="1" lang="ja-JP" altLang="en-US" sz="2100" b="1">
                <a:solidFill>
                  <a:srgbClr val="1E293B"/>
                </a:solidFill>
                <a:latin typeface="Meiryo UI" panose="020B0604030504040204" pitchFamily="50" charset="-128"/>
                <a:ea typeface="Meiryo UI" panose="020B0604030504040204" pitchFamily="50" charset="-128"/>
              </a:rPr>
              <a:t>日目（</a:t>
            </a:r>
            <a:r>
              <a:rPr kumimoji="1" lang="en-US" altLang="ja-JP" sz="2100" b="1">
                <a:solidFill>
                  <a:srgbClr val="1E293B"/>
                </a:solidFill>
                <a:latin typeface="Meiryo UI" panose="020B0604030504040204" pitchFamily="50" charset="-128"/>
                <a:ea typeface="Meiryo UI" panose="020B0604030504040204" pitchFamily="50" charset="-128"/>
              </a:rPr>
              <a:t>106</a:t>
            </a:r>
            <a:r>
              <a:rPr kumimoji="1" lang="ja-JP" altLang="en-US" sz="2100" b="1">
                <a:solidFill>
                  <a:srgbClr val="1E293B"/>
                </a:solidFill>
                <a:latin typeface="Meiryo UI" panose="020B0604030504040204" pitchFamily="50" charset="-128"/>
                <a:ea typeface="Meiryo UI" panose="020B0604030504040204" pitchFamily="50" charset="-128"/>
              </a:rPr>
              <a:t>名）と </a:t>
            </a:r>
            <a:r>
              <a:rPr kumimoji="1" lang="en-US" altLang="ja-JP" sz="2100" b="1">
                <a:solidFill>
                  <a:srgbClr val="1E293B"/>
                </a:solidFill>
                <a:latin typeface="Meiryo UI" panose="020B0604030504040204" pitchFamily="50" charset="-128"/>
                <a:ea typeface="Meiryo UI" panose="020B0604030504040204" pitchFamily="50" charset="-128"/>
              </a:rPr>
              <a:t>2</a:t>
            </a:r>
            <a:r>
              <a:rPr kumimoji="1" lang="ja-JP" altLang="en-US" sz="2100" b="1">
                <a:solidFill>
                  <a:srgbClr val="1E293B"/>
                </a:solidFill>
                <a:latin typeface="Meiryo UI" panose="020B0604030504040204" pitchFamily="50" charset="-128"/>
                <a:ea typeface="Meiryo UI" panose="020B0604030504040204" pitchFamily="50" charset="-128"/>
              </a:rPr>
              <a:t>日目（</a:t>
            </a:r>
            <a:r>
              <a:rPr kumimoji="1" lang="en-US" altLang="ja-JP" sz="2100" b="1">
                <a:solidFill>
                  <a:srgbClr val="1E293B"/>
                </a:solidFill>
                <a:latin typeface="Meiryo UI" panose="020B0604030504040204" pitchFamily="50" charset="-128"/>
                <a:ea typeface="Meiryo UI" panose="020B0604030504040204" pitchFamily="50" charset="-128"/>
              </a:rPr>
              <a:t>130</a:t>
            </a:r>
            <a:r>
              <a:rPr kumimoji="1" lang="ja-JP" altLang="en-US" sz="2100" b="1">
                <a:solidFill>
                  <a:srgbClr val="1E293B"/>
                </a:solidFill>
                <a:latin typeface="Meiryo UI" panose="020B0604030504040204" pitchFamily="50" charset="-128"/>
                <a:ea typeface="Meiryo UI" panose="020B0604030504040204" pitchFamily="50" charset="-128"/>
              </a:rPr>
              <a:t>名）の来場者層の違い</a:t>
            </a:r>
          </a:p>
        </p:txBody>
      </p:sp>
      <p:sp>
        <p:nvSpPr>
          <p:cNvPr id="7" name="四角形: 角を丸くする 6">
            <a:extLst>
              <a:ext uri="{FF2B5EF4-FFF2-40B4-BE49-F238E27FC236}">
                <a16:creationId xmlns:a16="http://schemas.microsoft.com/office/drawing/2014/main" id="{8064E6A3-B0B4-7BEF-F7F9-277AD5356E9B}"/>
              </a:ext>
            </a:extLst>
          </p:cNvPr>
          <p:cNvSpPr/>
          <p:nvPr/>
        </p:nvSpPr>
        <p:spPr>
          <a:xfrm>
            <a:off x="10871200" y="330200"/>
            <a:ext cx="863600" cy="381000"/>
          </a:xfrm>
          <a:prstGeom prst="roundRect">
            <a:avLst>
              <a:gd name="adj" fmla="val 50000"/>
            </a:avLst>
          </a:prstGeom>
          <a:solidFill>
            <a:srgbClr val="FFFB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5538D64-4859-6FE4-14AE-6B1D1505D224}"/>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F59E0B"/>
                </a:solidFill>
                <a:latin typeface="Meiryo UI" panose="020B0604030504040204" pitchFamily="50" charset="-128"/>
                <a:ea typeface="Meiryo UI" panose="020B0604030504040204" pitchFamily="50" charset="-128"/>
              </a:rPr>
              <a:t>16 / 22</a:t>
            </a:r>
            <a:endParaRPr kumimoji="1" lang="ja-JP" altLang="en-US" sz="1250" b="1">
              <a:solidFill>
                <a:srgbClr val="F59E0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79521D4C-3DA2-514A-F9F2-2FB1F234CAB8}"/>
              </a:ext>
            </a:extLst>
          </p:cNvPr>
          <p:cNvSpPr/>
          <p:nvPr/>
        </p:nvSpPr>
        <p:spPr>
          <a:xfrm>
            <a:off x="457200" y="838200"/>
            <a:ext cx="11277600" cy="431800"/>
          </a:xfrm>
          <a:prstGeom prst="roundRect">
            <a:avLst>
              <a:gd name="adj" fmla="val 30000"/>
            </a:avLst>
          </a:prstGeom>
          <a:solidFill>
            <a:srgbClr val="FFFB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AC587483-706E-551F-7BF5-7880D7648159}"/>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en-US" altLang="ja-JP" sz="1500" b="1">
                <a:solidFill>
                  <a:srgbClr val="F59E0B"/>
                </a:solidFill>
                <a:latin typeface="Meiryo UI" panose="020B0604030504040204" pitchFamily="50" charset="-128"/>
                <a:ea typeface="Meiryo UI" panose="020B0604030504040204" pitchFamily="50" charset="-128"/>
              </a:rPr>
              <a:t>1</a:t>
            </a:r>
            <a:r>
              <a:rPr kumimoji="1" lang="ja-JP" altLang="en-US" sz="1500" b="1">
                <a:solidFill>
                  <a:srgbClr val="F59E0B"/>
                </a:solidFill>
                <a:latin typeface="Meiryo UI" panose="020B0604030504040204" pitchFamily="50" charset="-128"/>
                <a:ea typeface="Meiryo UI" panose="020B0604030504040204" pitchFamily="50" charset="-128"/>
              </a:rPr>
              <a:t>日目は</a:t>
            </a:r>
            <a:r>
              <a:rPr kumimoji="1" lang="en-US" altLang="ja-JP" sz="1500" b="1">
                <a:solidFill>
                  <a:srgbClr val="F59E0B"/>
                </a:solidFill>
                <a:latin typeface="Meiryo UI" panose="020B0604030504040204" pitchFamily="50" charset="-128"/>
                <a:ea typeface="Meiryo UI" panose="020B0604030504040204" pitchFamily="50" charset="-128"/>
              </a:rPr>
              <a:t>60</a:t>
            </a:r>
            <a:r>
              <a:rPr kumimoji="1" lang="ja-JP" altLang="en-US" sz="1500" b="1">
                <a:solidFill>
                  <a:srgbClr val="F59E0B"/>
                </a:solidFill>
                <a:latin typeface="Meiryo UI" panose="020B0604030504040204" pitchFamily="50" charset="-128"/>
                <a:ea typeface="Meiryo UI" panose="020B0604030504040204" pitchFamily="50" charset="-128"/>
              </a:rPr>
              <a:t>代以上のシニア層が過半数（</a:t>
            </a:r>
            <a:r>
              <a:rPr kumimoji="1" lang="en-US" altLang="ja-JP" sz="1500" b="1">
                <a:solidFill>
                  <a:srgbClr val="F59E0B"/>
                </a:solidFill>
                <a:latin typeface="Meiryo UI" panose="020B0604030504040204" pitchFamily="50" charset="-128"/>
                <a:ea typeface="Meiryo UI" panose="020B0604030504040204" pitchFamily="50" charset="-128"/>
              </a:rPr>
              <a:t>52.8%</a:t>
            </a:r>
            <a:r>
              <a:rPr kumimoji="1" lang="ja-JP" altLang="en-US" sz="1500" b="1">
                <a:solidFill>
                  <a:srgbClr val="F59E0B"/>
                </a:solidFill>
                <a:latin typeface="Meiryo UI" panose="020B0604030504040204" pitchFamily="50" charset="-128"/>
                <a:ea typeface="Meiryo UI" panose="020B0604030504040204" pitchFamily="50" charset="-128"/>
              </a:rPr>
              <a:t>）。</a:t>
            </a:r>
            <a:r>
              <a:rPr kumimoji="1" lang="en-US" altLang="ja-JP" sz="1500" b="1">
                <a:solidFill>
                  <a:srgbClr val="F59E0B"/>
                </a:solidFill>
                <a:latin typeface="Meiryo UI" panose="020B0604030504040204" pitchFamily="50" charset="-128"/>
                <a:ea typeface="Meiryo UI" panose="020B0604030504040204" pitchFamily="50" charset="-128"/>
              </a:rPr>
              <a:t>2</a:t>
            </a:r>
            <a:r>
              <a:rPr kumimoji="1" lang="ja-JP" altLang="en-US" sz="1500" b="1">
                <a:solidFill>
                  <a:srgbClr val="F59E0B"/>
                </a:solidFill>
                <a:latin typeface="Meiryo UI" panose="020B0604030504040204" pitchFamily="50" charset="-128"/>
                <a:ea typeface="Meiryo UI" panose="020B0604030504040204" pitchFamily="50" charset="-128"/>
              </a:rPr>
              <a:t>日目は</a:t>
            </a:r>
            <a:r>
              <a:rPr kumimoji="1" lang="en-US" altLang="ja-JP" sz="1500" b="1">
                <a:solidFill>
                  <a:srgbClr val="F59E0B"/>
                </a:solidFill>
                <a:latin typeface="Meiryo UI" panose="020B0604030504040204" pitchFamily="50" charset="-128"/>
                <a:ea typeface="Meiryo UI" panose="020B0604030504040204" pitchFamily="50" charset="-128"/>
              </a:rPr>
              <a:t>40</a:t>
            </a:r>
            <a:r>
              <a:rPr kumimoji="1" lang="ja-JP" altLang="en-US" sz="1500" b="1">
                <a:solidFill>
                  <a:srgbClr val="F59E0B"/>
                </a:solidFill>
                <a:latin typeface="Meiryo UI" panose="020B0604030504040204" pitchFamily="50" charset="-128"/>
                <a:ea typeface="Meiryo UI" panose="020B0604030504040204" pitchFamily="50" charset="-128"/>
              </a:rPr>
              <a:t>代以下の若年・子育て層が倍増（</a:t>
            </a:r>
            <a:r>
              <a:rPr kumimoji="1" lang="en-US" altLang="ja-JP" sz="1500" b="1">
                <a:solidFill>
                  <a:srgbClr val="F59E0B"/>
                </a:solidFill>
                <a:latin typeface="Meiryo UI" panose="020B0604030504040204" pitchFamily="50" charset="-128"/>
                <a:ea typeface="Meiryo UI" panose="020B0604030504040204" pitchFamily="50" charset="-128"/>
              </a:rPr>
              <a:t>32.3%</a:t>
            </a:r>
            <a:r>
              <a:rPr kumimoji="1" lang="ja-JP" altLang="en-US" sz="1500" b="1">
                <a:solidFill>
                  <a:srgbClr val="F59E0B"/>
                </a:solidFill>
                <a:latin typeface="Meiryo UI" panose="020B0604030504040204" pitchFamily="50" charset="-128"/>
                <a:ea typeface="Meiryo UI" panose="020B0604030504040204" pitchFamily="50" charset="-128"/>
              </a:rPr>
              <a:t>）</a:t>
            </a:r>
          </a:p>
        </p:txBody>
      </p:sp>
      <p:sp>
        <p:nvSpPr>
          <p:cNvPr id="11" name="四角形: 角を丸くする 10">
            <a:extLst>
              <a:ext uri="{FF2B5EF4-FFF2-40B4-BE49-F238E27FC236}">
                <a16:creationId xmlns:a16="http://schemas.microsoft.com/office/drawing/2014/main" id="{49812ED3-D79E-A6C3-9807-7E18498A30CA}"/>
              </a:ext>
            </a:extLst>
          </p:cNvPr>
          <p:cNvSpPr/>
          <p:nvPr/>
        </p:nvSpPr>
        <p:spPr>
          <a:xfrm>
            <a:off x="254000" y="1549400"/>
            <a:ext cx="57150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477FCD81-A252-1815-FE90-3F5701A669C4}"/>
              </a:ext>
            </a:extLst>
          </p:cNvPr>
          <p:cNvSpPr/>
          <p:nvPr/>
        </p:nvSpPr>
        <p:spPr>
          <a:xfrm>
            <a:off x="482600" y="17780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7AF15D1-58F2-F718-4187-EF07C8E72402}"/>
              </a:ext>
            </a:extLst>
          </p:cNvPr>
          <p:cNvSpPr txBox="1"/>
          <p:nvPr/>
        </p:nvSpPr>
        <p:spPr>
          <a:xfrm>
            <a:off x="685800" y="1739900"/>
            <a:ext cx="5080000" cy="379591"/>
          </a:xfrm>
          <a:prstGeom prst="rect">
            <a:avLst/>
          </a:prstGeom>
          <a:noFill/>
        </p:spPr>
        <p:txBody>
          <a:bodyPr vert="horz" wrap="square" lIns="76200" tIns="50800" rIns="76200" bIns="50800" rtlCol="0">
            <a:spAutoFit/>
          </a:bodyPr>
          <a:lstStyle/>
          <a:p>
            <a:r>
              <a:rPr kumimoji="1" lang="en-US" altLang="ja-JP" sz="1750" b="1">
                <a:solidFill>
                  <a:srgbClr val="1E293B"/>
                </a:solidFill>
                <a:latin typeface="Meiryo UI" panose="020B0604030504040204" pitchFamily="50" charset="-128"/>
                <a:ea typeface="Meiryo UI" panose="020B0604030504040204" pitchFamily="50" charset="-128"/>
              </a:rPr>
              <a:t>1</a:t>
            </a:r>
            <a:r>
              <a:rPr kumimoji="1" lang="ja-JP" altLang="en-US" sz="1750" b="1">
                <a:solidFill>
                  <a:srgbClr val="1E293B"/>
                </a:solidFill>
                <a:latin typeface="Meiryo UI" panose="020B0604030504040204" pitchFamily="50" charset="-128"/>
                <a:ea typeface="Meiryo UI" panose="020B0604030504040204" pitchFamily="50" charset="-128"/>
              </a:rPr>
              <a:t>日目（土曜・</a:t>
            </a:r>
            <a:r>
              <a:rPr kumimoji="1" lang="en-US" altLang="ja-JP" sz="1750" b="1">
                <a:solidFill>
                  <a:srgbClr val="1E293B"/>
                </a:solidFill>
                <a:latin typeface="Meiryo UI" panose="020B0604030504040204" pitchFamily="50" charset="-128"/>
                <a:ea typeface="Meiryo UI" panose="020B0604030504040204" pitchFamily="50" charset="-128"/>
              </a:rPr>
              <a:t>106</a:t>
            </a:r>
            <a:r>
              <a:rPr kumimoji="1" lang="ja-JP" altLang="en-US" sz="1750" b="1">
                <a:solidFill>
                  <a:srgbClr val="1E293B"/>
                </a:solidFill>
                <a:latin typeface="Meiryo UI" panose="020B0604030504040204" pitchFamily="50" charset="-128"/>
                <a:ea typeface="Meiryo UI" panose="020B0604030504040204" pitchFamily="50" charset="-128"/>
              </a:rPr>
              <a:t>名）：シニア中心</a:t>
            </a:r>
          </a:p>
        </p:txBody>
      </p:sp>
      <p:sp>
        <p:nvSpPr>
          <p:cNvPr id="14" name="部分円 13">
            <a:extLst>
              <a:ext uri="{FF2B5EF4-FFF2-40B4-BE49-F238E27FC236}">
                <a16:creationId xmlns:a16="http://schemas.microsoft.com/office/drawing/2014/main" id="{E95F99D0-53B4-3F5F-B319-DA27FE9FAAF6}"/>
              </a:ext>
            </a:extLst>
          </p:cNvPr>
          <p:cNvSpPr/>
          <p:nvPr/>
        </p:nvSpPr>
        <p:spPr>
          <a:xfrm>
            <a:off x="596900" y="2374900"/>
            <a:ext cx="2362200" cy="2362200"/>
          </a:xfrm>
          <a:prstGeom prst="pie">
            <a:avLst>
              <a:gd name="adj1" fmla="val 16200000"/>
              <a:gd name="adj2" fmla="val 204768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80623CF2-3EC4-2BA4-72EF-5A42B800E483}"/>
              </a:ext>
            </a:extLst>
          </p:cNvPr>
          <p:cNvSpPr/>
          <p:nvPr/>
        </p:nvSpPr>
        <p:spPr>
          <a:xfrm>
            <a:off x="596900" y="2374900"/>
            <a:ext cx="2362200" cy="2362200"/>
          </a:xfrm>
          <a:prstGeom prst="pie">
            <a:avLst>
              <a:gd name="adj1" fmla="val 20476800"/>
              <a:gd name="adj2" fmla="val 4579200"/>
            </a:avLst>
          </a:prstGeom>
          <a:solidFill>
            <a:srgbClr val="F59E0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部分円 15">
            <a:extLst>
              <a:ext uri="{FF2B5EF4-FFF2-40B4-BE49-F238E27FC236}">
                <a16:creationId xmlns:a16="http://schemas.microsoft.com/office/drawing/2014/main" id="{77A93180-2871-B0A1-B122-E7B3AA5DE423}"/>
              </a:ext>
            </a:extLst>
          </p:cNvPr>
          <p:cNvSpPr/>
          <p:nvPr/>
        </p:nvSpPr>
        <p:spPr>
          <a:xfrm>
            <a:off x="596900" y="2374900"/>
            <a:ext cx="2362200" cy="2362200"/>
          </a:xfrm>
          <a:prstGeom prst="pie">
            <a:avLst>
              <a:gd name="adj1" fmla="val 4579200"/>
              <a:gd name="adj2" fmla="val 15984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部分円 16">
            <a:extLst>
              <a:ext uri="{FF2B5EF4-FFF2-40B4-BE49-F238E27FC236}">
                <a16:creationId xmlns:a16="http://schemas.microsoft.com/office/drawing/2014/main" id="{71E7FE90-D66B-7873-35EB-0E919421589B}"/>
              </a:ext>
            </a:extLst>
          </p:cNvPr>
          <p:cNvSpPr/>
          <p:nvPr/>
        </p:nvSpPr>
        <p:spPr>
          <a:xfrm>
            <a:off x="596900" y="2374900"/>
            <a:ext cx="2362200" cy="2362200"/>
          </a:xfrm>
          <a:prstGeom prst="pie">
            <a:avLst>
              <a:gd name="adj1" fmla="val 15984000"/>
              <a:gd name="adj2" fmla="val 16178401"/>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楕円 17">
            <a:extLst>
              <a:ext uri="{FF2B5EF4-FFF2-40B4-BE49-F238E27FC236}">
                <a16:creationId xmlns:a16="http://schemas.microsoft.com/office/drawing/2014/main" id="{28DEF0BA-2042-D9A7-74CD-A9DCE6A07483}"/>
              </a:ext>
            </a:extLst>
          </p:cNvPr>
          <p:cNvSpPr/>
          <p:nvPr/>
        </p:nvSpPr>
        <p:spPr>
          <a:xfrm>
            <a:off x="1140206" y="2918206"/>
            <a:ext cx="1275588" cy="1275588"/>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A414859C-751D-3B00-165B-E1607F834FAB}"/>
              </a:ext>
            </a:extLst>
          </p:cNvPr>
          <p:cNvSpPr txBox="1"/>
          <p:nvPr/>
        </p:nvSpPr>
        <p:spPr>
          <a:xfrm>
            <a:off x="1191006" y="3225800"/>
            <a:ext cx="1173988" cy="348813"/>
          </a:xfrm>
          <a:prstGeom prst="rect">
            <a:avLst/>
          </a:prstGeom>
          <a:noFill/>
        </p:spPr>
        <p:txBody>
          <a:bodyPr vert="horz" wrap="square" lIns="76200" tIns="50800" rIns="76200" bIns="50800" rtlCol="0">
            <a:spAutoFit/>
          </a:bodyPr>
          <a:lstStyle/>
          <a:p>
            <a:pPr algn="ctr"/>
            <a:r>
              <a:rPr kumimoji="1" lang="en-US" altLang="ja-JP" sz="1600" b="1">
                <a:solidFill>
                  <a:srgbClr val="1E293B"/>
                </a:solidFill>
                <a:latin typeface="Meiryo UI" panose="020B0604030504040204" pitchFamily="50" charset="-128"/>
                <a:ea typeface="Meiryo UI" panose="020B0604030504040204" pitchFamily="50" charset="-128"/>
              </a:rPr>
              <a:t>60</a:t>
            </a:r>
            <a:r>
              <a:rPr kumimoji="1" lang="ja-JP" altLang="en-US" sz="1600" b="1">
                <a:solidFill>
                  <a:srgbClr val="1E293B"/>
                </a:solidFill>
                <a:latin typeface="Meiryo UI" panose="020B0604030504040204" pitchFamily="50" charset="-128"/>
                <a:ea typeface="Meiryo UI" panose="020B0604030504040204" pitchFamily="50" charset="-128"/>
              </a:rPr>
              <a:t>代以上</a:t>
            </a:r>
          </a:p>
        </p:txBody>
      </p:sp>
      <p:sp>
        <p:nvSpPr>
          <p:cNvPr id="20" name="テキスト ボックス 19">
            <a:extLst>
              <a:ext uri="{FF2B5EF4-FFF2-40B4-BE49-F238E27FC236}">
                <a16:creationId xmlns:a16="http://schemas.microsoft.com/office/drawing/2014/main" id="{D19B089D-DFFE-3B67-7F74-EB8369484B13}"/>
              </a:ext>
            </a:extLst>
          </p:cNvPr>
          <p:cNvSpPr txBox="1"/>
          <p:nvPr/>
        </p:nvSpPr>
        <p:spPr>
          <a:xfrm>
            <a:off x="1191006" y="3581400"/>
            <a:ext cx="1173988" cy="48731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52.8% (56</a:t>
            </a:r>
            <a:r>
              <a:rPr kumimoji="1" lang="ja-JP" altLang="en-US" sz="1250" b="1">
                <a:solidFill>
                  <a:srgbClr val="64748B"/>
                </a:solidFill>
                <a:latin typeface="Meiryo UI" panose="020B0604030504040204" pitchFamily="50" charset="-128"/>
                <a:ea typeface="Meiryo UI" panose="020B0604030504040204" pitchFamily="50" charset="-128"/>
              </a:rPr>
              <a:t>名</a:t>
            </a:r>
            <a:r>
              <a:rPr kumimoji="1" lang="en-US" altLang="ja-JP" sz="1250" b="1">
                <a:solidFill>
                  <a:srgbClr val="64748B"/>
                </a:solidFill>
                <a:latin typeface="Meiryo UI" panose="020B0604030504040204" pitchFamily="50" charset="-128"/>
                <a:ea typeface="Meiryo UI" panose="020B0604030504040204" pitchFamily="50" charset="-128"/>
              </a:rPr>
              <a:t>)</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21" name="楕円 20">
            <a:extLst>
              <a:ext uri="{FF2B5EF4-FFF2-40B4-BE49-F238E27FC236}">
                <a16:creationId xmlns:a16="http://schemas.microsoft.com/office/drawing/2014/main" id="{4D47E5E3-AE01-916E-EA38-52591031BABD}"/>
              </a:ext>
            </a:extLst>
          </p:cNvPr>
          <p:cNvSpPr/>
          <p:nvPr/>
        </p:nvSpPr>
        <p:spPr>
          <a:xfrm>
            <a:off x="3111500" y="2667000"/>
            <a:ext cx="228600" cy="22860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9C727AE1-EC1D-D6F2-C39C-EE4D329E5AAA}"/>
              </a:ext>
            </a:extLst>
          </p:cNvPr>
          <p:cNvSpPr txBox="1"/>
          <p:nvPr/>
        </p:nvSpPr>
        <p:spPr>
          <a:xfrm>
            <a:off x="3441700" y="2603500"/>
            <a:ext cx="825500" cy="564257"/>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10〜40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23" name="テキスト ボックス 22">
            <a:extLst>
              <a:ext uri="{FF2B5EF4-FFF2-40B4-BE49-F238E27FC236}">
                <a16:creationId xmlns:a16="http://schemas.microsoft.com/office/drawing/2014/main" id="{70137A52-7378-1533-AEDB-A16C473CF598}"/>
              </a:ext>
            </a:extLst>
          </p:cNvPr>
          <p:cNvSpPr txBox="1"/>
          <p:nvPr/>
        </p:nvSpPr>
        <p:spPr>
          <a:xfrm>
            <a:off x="4127500" y="26035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10B981"/>
                </a:solidFill>
                <a:latin typeface="Meiryo UI" panose="020B0604030504040204" pitchFamily="50" charset="-128"/>
                <a:ea typeface="Meiryo UI" panose="020B0604030504040204" pitchFamily="50" charset="-128"/>
              </a:rPr>
              <a:t>21</a:t>
            </a:r>
            <a:r>
              <a:rPr kumimoji="1" lang="ja-JP" altLang="en-US" sz="1550" b="1">
                <a:solidFill>
                  <a:srgbClr val="10B981"/>
                </a:solidFill>
                <a:latin typeface="Meiryo UI" panose="020B0604030504040204" pitchFamily="50" charset="-128"/>
                <a:ea typeface="Meiryo UI" panose="020B0604030504040204" pitchFamily="50" charset="-128"/>
              </a:rPr>
              <a:t>名 </a:t>
            </a:r>
            <a:r>
              <a:rPr kumimoji="1" lang="en-US" altLang="ja-JP" sz="1550" b="1">
                <a:solidFill>
                  <a:srgbClr val="10B981"/>
                </a:solidFill>
                <a:latin typeface="Meiryo UI" panose="020B0604030504040204" pitchFamily="50" charset="-128"/>
                <a:ea typeface="Meiryo UI" panose="020B0604030504040204" pitchFamily="50" charset="-128"/>
              </a:rPr>
              <a:t>(19.8%)</a:t>
            </a:r>
            <a:endParaRPr kumimoji="1" lang="ja-JP" altLang="en-US" sz="1550" b="1">
              <a:solidFill>
                <a:srgbClr val="10B981"/>
              </a:solidFill>
              <a:latin typeface="Meiryo UI" panose="020B0604030504040204" pitchFamily="50" charset="-128"/>
              <a:ea typeface="Meiryo UI" panose="020B0604030504040204" pitchFamily="50" charset="-128"/>
            </a:endParaRPr>
          </a:p>
        </p:txBody>
      </p:sp>
      <p:sp>
        <p:nvSpPr>
          <p:cNvPr id="24" name="楕円 23">
            <a:extLst>
              <a:ext uri="{FF2B5EF4-FFF2-40B4-BE49-F238E27FC236}">
                <a16:creationId xmlns:a16="http://schemas.microsoft.com/office/drawing/2014/main" id="{BEF2BD43-2893-E38E-B888-3C16A409C42E}"/>
              </a:ext>
            </a:extLst>
          </p:cNvPr>
          <p:cNvSpPr/>
          <p:nvPr/>
        </p:nvSpPr>
        <p:spPr>
          <a:xfrm>
            <a:off x="3111500" y="3276600"/>
            <a:ext cx="228600" cy="228600"/>
          </a:xfrm>
          <a:prstGeom prst="ellipse">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B381B598-D791-C516-C338-EE97884DE8A2}"/>
              </a:ext>
            </a:extLst>
          </p:cNvPr>
          <p:cNvSpPr txBox="1"/>
          <p:nvPr/>
        </p:nvSpPr>
        <p:spPr>
          <a:xfrm>
            <a:off x="3441700" y="3213100"/>
            <a:ext cx="825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50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26" name="テキスト ボックス 25">
            <a:extLst>
              <a:ext uri="{FF2B5EF4-FFF2-40B4-BE49-F238E27FC236}">
                <a16:creationId xmlns:a16="http://schemas.microsoft.com/office/drawing/2014/main" id="{6F737A87-3E52-1584-6E1D-02F0DB1610FF}"/>
              </a:ext>
            </a:extLst>
          </p:cNvPr>
          <p:cNvSpPr txBox="1"/>
          <p:nvPr/>
        </p:nvSpPr>
        <p:spPr>
          <a:xfrm>
            <a:off x="4127500" y="32131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F59E0B"/>
                </a:solidFill>
                <a:latin typeface="Meiryo UI" panose="020B0604030504040204" pitchFamily="50" charset="-128"/>
                <a:ea typeface="Meiryo UI" panose="020B0604030504040204" pitchFamily="50" charset="-128"/>
              </a:rPr>
              <a:t>28</a:t>
            </a:r>
            <a:r>
              <a:rPr kumimoji="1" lang="ja-JP" altLang="en-US" sz="1550" b="1">
                <a:solidFill>
                  <a:srgbClr val="F59E0B"/>
                </a:solidFill>
                <a:latin typeface="Meiryo UI" panose="020B0604030504040204" pitchFamily="50" charset="-128"/>
                <a:ea typeface="Meiryo UI" panose="020B0604030504040204" pitchFamily="50" charset="-128"/>
              </a:rPr>
              <a:t>名 </a:t>
            </a:r>
            <a:r>
              <a:rPr kumimoji="1" lang="en-US" altLang="ja-JP" sz="1550" b="1">
                <a:solidFill>
                  <a:srgbClr val="F59E0B"/>
                </a:solidFill>
                <a:latin typeface="Meiryo UI" panose="020B0604030504040204" pitchFamily="50" charset="-128"/>
                <a:ea typeface="Meiryo UI" panose="020B0604030504040204" pitchFamily="50" charset="-128"/>
              </a:rPr>
              <a:t>(26.4%)</a:t>
            </a:r>
            <a:endParaRPr kumimoji="1" lang="ja-JP" altLang="en-US" sz="1550" b="1">
              <a:solidFill>
                <a:srgbClr val="F59E0B"/>
              </a:solidFill>
              <a:latin typeface="Meiryo UI" panose="020B0604030504040204" pitchFamily="50" charset="-128"/>
              <a:ea typeface="Meiryo UI" panose="020B0604030504040204" pitchFamily="50" charset="-128"/>
            </a:endParaRPr>
          </a:p>
        </p:txBody>
      </p:sp>
      <p:sp>
        <p:nvSpPr>
          <p:cNvPr id="27" name="四角形: 角を丸くする 26">
            <a:extLst>
              <a:ext uri="{FF2B5EF4-FFF2-40B4-BE49-F238E27FC236}">
                <a16:creationId xmlns:a16="http://schemas.microsoft.com/office/drawing/2014/main" id="{61C5F661-404E-BCD3-BC26-5FDA1FF8C1BC}"/>
              </a:ext>
            </a:extLst>
          </p:cNvPr>
          <p:cNvSpPr/>
          <p:nvPr/>
        </p:nvSpPr>
        <p:spPr>
          <a:xfrm>
            <a:off x="3035300" y="3771900"/>
            <a:ext cx="27559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C6F91C7C-88B1-7A35-35CC-C60B2ABB136E}"/>
              </a:ext>
            </a:extLst>
          </p:cNvPr>
          <p:cNvSpPr/>
          <p:nvPr/>
        </p:nvSpPr>
        <p:spPr>
          <a:xfrm>
            <a:off x="3111500" y="38862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1BB77DAB-7966-DE75-6BB1-00BB7668379C}"/>
              </a:ext>
            </a:extLst>
          </p:cNvPr>
          <p:cNvSpPr txBox="1"/>
          <p:nvPr/>
        </p:nvSpPr>
        <p:spPr>
          <a:xfrm>
            <a:off x="3441700" y="3822700"/>
            <a:ext cx="825500" cy="564257"/>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60〜90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30" name="テキスト ボックス 29">
            <a:extLst>
              <a:ext uri="{FF2B5EF4-FFF2-40B4-BE49-F238E27FC236}">
                <a16:creationId xmlns:a16="http://schemas.microsoft.com/office/drawing/2014/main" id="{30F9CA30-13F2-3F00-195E-1BD016C2A3D5}"/>
              </a:ext>
            </a:extLst>
          </p:cNvPr>
          <p:cNvSpPr txBox="1"/>
          <p:nvPr/>
        </p:nvSpPr>
        <p:spPr>
          <a:xfrm>
            <a:off x="4127500" y="38227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56</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(52.8%)</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31" name="四角形: 角を丸くする 30">
            <a:extLst>
              <a:ext uri="{FF2B5EF4-FFF2-40B4-BE49-F238E27FC236}">
                <a16:creationId xmlns:a16="http://schemas.microsoft.com/office/drawing/2014/main" id="{5DBD7ACA-5D71-D95B-1154-894F5B2FCB4C}"/>
              </a:ext>
            </a:extLst>
          </p:cNvPr>
          <p:cNvSpPr/>
          <p:nvPr/>
        </p:nvSpPr>
        <p:spPr>
          <a:xfrm>
            <a:off x="6223000" y="1549400"/>
            <a:ext cx="57150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4B1B15B6-5902-B594-B3D8-19344D0F3F17}"/>
              </a:ext>
            </a:extLst>
          </p:cNvPr>
          <p:cNvSpPr/>
          <p:nvPr/>
        </p:nvSpPr>
        <p:spPr>
          <a:xfrm>
            <a:off x="6451600" y="1778000"/>
            <a:ext cx="101600" cy="3302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60C5AB22-4C3C-1219-7518-70AF3C9C1A3A}"/>
              </a:ext>
            </a:extLst>
          </p:cNvPr>
          <p:cNvSpPr txBox="1"/>
          <p:nvPr/>
        </p:nvSpPr>
        <p:spPr>
          <a:xfrm>
            <a:off x="6654800" y="1739900"/>
            <a:ext cx="5080000" cy="379591"/>
          </a:xfrm>
          <a:prstGeom prst="rect">
            <a:avLst/>
          </a:prstGeom>
          <a:noFill/>
        </p:spPr>
        <p:txBody>
          <a:bodyPr vert="horz" wrap="square" lIns="76200" tIns="50800" rIns="76200" bIns="50800" rtlCol="0">
            <a:spAutoFit/>
          </a:bodyPr>
          <a:lstStyle/>
          <a:p>
            <a:r>
              <a:rPr kumimoji="1" lang="en-US" altLang="ja-JP" sz="1750" b="1">
                <a:solidFill>
                  <a:srgbClr val="1E293B"/>
                </a:solidFill>
                <a:latin typeface="Meiryo UI" panose="020B0604030504040204" pitchFamily="50" charset="-128"/>
                <a:ea typeface="Meiryo UI" panose="020B0604030504040204" pitchFamily="50" charset="-128"/>
              </a:rPr>
              <a:t>2</a:t>
            </a:r>
            <a:r>
              <a:rPr kumimoji="1" lang="ja-JP" altLang="en-US" sz="1750" b="1">
                <a:solidFill>
                  <a:srgbClr val="1E293B"/>
                </a:solidFill>
                <a:latin typeface="Meiryo UI" panose="020B0604030504040204" pitchFamily="50" charset="-128"/>
                <a:ea typeface="Meiryo UI" panose="020B0604030504040204" pitchFamily="50" charset="-128"/>
              </a:rPr>
              <a:t>日目（日曜・</a:t>
            </a:r>
            <a:r>
              <a:rPr kumimoji="1" lang="en-US" altLang="ja-JP" sz="1750" b="1">
                <a:solidFill>
                  <a:srgbClr val="1E293B"/>
                </a:solidFill>
                <a:latin typeface="Meiryo UI" panose="020B0604030504040204" pitchFamily="50" charset="-128"/>
                <a:ea typeface="Meiryo UI" panose="020B0604030504040204" pitchFamily="50" charset="-128"/>
              </a:rPr>
              <a:t>130</a:t>
            </a:r>
            <a:r>
              <a:rPr kumimoji="1" lang="ja-JP" altLang="en-US" sz="1750" b="1">
                <a:solidFill>
                  <a:srgbClr val="1E293B"/>
                </a:solidFill>
                <a:latin typeface="Meiryo UI" panose="020B0604030504040204" pitchFamily="50" charset="-128"/>
                <a:ea typeface="Meiryo UI" panose="020B0604030504040204" pitchFamily="50" charset="-128"/>
              </a:rPr>
              <a:t>名）：</a:t>
            </a:r>
            <a:r>
              <a:rPr kumimoji="1" lang="en-US" altLang="ja-JP" sz="1750" b="1">
                <a:solidFill>
                  <a:srgbClr val="1E293B"/>
                </a:solidFill>
                <a:latin typeface="Meiryo UI" panose="020B0604030504040204" pitchFamily="50" charset="-128"/>
                <a:ea typeface="Meiryo UI" panose="020B0604030504040204" pitchFamily="50" charset="-128"/>
              </a:rPr>
              <a:t>40</a:t>
            </a:r>
            <a:r>
              <a:rPr kumimoji="1" lang="ja-JP" altLang="en-US" sz="1750" b="1">
                <a:solidFill>
                  <a:srgbClr val="1E293B"/>
                </a:solidFill>
                <a:latin typeface="Meiryo UI" panose="020B0604030504040204" pitchFamily="50" charset="-128"/>
                <a:ea typeface="Meiryo UI" panose="020B0604030504040204" pitchFamily="50" charset="-128"/>
              </a:rPr>
              <a:t>代以下が倍増</a:t>
            </a:r>
          </a:p>
        </p:txBody>
      </p:sp>
      <p:sp>
        <p:nvSpPr>
          <p:cNvPr id="34" name="部分円 33">
            <a:extLst>
              <a:ext uri="{FF2B5EF4-FFF2-40B4-BE49-F238E27FC236}">
                <a16:creationId xmlns:a16="http://schemas.microsoft.com/office/drawing/2014/main" id="{4DBAD3D3-D199-61E0-EED3-9DB9906804AA}"/>
              </a:ext>
            </a:extLst>
          </p:cNvPr>
          <p:cNvSpPr/>
          <p:nvPr/>
        </p:nvSpPr>
        <p:spPr>
          <a:xfrm>
            <a:off x="6565900" y="2374900"/>
            <a:ext cx="2362200" cy="2362200"/>
          </a:xfrm>
          <a:prstGeom prst="pie">
            <a:avLst>
              <a:gd name="adj1" fmla="val 16200000"/>
              <a:gd name="adj2" fmla="val 15768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5" name="部分円 34">
            <a:extLst>
              <a:ext uri="{FF2B5EF4-FFF2-40B4-BE49-F238E27FC236}">
                <a16:creationId xmlns:a16="http://schemas.microsoft.com/office/drawing/2014/main" id="{CF8297B0-2F4F-A6BE-8479-101FA942D1F3}"/>
              </a:ext>
            </a:extLst>
          </p:cNvPr>
          <p:cNvSpPr/>
          <p:nvPr/>
        </p:nvSpPr>
        <p:spPr>
          <a:xfrm>
            <a:off x="6565900" y="2374900"/>
            <a:ext cx="2362200" cy="2362200"/>
          </a:xfrm>
          <a:prstGeom prst="pie">
            <a:avLst>
              <a:gd name="adj1" fmla="val 1576800"/>
              <a:gd name="adj2" fmla="val 7236000"/>
            </a:avLst>
          </a:prstGeom>
          <a:solidFill>
            <a:srgbClr val="F59E0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6" name="部分円 35">
            <a:extLst>
              <a:ext uri="{FF2B5EF4-FFF2-40B4-BE49-F238E27FC236}">
                <a16:creationId xmlns:a16="http://schemas.microsoft.com/office/drawing/2014/main" id="{D2C41EEB-6655-DAEE-1AFF-D1AD6041C661}"/>
              </a:ext>
            </a:extLst>
          </p:cNvPr>
          <p:cNvSpPr/>
          <p:nvPr/>
        </p:nvSpPr>
        <p:spPr>
          <a:xfrm>
            <a:off x="6565900" y="2374900"/>
            <a:ext cx="2362200" cy="2362200"/>
          </a:xfrm>
          <a:prstGeom prst="pie">
            <a:avLst>
              <a:gd name="adj1" fmla="val 7236000"/>
              <a:gd name="adj2" fmla="val 15876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7" name="部分円 36">
            <a:extLst>
              <a:ext uri="{FF2B5EF4-FFF2-40B4-BE49-F238E27FC236}">
                <a16:creationId xmlns:a16="http://schemas.microsoft.com/office/drawing/2014/main" id="{FA2A13FD-EC9D-6118-2C4B-1EC38FB185F0}"/>
              </a:ext>
            </a:extLst>
          </p:cNvPr>
          <p:cNvSpPr/>
          <p:nvPr/>
        </p:nvSpPr>
        <p:spPr>
          <a:xfrm>
            <a:off x="6565900" y="2374900"/>
            <a:ext cx="2362200" cy="2362200"/>
          </a:xfrm>
          <a:prstGeom prst="pie">
            <a:avLst>
              <a:gd name="adj1" fmla="val 15876000"/>
              <a:gd name="adj2" fmla="val 16200000"/>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8" name="楕円 37">
            <a:extLst>
              <a:ext uri="{FF2B5EF4-FFF2-40B4-BE49-F238E27FC236}">
                <a16:creationId xmlns:a16="http://schemas.microsoft.com/office/drawing/2014/main" id="{DE9BC332-9624-4EA4-CD60-DAF6F75F426E}"/>
              </a:ext>
            </a:extLst>
          </p:cNvPr>
          <p:cNvSpPr/>
          <p:nvPr/>
        </p:nvSpPr>
        <p:spPr>
          <a:xfrm>
            <a:off x="7109206" y="2918206"/>
            <a:ext cx="1275588" cy="1275588"/>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D7C6AEA1-D546-2DA7-59CA-FC9F867EE150}"/>
              </a:ext>
            </a:extLst>
          </p:cNvPr>
          <p:cNvSpPr txBox="1"/>
          <p:nvPr/>
        </p:nvSpPr>
        <p:spPr>
          <a:xfrm>
            <a:off x="7160006" y="3225800"/>
            <a:ext cx="1173988" cy="348813"/>
          </a:xfrm>
          <a:prstGeom prst="rect">
            <a:avLst/>
          </a:prstGeom>
          <a:noFill/>
        </p:spPr>
        <p:txBody>
          <a:bodyPr vert="horz" wrap="square" lIns="76200" tIns="50800" rIns="76200" bIns="50800" rtlCol="0">
            <a:spAutoFit/>
          </a:bodyPr>
          <a:lstStyle/>
          <a:p>
            <a:pPr algn="ctr"/>
            <a:r>
              <a:rPr kumimoji="1" lang="en-US" altLang="ja-JP" sz="1600" b="1">
                <a:solidFill>
                  <a:srgbClr val="1E293B"/>
                </a:solidFill>
                <a:latin typeface="Meiryo UI" panose="020B0604030504040204" pitchFamily="50" charset="-128"/>
                <a:ea typeface="Meiryo UI" panose="020B0604030504040204" pitchFamily="50" charset="-128"/>
              </a:rPr>
              <a:t>40</a:t>
            </a:r>
            <a:r>
              <a:rPr kumimoji="1" lang="ja-JP" altLang="en-US" sz="1600" b="1">
                <a:solidFill>
                  <a:srgbClr val="1E293B"/>
                </a:solidFill>
                <a:latin typeface="Meiryo UI" panose="020B0604030504040204" pitchFamily="50" charset="-128"/>
                <a:ea typeface="Meiryo UI" panose="020B0604030504040204" pitchFamily="50" charset="-128"/>
              </a:rPr>
              <a:t>代以下</a:t>
            </a:r>
          </a:p>
        </p:txBody>
      </p:sp>
      <p:sp>
        <p:nvSpPr>
          <p:cNvPr id="40" name="テキスト ボックス 39">
            <a:extLst>
              <a:ext uri="{FF2B5EF4-FFF2-40B4-BE49-F238E27FC236}">
                <a16:creationId xmlns:a16="http://schemas.microsoft.com/office/drawing/2014/main" id="{0D7408A2-1A6F-C8A4-98E6-822251284156}"/>
              </a:ext>
            </a:extLst>
          </p:cNvPr>
          <p:cNvSpPr txBox="1"/>
          <p:nvPr/>
        </p:nvSpPr>
        <p:spPr>
          <a:xfrm>
            <a:off x="7160006" y="3581400"/>
            <a:ext cx="1173988" cy="48731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32.3% (42</a:t>
            </a:r>
            <a:r>
              <a:rPr kumimoji="1" lang="ja-JP" altLang="en-US" sz="1250" b="1">
                <a:solidFill>
                  <a:srgbClr val="64748B"/>
                </a:solidFill>
                <a:latin typeface="Meiryo UI" panose="020B0604030504040204" pitchFamily="50" charset="-128"/>
                <a:ea typeface="Meiryo UI" panose="020B0604030504040204" pitchFamily="50" charset="-128"/>
              </a:rPr>
              <a:t>名</a:t>
            </a:r>
            <a:r>
              <a:rPr kumimoji="1" lang="en-US" altLang="ja-JP" sz="1250" b="1">
                <a:solidFill>
                  <a:srgbClr val="64748B"/>
                </a:solidFill>
                <a:latin typeface="Meiryo UI" panose="020B0604030504040204" pitchFamily="50" charset="-128"/>
                <a:ea typeface="Meiryo UI" panose="020B0604030504040204" pitchFamily="50" charset="-128"/>
              </a:rPr>
              <a:t>)</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41" name="四角形: 角を丸くする 40">
            <a:extLst>
              <a:ext uri="{FF2B5EF4-FFF2-40B4-BE49-F238E27FC236}">
                <a16:creationId xmlns:a16="http://schemas.microsoft.com/office/drawing/2014/main" id="{075112FC-8271-A3E5-399D-4B0C6CCAADF9}"/>
              </a:ext>
            </a:extLst>
          </p:cNvPr>
          <p:cNvSpPr/>
          <p:nvPr/>
        </p:nvSpPr>
        <p:spPr>
          <a:xfrm>
            <a:off x="9004300" y="2552700"/>
            <a:ext cx="27559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楕円 41">
            <a:extLst>
              <a:ext uri="{FF2B5EF4-FFF2-40B4-BE49-F238E27FC236}">
                <a16:creationId xmlns:a16="http://schemas.microsoft.com/office/drawing/2014/main" id="{7F76BD21-8E95-56B3-AF5C-102EDF5D344A}"/>
              </a:ext>
            </a:extLst>
          </p:cNvPr>
          <p:cNvSpPr/>
          <p:nvPr/>
        </p:nvSpPr>
        <p:spPr>
          <a:xfrm>
            <a:off x="9080500" y="2667000"/>
            <a:ext cx="228600" cy="22860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9E9F1EF1-315C-3183-9193-A79E56442051}"/>
              </a:ext>
            </a:extLst>
          </p:cNvPr>
          <p:cNvSpPr txBox="1"/>
          <p:nvPr/>
        </p:nvSpPr>
        <p:spPr>
          <a:xfrm>
            <a:off x="9410700" y="2603500"/>
            <a:ext cx="825500" cy="564257"/>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10〜40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44" name="テキスト ボックス 43">
            <a:extLst>
              <a:ext uri="{FF2B5EF4-FFF2-40B4-BE49-F238E27FC236}">
                <a16:creationId xmlns:a16="http://schemas.microsoft.com/office/drawing/2014/main" id="{4D2D0AC5-CD49-F2C9-35D3-1F20D7974F06}"/>
              </a:ext>
            </a:extLst>
          </p:cNvPr>
          <p:cNvSpPr txBox="1"/>
          <p:nvPr/>
        </p:nvSpPr>
        <p:spPr>
          <a:xfrm>
            <a:off x="10096500" y="26035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10B981"/>
                </a:solidFill>
                <a:latin typeface="Meiryo UI" panose="020B0604030504040204" pitchFamily="50" charset="-128"/>
                <a:ea typeface="Meiryo UI" panose="020B0604030504040204" pitchFamily="50" charset="-128"/>
              </a:rPr>
              <a:t>42</a:t>
            </a:r>
            <a:r>
              <a:rPr kumimoji="1" lang="ja-JP" altLang="en-US" sz="1550" b="1">
                <a:solidFill>
                  <a:srgbClr val="10B981"/>
                </a:solidFill>
                <a:latin typeface="Meiryo UI" panose="020B0604030504040204" pitchFamily="50" charset="-128"/>
                <a:ea typeface="Meiryo UI" panose="020B0604030504040204" pitchFamily="50" charset="-128"/>
              </a:rPr>
              <a:t>名 </a:t>
            </a:r>
            <a:r>
              <a:rPr kumimoji="1" lang="en-US" altLang="ja-JP" sz="1550" b="1">
                <a:solidFill>
                  <a:srgbClr val="10B981"/>
                </a:solidFill>
                <a:latin typeface="Meiryo UI" panose="020B0604030504040204" pitchFamily="50" charset="-128"/>
                <a:ea typeface="Meiryo UI" panose="020B0604030504040204" pitchFamily="50" charset="-128"/>
              </a:rPr>
              <a:t>(32.3%)</a:t>
            </a:r>
            <a:endParaRPr kumimoji="1" lang="ja-JP" altLang="en-US" sz="1550" b="1">
              <a:solidFill>
                <a:srgbClr val="10B981"/>
              </a:solidFill>
              <a:latin typeface="Meiryo UI" panose="020B0604030504040204" pitchFamily="50" charset="-128"/>
              <a:ea typeface="Meiryo UI" panose="020B0604030504040204" pitchFamily="50" charset="-128"/>
            </a:endParaRPr>
          </a:p>
        </p:txBody>
      </p:sp>
      <p:sp>
        <p:nvSpPr>
          <p:cNvPr id="45" name="楕円 44">
            <a:extLst>
              <a:ext uri="{FF2B5EF4-FFF2-40B4-BE49-F238E27FC236}">
                <a16:creationId xmlns:a16="http://schemas.microsoft.com/office/drawing/2014/main" id="{8C0B9F61-E71D-4172-D1E6-5505EB37E55C}"/>
              </a:ext>
            </a:extLst>
          </p:cNvPr>
          <p:cNvSpPr/>
          <p:nvPr/>
        </p:nvSpPr>
        <p:spPr>
          <a:xfrm>
            <a:off x="9080500" y="3276600"/>
            <a:ext cx="228600" cy="228600"/>
          </a:xfrm>
          <a:prstGeom prst="ellipse">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28CADC49-60E5-4357-2D56-1CD56D094422}"/>
              </a:ext>
            </a:extLst>
          </p:cNvPr>
          <p:cNvSpPr txBox="1"/>
          <p:nvPr/>
        </p:nvSpPr>
        <p:spPr>
          <a:xfrm>
            <a:off x="9410700" y="3213100"/>
            <a:ext cx="825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50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47" name="テキスト ボックス 46">
            <a:extLst>
              <a:ext uri="{FF2B5EF4-FFF2-40B4-BE49-F238E27FC236}">
                <a16:creationId xmlns:a16="http://schemas.microsoft.com/office/drawing/2014/main" id="{68EAE909-E16B-B4C4-F618-8E87E5CD1F56}"/>
              </a:ext>
            </a:extLst>
          </p:cNvPr>
          <p:cNvSpPr txBox="1"/>
          <p:nvPr/>
        </p:nvSpPr>
        <p:spPr>
          <a:xfrm>
            <a:off x="10096500" y="32131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F59E0B"/>
                </a:solidFill>
                <a:latin typeface="Meiryo UI" panose="020B0604030504040204" pitchFamily="50" charset="-128"/>
                <a:ea typeface="Meiryo UI" panose="020B0604030504040204" pitchFamily="50" charset="-128"/>
              </a:rPr>
              <a:t>34</a:t>
            </a:r>
            <a:r>
              <a:rPr kumimoji="1" lang="ja-JP" altLang="en-US" sz="1550" b="1">
                <a:solidFill>
                  <a:srgbClr val="F59E0B"/>
                </a:solidFill>
                <a:latin typeface="Meiryo UI" panose="020B0604030504040204" pitchFamily="50" charset="-128"/>
                <a:ea typeface="Meiryo UI" panose="020B0604030504040204" pitchFamily="50" charset="-128"/>
              </a:rPr>
              <a:t>名 </a:t>
            </a:r>
            <a:r>
              <a:rPr kumimoji="1" lang="en-US" altLang="ja-JP" sz="1550" b="1">
                <a:solidFill>
                  <a:srgbClr val="F59E0B"/>
                </a:solidFill>
                <a:latin typeface="Meiryo UI" panose="020B0604030504040204" pitchFamily="50" charset="-128"/>
                <a:ea typeface="Meiryo UI" panose="020B0604030504040204" pitchFamily="50" charset="-128"/>
              </a:rPr>
              <a:t>(26.2%)</a:t>
            </a:r>
            <a:endParaRPr kumimoji="1" lang="ja-JP" altLang="en-US" sz="1550" b="1">
              <a:solidFill>
                <a:srgbClr val="F59E0B"/>
              </a:solidFill>
              <a:latin typeface="Meiryo UI" panose="020B0604030504040204" pitchFamily="50" charset="-128"/>
              <a:ea typeface="Meiryo UI" panose="020B0604030504040204" pitchFamily="50" charset="-128"/>
            </a:endParaRPr>
          </a:p>
        </p:txBody>
      </p:sp>
      <p:sp>
        <p:nvSpPr>
          <p:cNvPr id="48" name="楕円 47">
            <a:extLst>
              <a:ext uri="{FF2B5EF4-FFF2-40B4-BE49-F238E27FC236}">
                <a16:creationId xmlns:a16="http://schemas.microsoft.com/office/drawing/2014/main" id="{306C40E0-2688-3855-9C1B-2F88B2B1D39F}"/>
              </a:ext>
            </a:extLst>
          </p:cNvPr>
          <p:cNvSpPr/>
          <p:nvPr/>
        </p:nvSpPr>
        <p:spPr>
          <a:xfrm>
            <a:off x="9080500" y="3886200"/>
            <a:ext cx="228600" cy="2286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テキスト ボックス 48">
            <a:extLst>
              <a:ext uri="{FF2B5EF4-FFF2-40B4-BE49-F238E27FC236}">
                <a16:creationId xmlns:a16="http://schemas.microsoft.com/office/drawing/2014/main" id="{B4C70BD3-11AC-E63C-CB22-34A2FAB0E6A6}"/>
              </a:ext>
            </a:extLst>
          </p:cNvPr>
          <p:cNvSpPr txBox="1"/>
          <p:nvPr/>
        </p:nvSpPr>
        <p:spPr>
          <a:xfrm>
            <a:off x="9410700" y="3822700"/>
            <a:ext cx="825500" cy="564257"/>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60〜90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50" name="テキスト ボックス 49">
            <a:extLst>
              <a:ext uri="{FF2B5EF4-FFF2-40B4-BE49-F238E27FC236}">
                <a16:creationId xmlns:a16="http://schemas.microsoft.com/office/drawing/2014/main" id="{BB908ACF-0968-8AB4-A216-A1BC196C8BF0}"/>
              </a:ext>
            </a:extLst>
          </p:cNvPr>
          <p:cNvSpPr txBox="1"/>
          <p:nvPr/>
        </p:nvSpPr>
        <p:spPr>
          <a:xfrm>
            <a:off x="10096500" y="38227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2563EB"/>
                </a:solidFill>
                <a:latin typeface="Meiryo UI" panose="020B0604030504040204" pitchFamily="50" charset="-128"/>
                <a:ea typeface="Meiryo UI" panose="020B0604030504040204" pitchFamily="50" charset="-128"/>
              </a:rPr>
              <a:t>52</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(40.0%)</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51" name="四角形: 角を丸くする 50">
            <a:extLst>
              <a:ext uri="{FF2B5EF4-FFF2-40B4-BE49-F238E27FC236}">
                <a16:creationId xmlns:a16="http://schemas.microsoft.com/office/drawing/2014/main" id="{ECF78D26-7485-1EBC-25A7-F89BDD3D0D6B}"/>
              </a:ext>
            </a:extLst>
          </p:cNvPr>
          <p:cNvSpPr/>
          <p:nvPr/>
        </p:nvSpPr>
        <p:spPr>
          <a:xfrm>
            <a:off x="254000" y="53594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FF32357F-2150-1F9C-28B9-DECB02712EE7}"/>
              </a:ext>
            </a:extLst>
          </p:cNvPr>
          <p:cNvSpPr txBox="1"/>
          <p:nvPr/>
        </p:nvSpPr>
        <p:spPr>
          <a:xfrm>
            <a:off x="508000" y="5486400"/>
            <a:ext cx="11176000" cy="579646"/>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a:t>
            </a:r>
            <a:r>
              <a:rPr kumimoji="1" lang="en-US" altLang="ja-JP" sz="1550" b="1">
                <a:solidFill>
                  <a:srgbClr val="1E293B"/>
                </a:solidFill>
                <a:latin typeface="Meiryo UI" panose="020B0604030504040204" pitchFamily="50" charset="-128"/>
                <a:ea typeface="Meiryo UI" panose="020B0604030504040204" pitchFamily="50" charset="-128"/>
              </a:rPr>
              <a:t>2</a:t>
            </a:r>
            <a:r>
              <a:rPr kumimoji="1" lang="ja-JP" altLang="en-US" sz="1550" b="1">
                <a:solidFill>
                  <a:srgbClr val="1E293B"/>
                </a:solidFill>
                <a:latin typeface="Meiryo UI" panose="020B0604030504040204" pitchFamily="50" charset="-128"/>
                <a:ea typeface="Meiryo UI" panose="020B0604030504040204" pitchFamily="50" charset="-128"/>
              </a:rPr>
              <a:t>日目は</a:t>
            </a:r>
            <a:r>
              <a:rPr kumimoji="1" lang="en-US" altLang="ja-JP" sz="1550" b="1">
                <a:solidFill>
                  <a:srgbClr val="1E293B"/>
                </a:solidFill>
                <a:latin typeface="Meiryo UI" panose="020B0604030504040204" pitchFamily="50" charset="-128"/>
                <a:ea typeface="Meiryo UI" panose="020B0604030504040204" pitchFamily="50" charset="-128"/>
              </a:rPr>
              <a:t>40</a:t>
            </a:r>
            <a:r>
              <a:rPr kumimoji="1" lang="ja-JP" altLang="en-US" sz="1550" b="1">
                <a:solidFill>
                  <a:srgbClr val="1E293B"/>
                </a:solidFill>
                <a:latin typeface="Meiryo UI" panose="020B0604030504040204" pitchFamily="50" charset="-128"/>
                <a:ea typeface="Meiryo UI" panose="020B0604030504040204" pitchFamily="50" charset="-128"/>
              </a:rPr>
              <a:t>歳代以下が</a:t>
            </a:r>
            <a:r>
              <a:rPr kumimoji="1" lang="en-US" altLang="ja-JP" sz="1550" b="1">
                <a:solidFill>
                  <a:srgbClr val="1E293B"/>
                </a:solidFill>
                <a:latin typeface="Meiryo UI" panose="020B0604030504040204" pitchFamily="50" charset="-128"/>
                <a:ea typeface="Meiryo UI" panose="020B0604030504040204" pitchFamily="50" charset="-128"/>
              </a:rPr>
              <a:t>21</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19.8%</a:t>
            </a:r>
            <a:r>
              <a:rPr kumimoji="1" lang="ja-JP" altLang="en-US" sz="1550" b="1">
                <a:solidFill>
                  <a:srgbClr val="1E293B"/>
                </a:solidFill>
                <a:latin typeface="Meiryo UI" panose="020B0604030504040204" pitchFamily="50" charset="-128"/>
                <a:ea typeface="Meiryo UI" panose="020B0604030504040204" pitchFamily="50" charset="-128"/>
              </a:rPr>
              <a:t>）→</a:t>
            </a:r>
            <a:r>
              <a:rPr kumimoji="1" lang="en-US" altLang="ja-JP" sz="1550" b="1">
                <a:solidFill>
                  <a:srgbClr val="1E293B"/>
                </a:solidFill>
                <a:latin typeface="Meiryo UI" panose="020B0604030504040204" pitchFamily="50" charset="-128"/>
                <a:ea typeface="Meiryo UI" panose="020B0604030504040204" pitchFamily="50" charset="-128"/>
              </a:rPr>
              <a:t>42</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32.3%</a:t>
            </a:r>
            <a:r>
              <a:rPr kumimoji="1" lang="ja-JP" altLang="en-US" sz="1550" b="1">
                <a:solidFill>
                  <a:srgbClr val="1E293B"/>
                </a:solidFill>
                <a:latin typeface="Meiryo UI" panose="020B0604030504040204" pitchFamily="50" charset="-128"/>
                <a:ea typeface="Meiryo UI" panose="020B0604030504040204" pitchFamily="50" charset="-128"/>
              </a:rPr>
              <a:t>）へ倍増した（特に</a:t>
            </a:r>
            <a:r>
              <a:rPr kumimoji="1" lang="en-US" altLang="ja-JP" sz="1550" b="1">
                <a:solidFill>
                  <a:srgbClr val="1E293B"/>
                </a:solidFill>
                <a:latin typeface="Meiryo UI" panose="020B0604030504040204" pitchFamily="50" charset="-128"/>
                <a:ea typeface="Meiryo UI" panose="020B0604030504040204" pitchFamily="50" charset="-128"/>
              </a:rPr>
              <a:t>40</a:t>
            </a:r>
            <a:r>
              <a:rPr kumimoji="1" lang="ja-JP" altLang="en-US" sz="1550" b="1">
                <a:solidFill>
                  <a:srgbClr val="1E293B"/>
                </a:solidFill>
                <a:latin typeface="Meiryo UI" panose="020B0604030504040204" pitchFamily="50" charset="-128"/>
                <a:ea typeface="Meiryo UI" panose="020B0604030504040204" pitchFamily="50" charset="-128"/>
              </a:rPr>
              <a:t>歳代は</a:t>
            </a:r>
            <a:r>
              <a:rPr kumimoji="1" lang="en-US" altLang="ja-JP" sz="1550" b="1">
                <a:solidFill>
                  <a:srgbClr val="1E293B"/>
                </a:solidFill>
                <a:latin typeface="Meiryo UI" panose="020B0604030504040204" pitchFamily="50" charset="-128"/>
                <a:ea typeface="Meiryo UI" panose="020B0604030504040204" pitchFamily="50" charset="-128"/>
              </a:rPr>
              <a:t>9</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24</a:t>
            </a:r>
            <a:r>
              <a:rPr kumimoji="1" lang="ja-JP" altLang="en-US" sz="1550" b="1">
                <a:solidFill>
                  <a:srgbClr val="1E293B"/>
                </a:solidFill>
                <a:latin typeface="Meiryo UI" panose="020B0604030504040204" pitchFamily="50" charset="-128"/>
                <a:ea typeface="Meiryo UI" panose="020B0604030504040204" pitchFamily="50" charset="-128"/>
              </a:rPr>
              <a:t>名へ</a:t>
            </a:r>
            <a:r>
              <a:rPr kumimoji="1" lang="en-US" altLang="ja-JP" sz="1550" b="1">
                <a:solidFill>
                  <a:srgbClr val="1E293B"/>
                </a:solidFill>
                <a:latin typeface="Meiryo UI" panose="020B0604030504040204" pitchFamily="50" charset="-128"/>
                <a:ea typeface="Meiryo UI" panose="020B0604030504040204" pitchFamily="50" charset="-128"/>
              </a:rPr>
              <a:t>2.7</a:t>
            </a:r>
            <a:r>
              <a:rPr kumimoji="1" lang="ja-JP" altLang="en-US" sz="1550" b="1">
                <a:solidFill>
                  <a:srgbClr val="1E293B"/>
                </a:solidFill>
                <a:latin typeface="Meiryo UI" panose="020B0604030504040204" pitchFamily="50" charset="-128"/>
                <a:ea typeface="Meiryo UI" panose="020B0604030504040204" pitchFamily="50" charset="-128"/>
              </a:rPr>
              <a:t>倍）。
・お住まいも</a:t>
            </a:r>
            <a:r>
              <a:rPr kumimoji="1" lang="en-US" altLang="ja-JP" sz="1550" b="1">
                <a:solidFill>
                  <a:srgbClr val="1E293B"/>
                </a:solidFill>
                <a:latin typeface="Meiryo UI" panose="020B0604030504040204" pitchFamily="50" charset="-128"/>
                <a:ea typeface="Meiryo UI" panose="020B0604030504040204" pitchFamily="50" charset="-128"/>
              </a:rPr>
              <a:t>2</a:t>
            </a:r>
            <a:r>
              <a:rPr kumimoji="1" lang="ja-JP" altLang="en-US" sz="1550" b="1">
                <a:solidFill>
                  <a:srgbClr val="1E293B"/>
                </a:solidFill>
                <a:latin typeface="Meiryo UI" panose="020B0604030504040204" pitchFamily="50" charset="-128"/>
                <a:ea typeface="Meiryo UI" panose="020B0604030504040204" pitchFamily="50" charset="-128"/>
              </a:rPr>
              <a:t>日目は八千代市内が</a:t>
            </a:r>
            <a:r>
              <a:rPr kumimoji="1" lang="en-US" altLang="ja-JP" sz="1550" b="1">
                <a:solidFill>
                  <a:srgbClr val="1E293B"/>
                </a:solidFill>
                <a:latin typeface="Meiryo UI" panose="020B0604030504040204" pitchFamily="50" charset="-128"/>
                <a:ea typeface="Meiryo UI" panose="020B0604030504040204" pitchFamily="50" charset="-128"/>
              </a:rPr>
              <a:t>70.8%</a:t>
            </a:r>
            <a:r>
              <a:rPr kumimoji="1" lang="ja-JP" altLang="en-US" sz="1550" b="1">
                <a:solidFill>
                  <a:srgbClr val="1E293B"/>
                </a:solidFill>
                <a:latin typeface="Meiryo UI" panose="020B0604030504040204" pitchFamily="50" charset="-128"/>
                <a:ea typeface="Meiryo UI" panose="020B0604030504040204" pitchFamily="50" charset="-128"/>
              </a:rPr>
              <a:t>（</a:t>
            </a:r>
            <a:r>
              <a:rPr kumimoji="1" lang="en-US" altLang="ja-JP" sz="1550" b="1">
                <a:solidFill>
                  <a:srgbClr val="1E293B"/>
                </a:solidFill>
                <a:latin typeface="Meiryo UI" panose="020B0604030504040204" pitchFamily="50" charset="-128"/>
                <a:ea typeface="Meiryo UI" panose="020B0604030504040204" pitchFamily="50" charset="-128"/>
              </a:rPr>
              <a:t>75</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73.8%</a:t>
            </a:r>
            <a:r>
              <a:rPr kumimoji="1" lang="ja-JP" altLang="en-US" sz="1550" b="1">
                <a:solidFill>
                  <a:srgbClr val="1E293B"/>
                </a:solidFill>
                <a:latin typeface="Meiryo UI" panose="020B0604030504040204" pitchFamily="50" charset="-128"/>
                <a:ea typeface="Meiryo UI" panose="020B0604030504040204" pitchFamily="50" charset="-128"/>
              </a:rPr>
              <a:t>（</a:t>
            </a:r>
            <a:r>
              <a:rPr kumimoji="1" lang="en-US" altLang="ja-JP" sz="1550" b="1">
                <a:solidFill>
                  <a:srgbClr val="1E293B"/>
                </a:solidFill>
                <a:latin typeface="Meiryo UI" panose="020B0604030504040204" pitchFamily="50" charset="-128"/>
                <a:ea typeface="Meiryo UI" panose="020B0604030504040204" pitchFamily="50" charset="-128"/>
              </a:rPr>
              <a:t>96</a:t>
            </a:r>
            <a:r>
              <a:rPr kumimoji="1" lang="ja-JP" altLang="en-US" sz="1550" b="1">
                <a:solidFill>
                  <a:srgbClr val="1E293B"/>
                </a:solidFill>
                <a:latin typeface="Meiryo UI" panose="020B0604030504040204" pitchFamily="50" charset="-128"/>
                <a:ea typeface="Meiryo UI" panose="020B0604030504040204" pitchFamily="50" charset="-128"/>
              </a:rPr>
              <a:t>名）へ増加し、地元の家族連れや若年層にリーチできた。</a:t>
            </a:r>
          </a:p>
        </p:txBody>
      </p:sp>
    </p:spTree>
    <p:extLst>
      <p:ext uri="{BB962C8B-B14F-4D97-AF65-F5344CB8AC3E}">
        <p14:creationId xmlns:p14="http://schemas.microsoft.com/office/powerpoint/2010/main" val="761685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51C8FD0E-4528-44F2-D5A9-C9A9C53F76C6}"/>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A681A4C6-2BC8-F004-AEE4-A6327255C0A4}"/>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C17EF014-E08D-92E2-BCDC-2BEA9B34DB8D}"/>
              </a:ext>
            </a:extLst>
          </p:cNvPr>
          <p:cNvSpPr/>
          <p:nvPr/>
        </p:nvSpPr>
        <p:spPr>
          <a:xfrm>
            <a:off x="457200" y="330200"/>
            <a:ext cx="2082800" cy="4064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90240C6C-9308-5ACA-FE37-E3F53E71C04E}"/>
              </a:ext>
            </a:extLst>
          </p:cNvPr>
          <p:cNvSpPr txBox="1"/>
          <p:nvPr/>
        </p:nvSpPr>
        <p:spPr>
          <a:xfrm>
            <a:off x="457200" y="355600"/>
            <a:ext cx="2082800" cy="502702"/>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3</a:t>
            </a:r>
            <a:r>
              <a:rPr kumimoji="1" lang="ja-JP" altLang="en-US" sz="1300" b="1">
                <a:solidFill>
                  <a:srgbClr val="FFFFFF"/>
                </a:solidFill>
                <a:latin typeface="Meiryo UI" panose="020B0604030504040204" pitchFamily="50" charset="-128"/>
                <a:ea typeface="Meiryo UI" panose="020B0604030504040204" pitchFamily="50" charset="-128"/>
              </a:rPr>
              <a:t>部：考察② 当院の弱点</a:t>
            </a:r>
          </a:p>
        </p:txBody>
      </p:sp>
      <p:sp>
        <p:nvSpPr>
          <p:cNvPr id="6" name="テキスト ボックス 5">
            <a:extLst>
              <a:ext uri="{FF2B5EF4-FFF2-40B4-BE49-F238E27FC236}">
                <a16:creationId xmlns:a16="http://schemas.microsoft.com/office/drawing/2014/main" id="{D713EEB1-4F46-9266-F5E5-8C9E8288724E}"/>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アンケートからわかる当院の弱点①：八千代市民の認知度</a:t>
            </a:r>
          </a:p>
        </p:txBody>
      </p:sp>
      <p:sp>
        <p:nvSpPr>
          <p:cNvPr id="7" name="四角形: 角を丸くする 6">
            <a:extLst>
              <a:ext uri="{FF2B5EF4-FFF2-40B4-BE49-F238E27FC236}">
                <a16:creationId xmlns:a16="http://schemas.microsoft.com/office/drawing/2014/main" id="{0492D340-4D47-8C15-FF70-CBCF6F5EC6C4}"/>
              </a:ext>
            </a:extLst>
          </p:cNvPr>
          <p:cNvSpPr/>
          <p:nvPr/>
        </p:nvSpPr>
        <p:spPr>
          <a:xfrm>
            <a:off x="10871200" y="330200"/>
            <a:ext cx="863600" cy="381000"/>
          </a:xfrm>
          <a:prstGeom prst="roundRect">
            <a:avLst>
              <a:gd name="adj" fmla="val 5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0D5E7F3D-CA6E-32A1-1509-29078D82DD7C}"/>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EF4444"/>
                </a:solidFill>
                <a:latin typeface="Meiryo UI" panose="020B0604030504040204" pitchFamily="50" charset="-128"/>
                <a:ea typeface="Meiryo UI" panose="020B0604030504040204" pitchFamily="50" charset="-128"/>
              </a:rPr>
              <a:t>17 / 22</a:t>
            </a:r>
            <a:endParaRPr kumimoji="1" lang="ja-JP" altLang="en-US" sz="1250" b="1">
              <a:solidFill>
                <a:srgbClr val="EF4444"/>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5B09A1A6-3FF4-6EF6-7DE3-1E90FAB2ED7C}"/>
              </a:ext>
            </a:extLst>
          </p:cNvPr>
          <p:cNvSpPr/>
          <p:nvPr/>
        </p:nvSpPr>
        <p:spPr>
          <a:xfrm>
            <a:off x="457200" y="838200"/>
            <a:ext cx="11277600" cy="431800"/>
          </a:xfrm>
          <a:prstGeom prst="roundRect">
            <a:avLst>
              <a:gd name="adj" fmla="val 3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E3F256C0-6B0A-C733-9FE7-E83C4511A5FC}"/>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EF4444"/>
                </a:solidFill>
                <a:latin typeface="Meiryo UI" panose="020B0604030504040204" pitchFamily="50" charset="-128"/>
                <a:ea typeface="Meiryo UI" panose="020B0604030504040204" pitchFamily="50" charset="-128"/>
              </a:rPr>
              <a:t>地元・八千代市民（</a:t>
            </a:r>
            <a:r>
              <a:rPr kumimoji="1" lang="en-US" altLang="ja-JP" sz="1500" b="1">
                <a:solidFill>
                  <a:srgbClr val="EF4444"/>
                </a:solidFill>
                <a:latin typeface="Meiryo UI" panose="020B0604030504040204" pitchFamily="50" charset="-128"/>
                <a:ea typeface="Meiryo UI" panose="020B0604030504040204" pitchFamily="50" charset="-128"/>
              </a:rPr>
              <a:t>171</a:t>
            </a:r>
            <a:r>
              <a:rPr kumimoji="1" lang="ja-JP" altLang="en-US" sz="1500" b="1">
                <a:solidFill>
                  <a:srgbClr val="EF4444"/>
                </a:solidFill>
                <a:latin typeface="Meiryo UI" panose="020B0604030504040204" pitchFamily="50" charset="-128"/>
                <a:ea typeface="Meiryo UI" panose="020B0604030504040204" pitchFamily="50" charset="-128"/>
              </a:rPr>
              <a:t>名）でも「よく知っている」は</a:t>
            </a:r>
            <a:r>
              <a:rPr kumimoji="1" lang="en-US" altLang="ja-JP" sz="1500" b="1">
                <a:solidFill>
                  <a:srgbClr val="EF4444"/>
                </a:solidFill>
                <a:latin typeface="Meiryo UI" panose="020B0604030504040204" pitchFamily="50" charset="-128"/>
                <a:ea typeface="Meiryo UI" panose="020B0604030504040204" pitchFamily="50" charset="-128"/>
              </a:rPr>
              <a:t>18.1%</a:t>
            </a:r>
            <a:r>
              <a:rPr kumimoji="1" lang="ja-JP" altLang="en-US" sz="1500" b="1">
                <a:solidFill>
                  <a:srgbClr val="EF4444"/>
                </a:solidFill>
                <a:latin typeface="Meiryo UI" panose="020B0604030504040204" pitchFamily="50" charset="-128"/>
                <a:ea typeface="Meiryo UI" panose="020B0604030504040204" pitchFamily="50" charset="-128"/>
              </a:rPr>
              <a:t>のみ。</a:t>
            </a:r>
            <a:r>
              <a:rPr kumimoji="1" lang="en-US" altLang="ja-JP" sz="1500" b="1">
                <a:solidFill>
                  <a:srgbClr val="EF4444"/>
                </a:solidFill>
                <a:latin typeface="Meiryo UI" panose="020B0604030504040204" pitchFamily="50" charset="-128"/>
                <a:ea typeface="Meiryo UI" panose="020B0604030504040204" pitchFamily="50" charset="-128"/>
              </a:rPr>
              <a:t>80.7%</a:t>
            </a:r>
            <a:r>
              <a:rPr kumimoji="1" lang="ja-JP" altLang="en-US" sz="1500" b="1">
                <a:solidFill>
                  <a:srgbClr val="EF4444"/>
                </a:solidFill>
                <a:latin typeface="Meiryo UI" panose="020B0604030504040204" pitchFamily="50" charset="-128"/>
                <a:ea typeface="Meiryo UI" panose="020B0604030504040204" pitchFamily="50" charset="-128"/>
              </a:rPr>
              <a:t>が当院の中身を知らない</a:t>
            </a:r>
          </a:p>
        </p:txBody>
      </p:sp>
      <p:sp>
        <p:nvSpPr>
          <p:cNvPr id="11" name="四角形: 角を丸くする 10">
            <a:extLst>
              <a:ext uri="{FF2B5EF4-FFF2-40B4-BE49-F238E27FC236}">
                <a16:creationId xmlns:a16="http://schemas.microsoft.com/office/drawing/2014/main" id="{5E28739D-F5A8-79E1-FEE2-0EE1F44F4902}"/>
              </a:ext>
            </a:extLst>
          </p:cNvPr>
          <p:cNvSpPr/>
          <p:nvPr/>
        </p:nvSpPr>
        <p:spPr>
          <a:xfrm>
            <a:off x="254000" y="1549400"/>
            <a:ext cx="116840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2203956E-473C-2630-44F5-692AF22FFF1C}"/>
              </a:ext>
            </a:extLst>
          </p:cNvPr>
          <p:cNvSpPr/>
          <p:nvPr/>
        </p:nvSpPr>
        <p:spPr>
          <a:xfrm>
            <a:off x="482600" y="1778000"/>
            <a:ext cx="101600" cy="3302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C50E9C6B-71A3-CC6B-ED86-C896B7595901}"/>
              </a:ext>
            </a:extLst>
          </p:cNvPr>
          <p:cNvSpPr txBox="1"/>
          <p:nvPr/>
        </p:nvSpPr>
        <p:spPr>
          <a:xfrm>
            <a:off x="685800" y="1739900"/>
            <a:ext cx="11049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八千代市内在住者（</a:t>
            </a:r>
            <a:r>
              <a:rPr kumimoji="1" lang="en-US" altLang="ja-JP" sz="1750" b="1">
                <a:solidFill>
                  <a:srgbClr val="1E293B"/>
                </a:solidFill>
                <a:latin typeface="Meiryo UI" panose="020B0604030504040204" pitchFamily="50" charset="-128"/>
                <a:ea typeface="Meiryo UI" panose="020B0604030504040204" pitchFamily="50" charset="-128"/>
              </a:rPr>
              <a:t>171</a:t>
            </a:r>
            <a:r>
              <a:rPr kumimoji="1" lang="ja-JP" altLang="en-US" sz="1750" b="1">
                <a:solidFill>
                  <a:srgbClr val="1E293B"/>
                </a:solidFill>
                <a:latin typeface="Meiryo UI" panose="020B0604030504040204" pitchFamily="50" charset="-128"/>
                <a:ea typeface="Meiryo UI" panose="020B0604030504040204" pitchFamily="50" charset="-128"/>
              </a:rPr>
              <a:t>名）における当院の認知度（</a:t>
            </a:r>
            <a:r>
              <a:rPr kumimoji="1" lang="en-US" altLang="ja-JP" sz="1750" b="1">
                <a:solidFill>
                  <a:srgbClr val="1E293B"/>
                </a:solidFill>
                <a:latin typeface="Meiryo UI" panose="020B0604030504040204" pitchFamily="50" charset="-128"/>
                <a:ea typeface="Meiryo UI" panose="020B0604030504040204" pitchFamily="50" charset="-128"/>
              </a:rPr>
              <a:t>Q2</a:t>
            </a:r>
            <a:r>
              <a:rPr kumimoji="1" lang="ja-JP" altLang="en-US" sz="1750" b="1">
                <a:solidFill>
                  <a:srgbClr val="1E293B"/>
                </a:solidFill>
                <a:latin typeface="Meiryo UI" panose="020B0604030504040204" pitchFamily="50" charset="-128"/>
                <a:ea typeface="Meiryo UI" panose="020B0604030504040204" pitchFamily="50" charset="-128"/>
              </a:rPr>
              <a:t>）</a:t>
            </a:r>
          </a:p>
        </p:txBody>
      </p:sp>
      <p:sp>
        <p:nvSpPr>
          <p:cNvPr id="14" name="部分円 13">
            <a:extLst>
              <a:ext uri="{FF2B5EF4-FFF2-40B4-BE49-F238E27FC236}">
                <a16:creationId xmlns:a16="http://schemas.microsoft.com/office/drawing/2014/main" id="{3505D841-1D53-0280-2EAA-15AA98B0BC32}"/>
              </a:ext>
            </a:extLst>
          </p:cNvPr>
          <p:cNvSpPr/>
          <p:nvPr/>
        </p:nvSpPr>
        <p:spPr>
          <a:xfrm>
            <a:off x="1016000" y="2603500"/>
            <a:ext cx="3302000" cy="3302000"/>
          </a:xfrm>
          <a:prstGeom prst="pie">
            <a:avLst>
              <a:gd name="adj1" fmla="val 16200000"/>
              <a:gd name="adj2" fmla="val 20757600"/>
            </a:avLst>
          </a:prstGeom>
          <a:solidFill>
            <a:srgbClr val="EF4444"/>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B000057E-1598-77F2-48FF-A8ECB675F889}"/>
              </a:ext>
            </a:extLst>
          </p:cNvPr>
          <p:cNvSpPr/>
          <p:nvPr/>
        </p:nvSpPr>
        <p:spPr>
          <a:xfrm>
            <a:off x="1016000" y="2603500"/>
            <a:ext cx="3302000" cy="3302000"/>
          </a:xfrm>
          <a:prstGeom prst="pie">
            <a:avLst>
              <a:gd name="adj1" fmla="val 20757600"/>
              <a:gd name="adj2" fmla="val 12031200"/>
            </a:avLst>
          </a:prstGeom>
          <a:solidFill>
            <a:srgbClr val="F59E0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部分円 15">
            <a:extLst>
              <a:ext uri="{FF2B5EF4-FFF2-40B4-BE49-F238E27FC236}">
                <a16:creationId xmlns:a16="http://schemas.microsoft.com/office/drawing/2014/main" id="{F20E77AB-7B35-5582-F807-EF2A627B0DBA}"/>
              </a:ext>
            </a:extLst>
          </p:cNvPr>
          <p:cNvSpPr/>
          <p:nvPr/>
        </p:nvSpPr>
        <p:spPr>
          <a:xfrm>
            <a:off x="1016000" y="2603500"/>
            <a:ext cx="3302000" cy="3302000"/>
          </a:xfrm>
          <a:prstGeom prst="pie">
            <a:avLst>
              <a:gd name="adj1" fmla="val 12031200"/>
              <a:gd name="adj2" fmla="val 159408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部分円 16">
            <a:extLst>
              <a:ext uri="{FF2B5EF4-FFF2-40B4-BE49-F238E27FC236}">
                <a16:creationId xmlns:a16="http://schemas.microsoft.com/office/drawing/2014/main" id="{C9540BF5-AA86-8E4E-9D50-85007BADC3AE}"/>
              </a:ext>
            </a:extLst>
          </p:cNvPr>
          <p:cNvSpPr/>
          <p:nvPr/>
        </p:nvSpPr>
        <p:spPr>
          <a:xfrm>
            <a:off x="1016000" y="2603500"/>
            <a:ext cx="3302000" cy="3302000"/>
          </a:xfrm>
          <a:prstGeom prst="pie">
            <a:avLst>
              <a:gd name="adj1" fmla="val 15940800"/>
              <a:gd name="adj2" fmla="val 16200000"/>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楕円 17">
            <a:extLst>
              <a:ext uri="{FF2B5EF4-FFF2-40B4-BE49-F238E27FC236}">
                <a16:creationId xmlns:a16="http://schemas.microsoft.com/office/drawing/2014/main" id="{D3AB3C7D-75C6-E1BF-EE28-E69A11E3C0DB}"/>
              </a:ext>
            </a:extLst>
          </p:cNvPr>
          <p:cNvSpPr/>
          <p:nvPr/>
        </p:nvSpPr>
        <p:spPr>
          <a:xfrm>
            <a:off x="1775460" y="3362960"/>
            <a:ext cx="1783080" cy="178308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059EA972-DE89-CC98-A80E-E2D2EEBBD5D5}"/>
              </a:ext>
            </a:extLst>
          </p:cNvPr>
          <p:cNvSpPr txBox="1"/>
          <p:nvPr/>
        </p:nvSpPr>
        <p:spPr>
          <a:xfrm>
            <a:off x="1826260" y="3924300"/>
            <a:ext cx="1681480" cy="348813"/>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詳細不明・未認知</a:t>
            </a:r>
          </a:p>
        </p:txBody>
      </p:sp>
      <p:sp>
        <p:nvSpPr>
          <p:cNvPr id="20" name="テキスト ボックス 19">
            <a:extLst>
              <a:ext uri="{FF2B5EF4-FFF2-40B4-BE49-F238E27FC236}">
                <a16:creationId xmlns:a16="http://schemas.microsoft.com/office/drawing/2014/main" id="{27E35E33-7AC5-8050-0288-E7ADD3ACB5E3}"/>
              </a:ext>
            </a:extLst>
          </p:cNvPr>
          <p:cNvSpPr txBox="1"/>
          <p:nvPr/>
        </p:nvSpPr>
        <p:spPr>
          <a:xfrm>
            <a:off x="1826260" y="4279900"/>
            <a:ext cx="1681480" cy="29495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80.7% (138</a:t>
            </a:r>
            <a:r>
              <a:rPr kumimoji="1" lang="ja-JP" altLang="en-US" sz="1250" b="1">
                <a:solidFill>
                  <a:srgbClr val="64748B"/>
                </a:solidFill>
                <a:latin typeface="Meiryo UI" panose="020B0604030504040204" pitchFamily="50" charset="-128"/>
                <a:ea typeface="Meiryo UI" panose="020B0604030504040204" pitchFamily="50" charset="-128"/>
              </a:rPr>
              <a:t>名</a:t>
            </a:r>
            <a:r>
              <a:rPr kumimoji="1" lang="en-US" altLang="ja-JP" sz="1250" b="1">
                <a:solidFill>
                  <a:srgbClr val="64748B"/>
                </a:solidFill>
                <a:latin typeface="Meiryo UI" panose="020B0604030504040204" pitchFamily="50" charset="-128"/>
                <a:ea typeface="Meiryo UI" panose="020B0604030504040204" pitchFamily="50" charset="-128"/>
              </a:rPr>
              <a:t>)</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21" name="四角形: 角を丸くする 20">
            <a:extLst>
              <a:ext uri="{FF2B5EF4-FFF2-40B4-BE49-F238E27FC236}">
                <a16:creationId xmlns:a16="http://schemas.microsoft.com/office/drawing/2014/main" id="{697940F2-A9C3-A275-C903-02F872C62560}"/>
              </a:ext>
            </a:extLst>
          </p:cNvPr>
          <p:cNvSpPr/>
          <p:nvPr/>
        </p:nvSpPr>
        <p:spPr>
          <a:xfrm>
            <a:off x="5130800" y="2311400"/>
            <a:ext cx="63754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0014295F-978B-F675-2CD4-214ABE23D7DC}"/>
              </a:ext>
            </a:extLst>
          </p:cNvPr>
          <p:cNvSpPr/>
          <p:nvPr/>
        </p:nvSpPr>
        <p:spPr>
          <a:xfrm>
            <a:off x="5207000" y="2425700"/>
            <a:ext cx="228600" cy="228600"/>
          </a:xfrm>
          <a:prstGeom prst="ellipse">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9FE6B17E-C7DD-D96A-2D8E-F15AF33B1FE9}"/>
              </a:ext>
            </a:extLst>
          </p:cNvPr>
          <p:cNvSpPr txBox="1"/>
          <p:nvPr/>
        </p:nvSpPr>
        <p:spPr>
          <a:xfrm>
            <a:off x="5537200" y="23622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今日初めて知った（未認知）</a:t>
            </a:r>
          </a:p>
        </p:txBody>
      </p:sp>
      <p:sp>
        <p:nvSpPr>
          <p:cNvPr id="24" name="テキスト ボックス 23">
            <a:extLst>
              <a:ext uri="{FF2B5EF4-FFF2-40B4-BE49-F238E27FC236}">
                <a16:creationId xmlns:a16="http://schemas.microsoft.com/office/drawing/2014/main" id="{F45E758B-8890-B5AA-BDFB-48AABD1595C6}"/>
              </a:ext>
            </a:extLst>
          </p:cNvPr>
          <p:cNvSpPr txBox="1"/>
          <p:nvPr/>
        </p:nvSpPr>
        <p:spPr>
          <a:xfrm>
            <a:off x="9842500" y="23622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EF4444"/>
                </a:solidFill>
                <a:latin typeface="Meiryo UI" panose="020B0604030504040204" pitchFamily="50" charset="-128"/>
                <a:ea typeface="Meiryo UI" panose="020B0604030504040204" pitchFamily="50" charset="-128"/>
              </a:rPr>
              <a:t>36</a:t>
            </a:r>
            <a:r>
              <a:rPr kumimoji="1" lang="ja-JP" altLang="en-US" sz="1550" b="1">
                <a:solidFill>
                  <a:srgbClr val="EF4444"/>
                </a:solidFill>
                <a:latin typeface="Meiryo UI" panose="020B0604030504040204" pitchFamily="50" charset="-128"/>
                <a:ea typeface="Meiryo UI" panose="020B0604030504040204" pitchFamily="50" charset="-128"/>
              </a:rPr>
              <a:t>名 </a:t>
            </a:r>
            <a:r>
              <a:rPr kumimoji="1" lang="en-US" altLang="ja-JP" sz="1550" b="1">
                <a:solidFill>
                  <a:srgbClr val="EF4444"/>
                </a:solidFill>
                <a:latin typeface="Meiryo UI" panose="020B0604030504040204" pitchFamily="50" charset="-128"/>
                <a:ea typeface="Meiryo UI" panose="020B0604030504040204" pitchFamily="50" charset="-128"/>
              </a:rPr>
              <a:t>(21.1%)</a:t>
            </a:r>
            <a:endParaRPr kumimoji="1" lang="ja-JP" altLang="en-US" sz="1550" b="1">
              <a:solidFill>
                <a:srgbClr val="EF4444"/>
              </a:solidFill>
              <a:latin typeface="Meiryo UI" panose="020B0604030504040204" pitchFamily="50" charset="-128"/>
              <a:ea typeface="Meiryo UI" panose="020B0604030504040204" pitchFamily="50" charset="-128"/>
            </a:endParaRPr>
          </a:p>
        </p:txBody>
      </p:sp>
      <p:sp>
        <p:nvSpPr>
          <p:cNvPr id="25" name="四角形: 角を丸くする 24">
            <a:extLst>
              <a:ext uri="{FF2B5EF4-FFF2-40B4-BE49-F238E27FC236}">
                <a16:creationId xmlns:a16="http://schemas.microsoft.com/office/drawing/2014/main" id="{61A45B8B-B7F1-A07E-F04A-E903D2382568}"/>
              </a:ext>
            </a:extLst>
          </p:cNvPr>
          <p:cNvSpPr/>
          <p:nvPr/>
        </p:nvSpPr>
        <p:spPr>
          <a:xfrm>
            <a:off x="5130800" y="2971800"/>
            <a:ext cx="6375400" cy="482600"/>
          </a:xfrm>
          <a:prstGeom prst="roundRect">
            <a:avLst>
              <a:gd name="adj" fmla="val 25000"/>
            </a:avLst>
          </a:prstGeom>
          <a:solidFill>
            <a:srgbClr val="FFFBE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B0C76045-2FAC-3670-4E58-C868A85B2FA5}"/>
              </a:ext>
            </a:extLst>
          </p:cNvPr>
          <p:cNvSpPr/>
          <p:nvPr/>
        </p:nvSpPr>
        <p:spPr>
          <a:xfrm>
            <a:off x="5207000" y="3086100"/>
            <a:ext cx="228600" cy="228600"/>
          </a:xfrm>
          <a:prstGeom prst="ellipse">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1948FB65-7BFE-356B-0419-E0694E79D3A3}"/>
              </a:ext>
            </a:extLst>
          </p:cNvPr>
          <p:cNvSpPr txBox="1"/>
          <p:nvPr/>
        </p:nvSpPr>
        <p:spPr>
          <a:xfrm>
            <a:off x="5537200" y="30226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名前や場所は知っている</a:t>
            </a:r>
          </a:p>
        </p:txBody>
      </p:sp>
      <p:sp>
        <p:nvSpPr>
          <p:cNvPr id="28" name="テキスト ボックス 27">
            <a:extLst>
              <a:ext uri="{FF2B5EF4-FFF2-40B4-BE49-F238E27FC236}">
                <a16:creationId xmlns:a16="http://schemas.microsoft.com/office/drawing/2014/main" id="{605D4042-B7A9-324E-A60F-B0945D1E6F50}"/>
              </a:ext>
            </a:extLst>
          </p:cNvPr>
          <p:cNvSpPr txBox="1"/>
          <p:nvPr/>
        </p:nvSpPr>
        <p:spPr>
          <a:xfrm>
            <a:off x="9842500" y="3022600"/>
            <a:ext cx="1587500" cy="579646"/>
          </a:xfrm>
          <a:prstGeom prst="rect">
            <a:avLst/>
          </a:prstGeom>
          <a:noFill/>
        </p:spPr>
        <p:txBody>
          <a:bodyPr vert="horz" wrap="square" lIns="76200" tIns="50800" rIns="76200" bIns="50800" rtlCol="0">
            <a:spAutoFit/>
          </a:bodyPr>
          <a:lstStyle/>
          <a:p>
            <a:pPr algn="r"/>
            <a:r>
              <a:rPr kumimoji="1" lang="en-US" altLang="ja-JP" sz="1550" b="1">
                <a:solidFill>
                  <a:srgbClr val="F59E0B"/>
                </a:solidFill>
                <a:latin typeface="Meiryo UI" panose="020B0604030504040204" pitchFamily="50" charset="-128"/>
                <a:ea typeface="Meiryo UI" panose="020B0604030504040204" pitchFamily="50" charset="-128"/>
              </a:rPr>
              <a:t>102</a:t>
            </a:r>
            <a:r>
              <a:rPr kumimoji="1" lang="ja-JP" altLang="en-US" sz="1550" b="1">
                <a:solidFill>
                  <a:srgbClr val="F59E0B"/>
                </a:solidFill>
                <a:latin typeface="Meiryo UI" panose="020B0604030504040204" pitchFamily="50" charset="-128"/>
                <a:ea typeface="Meiryo UI" panose="020B0604030504040204" pitchFamily="50" charset="-128"/>
              </a:rPr>
              <a:t>名 </a:t>
            </a:r>
            <a:r>
              <a:rPr kumimoji="1" lang="en-US" altLang="ja-JP" sz="1550" b="1">
                <a:solidFill>
                  <a:srgbClr val="F59E0B"/>
                </a:solidFill>
                <a:latin typeface="Meiryo UI" panose="020B0604030504040204" pitchFamily="50" charset="-128"/>
                <a:ea typeface="Meiryo UI" panose="020B0604030504040204" pitchFamily="50" charset="-128"/>
              </a:rPr>
              <a:t>(59.6%)</a:t>
            </a:r>
            <a:endParaRPr kumimoji="1" lang="ja-JP" altLang="en-US" sz="1550" b="1">
              <a:solidFill>
                <a:srgbClr val="F59E0B"/>
              </a:solidFill>
              <a:latin typeface="Meiryo UI" panose="020B0604030504040204" pitchFamily="50" charset="-128"/>
              <a:ea typeface="Meiryo UI" panose="020B0604030504040204" pitchFamily="50" charset="-128"/>
            </a:endParaRPr>
          </a:p>
        </p:txBody>
      </p:sp>
      <p:sp>
        <p:nvSpPr>
          <p:cNvPr id="29" name="楕円 28">
            <a:extLst>
              <a:ext uri="{FF2B5EF4-FFF2-40B4-BE49-F238E27FC236}">
                <a16:creationId xmlns:a16="http://schemas.microsoft.com/office/drawing/2014/main" id="{DE9B4ECB-D2D4-789E-DFA7-39048AF262D6}"/>
              </a:ext>
            </a:extLst>
          </p:cNvPr>
          <p:cNvSpPr/>
          <p:nvPr/>
        </p:nvSpPr>
        <p:spPr>
          <a:xfrm>
            <a:off x="5207000" y="3746500"/>
            <a:ext cx="228600" cy="22860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35FA3A15-42DE-3AF4-EFB9-DCD1750533AF}"/>
              </a:ext>
            </a:extLst>
          </p:cNvPr>
          <p:cNvSpPr txBox="1"/>
          <p:nvPr/>
        </p:nvSpPr>
        <p:spPr>
          <a:xfrm>
            <a:off x="5537200" y="36830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よく知っている（利用経験有）</a:t>
            </a:r>
          </a:p>
        </p:txBody>
      </p:sp>
      <p:sp>
        <p:nvSpPr>
          <p:cNvPr id="31" name="テキスト ボックス 30">
            <a:extLst>
              <a:ext uri="{FF2B5EF4-FFF2-40B4-BE49-F238E27FC236}">
                <a16:creationId xmlns:a16="http://schemas.microsoft.com/office/drawing/2014/main" id="{0F7800C3-18CB-3711-1907-FDB662A5060D}"/>
              </a:ext>
            </a:extLst>
          </p:cNvPr>
          <p:cNvSpPr txBox="1"/>
          <p:nvPr/>
        </p:nvSpPr>
        <p:spPr>
          <a:xfrm>
            <a:off x="9842500" y="36830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10B981"/>
                </a:solidFill>
                <a:latin typeface="Meiryo UI" panose="020B0604030504040204" pitchFamily="50" charset="-128"/>
                <a:ea typeface="Meiryo UI" panose="020B0604030504040204" pitchFamily="50" charset="-128"/>
              </a:rPr>
              <a:t>31</a:t>
            </a:r>
            <a:r>
              <a:rPr kumimoji="1" lang="ja-JP" altLang="en-US" sz="1550" b="1">
                <a:solidFill>
                  <a:srgbClr val="10B981"/>
                </a:solidFill>
                <a:latin typeface="Meiryo UI" panose="020B0604030504040204" pitchFamily="50" charset="-128"/>
                <a:ea typeface="Meiryo UI" panose="020B0604030504040204" pitchFamily="50" charset="-128"/>
              </a:rPr>
              <a:t>名 </a:t>
            </a:r>
            <a:r>
              <a:rPr kumimoji="1" lang="en-US" altLang="ja-JP" sz="1550" b="1">
                <a:solidFill>
                  <a:srgbClr val="10B981"/>
                </a:solidFill>
                <a:latin typeface="Meiryo UI" panose="020B0604030504040204" pitchFamily="50" charset="-128"/>
                <a:ea typeface="Meiryo UI" panose="020B0604030504040204" pitchFamily="50" charset="-128"/>
              </a:rPr>
              <a:t>(18.1%)</a:t>
            </a:r>
            <a:endParaRPr kumimoji="1" lang="ja-JP" altLang="en-US" sz="1550" b="1">
              <a:solidFill>
                <a:srgbClr val="10B981"/>
              </a:solidFill>
              <a:latin typeface="Meiryo UI" panose="020B0604030504040204" pitchFamily="50" charset="-128"/>
              <a:ea typeface="Meiryo UI" panose="020B0604030504040204" pitchFamily="50" charset="-128"/>
            </a:endParaRPr>
          </a:p>
        </p:txBody>
      </p:sp>
      <p:sp>
        <p:nvSpPr>
          <p:cNvPr id="32" name="楕円 31">
            <a:extLst>
              <a:ext uri="{FF2B5EF4-FFF2-40B4-BE49-F238E27FC236}">
                <a16:creationId xmlns:a16="http://schemas.microsoft.com/office/drawing/2014/main" id="{1C8CCBAE-1499-3A38-80C0-7B9E8253A23A}"/>
              </a:ext>
            </a:extLst>
          </p:cNvPr>
          <p:cNvSpPr/>
          <p:nvPr/>
        </p:nvSpPr>
        <p:spPr>
          <a:xfrm>
            <a:off x="5207000" y="4356100"/>
            <a:ext cx="228600" cy="2286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9FF9A94E-A537-FC5C-CB2E-BF451135949F}"/>
              </a:ext>
            </a:extLst>
          </p:cNvPr>
          <p:cNvSpPr txBox="1"/>
          <p:nvPr/>
        </p:nvSpPr>
        <p:spPr>
          <a:xfrm>
            <a:off x="5537200" y="4292600"/>
            <a:ext cx="4445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34" name="テキスト ボックス 33">
            <a:extLst>
              <a:ext uri="{FF2B5EF4-FFF2-40B4-BE49-F238E27FC236}">
                <a16:creationId xmlns:a16="http://schemas.microsoft.com/office/drawing/2014/main" id="{04C4E490-1350-84A6-D7D5-2796F9AE7D05}"/>
              </a:ext>
            </a:extLst>
          </p:cNvPr>
          <p:cNvSpPr txBox="1"/>
          <p:nvPr/>
        </p:nvSpPr>
        <p:spPr>
          <a:xfrm>
            <a:off x="9842500" y="4292600"/>
            <a:ext cx="1587500" cy="341119"/>
          </a:xfrm>
          <a:prstGeom prst="rect">
            <a:avLst/>
          </a:prstGeom>
          <a:noFill/>
        </p:spPr>
        <p:txBody>
          <a:bodyPr vert="horz" wrap="square" lIns="76200" tIns="50800" rIns="76200" bIns="50800" rtlCol="0">
            <a:spAutoFit/>
          </a:bodyPr>
          <a:lstStyle/>
          <a:p>
            <a:pPr algn="r"/>
            <a:r>
              <a:rPr kumimoji="1" lang="en-US" altLang="ja-JP" sz="1550" b="1">
                <a:solidFill>
                  <a:srgbClr val="94A3B8"/>
                </a:solidFill>
                <a:latin typeface="Meiryo UI" panose="020B0604030504040204" pitchFamily="50" charset="-128"/>
                <a:ea typeface="Meiryo UI" panose="020B0604030504040204" pitchFamily="50" charset="-128"/>
              </a:rPr>
              <a:t>2</a:t>
            </a:r>
            <a:r>
              <a:rPr kumimoji="1" lang="ja-JP" altLang="en-US" sz="1550" b="1">
                <a:solidFill>
                  <a:srgbClr val="94A3B8"/>
                </a:solidFill>
                <a:latin typeface="Meiryo UI" panose="020B0604030504040204" pitchFamily="50" charset="-128"/>
                <a:ea typeface="Meiryo UI" panose="020B0604030504040204" pitchFamily="50" charset="-128"/>
              </a:rPr>
              <a:t>名 </a:t>
            </a:r>
            <a:r>
              <a:rPr kumimoji="1" lang="en-US" altLang="ja-JP" sz="1550" b="1">
                <a:solidFill>
                  <a:srgbClr val="94A3B8"/>
                </a:solidFill>
                <a:latin typeface="Meiryo UI" panose="020B0604030504040204" pitchFamily="50" charset="-128"/>
                <a:ea typeface="Meiryo UI" panose="020B0604030504040204" pitchFamily="50" charset="-128"/>
              </a:rPr>
              <a:t>(1.2%)</a:t>
            </a:r>
            <a:endParaRPr kumimoji="1" lang="ja-JP" altLang="en-US" sz="1550" b="1">
              <a:solidFill>
                <a:srgbClr val="94A3B8"/>
              </a:solidFill>
              <a:latin typeface="Meiryo UI" panose="020B0604030504040204" pitchFamily="50" charset="-128"/>
              <a:ea typeface="Meiryo UI" panose="020B0604030504040204" pitchFamily="50" charset="-128"/>
            </a:endParaRPr>
          </a:p>
        </p:txBody>
      </p:sp>
      <p:sp>
        <p:nvSpPr>
          <p:cNvPr id="35" name="四角形: 角を丸くする 34">
            <a:extLst>
              <a:ext uri="{FF2B5EF4-FFF2-40B4-BE49-F238E27FC236}">
                <a16:creationId xmlns:a16="http://schemas.microsoft.com/office/drawing/2014/main" id="{72160CE6-B60C-7A3A-EC61-E27E36F0FAF3}"/>
              </a:ext>
            </a:extLst>
          </p:cNvPr>
          <p:cNvSpPr/>
          <p:nvPr/>
        </p:nvSpPr>
        <p:spPr>
          <a:xfrm>
            <a:off x="5130800" y="4876800"/>
            <a:ext cx="6426200" cy="1473200"/>
          </a:xfrm>
          <a:prstGeom prst="roundRect">
            <a:avLst>
              <a:gd name="adj" fmla="val 12000"/>
            </a:avLst>
          </a:prstGeom>
          <a:solidFill>
            <a:srgbClr val="FEF2F2"/>
          </a:solidFill>
          <a:ln w="19050">
            <a:solidFill>
              <a:srgbClr val="EF4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5FEFBF4E-33D8-E292-9CBF-32F6D62726BA}"/>
              </a:ext>
            </a:extLst>
          </p:cNvPr>
          <p:cNvSpPr txBox="1"/>
          <p:nvPr/>
        </p:nvSpPr>
        <p:spPr>
          <a:xfrm>
            <a:off x="5334000" y="4978400"/>
            <a:ext cx="6045200" cy="1025922"/>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・当院は入院専門のリハ病院（外来は退院フォローのみ、介護は訪問・通所）のため、日常で住民が接する機会が少ない。
・地元市民でも</a:t>
            </a:r>
            <a:r>
              <a:rPr kumimoji="1" lang="en-US" altLang="ja-JP" sz="1500" b="1">
                <a:solidFill>
                  <a:srgbClr val="1E293B"/>
                </a:solidFill>
                <a:latin typeface="Meiryo UI" panose="020B0604030504040204" pitchFamily="50" charset="-128"/>
                <a:ea typeface="Meiryo UI" panose="020B0604030504040204" pitchFamily="50" charset="-128"/>
              </a:rPr>
              <a:t>5</a:t>
            </a:r>
            <a:r>
              <a:rPr kumimoji="1" lang="ja-JP" altLang="en-US" sz="1500" b="1">
                <a:solidFill>
                  <a:srgbClr val="1E293B"/>
                </a:solidFill>
                <a:latin typeface="Meiryo UI" panose="020B0604030504040204" pitchFamily="50" charset="-128"/>
                <a:ea typeface="Meiryo UI" panose="020B0604030504040204" pitchFamily="50" charset="-128"/>
              </a:rPr>
              <a:t>人に</a:t>
            </a:r>
            <a:r>
              <a:rPr kumimoji="1" lang="en-US" altLang="ja-JP" sz="1500" b="1">
                <a:solidFill>
                  <a:srgbClr val="1E293B"/>
                </a:solidFill>
                <a:latin typeface="Meiryo UI" panose="020B0604030504040204" pitchFamily="50" charset="-128"/>
                <a:ea typeface="Meiryo UI" panose="020B0604030504040204" pitchFamily="50" charset="-128"/>
              </a:rPr>
              <a:t>1</a:t>
            </a:r>
            <a:r>
              <a:rPr kumimoji="1" lang="ja-JP" altLang="en-US" sz="1500" b="1">
                <a:solidFill>
                  <a:srgbClr val="1E293B"/>
                </a:solidFill>
                <a:latin typeface="Meiryo UI" panose="020B0604030504040204" pitchFamily="50" charset="-128"/>
                <a:ea typeface="Meiryo UI" panose="020B0604030504040204" pitchFamily="50" charset="-128"/>
              </a:rPr>
              <a:t>人（</a:t>
            </a:r>
            <a:r>
              <a:rPr kumimoji="1" lang="en-US" altLang="ja-JP" sz="1500" b="1">
                <a:solidFill>
                  <a:srgbClr val="1E293B"/>
                </a:solidFill>
                <a:latin typeface="Meiryo UI" panose="020B0604030504040204" pitchFamily="50" charset="-128"/>
                <a:ea typeface="Meiryo UI" panose="020B0604030504040204" pitchFamily="50" charset="-128"/>
              </a:rPr>
              <a:t>21.1%</a:t>
            </a:r>
            <a:r>
              <a:rPr kumimoji="1" lang="ja-JP" altLang="en-US" sz="1500" b="1">
                <a:solidFill>
                  <a:srgbClr val="1E293B"/>
                </a:solidFill>
                <a:latin typeface="Meiryo UI" panose="020B0604030504040204" pitchFamily="50" charset="-128"/>
                <a:ea typeface="Meiryo UI" panose="020B0604030504040204" pitchFamily="50" charset="-128"/>
              </a:rPr>
              <a:t>）が「今日初めて知った」と答え、「名前のみ（</a:t>
            </a:r>
            <a:r>
              <a:rPr kumimoji="1" lang="en-US" altLang="ja-JP" sz="1500" b="1">
                <a:solidFill>
                  <a:srgbClr val="1E293B"/>
                </a:solidFill>
                <a:latin typeface="Meiryo UI" panose="020B0604030504040204" pitchFamily="50" charset="-128"/>
                <a:ea typeface="Meiryo UI" panose="020B0604030504040204" pitchFamily="50" charset="-128"/>
              </a:rPr>
              <a:t>59.6%</a:t>
            </a:r>
            <a:r>
              <a:rPr kumimoji="1" lang="ja-JP" altLang="en-US" sz="1500" b="1">
                <a:solidFill>
                  <a:srgbClr val="1E293B"/>
                </a:solidFill>
                <a:latin typeface="Meiryo UI" panose="020B0604030504040204" pitchFamily="50" charset="-128"/>
                <a:ea typeface="Meiryo UI" panose="020B0604030504040204" pitchFamily="50" charset="-128"/>
              </a:rPr>
              <a:t>）」と合わせ</a:t>
            </a:r>
            <a:r>
              <a:rPr kumimoji="1" lang="en-US" altLang="ja-JP" sz="1500" b="1">
                <a:solidFill>
                  <a:srgbClr val="1E293B"/>
                </a:solidFill>
                <a:latin typeface="Meiryo UI" panose="020B0604030504040204" pitchFamily="50" charset="-128"/>
                <a:ea typeface="Meiryo UI" panose="020B0604030504040204" pitchFamily="50" charset="-128"/>
              </a:rPr>
              <a:t>80.7%</a:t>
            </a:r>
            <a:r>
              <a:rPr kumimoji="1" lang="ja-JP" altLang="en-US" sz="1500" b="1">
                <a:solidFill>
                  <a:srgbClr val="1E293B"/>
                </a:solidFill>
                <a:latin typeface="Meiryo UI" panose="020B0604030504040204" pitchFamily="50" charset="-128"/>
                <a:ea typeface="Meiryo UI" panose="020B0604030504040204" pitchFamily="50" charset="-128"/>
              </a:rPr>
              <a:t>が詳細を知らない点が弱点である。</a:t>
            </a:r>
          </a:p>
        </p:txBody>
      </p:sp>
    </p:spTree>
    <p:extLst>
      <p:ext uri="{BB962C8B-B14F-4D97-AF65-F5344CB8AC3E}">
        <p14:creationId xmlns:p14="http://schemas.microsoft.com/office/powerpoint/2010/main" val="4004219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77F722D3-6D12-B74D-26A0-8D303C7A67D9}"/>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332C04D2-CD0C-C298-37BC-EA785C47678D}"/>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75136619-4069-A49F-D655-BF438A983771}"/>
              </a:ext>
            </a:extLst>
          </p:cNvPr>
          <p:cNvSpPr/>
          <p:nvPr/>
        </p:nvSpPr>
        <p:spPr>
          <a:xfrm>
            <a:off x="457200" y="330200"/>
            <a:ext cx="2082800" cy="4064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27C1A3C6-BE12-304E-8271-13CF85A69204}"/>
              </a:ext>
            </a:extLst>
          </p:cNvPr>
          <p:cNvSpPr txBox="1"/>
          <p:nvPr/>
        </p:nvSpPr>
        <p:spPr>
          <a:xfrm>
            <a:off x="457200" y="355600"/>
            <a:ext cx="2082800" cy="502702"/>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3</a:t>
            </a:r>
            <a:r>
              <a:rPr kumimoji="1" lang="ja-JP" altLang="en-US" sz="1300" b="1">
                <a:solidFill>
                  <a:srgbClr val="FFFFFF"/>
                </a:solidFill>
                <a:latin typeface="Meiryo UI" panose="020B0604030504040204" pitchFamily="50" charset="-128"/>
                <a:ea typeface="Meiryo UI" panose="020B0604030504040204" pitchFamily="50" charset="-128"/>
              </a:rPr>
              <a:t>部：考察③ 世代別の弱点</a:t>
            </a:r>
          </a:p>
        </p:txBody>
      </p:sp>
      <p:sp>
        <p:nvSpPr>
          <p:cNvPr id="6" name="テキスト ボックス 5">
            <a:extLst>
              <a:ext uri="{FF2B5EF4-FFF2-40B4-BE49-F238E27FC236}">
                <a16:creationId xmlns:a16="http://schemas.microsoft.com/office/drawing/2014/main" id="{DDDA4CE5-960D-164F-50AC-E4ECCE7DDD49}"/>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アンケートからわかる当院の弱点②：八千代市内の年代別認知度</a:t>
            </a:r>
          </a:p>
        </p:txBody>
      </p:sp>
      <p:sp>
        <p:nvSpPr>
          <p:cNvPr id="7" name="四角形: 角を丸くする 6">
            <a:extLst>
              <a:ext uri="{FF2B5EF4-FFF2-40B4-BE49-F238E27FC236}">
                <a16:creationId xmlns:a16="http://schemas.microsoft.com/office/drawing/2014/main" id="{D2CDD2E4-D766-2474-E46B-C895706C2D56}"/>
              </a:ext>
            </a:extLst>
          </p:cNvPr>
          <p:cNvSpPr/>
          <p:nvPr/>
        </p:nvSpPr>
        <p:spPr>
          <a:xfrm>
            <a:off x="10871200" y="330200"/>
            <a:ext cx="863600" cy="381000"/>
          </a:xfrm>
          <a:prstGeom prst="roundRect">
            <a:avLst>
              <a:gd name="adj" fmla="val 5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7548524-DBC7-1DB0-8DA8-3A130A317D5B}"/>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EF4444"/>
                </a:solidFill>
                <a:latin typeface="Meiryo UI" panose="020B0604030504040204" pitchFamily="50" charset="-128"/>
                <a:ea typeface="Meiryo UI" panose="020B0604030504040204" pitchFamily="50" charset="-128"/>
              </a:rPr>
              <a:t>18 / 22</a:t>
            </a:r>
            <a:endParaRPr kumimoji="1" lang="ja-JP" altLang="en-US" sz="1250" b="1">
              <a:solidFill>
                <a:srgbClr val="EF4444"/>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A4A6A7AF-F267-2447-264F-5F7E06A87882}"/>
              </a:ext>
            </a:extLst>
          </p:cNvPr>
          <p:cNvSpPr/>
          <p:nvPr/>
        </p:nvSpPr>
        <p:spPr>
          <a:xfrm>
            <a:off x="457200" y="838200"/>
            <a:ext cx="11277600" cy="431800"/>
          </a:xfrm>
          <a:prstGeom prst="roundRect">
            <a:avLst>
              <a:gd name="adj" fmla="val 3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6E50E3C3-4F32-8248-0462-C1ACC2A1D92B}"/>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EF4444"/>
                </a:solidFill>
                <a:latin typeface="Meiryo UI" panose="020B0604030504040204" pitchFamily="50" charset="-128"/>
                <a:ea typeface="Meiryo UI" panose="020B0604030504040204" pitchFamily="50" charset="-128"/>
              </a:rPr>
              <a:t>家族の入院先を選ぶ市内</a:t>
            </a:r>
            <a:r>
              <a:rPr kumimoji="1" lang="en-US" altLang="ja-JP" sz="1500" b="1">
                <a:solidFill>
                  <a:srgbClr val="EF4444"/>
                </a:solidFill>
                <a:latin typeface="Meiryo UI" panose="020B0604030504040204" pitchFamily="50" charset="-128"/>
                <a:ea typeface="Meiryo UI" panose="020B0604030504040204" pitchFamily="50" charset="-128"/>
              </a:rPr>
              <a:t>40〜60</a:t>
            </a:r>
            <a:r>
              <a:rPr kumimoji="1" lang="ja-JP" altLang="en-US" sz="1500" b="1">
                <a:solidFill>
                  <a:srgbClr val="EF4444"/>
                </a:solidFill>
                <a:latin typeface="Meiryo UI" panose="020B0604030504040204" pitchFamily="50" charset="-128"/>
                <a:ea typeface="Meiryo UI" panose="020B0604030504040204" pitchFamily="50" charset="-128"/>
              </a:rPr>
              <a:t>代や、当事者の市内</a:t>
            </a:r>
            <a:r>
              <a:rPr kumimoji="1" lang="en-US" altLang="ja-JP" sz="1500" b="1">
                <a:solidFill>
                  <a:srgbClr val="EF4444"/>
                </a:solidFill>
                <a:latin typeface="Meiryo UI" panose="020B0604030504040204" pitchFamily="50" charset="-128"/>
                <a:ea typeface="Meiryo UI" panose="020B0604030504040204" pitchFamily="50" charset="-128"/>
              </a:rPr>
              <a:t>80</a:t>
            </a:r>
            <a:r>
              <a:rPr kumimoji="1" lang="ja-JP" altLang="en-US" sz="1500" b="1">
                <a:solidFill>
                  <a:srgbClr val="EF4444"/>
                </a:solidFill>
                <a:latin typeface="Meiryo UI" panose="020B0604030504040204" pitchFamily="50" charset="-128"/>
                <a:ea typeface="Meiryo UI" panose="020B0604030504040204" pitchFamily="50" charset="-128"/>
              </a:rPr>
              <a:t>代でも「初認知・名前のみ」が</a:t>
            </a:r>
            <a:r>
              <a:rPr kumimoji="1" lang="en-US" altLang="ja-JP" sz="1500" b="1">
                <a:solidFill>
                  <a:srgbClr val="EF4444"/>
                </a:solidFill>
                <a:latin typeface="Meiryo UI" panose="020B0604030504040204" pitchFamily="50" charset="-128"/>
                <a:ea typeface="Meiryo UI" panose="020B0604030504040204" pitchFamily="50" charset="-128"/>
              </a:rPr>
              <a:t>8〜9</a:t>
            </a:r>
            <a:r>
              <a:rPr kumimoji="1" lang="ja-JP" altLang="en-US" sz="1500" b="1">
                <a:solidFill>
                  <a:srgbClr val="EF4444"/>
                </a:solidFill>
                <a:latin typeface="Meiryo UI" panose="020B0604030504040204" pitchFamily="50" charset="-128"/>
                <a:ea typeface="Meiryo UI" panose="020B0604030504040204" pitchFamily="50" charset="-128"/>
              </a:rPr>
              <a:t>割を占める</a:t>
            </a:r>
          </a:p>
        </p:txBody>
      </p:sp>
      <p:sp>
        <p:nvSpPr>
          <p:cNvPr id="11" name="四角形: 角を丸くする 10">
            <a:extLst>
              <a:ext uri="{FF2B5EF4-FFF2-40B4-BE49-F238E27FC236}">
                <a16:creationId xmlns:a16="http://schemas.microsoft.com/office/drawing/2014/main" id="{E4A0A86D-38A0-FA5C-DD69-91778C76C711}"/>
              </a:ext>
            </a:extLst>
          </p:cNvPr>
          <p:cNvSpPr/>
          <p:nvPr/>
        </p:nvSpPr>
        <p:spPr>
          <a:xfrm>
            <a:off x="254000" y="1549400"/>
            <a:ext cx="72390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6C169B9E-D3CB-F713-1AC5-6E569EE2D26B}"/>
              </a:ext>
            </a:extLst>
          </p:cNvPr>
          <p:cNvSpPr/>
          <p:nvPr/>
        </p:nvSpPr>
        <p:spPr>
          <a:xfrm>
            <a:off x="482600" y="1778000"/>
            <a:ext cx="101600" cy="3302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6C1A3C9F-CEDB-3475-2AD4-6B3730618471}"/>
              </a:ext>
            </a:extLst>
          </p:cNvPr>
          <p:cNvSpPr txBox="1"/>
          <p:nvPr/>
        </p:nvSpPr>
        <p:spPr>
          <a:xfrm>
            <a:off x="685800" y="1739900"/>
            <a:ext cx="66040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八千代市内の主要年代における「初認知＋名前のみ」割合</a:t>
            </a:r>
          </a:p>
        </p:txBody>
      </p:sp>
      <p:sp>
        <p:nvSpPr>
          <p:cNvPr id="14" name="テキスト ボックス 13">
            <a:extLst>
              <a:ext uri="{FF2B5EF4-FFF2-40B4-BE49-F238E27FC236}">
                <a16:creationId xmlns:a16="http://schemas.microsoft.com/office/drawing/2014/main" id="{DA9DE999-B8C7-998D-3C78-48DCA7DDC5BE}"/>
              </a:ext>
            </a:extLst>
          </p:cNvPr>
          <p:cNvSpPr txBox="1"/>
          <p:nvPr/>
        </p:nvSpPr>
        <p:spPr>
          <a:xfrm>
            <a:off x="508000" y="2413000"/>
            <a:ext cx="2222500" cy="333425"/>
          </a:xfrm>
          <a:prstGeom prst="rect">
            <a:avLst/>
          </a:prstGeom>
          <a:noFill/>
        </p:spPr>
        <p:txBody>
          <a:bodyPr vert="horz" wrap="square" lIns="76200" tIns="50800" rIns="76200" bIns="50800" rtlCol="0">
            <a:spAutoFit/>
          </a:bodyPr>
          <a:lstStyle/>
          <a:p>
            <a:r>
              <a:rPr kumimoji="1" lang="zh-CN" altLang="en-US" sz="1500" b="1">
                <a:solidFill>
                  <a:srgbClr val="1E293B"/>
                </a:solidFill>
                <a:latin typeface="Meiryo UI" panose="020B0604030504040204" pitchFamily="50" charset="-128"/>
                <a:ea typeface="Meiryo UI" panose="020B0604030504040204" pitchFamily="50" charset="-128"/>
              </a:rPr>
              <a:t>市内 </a:t>
            </a:r>
            <a:r>
              <a:rPr kumimoji="1" lang="en-US" altLang="zh-CN" sz="1500" b="1">
                <a:solidFill>
                  <a:srgbClr val="1E293B"/>
                </a:solidFill>
                <a:latin typeface="Meiryo UI" panose="020B0604030504040204" pitchFamily="50" charset="-128"/>
                <a:ea typeface="Meiryo UI" panose="020B0604030504040204" pitchFamily="50" charset="-128"/>
              </a:rPr>
              <a:t>40</a:t>
            </a:r>
            <a:r>
              <a:rPr kumimoji="1" lang="zh-CN" altLang="en-US" sz="1500" b="1">
                <a:solidFill>
                  <a:srgbClr val="1E293B"/>
                </a:solidFill>
                <a:latin typeface="Meiryo UI" panose="020B0604030504040204" pitchFamily="50" charset="-128"/>
                <a:ea typeface="Meiryo UI" panose="020B0604030504040204" pitchFamily="50" charset="-128"/>
              </a:rPr>
              <a:t>歳代 </a:t>
            </a:r>
            <a:r>
              <a:rPr kumimoji="1" lang="en-US" altLang="zh-CN" sz="1500" b="1">
                <a:solidFill>
                  <a:srgbClr val="1E293B"/>
                </a:solidFill>
                <a:latin typeface="Meiryo UI" panose="020B0604030504040204" pitchFamily="50" charset="-128"/>
                <a:ea typeface="Meiryo UI" panose="020B0604030504040204" pitchFamily="50" charset="-128"/>
              </a:rPr>
              <a:t>(21</a:t>
            </a:r>
            <a:r>
              <a:rPr kumimoji="1" lang="zh-CN" altLang="en-US" sz="1500" b="1">
                <a:solidFill>
                  <a:srgbClr val="1E293B"/>
                </a:solidFill>
                <a:latin typeface="Meiryo UI" panose="020B0604030504040204" pitchFamily="50" charset="-128"/>
                <a:ea typeface="Meiryo UI" panose="020B0604030504040204" pitchFamily="50" charset="-128"/>
              </a:rPr>
              <a:t>名</a:t>
            </a:r>
            <a:r>
              <a:rPr kumimoji="1" lang="en-US" altLang="zh-CN" sz="1500" b="1">
                <a:solidFill>
                  <a:srgbClr val="1E293B"/>
                </a:solidFill>
                <a:latin typeface="Meiryo UI" panose="020B0604030504040204" pitchFamily="50" charset="-128"/>
                <a:ea typeface="Meiryo UI" panose="020B0604030504040204" pitchFamily="50" charset="-128"/>
              </a:rPr>
              <a:t>)</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15" name="四角形: 角を丸くする 14">
            <a:extLst>
              <a:ext uri="{FF2B5EF4-FFF2-40B4-BE49-F238E27FC236}">
                <a16:creationId xmlns:a16="http://schemas.microsoft.com/office/drawing/2014/main" id="{7F2CC21E-EC64-0A41-6D4B-67123DBD7474}"/>
              </a:ext>
            </a:extLst>
          </p:cNvPr>
          <p:cNvSpPr/>
          <p:nvPr/>
        </p:nvSpPr>
        <p:spPr>
          <a:xfrm>
            <a:off x="2832100" y="2476500"/>
            <a:ext cx="2667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F8FD66D4-BD92-5BD0-ACDD-C810772D0CAA}"/>
              </a:ext>
            </a:extLst>
          </p:cNvPr>
          <p:cNvSpPr/>
          <p:nvPr/>
        </p:nvSpPr>
        <p:spPr>
          <a:xfrm>
            <a:off x="2832100" y="2476500"/>
            <a:ext cx="2286000" cy="2540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34CFFCDF-CCF3-0A9C-F397-898CAC6ACD44}"/>
              </a:ext>
            </a:extLst>
          </p:cNvPr>
          <p:cNvSpPr txBox="1"/>
          <p:nvPr/>
        </p:nvSpPr>
        <p:spPr>
          <a:xfrm>
            <a:off x="5626100" y="2413000"/>
            <a:ext cx="1841500" cy="564257"/>
          </a:xfrm>
          <a:prstGeom prst="rect">
            <a:avLst/>
          </a:prstGeom>
          <a:noFill/>
        </p:spPr>
        <p:txBody>
          <a:bodyPr vert="horz" wrap="square" lIns="76200" tIns="50800" rIns="76200" bIns="50800" rtlCol="0">
            <a:spAutoFit/>
          </a:bodyPr>
          <a:lstStyle/>
          <a:p>
            <a:r>
              <a:rPr kumimoji="1" lang="en-US" altLang="ja-JP" sz="1500" b="1">
                <a:solidFill>
                  <a:srgbClr val="EF4444"/>
                </a:solidFill>
                <a:latin typeface="Meiryo UI" panose="020B0604030504040204" pitchFamily="50" charset="-128"/>
                <a:ea typeface="Meiryo UI" panose="020B0604030504040204" pitchFamily="50" charset="-128"/>
              </a:rPr>
              <a:t>85.7% (</a:t>
            </a:r>
            <a:r>
              <a:rPr kumimoji="1" lang="ja-JP" altLang="en-US" sz="1500" b="1">
                <a:solidFill>
                  <a:srgbClr val="EF4444"/>
                </a:solidFill>
                <a:latin typeface="Meiryo UI" panose="020B0604030504040204" pitchFamily="50" charset="-128"/>
                <a:ea typeface="Meiryo UI" panose="020B0604030504040204" pitchFamily="50" charset="-128"/>
              </a:rPr>
              <a:t>初認知</a:t>
            </a:r>
            <a:r>
              <a:rPr kumimoji="1" lang="en-US" altLang="ja-JP" sz="1500" b="1">
                <a:solidFill>
                  <a:srgbClr val="EF4444"/>
                </a:solidFill>
                <a:latin typeface="Meiryo UI" panose="020B0604030504040204" pitchFamily="50" charset="-128"/>
                <a:ea typeface="Meiryo UI" panose="020B0604030504040204" pitchFamily="50" charset="-128"/>
              </a:rPr>
              <a:t>33%)</a:t>
            </a:r>
            <a:endParaRPr kumimoji="1" lang="ja-JP" altLang="en-US" sz="1500" b="1">
              <a:solidFill>
                <a:srgbClr val="EF4444"/>
              </a:solidFill>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FA298A57-26B2-341A-62DB-5D97D1A51666}"/>
              </a:ext>
            </a:extLst>
          </p:cNvPr>
          <p:cNvSpPr txBox="1"/>
          <p:nvPr/>
        </p:nvSpPr>
        <p:spPr>
          <a:xfrm>
            <a:off x="508000" y="3238500"/>
            <a:ext cx="2222500" cy="333425"/>
          </a:xfrm>
          <a:prstGeom prst="rect">
            <a:avLst/>
          </a:prstGeom>
          <a:noFill/>
        </p:spPr>
        <p:txBody>
          <a:bodyPr vert="horz" wrap="square" lIns="76200" tIns="50800" rIns="76200" bIns="50800" rtlCol="0">
            <a:spAutoFit/>
          </a:bodyPr>
          <a:lstStyle/>
          <a:p>
            <a:r>
              <a:rPr kumimoji="1" lang="zh-CN" altLang="en-US" sz="1500" b="1">
                <a:solidFill>
                  <a:srgbClr val="1E293B"/>
                </a:solidFill>
                <a:latin typeface="Meiryo UI" panose="020B0604030504040204" pitchFamily="50" charset="-128"/>
                <a:ea typeface="Meiryo UI" panose="020B0604030504040204" pitchFamily="50" charset="-128"/>
              </a:rPr>
              <a:t>市内 </a:t>
            </a:r>
            <a:r>
              <a:rPr kumimoji="1" lang="en-US" altLang="zh-CN" sz="1500" b="1">
                <a:solidFill>
                  <a:srgbClr val="1E293B"/>
                </a:solidFill>
                <a:latin typeface="Meiryo UI" panose="020B0604030504040204" pitchFamily="50" charset="-128"/>
                <a:ea typeface="Meiryo UI" panose="020B0604030504040204" pitchFamily="50" charset="-128"/>
              </a:rPr>
              <a:t>50</a:t>
            </a:r>
            <a:r>
              <a:rPr kumimoji="1" lang="zh-CN" altLang="en-US" sz="1500" b="1">
                <a:solidFill>
                  <a:srgbClr val="1E293B"/>
                </a:solidFill>
                <a:latin typeface="Meiryo UI" panose="020B0604030504040204" pitchFamily="50" charset="-128"/>
                <a:ea typeface="Meiryo UI" panose="020B0604030504040204" pitchFamily="50" charset="-128"/>
              </a:rPr>
              <a:t>歳代 </a:t>
            </a:r>
            <a:r>
              <a:rPr kumimoji="1" lang="en-US" altLang="zh-CN" sz="1500" b="1">
                <a:solidFill>
                  <a:srgbClr val="1E293B"/>
                </a:solidFill>
                <a:latin typeface="Meiryo UI" panose="020B0604030504040204" pitchFamily="50" charset="-128"/>
                <a:ea typeface="Meiryo UI" panose="020B0604030504040204" pitchFamily="50" charset="-128"/>
              </a:rPr>
              <a:t>(47</a:t>
            </a:r>
            <a:r>
              <a:rPr kumimoji="1" lang="zh-CN" altLang="en-US" sz="1500" b="1">
                <a:solidFill>
                  <a:srgbClr val="1E293B"/>
                </a:solidFill>
                <a:latin typeface="Meiryo UI" panose="020B0604030504040204" pitchFamily="50" charset="-128"/>
                <a:ea typeface="Meiryo UI" panose="020B0604030504040204" pitchFamily="50" charset="-128"/>
              </a:rPr>
              <a:t>名</a:t>
            </a:r>
            <a:r>
              <a:rPr kumimoji="1" lang="en-US" altLang="zh-CN" sz="1500" b="1">
                <a:solidFill>
                  <a:srgbClr val="1E293B"/>
                </a:solidFill>
                <a:latin typeface="Meiryo UI" panose="020B0604030504040204" pitchFamily="50" charset="-128"/>
                <a:ea typeface="Meiryo UI" panose="020B0604030504040204" pitchFamily="50" charset="-128"/>
              </a:rPr>
              <a:t>)</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19" name="四角形: 角を丸くする 18">
            <a:extLst>
              <a:ext uri="{FF2B5EF4-FFF2-40B4-BE49-F238E27FC236}">
                <a16:creationId xmlns:a16="http://schemas.microsoft.com/office/drawing/2014/main" id="{243F97E3-77D1-F8D2-326A-11856C8FFD95}"/>
              </a:ext>
            </a:extLst>
          </p:cNvPr>
          <p:cNvSpPr/>
          <p:nvPr/>
        </p:nvSpPr>
        <p:spPr>
          <a:xfrm>
            <a:off x="2832100" y="3302000"/>
            <a:ext cx="2667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D38EAE4D-A739-8178-7C05-B61F77413D42}"/>
              </a:ext>
            </a:extLst>
          </p:cNvPr>
          <p:cNvSpPr/>
          <p:nvPr/>
        </p:nvSpPr>
        <p:spPr>
          <a:xfrm>
            <a:off x="2832100" y="3302000"/>
            <a:ext cx="2438400" cy="2540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3B299527-CF6C-9F51-D810-F279594B9589}"/>
              </a:ext>
            </a:extLst>
          </p:cNvPr>
          <p:cNvSpPr txBox="1"/>
          <p:nvPr/>
        </p:nvSpPr>
        <p:spPr>
          <a:xfrm>
            <a:off x="5626100" y="3238500"/>
            <a:ext cx="1841500" cy="564257"/>
          </a:xfrm>
          <a:prstGeom prst="rect">
            <a:avLst/>
          </a:prstGeom>
          <a:noFill/>
        </p:spPr>
        <p:txBody>
          <a:bodyPr vert="horz" wrap="square" lIns="76200" tIns="50800" rIns="76200" bIns="50800" rtlCol="0">
            <a:spAutoFit/>
          </a:bodyPr>
          <a:lstStyle/>
          <a:p>
            <a:r>
              <a:rPr kumimoji="1" lang="en-US" altLang="ja-JP" sz="1500" b="1">
                <a:solidFill>
                  <a:srgbClr val="EF4444"/>
                </a:solidFill>
                <a:latin typeface="Meiryo UI" panose="020B0604030504040204" pitchFamily="50" charset="-128"/>
                <a:ea typeface="Meiryo UI" panose="020B0604030504040204" pitchFamily="50" charset="-128"/>
              </a:rPr>
              <a:t>91.5% (</a:t>
            </a:r>
            <a:r>
              <a:rPr kumimoji="1" lang="ja-JP" altLang="en-US" sz="1500" b="1">
                <a:solidFill>
                  <a:srgbClr val="EF4444"/>
                </a:solidFill>
                <a:latin typeface="Meiryo UI" panose="020B0604030504040204" pitchFamily="50" charset="-128"/>
                <a:ea typeface="Meiryo UI" panose="020B0604030504040204" pitchFamily="50" charset="-128"/>
              </a:rPr>
              <a:t>名前のみ</a:t>
            </a:r>
            <a:r>
              <a:rPr kumimoji="1" lang="en-US" altLang="ja-JP" sz="1500" b="1">
                <a:solidFill>
                  <a:srgbClr val="EF4444"/>
                </a:solidFill>
                <a:latin typeface="Meiryo UI" panose="020B0604030504040204" pitchFamily="50" charset="-128"/>
                <a:ea typeface="Meiryo UI" panose="020B0604030504040204" pitchFamily="50" charset="-128"/>
              </a:rPr>
              <a:t>79%)</a:t>
            </a:r>
            <a:endParaRPr kumimoji="1" lang="ja-JP" altLang="en-US" sz="1500" b="1">
              <a:solidFill>
                <a:srgbClr val="EF4444"/>
              </a:solidFill>
              <a:latin typeface="Meiryo UI" panose="020B0604030504040204" pitchFamily="50" charset="-128"/>
              <a:ea typeface="Meiryo UI" panose="020B0604030504040204" pitchFamily="50" charset="-128"/>
            </a:endParaRPr>
          </a:p>
        </p:txBody>
      </p:sp>
      <p:sp>
        <p:nvSpPr>
          <p:cNvPr id="22" name="テキスト ボックス 21">
            <a:extLst>
              <a:ext uri="{FF2B5EF4-FFF2-40B4-BE49-F238E27FC236}">
                <a16:creationId xmlns:a16="http://schemas.microsoft.com/office/drawing/2014/main" id="{2ED82406-575E-75E5-47A9-02A3D07DF142}"/>
              </a:ext>
            </a:extLst>
          </p:cNvPr>
          <p:cNvSpPr txBox="1"/>
          <p:nvPr/>
        </p:nvSpPr>
        <p:spPr>
          <a:xfrm>
            <a:off x="508000" y="4064000"/>
            <a:ext cx="2222500" cy="333425"/>
          </a:xfrm>
          <a:prstGeom prst="rect">
            <a:avLst/>
          </a:prstGeom>
          <a:noFill/>
        </p:spPr>
        <p:txBody>
          <a:bodyPr vert="horz" wrap="square" lIns="76200" tIns="50800" rIns="76200" bIns="50800" rtlCol="0">
            <a:spAutoFit/>
          </a:bodyPr>
          <a:lstStyle/>
          <a:p>
            <a:r>
              <a:rPr kumimoji="1" lang="zh-CN" altLang="en-US" sz="1500" b="1">
                <a:solidFill>
                  <a:srgbClr val="1E293B"/>
                </a:solidFill>
                <a:latin typeface="Meiryo UI" panose="020B0604030504040204" pitchFamily="50" charset="-128"/>
                <a:ea typeface="Meiryo UI" panose="020B0604030504040204" pitchFamily="50" charset="-128"/>
              </a:rPr>
              <a:t>市内 </a:t>
            </a:r>
            <a:r>
              <a:rPr kumimoji="1" lang="en-US" altLang="zh-CN" sz="1500" b="1">
                <a:solidFill>
                  <a:srgbClr val="1E293B"/>
                </a:solidFill>
                <a:latin typeface="Meiryo UI" panose="020B0604030504040204" pitchFamily="50" charset="-128"/>
                <a:ea typeface="Meiryo UI" panose="020B0604030504040204" pitchFamily="50" charset="-128"/>
              </a:rPr>
              <a:t>60</a:t>
            </a:r>
            <a:r>
              <a:rPr kumimoji="1" lang="zh-CN" altLang="en-US" sz="1500" b="1">
                <a:solidFill>
                  <a:srgbClr val="1E293B"/>
                </a:solidFill>
                <a:latin typeface="Meiryo UI" panose="020B0604030504040204" pitchFamily="50" charset="-128"/>
                <a:ea typeface="Meiryo UI" panose="020B0604030504040204" pitchFamily="50" charset="-128"/>
              </a:rPr>
              <a:t>歳代 </a:t>
            </a:r>
            <a:r>
              <a:rPr kumimoji="1" lang="en-US" altLang="zh-CN" sz="1500" b="1">
                <a:solidFill>
                  <a:srgbClr val="1E293B"/>
                </a:solidFill>
                <a:latin typeface="Meiryo UI" panose="020B0604030504040204" pitchFamily="50" charset="-128"/>
                <a:ea typeface="Meiryo UI" panose="020B0604030504040204" pitchFamily="50" charset="-128"/>
              </a:rPr>
              <a:t>(30</a:t>
            </a:r>
            <a:r>
              <a:rPr kumimoji="1" lang="zh-CN" altLang="en-US" sz="1500" b="1">
                <a:solidFill>
                  <a:srgbClr val="1E293B"/>
                </a:solidFill>
                <a:latin typeface="Meiryo UI" panose="020B0604030504040204" pitchFamily="50" charset="-128"/>
                <a:ea typeface="Meiryo UI" panose="020B0604030504040204" pitchFamily="50" charset="-128"/>
              </a:rPr>
              <a:t>名</a:t>
            </a:r>
            <a:r>
              <a:rPr kumimoji="1" lang="en-US" altLang="zh-CN" sz="1500" b="1">
                <a:solidFill>
                  <a:srgbClr val="1E293B"/>
                </a:solidFill>
                <a:latin typeface="Meiryo UI" panose="020B0604030504040204" pitchFamily="50" charset="-128"/>
                <a:ea typeface="Meiryo UI" panose="020B0604030504040204" pitchFamily="50" charset="-128"/>
              </a:rPr>
              <a:t>)</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23" name="四角形: 角を丸くする 22">
            <a:extLst>
              <a:ext uri="{FF2B5EF4-FFF2-40B4-BE49-F238E27FC236}">
                <a16:creationId xmlns:a16="http://schemas.microsoft.com/office/drawing/2014/main" id="{435286D6-C85D-B040-49F9-C4AF0A8F947A}"/>
              </a:ext>
            </a:extLst>
          </p:cNvPr>
          <p:cNvSpPr/>
          <p:nvPr/>
        </p:nvSpPr>
        <p:spPr>
          <a:xfrm>
            <a:off x="2832100" y="4127500"/>
            <a:ext cx="2667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665D16F6-8731-715E-AA71-BB2242ECCFD5}"/>
              </a:ext>
            </a:extLst>
          </p:cNvPr>
          <p:cNvSpPr/>
          <p:nvPr/>
        </p:nvSpPr>
        <p:spPr>
          <a:xfrm>
            <a:off x="2832100" y="4127500"/>
            <a:ext cx="2311400" cy="2540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9028C47D-8136-01BA-91C4-A93E82C11A1B}"/>
              </a:ext>
            </a:extLst>
          </p:cNvPr>
          <p:cNvSpPr txBox="1"/>
          <p:nvPr/>
        </p:nvSpPr>
        <p:spPr>
          <a:xfrm>
            <a:off x="5626100" y="4064000"/>
            <a:ext cx="1841500" cy="564257"/>
          </a:xfrm>
          <a:prstGeom prst="rect">
            <a:avLst/>
          </a:prstGeom>
          <a:noFill/>
        </p:spPr>
        <p:txBody>
          <a:bodyPr vert="horz" wrap="square" lIns="76200" tIns="50800" rIns="76200" bIns="50800" rtlCol="0">
            <a:spAutoFit/>
          </a:bodyPr>
          <a:lstStyle/>
          <a:p>
            <a:r>
              <a:rPr kumimoji="1" lang="en-US" altLang="ja-JP" sz="1500" b="1">
                <a:solidFill>
                  <a:srgbClr val="F59E0B"/>
                </a:solidFill>
                <a:latin typeface="Meiryo UI" panose="020B0604030504040204" pitchFamily="50" charset="-128"/>
                <a:ea typeface="Meiryo UI" panose="020B0604030504040204" pitchFamily="50" charset="-128"/>
              </a:rPr>
              <a:t>86.7% (</a:t>
            </a:r>
            <a:r>
              <a:rPr kumimoji="1" lang="ja-JP" altLang="en-US" sz="1500" b="1">
                <a:solidFill>
                  <a:srgbClr val="F59E0B"/>
                </a:solidFill>
                <a:latin typeface="Meiryo UI" panose="020B0604030504040204" pitchFamily="50" charset="-128"/>
                <a:ea typeface="Meiryo UI" panose="020B0604030504040204" pitchFamily="50" charset="-128"/>
              </a:rPr>
              <a:t>初認知</a:t>
            </a:r>
            <a:r>
              <a:rPr kumimoji="1" lang="en-US" altLang="ja-JP" sz="1500" b="1">
                <a:solidFill>
                  <a:srgbClr val="F59E0B"/>
                </a:solidFill>
                <a:latin typeface="Meiryo UI" panose="020B0604030504040204" pitchFamily="50" charset="-128"/>
                <a:ea typeface="Meiryo UI" panose="020B0604030504040204" pitchFamily="50" charset="-128"/>
              </a:rPr>
              <a:t>20%)</a:t>
            </a:r>
            <a:endParaRPr kumimoji="1" lang="ja-JP" altLang="en-US" sz="1500" b="1">
              <a:solidFill>
                <a:srgbClr val="F59E0B"/>
              </a:solidFill>
              <a:latin typeface="Meiryo UI" panose="020B0604030504040204" pitchFamily="50" charset="-128"/>
              <a:ea typeface="Meiryo UI" panose="020B0604030504040204" pitchFamily="50" charset="-128"/>
            </a:endParaRPr>
          </a:p>
        </p:txBody>
      </p:sp>
      <p:sp>
        <p:nvSpPr>
          <p:cNvPr id="26" name="テキスト ボックス 25">
            <a:extLst>
              <a:ext uri="{FF2B5EF4-FFF2-40B4-BE49-F238E27FC236}">
                <a16:creationId xmlns:a16="http://schemas.microsoft.com/office/drawing/2014/main" id="{A583AF22-714F-EFBB-693C-B81860B57C17}"/>
              </a:ext>
            </a:extLst>
          </p:cNvPr>
          <p:cNvSpPr txBox="1"/>
          <p:nvPr/>
        </p:nvSpPr>
        <p:spPr>
          <a:xfrm>
            <a:off x="508000" y="4889500"/>
            <a:ext cx="2222500" cy="333425"/>
          </a:xfrm>
          <a:prstGeom prst="rect">
            <a:avLst/>
          </a:prstGeom>
          <a:noFill/>
        </p:spPr>
        <p:txBody>
          <a:bodyPr vert="horz" wrap="square" lIns="76200" tIns="50800" rIns="76200" bIns="50800" rtlCol="0">
            <a:spAutoFit/>
          </a:bodyPr>
          <a:lstStyle/>
          <a:p>
            <a:r>
              <a:rPr kumimoji="1" lang="zh-CN" altLang="en-US" sz="1500" b="1">
                <a:solidFill>
                  <a:srgbClr val="1E293B"/>
                </a:solidFill>
                <a:latin typeface="Meiryo UI" panose="020B0604030504040204" pitchFamily="50" charset="-128"/>
                <a:ea typeface="Meiryo UI" panose="020B0604030504040204" pitchFamily="50" charset="-128"/>
              </a:rPr>
              <a:t>市内 </a:t>
            </a:r>
            <a:r>
              <a:rPr kumimoji="1" lang="en-US" altLang="zh-CN" sz="1500" b="1">
                <a:solidFill>
                  <a:srgbClr val="1E293B"/>
                </a:solidFill>
                <a:latin typeface="Meiryo UI" panose="020B0604030504040204" pitchFamily="50" charset="-128"/>
                <a:ea typeface="Meiryo UI" panose="020B0604030504040204" pitchFamily="50" charset="-128"/>
              </a:rPr>
              <a:t>80</a:t>
            </a:r>
            <a:r>
              <a:rPr kumimoji="1" lang="zh-CN" altLang="en-US" sz="1500" b="1">
                <a:solidFill>
                  <a:srgbClr val="1E293B"/>
                </a:solidFill>
                <a:latin typeface="Meiryo UI" panose="020B0604030504040204" pitchFamily="50" charset="-128"/>
                <a:ea typeface="Meiryo UI" panose="020B0604030504040204" pitchFamily="50" charset="-128"/>
              </a:rPr>
              <a:t>歳代 </a:t>
            </a:r>
            <a:r>
              <a:rPr kumimoji="1" lang="en-US" altLang="zh-CN" sz="1500" b="1">
                <a:solidFill>
                  <a:srgbClr val="1E293B"/>
                </a:solidFill>
                <a:latin typeface="Meiryo UI" panose="020B0604030504040204" pitchFamily="50" charset="-128"/>
                <a:ea typeface="Meiryo UI" panose="020B0604030504040204" pitchFamily="50" charset="-128"/>
              </a:rPr>
              <a:t>(19</a:t>
            </a:r>
            <a:r>
              <a:rPr kumimoji="1" lang="zh-CN" altLang="en-US" sz="1500" b="1">
                <a:solidFill>
                  <a:srgbClr val="1E293B"/>
                </a:solidFill>
                <a:latin typeface="Meiryo UI" panose="020B0604030504040204" pitchFamily="50" charset="-128"/>
                <a:ea typeface="Meiryo UI" panose="020B0604030504040204" pitchFamily="50" charset="-128"/>
              </a:rPr>
              <a:t>名</a:t>
            </a:r>
            <a:r>
              <a:rPr kumimoji="1" lang="en-US" altLang="zh-CN" sz="1500" b="1">
                <a:solidFill>
                  <a:srgbClr val="1E293B"/>
                </a:solidFill>
                <a:latin typeface="Meiryo UI" panose="020B0604030504040204" pitchFamily="50" charset="-128"/>
                <a:ea typeface="Meiryo UI" panose="020B0604030504040204" pitchFamily="50" charset="-128"/>
              </a:rPr>
              <a:t>)</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27" name="四角形: 角を丸くする 26">
            <a:extLst>
              <a:ext uri="{FF2B5EF4-FFF2-40B4-BE49-F238E27FC236}">
                <a16:creationId xmlns:a16="http://schemas.microsoft.com/office/drawing/2014/main" id="{91C954E8-1AE9-AF10-DD9A-54B3BB6F8694}"/>
              </a:ext>
            </a:extLst>
          </p:cNvPr>
          <p:cNvSpPr/>
          <p:nvPr/>
        </p:nvSpPr>
        <p:spPr>
          <a:xfrm>
            <a:off x="2832100" y="4953000"/>
            <a:ext cx="2667000" cy="254000"/>
          </a:xfrm>
          <a:prstGeom prst="roundRect">
            <a:avLst>
              <a:gd name="adj" fmla="val 50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1183D11F-053C-A408-E0E1-DE0C6870E654}"/>
              </a:ext>
            </a:extLst>
          </p:cNvPr>
          <p:cNvSpPr/>
          <p:nvPr/>
        </p:nvSpPr>
        <p:spPr>
          <a:xfrm>
            <a:off x="2832100" y="4953000"/>
            <a:ext cx="2247900" cy="2540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10CA3A65-A695-46CF-41F3-DA507DFA4DD9}"/>
              </a:ext>
            </a:extLst>
          </p:cNvPr>
          <p:cNvSpPr txBox="1"/>
          <p:nvPr/>
        </p:nvSpPr>
        <p:spPr>
          <a:xfrm>
            <a:off x="5626100" y="4889500"/>
            <a:ext cx="1841500" cy="564257"/>
          </a:xfrm>
          <a:prstGeom prst="rect">
            <a:avLst/>
          </a:prstGeom>
          <a:noFill/>
        </p:spPr>
        <p:txBody>
          <a:bodyPr vert="horz" wrap="square" lIns="76200" tIns="50800" rIns="76200" bIns="50800" rtlCol="0">
            <a:spAutoFit/>
          </a:bodyPr>
          <a:lstStyle/>
          <a:p>
            <a:r>
              <a:rPr kumimoji="1" lang="en-US" altLang="ja-JP" sz="1500" b="1">
                <a:solidFill>
                  <a:srgbClr val="EF4444"/>
                </a:solidFill>
                <a:latin typeface="Meiryo UI" panose="020B0604030504040204" pitchFamily="50" charset="-128"/>
                <a:ea typeface="Meiryo UI" panose="020B0604030504040204" pitchFamily="50" charset="-128"/>
              </a:rPr>
              <a:t>84.2% (</a:t>
            </a:r>
            <a:r>
              <a:rPr kumimoji="1" lang="ja-JP" altLang="en-US" sz="1500" b="1">
                <a:solidFill>
                  <a:srgbClr val="EF4444"/>
                </a:solidFill>
                <a:latin typeface="Meiryo UI" panose="020B0604030504040204" pitchFamily="50" charset="-128"/>
                <a:ea typeface="Meiryo UI" panose="020B0604030504040204" pitchFamily="50" charset="-128"/>
              </a:rPr>
              <a:t>初認知</a:t>
            </a:r>
            <a:r>
              <a:rPr kumimoji="1" lang="en-US" altLang="ja-JP" sz="1500" b="1">
                <a:solidFill>
                  <a:srgbClr val="EF4444"/>
                </a:solidFill>
                <a:latin typeface="Meiryo UI" panose="020B0604030504040204" pitchFamily="50" charset="-128"/>
                <a:ea typeface="Meiryo UI" panose="020B0604030504040204" pitchFamily="50" charset="-128"/>
              </a:rPr>
              <a:t>32%)</a:t>
            </a:r>
            <a:endParaRPr kumimoji="1" lang="ja-JP" altLang="en-US" sz="1500" b="1">
              <a:solidFill>
                <a:srgbClr val="EF4444"/>
              </a:solidFill>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52F4DA9C-07A2-F748-FEFD-8CEFB75C5A5F}"/>
              </a:ext>
            </a:extLst>
          </p:cNvPr>
          <p:cNvSpPr txBox="1"/>
          <p:nvPr/>
        </p:nvSpPr>
        <p:spPr>
          <a:xfrm>
            <a:off x="508000" y="5689600"/>
            <a:ext cx="6731000" cy="518091"/>
          </a:xfrm>
          <a:prstGeom prst="rect">
            <a:avLst/>
          </a:prstGeom>
          <a:noFill/>
        </p:spPr>
        <p:txBody>
          <a:bodyPr vert="horz" wrap="square" lIns="76200" tIns="50800" rIns="76200" bIns="50800" rtlCol="0">
            <a:spAutoFit/>
          </a:bodyPr>
          <a:lstStyle/>
          <a:p>
            <a:r>
              <a:rPr kumimoji="1" lang="en-US" altLang="ja-JP" sz="1350" b="1">
                <a:solidFill>
                  <a:srgbClr val="64748B"/>
                </a:solidFill>
                <a:latin typeface="Meiryo UI" panose="020B0604030504040204" pitchFamily="50" charset="-128"/>
                <a:ea typeface="Meiryo UI" panose="020B0604030504040204" pitchFamily="50" charset="-128"/>
              </a:rPr>
              <a:t>※</a:t>
            </a:r>
            <a:r>
              <a:rPr kumimoji="1" lang="ja-JP" altLang="en-US" sz="1350" b="1">
                <a:solidFill>
                  <a:srgbClr val="64748B"/>
                </a:solidFill>
                <a:latin typeface="Meiryo UI" panose="020B0604030504040204" pitchFamily="50" charset="-128"/>
                <a:ea typeface="Meiryo UI" panose="020B0604030504040204" pitchFamily="50" charset="-128"/>
              </a:rPr>
              <a:t>数値は「今日初めて知った」＋「名前や場所のみ知っている」の合計割合（＝当院を詳しく知らない層の割合）</a:t>
            </a:r>
          </a:p>
        </p:txBody>
      </p:sp>
      <p:sp>
        <p:nvSpPr>
          <p:cNvPr id="31" name="四角形: 角を丸くする 30">
            <a:extLst>
              <a:ext uri="{FF2B5EF4-FFF2-40B4-BE49-F238E27FC236}">
                <a16:creationId xmlns:a16="http://schemas.microsoft.com/office/drawing/2014/main" id="{29E5DA31-9708-5DA3-EEFF-406B25E64269}"/>
              </a:ext>
            </a:extLst>
          </p:cNvPr>
          <p:cNvSpPr/>
          <p:nvPr/>
        </p:nvSpPr>
        <p:spPr>
          <a:xfrm>
            <a:off x="7696200" y="1549400"/>
            <a:ext cx="4241800" cy="50292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DC6A9AF9-4804-0490-F4E0-88A8EA327FF4}"/>
              </a:ext>
            </a:extLst>
          </p:cNvPr>
          <p:cNvSpPr/>
          <p:nvPr/>
        </p:nvSpPr>
        <p:spPr>
          <a:xfrm>
            <a:off x="7924800" y="1778000"/>
            <a:ext cx="101600" cy="330200"/>
          </a:xfrm>
          <a:prstGeom prst="roundRect">
            <a:avLst>
              <a:gd name="adj" fmla="val 50000"/>
            </a:avLst>
          </a:prstGeom>
          <a:solidFill>
            <a:srgbClr val="EF444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C5FC050A-1FC6-A9C2-A86A-7BD7BA6C5792}"/>
              </a:ext>
            </a:extLst>
          </p:cNvPr>
          <p:cNvSpPr txBox="1"/>
          <p:nvPr/>
        </p:nvSpPr>
        <p:spPr>
          <a:xfrm>
            <a:off x="8128000" y="1739900"/>
            <a:ext cx="36068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世代別データの要点</a:t>
            </a:r>
          </a:p>
        </p:txBody>
      </p:sp>
      <p:sp>
        <p:nvSpPr>
          <p:cNvPr id="34" name="テキスト ボックス 33">
            <a:extLst>
              <a:ext uri="{FF2B5EF4-FFF2-40B4-BE49-F238E27FC236}">
                <a16:creationId xmlns:a16="http://schemas.microsoft.com/office/drawing/2014/main" id="{F9054C3D-F664-837A-9496-7FA684D95494}"/>
              </a:ext>
            </a:extLst>
          </p:cNvPr>
          <p:cNvSpPr txBox="1"/>
          <p:nvPr/>
        </p:nvSpPr>
        <p:spPr>
          <a:xfrm>
            <a:off x="7950200" y="2336800"/>
            <a:ext cx="3733800" cy="2318583"/>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・親の介護・入院先を決める市内</a:t>
            </a:r>
            <a:r>
              <a:rPr kumimoji="1" lang="en-US" altLang="ja-JP" sz="1600">
                <a:solidFill>
                  <a:srgbClr val="1E293B"/>
                </a:solidFill>
                <a:latin typeface="Meiryo UI" panose="020B0604030504040204" pitchFamily="50" charset="-128"/>
                <a:ea typeface="Meiryo UI" panose="020B0604030504040204" pitchFamily="50" charset="-128"/>
              </a:rPr>
              <a:t>40</a:t>
            </a:r>
            <a:r>
              <a:rPr kumimoji="1" lang="ja-JP" altLang="en-US" sz="1600">
                <a:solidFill>
                  <a:srgbClr val="1E293B"/>
                </a:solidFill>
                <a:latin typeface="Meiryo UI" panose="020B0604030504040204" pitchFamily="50" charset="-128"/>
                <a:ea typeface="Meiryo UI" panose="020B0604030504040204" pitchFamily="50" charset="-128"/>
              </a:rPr>
              <a:t>歳代の</a:t>
            </a:r>
            <a:r>
              <a:rPr kumimoji="1" lang="en-US" altLang="ja-JP" sz="1600">
                <a:solidFill>
                  <a:srgbClr val="1E293B"/>
                </a:solidFill>
                <a:latin typeface="Meiryo UI" panose="020B0604030504040204" pitchFamily="50" charset="-128"/>
                <a:ea typeface="Meiryo UI" panose="020B0604030504040204" pitchFamily="50" charset="-128"/>
              </a:rPr>
              <a:t>33.3%</a:t>
            </a:r>
            <a:r>
              <a:rPr kumimoji="1" lang="ja-JP" altLang="en-US" sz="1600">
                <a:solidFill>
                  <a:srgbClr val="1E293B"/>
                </a:solidFill>
                <a:latin typeface="Meiryo UI" panose="020B0604030504040204" pitchFamily="50" charset="-128"/>
                <a:ea typeface="Meiryo UI" panose="020B0604030504040204" pitchFamily="50" charset="-128"/>
              </a:rPr>
              <a:t>（</a:t>
            </a:r>
            <a:r>
              <a:rPr kumimoji="1" lang="en-US" altLang="ja-JP" sz="1600">
                <a:solidFill>
                  <a:srgbClr val="1E293B"/>
                </a:solidFill>
                <a:latin typeface="Meiryo UI" panose="020B0604030504040204" pitchFamily="50" charset="-128"/>
                <a:ea typeface="Meiryo UI" panose="020B0604030504040204" pitchFamily="50" charset="-128"/>
              </a:rPr>
              <a:t>3</a:t>
            </a:r>
            <a:r>
              <a:rPr kumimoji="1" lang="ja-JP" altLang="en-US" sz="1600">
                <a:solidFill>
                  <a:srgbClr val="1E293B"/>
                </a:solidFill>
                <a:latin typeface="Meiryo UI" panose="020B0604030504040204" pitchFamily="50" charset="-128"/>
                <a:ea typeface="Meiryo UI" panose="020B0604030504040204" pitchFamily="50" charset="-128"/>
              </a:rPr>
              <a:t>人に</a:t>
            </a:r>
            <a:r>
              <a:rPr kumimoji="1" lang="en-US" altLang="ja-JP" sz="1600">
                <a:solidFill>
                  <a:srgbClr val="1E293B"/>
                </a:solidFill>
                <a:latin typeface="Meiryo UI" panose="020B0604030504040204" pitchFamily="50" charset="-128"/>
                <a:ea typeface="Meiryo UI" panose="020B0604030504040204" pitchFamily="50" charset="-128"/>
              </a:rPr>
              <a:t>1</a:t>
            </a:r>
            <a:r>
              <a:rPr kumimoji="1" lang="ja-JP" altLang="en-US" sz="1600">
                <a:solidFill>
                  <a:srgbClr val="1E293B"/>
                </a:solidFill>
                <a:latin typeface="Meiryo UI" panose="020B0604030504040204" pitchFamily="50" charset="-128"/>
                <a:ea typeface="Meiryo UI" panose="020B0604030504040204" pitchFamily="50" charset="-128"/>
              </a:rPr>
              <a:t>人）が「今日初めて知った」と回答。
・最多層の市内</a:t>
            </a:r>
            <a:r>
              <a:rPr kumimoji="1" lang="en-US" altLang="ja-JP" sz="1600">
                <a:solidFill>
                  <a:srgbClr val="1E293B"/>
                </a:solidFill>
                <a:latin typeface="Meiryo UI" panose="020B0604030504040204" pitchFamily="50" charset="-128"/>
                <a:ea typeface="Meiryo UI" panose="020B0604030504040204" pitchFamily="50" charset="-128"/>
              </a:rPr>
              <a:t>50</a:t>
            </a:r>
            <a:r>
              <a:rPr kumimoji="1" lang="ja-JP" altLang="en-US" sz="1600">
                <a:solidFill>
                  <a:srgbClr val="1E293B"/>
                </a:solidFill>
                <a:latin typeface="Meiryo UI" panose="020B0604030504040204" pitchFamily="50" charset="-128"/>
                <a:ea typeface="Meiryo UI" panose="020B0604030504040204" pitchFamily="50" charset="-128"/>
              </a:rPr>
              <a:t>歳代でも「よく知っている」は</a:t>
            </a:r>
            <a:r>
              <a:rPr kumimoji="1" lang="en-US" altLang="ja-JP" sz="1600">
                <a:solidFill>
                  <a:srgbClr val="1E293B"/>
                </a:solidFill>
                <a:latin typeface="Meiryo UI" panose="020B0604030504040204" pitchFamily="50" charset="-128"/>
                <a:ea typeface="Meiryo UI" panose="020B0604030504040204" pitchFamily="50" charset="-128"/>
              </a:rPr>
              <a:t>8.5%</a:t>
            </a:r>
            <a:r>
              <a:rPr kumimoji="1" lang="ja-JP" altLang="en-US" sz="1600">
                <a:solidFill>
                  <a:srgbClr val="1E293B"/>
                </a:solidFill>
                <a:latin typeface="Meiryo UI" panose="020B0604030504040204" pitchFamily="50" charset="-128"/>
                <a:ea typeface="Meiryo UI" panose="020B0604030504040204" pitchFamily="50" charset="-128"/>
              </a:rPr>
              <a:t>のみで、</a:t>
            </a:r>
            <a:r>
              <a:rPr kumimoji="1" lang="en-US" altLang="ja-JP" sz="1600">
                <a:solidFill>
                  <a:srgbClr val="1E293B"/>
                </a:solidFill>
                <a:latin typeface="Meiryo UI" panose="020B0604030504040204" pitchFamily="50" charset="-128"/>
                <a:ea typeface="Meiryo UI" panose="020B0604030504040204" pitchFamily="50" charset="-128"/>
              </a:rPr>
              <a:t>91.5%</a:t>
            </a:r>
            <a:r>
              <a:rPr kumimoji="1" lang="ja-JP" altLang="en-US" sz="1600">
                <a:solidFill>
                  <a:srgbClr val="1E293B"/>
                </a:solidFill>
                <a:latin typeface="Meiryo UI" panose="020B0604030504040204" pitchFamily="50" charset="-128"/>
                <a:ea typeface="Meiryo UI" panose="020B0604030504040204" pitchFamily="50" charset="-128"/>
              </a:rPr>
              <a:t>が中身を知らない。
・当事者世代の市内</a:t>
            </a:r>
            <a:r>
              <a:rPr kumimoji="1" lang="en-US" altLang="ja-JP" sz="1600">
                <a:solidFill>
                  <a:srgbClr val="1E293B"/>
                </a:solidFill>
                <a:latin typeface="Meiryo UI" panose="020B0604030504040204" pitchFamily="50" charset="-128"/>
                <a:ea typeface="Meiryo UI" panose="020B0604030504040204" pitchFamily="50" charset="-128"/>
              </a:rPr>
              <a:t>80</a:t>
            </a:r>
            <a:r>
              <a:rPr kumimoji="1" lang="ja-JP" altLang="en-US" sz="1600">
                <a:solidFill>
                  <a:srgbClr val="1E293B"/>
                </a:solidFill>
                <a:latin typeface="Meiryo UI" panose="020B0604030504040204" pitchFamily="50" charset="-128"/>
                <a:ea typeface="Meiryo UI" panose="020B0604030504040204" pitchFamily="50" charset="-128"/>
              </a:rPr>
              <a:t>歳代でも</a:t>
            </a:r>
            <a:r>
              <a:rPr kumimoji="1" lang="en-US" altLang="ja-JP" sz="1600">
                <a:solidFill>
                  <a:srgbClr val="1E293B"/>
                </a:solidFill>
                <a:latin typeface="Meiryo UI" panose="020B0604030504040204" pitchFamily="50" charset="-128"/>
                <a:ea typeface="Meiryo UI" panose="020B0604030504040204" pitchFamily="50" charset="-128"/>
              </a:rPr>
              <a:t>31.6%</a:t>
            </a:r>
            <a:r>
              <a:rPr kumimoji="1" lang="ja-JP" altLang="en-US" sz="1600">
                <a:solidFill>
                  <a:srgbClr val="1E293B"/>
                </a:solidFill>
                <a:latin typeface="Meiryo UI" panose="020B0604030504040204" pitchFamily="50" charset="-128"/>
                <a:ea typeface="Meiryo UI" panose="020B0604030504040204" pitchFamily="50" charset="-128"/>
              </a:rPr>
              <a:t>が「今日初めて知った」と回答している。</a:t>
            </a:r>
          </a:p>
        </p:txBody>
      </p:sp>
    </p:spTree>
    <p:extLst>
      <p:ext uri="{BB962C8B-B14F-4D97-AF65-F5344CB8AC3E}">
        <p14:creationId xmlns:p14="http://schemas.microsoft.com/office/powerpoint/2010/main" val="2217479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3A455A1E-29C9-5798-D391-C5E7A5481C2D}"/>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3966402F-B25F-F75C-C0D9-0E396BBCC070}"/>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75E16730-46E1-3B28-69D0-2A8730ADD335}"/>
              </a:ext>
            </a:extLst>
          </p:cNvPr>
          <p:cNvSpPr/>
          <p:nvPr/>
        </p:nvSpPr>
        <p:spPr>
          <a:xfrm>
            <a:off x="457200" y="330200"/>
            <a:ext cx="2082800" cy="4064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6C62E737-66EC-B181-21BB-6CB6A87F37F2}"/>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3</a:t>
            </a:r>
            <a:r>
              <a:rPr kumimoji="1" lang="ja-JP" altLang="en-US" sz="1300" b="1">
                <a:solidFill>
                  <a:srgbClr val="FFFFFF"/>
                </a:solidFill>
                <a:latin typeface="Meiryo UI" panose="020B0604030504040204" pitchFamily="50" charset="-128"/>
                <a:ea typeface="Meiryo UI" panose="020B0604030504040204" pitchFamily="50" charset="-128"/>
              </a:rPr>
              <a:t>部：考察④ クロス分析</a:t>
            </a:r>
          </a:p>
        </p:txBody>
      </p:sp>
      <p:sp>
        <p:nvSpPr>
          <p:cNvPr id="6" name="テキスト ボックス 5">
            <a:extLst>
              <a:ext uri="{FF2B5EF4-FFF2-40B4-BE49-F238E27FC236}">
                <a16:creationId xmlns:a16="http://schemas.microsoft.com/office/drawing/2014/main" id="{C22AE2F9-19D6-EF3B-24A1-BFCC5A152C92}"/>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認知度（</a:t>
            </a:r>
            <a:r>
              <a:rPr kumimoji="1" lang="en-US" altLang="ja-JP" sz="2100" b="1">
                <a:solidFill>
                  <a:srgbClr val="1E293B"/>
                </a:solidFill>
                <a:latin typeface="Meiryo UI" panose="020B0604030504040204" pitchFamily="50" charset="-128"/>
                <a:ea typeface="Meiryo UI" panose="020B0604030504040204" pitchFamily="50" charset="-128"/>
              </a:rPr>
              <a:t>Q2</a:t>
            </a:r>
            <a:r>
              <a:rPr kumimoji="1" lang="ja-JP" altLang="en-US" sz="2100" b="1">
                <a:solidFill>
                  <a:srgbClr val="1E293B"/>
                </a:solidFill>
                <a:latin typeface="Meiryo UI" panose="020B0604030504040204" pitchFamily="50" charset="-128"/>
                <a:ea typeface="Meiryo UI" panose="020B0604030504040204" pitchFamily="50" charset="-128"/>
              </a:rPr>
              <a:t>）</a:t>
            </a:r>
            <a:r>
              <a:rPr kumimoji="1" lang="en-US" altLang="ja-JP" sz="2100" b="1">
                <a:solidFill>
                  <a:srgbClr val="1E293B"/>
                </a:solidFill>
                <a:latin typeface="Meiryo UI" panose="020B0604030504040204" pitchFamily="50" charset="-128"/>
                <a:ea typeface="Meiryo UI" panose="020B0604030504040204" pitchFamily="50" charset="-128"/>
              </a:rPr>
              <a:t>× </a:t>
            </a:r>
            <a:r>
              <a:rPr kumimoji="1" lang="ja-JP" altLang="en-US" sz="2100" b="1">
                <a:solidFill>
                  <a:srgbClr val="1E293B"/>
                </a:solidFill>
                <a:latin typeface="Meiryo UI" panose="020B0604030504040204" pitchFamily="50" charset="-128"/>
                <a:ea typeface="Meiryo UI" panose="020B0604030504040204" pitchFamily="50" charset="-128"/>
              </a:rPr>
              <a:t>アンケート時の当院の評価（</a:t>
            </a:r>
            <a:r>
              <a:rPr kumimoji="1" lang="en-US" altLang="ja-JP" sz="2100" b="1">
                <a:solidFill>
                  <a:srgbClr val="1E293B"/>
                </a:solidFill>
                <a:latin typeface="Meiryo UI" panose="020B0604030504040204" pitchFamily="50" charset="-128"/>
                <a:ea typeface="Meiryo UI" panose="020B0604030504040204" pitchFamily="50" charset="-128"/>
              </a:rPr>
              <a:t>Q3</a:t>
            </a:r>
            <a:r>
              <a:rPr kumimoji="1" lang="ja-JP" altLang="en-US" sz="2100" b="1">
                <a:solidFill>
                  <a:srgbClr val="1E293B"/>
                </a:solidFill>
                <a:latin typeface="Meiryo UI" panose="020B0604030504040204" pitchFamily="50" charset="-128"/>
                <a:ea typeface="Meiryo UI" panose="020B0604030504040204" pitchFamily="50" charset="-128"/>
              </a:rPr>
              <a:t>）</a:t>
            </a:r>
          </a:p>
        </p:txBody>
      </p:sp>
      <p:sp>
        <p:nvSpPr>
          <p:cNvPr id="7" name="四角形: 角を丸くする 6">
            <a:extLst>
              <a:ext uri="{FF2B5EF4-FFF2-40B4-BE49-F238E27FC236}">
                <a16:creationId xmlns:a16="http://schemas.microsoft.com/office/drawing/2014/main" id="{D4949A56-20D0-6317-25DD-96242CAF1E34}"/>
              </a:ext>
            </a:extLst>
          </p:cNvPr>
          <p:cNvSpPr/>
          <p:nvPr/>
        </p:nvSpPr>
        <p:spPr>
          <a:xfrm>
            <a:off x="10871200" y="330200"/>
            <a:ext cx="863600" cy="381000"/>
          </a:xfrm>
          <a:prstGeom prst="roundRect">
            <a:avLst>
              <a:gd name="adj" fmla="val 5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52AED95-FB91-8A13-005C-6DEE3B154BDE}"/>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10B981"/>
                </a:solidFill>
                <a:latin typeface="Meiryo UI" panose="020B0604030504040204" pitchFamily="50" charset="-128"/>
                <a:ea typeface="Meiryo UI" panose="020B0604030504040204" pitchFamily="50" charset="-128"/>
              </a:rPr>
              <a:t>19 / 22</a:t>
            </a:r>
            <a:endParaRPr kumimoji="1" lang="ja-JP" altLang="en-US" sz="1250" b="1">
              <a:solidFill>
                <a:srgbClr val="10B98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910E48B4-F43D-7A2E-BBA1-C7FD614FFC63}"/>
              </a:ext>
            </a:extLst>
          </p:cNvPr>
          <p:cNvSpPr/>
          <p:nvPr/>
        </p:nvSpPr>
        <p:spPr>
          <a:xfrm>
            <a:off x="457200" y="838200"/>
            <a:ext cx="11277600" cy="431800"/>
          </a:xfrm>
          <a:prstGeom prst="roundRect">
            <a:avLst>
              <a:gd name="adj" fmla="val 3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A1379657-7F75-D877-95F9-769E96E748E3}"/>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10B981"/>
                </a:solidFill>
                <a:latin typeface="Meiryo UI" panose="020B0604030504040204" pitchFamily="50" charset="-128"/>
                <a:ea typeface="Meiryo UI" panose="020B0604030504040204" pitchFamily="50" charset="-128"/>
              </a:rPr>
              <a:t>初めて知った層でも体験後は</a:t>
            </a:r>
            <a:r>
              <a:rPr kumimoji="1" lang="en-US" altLang="ja-JP" sz="1500" b="1">
                <a:solidFill>
                  <a:srgbClr val="10B981"/>
                </a:solidFill>
                <a:latin typeface="Meiryo UI" panose="020B0604030504040204" pitchFamily="50" charset="-128"/>
                <a:ea typeface="Meiryo UI" panose="020B0604030504040204" pitchFamily="50" charset="-128"/>
              </a:rPr>
              <a:t>88.1%</a:t>
            </a:r>
            <a:r>
              <a:rPr kumimoji="1" lang="ja-JP" altLang="en-US" sz="1500" b="1">
                <a:solidFill>
                  <a:srgbClr val="10B981"/>
                </a:solidFill>
                <a:latin typeface="Meiryo UI" panose="020B0604030504040204" pitchFamily="50" charset="-128"/>
                <a:ea typeface="Meiryo UI" panose="020B0604030504040204" pitchFamily="50" charset="-128"/>
              </a:rPr>
              <a:t>が好意的評価。「よく知る」層は</a:t>
            </a:r>
            <a:r>
              <a:rPr kumimoji="1" lang="en-US" altLang="ja-JP" sz="1500" b="1">
                <a:solidFill>
                  <a:srgbClr val="10B981"/>
                </a:solidFill>
                <a:latin typeface="Meiryo UI" panose="020B0604030504040204" pitchFamily="50" charset="-128"/>
                <a:ea typeface="Meiryo UI" panose="020B0604030504040204" pitchFamily="50" charset="-128"/>
              </a:rPr>
              <a:t>66.7%</a:t>
            </a:r>
            <a:r>
              <a:rPr kumimoji="1" lang="ja-JP" altLang="en-US" sz="1500" b="1">
                <a:solidFill>
                  <a:srgbClr val="10B981"/>
                </a:solidFill>
                <a:latin typeface="Meiryo UI" panose="020B0604030504040204" pitchFamily="50" charset="-128"/>
                <a:ea typeface="Meiryo UI" panose="020B0604030504040204" pitchFamily="50" charset="-128"/>
              </a:rPr>
              <a:t>が「ぜひ利用したい」と回答</a:t>
            </a:r>
          </a:p>
        </p:txBody>
      </p:sp>
      <p:sp>
        <p:nvSpPr>
          <p:cNvPr id="11" name="四角形: 角を丸くする 10">
            <a:extLst>
              <a:ext uri="{FF2B5EF4-FFF2-40B4-BE49-F238E27FC236}">
                <a16:creationId xmlns:a16="http://schemas.microsoft.com/office/drawing/2014/main" id="{A2BE85D4-F6E9-713C-6297-14ACA3199C86}"/>
              </a:ext>
            </a:extLst>
          </p:cNvPr>
          <p:cNvSpPr/>
          <p:nvPr/>
        </p:nvSpPr>
        <p:spPr>
          <a:xfrm>
            <a:off x="254000" y="1549400"/>
            <a:ext cx="37592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6E738259-86CE-C59B-05BB-F2B618953021}"/>
              </a:ext>
            </a:extLst>
          </p:cNvPr>
          <p:cNvSpPr/>
          <p:nvPr/>
        </p:nvSpPr>
        <p:spPr>
          <a:xfrm>
            <a:off x="482600" y="1778000"/>
            <a:ext cx="101600" cy="330200"/>
          </a:xfrm>
          <a:prstGeom prst="roundRect">
            <a:avLst>
              <a:gd name="adj" fmla="val 50000"/>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6333DDD2-A01A-4D3E-2CE1-0AA6796C9EA9}"/>
              </a:ext>
            </a:extLst>
          </p:cNvPr>
          <p:cNvSpPr txBox="1"/>
          <p:nvPr/>
        </p:nvSpPr>
        <p:spPr>
          <a:xfrm>
            <a:off x="685800" y="1739900"/>
            <a:ext cx="31242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今日初めて知った（</a:t>
            </a:r>
            <a:r>
              <a:rPr kumimoji="1" lang="en-US" altLang="ja-JP" sz="1750" b="1">
                <a:solidFill>
                  <a:srgbClr val="1E293B"/>
                </a:solidFill>
                <a:latin typeface="Meiryo UI" panose="020B0604030504040204" pitchFamily="50" charset="-128"/>
                <a:ea typeface="Meiryo UI" panose="020B0604030504040204" pitchFamily="50" charset="-128"/>
              </a:rPr>
              <a:t>67</a:t>
            </a:r>
            <a:r>
              <a:rPr kumimoji="1" lang="ja-JP" altLang="en-US" sz="1750" b="1">
                <a:solidFill>
                  <a:srgbClr val="1E293B"/>
                </a:solidFill>
                <a:latin typeface="Meiryo UI" panose="020B0604030504040204" pitchFamily="50" charset="-128"/>
                <a:ea typeface="Meiryo UI" panose="020B0604030504040204" pitchFamily="50" charset="-128"/>
              </a:rPr>
              <a:t>名）</a:t>
            </a:r>
          </a:p>
        </p:txBody>
      </p:sp>
      <p:sp>
        <p:nvSpPr>
          <p:cNvPr id="14" name="部分円 13">
            <a:extLst>
              <a:ext uri="{FF2B5EF4-FFF2-40B4-BE49-F238E27FC236}">
                <a16:creationId xmlns:a16="http://schemas.microsoft.com/office/drawing/2014/main" id="{5A23C281-55DF-F8F7-28BA-CE66AA3EAB69}"/>
              </a:ext>
            </a:extLst>
          </p:cNvPr>
          <p:cNvSpPr/>
          <p:nvPr/>
        </p:nvSpPr>
        <p:spPr>
          <a:xfrm>
            <a:off x="1143000" y="2286000"/>
            <a:ext cx="1981200" cy="1981200"/>
          </a:xfrm>
          <a:prstGeom prst="pie">
            <a:avLst>
              <a:gd name="adj1" fmla="val 16200000"/>
              <a:gd name="adj2" fmla="val 194184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52620209-BF0C-8944-989D-04716046161A}"/>
              </a:ext>
            </a:extLst>
          </p:cNvPr>
          <p:cNvSpPr/>
          <p:nvPr/>
        </p:nvSpPr>
        <p:spPr>
          <a:xfrm>
            <a:off x="1143000" y="2286000"/>
            <a:ext cx="1981200" cy="1981200"/>
          </a:xfrm>
          <a:prstGeom prst="pie">
            <a:avLst>
              <a:gd name="adj1" fmla="val 19418400"/>
              <a:gd name="adj2" fmla="val 13608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部分円 15">
            <a:extLst>
              <a:ext uri="{FF2B5EF4-FFF2-40B4-BE49-F238E27FC236}">
                <a16:creationId xmlns:a16="http://schemas.microsoft.com/office/drawing/2014/main" id="{A5022BC6-75A7-B126-0FDF-39E75B3548BF}"/>
              </a:ext>
            </a:extLst>
          </p:cNvPr>
          <p:cNvSpPr/>
          <p:nvPr/>
        </p:nvSpPr>
        <p:spPr>
          <a:xfrm>
            <a:off x="1143000" y="2286000"/>
            <a:ext cx="1981200" cy="1981200"/>
          </a:xfrm>
          <a:prstGeom prst="pie">
            <a:avLst>
              <a:gd name="adj1" fmla="val 13608000"/>
              <a:gd name="adj2" fmla="val 16178401"/>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楕円 16">
            <a:extLst>
              <a:ext uri="{FF2B5EF4-FFF2-40B4-BE49-F238E27FC236}">
                <a16:creationId xmlns:a16="http://schemas.microsoft.com/office/drawing/2014/main" id="{F1253C8C-BDBC-9816-A94A-AD9C5568AAA9}"/>
              </a:ext>
            </a:extLst>
          </p:cNvPr>
          <p:cNvSpPr/>
          <p:nvPr/>
        </p:nvSpPr>
        <p:spPr>
          <a:xfrm>
            <a:off x="1598676" y="2741676"/>
            <a:ext cx="1069848" cy="1069848"/>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5F5AB09C-F0F3-92D2-11C3-34BC24CDC1CB}"/>
              </a:ext>
            </a:extLst>
          </p:cNvPr>
          <p:cNvSpPr txBox="1"/>
          <p:nvPr/>
        </p:nvSpPr>
        <p:spPr>
          <a:xfrm>
            <a:off x="1649476" y="2946400"/>
            <a:ext cx="968248" cy="595035"/>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好意的評価</a:t>
            </a:r>
          </a:p>
        </p:txBody>
      </p:sp>
      <p:sp>
        <p:nvSpPr>
          <p:cNvPr id="19" name="テキスト ボックス 18">
            <a:extLst>
              <a:ext uri="{FF2B5EF4-FFF2-40B4-BE49-F238E27FC236}">
                <a16:creationId xmlns:a16="http://schemas.microsoft.com/office/drawing/2014/main" id="{8A02E2D3-4148-B50A-6D95-D2E41D42B31F}"/>
              </a:ext>
            </a:extLst>
          </p:cNvPr>
          <p:cNvSpPr txBox="1"/>
          <p:nvPr/>
        </p:nvSpPr>
        <p:spPr>
          <a:xfrm>
            <a:off x="1649476" y="3302000"/>
            <a:ext cx="968248" cy="29495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88.1%</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20" name="テキスト ボックス 19">
            <a:extLst>
              <a:ext uri="{FF2B5EF4-FFF2-40B4-BE49-F238E27FC236}">
                <a16:creationId xmlns:a16="http://schemas.microsoft.com/office/drawing/2014/main" id="{0072EC38-8EC7-DB5D-6B73-B90525CCA3F5}"/>
              </a:ext>
            </a:extLst>
          </p:cNvPr>
          <p:cNvSpPr txBox="1"/>
          <p:nvPr/>
        </p:nvSpPr>
        <p:spPr>
          <a:xfrm>
            <a:off x="406400" y="4394200"/>
            <a:ext cx="3454400" cy="548868"/>
          </a:xfrm>
          <a:prstGeom prst="rect">
            <a:avLst/>
          </a:prstGeom>
          <a:noFill/>
        </p:spPr>
        <p:txBody>
          <a:bodyPr vert="horz" wrap="square" lIns="76200" tIns="50800" rIns="76200" bIns="50800" rtlCol="0">
            <a:spAutoFit/>
          </a:bodyPr>
          <a:lstStyle/>
          <a:p>
            <a:pPr algn="ctr"/>
            <a:r>
              <a:rPr kumimoji="1" lang="ja-JP" altLang="en-US" sz="1450" b="1">
                <a:solidFill>
                  <a:srgbClr val="1E293B"/>
                </a:solidFill>
                <a:latin typeface="Meiryo UI" panose="020B0604030504040204" pitchFamily="50" charset="-128"/>
                <a:ea typeface="Meiryo UI" panose="020B0604030504040204" pitchFamily="50" charset="-128"/>
              </a:rPr>
              <a:t>ぜひ利用：</a:t>
            </a:r>
            <a:r>
              <a:rPr kumimoji="1" lang="en-US" altLang="ja-JP" sz="1450" b="1">
                <a:solidFill>
                  <a:srgbClr val="1E293B"/>
                </a:solidFill>
                <a:latin typeface="Meiryo UI" panose="020B0604030504040204" pitchFamily="50" charset="-128"/>
                <a:ea typeface="Meiryo UI" panose="020B0604030504040204" pitchFamily="50" charset="-128"/>
              </a:rPr>
              <a:t>14.9%</a:t>
            </a:r>
            <a:r>
              <a:rPr kumimoji="1" lang="ja-JP" altLang="en-US" sz="1450" b="1">
                <a:solidFill>
                  <a:srgbClr val="1E293B"/>
                </a:solidFill>
                <a:latin typeface="Meiryo UI" panose="020B0604030504040204" pitchFamily="50" charset="-128"/>
                <a:ea typeface="Meiryo UI" panose="020B0604030504040204" pitchFamily="50" charset="-128"/>
              </a:rPr>
              <a:t>（</a:t>
            </a:r>
            <a:r>
              <a:rPr kumimoji="1" lang="en-US" altLang="ja-JP" sz="1450" b="1">
                <a:solidFill>
                  <a:srgbClr val="1E293B"/>
                </a:solidFill>
                <a:latin typeface="Meiryo UI" panose="020B0604030504040204" pitchFamily="50" charset="-128"/>
                <a:ea typeface="Meiryo UI" panose="020B0604030504040204" pitchFamily="50" charset="-128"/>
              </a:rPr>
              <a:t>10</a:t>
            </a:r>
            <a:r>
              <a:rPr kumimoji="1" lang="ja-JP" altLang="en-US" sz="1450" b="1">
                <a:solidFill>
                  <a:srgbClr val="1E293B"/>
                </a:solidFill>
                <a:latin typeface="Meiryo UI" panose="020B0604030504040204" pitchFamily="50" charset="-128"/>
                <a:ea typeface="Meiryo UI" panose="020B0604030504040204" pitchFamily="50" charset="-128"/>
              </a:rPr>
              <a:t>名）
検討したい：</a:t>
            </a:r>
            <a:r>
              <a:rPr kumimoji="1" lang="en-US" altLang="ja-JP" sz="1450" b="1">
                <a:solidFill>
                  <a:srgbClr val="1E293B"/>
                </a:solidFill>
                <a:latin typeface="Meiryo UI" panose="020B0604030504040204" pitchFamily="50" charset="-128"/>
                <a:ea typeface="Meiryo UI" panose="020B0604030504040204" pitchFamily="50" charset="-128"/>
              </a:rPr>
              <a:t>73.1%</a:t>
            </a:r>
            <a:r>
              <a:rPr kumimoji="1" lang="ja-JP" altLang="en-US" sz="1450" b="1">
                <a:solidFill>
                  <a:srgbClr val="1E293B"/>
                </a:solidFill>
                <a:latin typeface="Meiryo UI" panose="020B0604030504040204" pitchFamily="50" charset="-128"/>
                <a:ea typeface="Meiryo UI" panose="020B0604030504040204" pitchFamily="50" charset="-128"/>
              </a:rPr>
              <a:t>（</a:t>
            </a:r>
            <a:r>
              <a:rPr kumimoji="1" lang="en-US" altLang="ja-JP" sz="1450" b="1">
                <a:solidFill>
                  <a:srgbClr val="1E293B"/>
                </a:solidFill>
                <a:latin typeface="Meiryo UI" panose="020B0604030504040204" pitchFamily="50" charset="-128"/>
                <a:ea typeface="Meiryo UI" panose="020B0604030504040204" pitchFamily="50" charset="-128"/>
              </a:rPr>
              <a:t>49</a:t>
            </a:r>
            <a:r>
              <a:rPr kumimoji="1" lang="ja-JP" altLang="en-US" sz="1450" b="1">
                <a:solidFill>
                  <a:srgbClr val="1E293B"/>
                </a:solidFill>
                <a:latin typeface="Meiryo UI" panose="020B0604030504040204" pitchFamily="50" charset="-128"/>
                <a:ea typeface="Meiryo UI" panose="020B0604030504040204" pitchFamily="50" charset="-128"/>
              </a:rPr>
              <a:t>名）</a:t>
            </a:r>
          </a:p>
        </p:txBody>
      </p:sp>
      <p:sp>
        <p:nvSpPr>
          <p:cNvPr id="21" name="四角形: 角を丸くする 20">
            <a:extLst>
              <a:ext uri="{FF2B5EF4-FFF2-40B4-BE49-F238E27FC236}">
                <a16:creationId xmlns:a16="http://schemas.microsoft.com/office/drawing/2014/main" id="{409E8F8E-AA50-0007-28C2-14F14E0C0C2F}"/>
              </a:ext>
            </a:extLst>
          </p:cNvPr>
          <p:cNvSpPr/>
          <p:nvPr/>
        </p:nvSpPr>
        <p:spPr>
          <a:xfrm>
            <a:off x="4216400" y="1549400"/>
            <a:ext cx="37592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A77F0295-2C5C-CCF6-4A8A-90C530CE0A52}"/>
              </a:ext>
            </a:extLst>
          </p:cNvPr>
          <p:cNvSpPr/>
          <p:nvPr/>
        </p:nvSpPr>
        <p:spPr>
          <a:xfrm>
            <a:off x="4445000" y="1778000"/>
            <a:ext cx="101600" cy="330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D7365D27-FFE3-F9AF-F515-C7E60F197AB9}"/>
              </a:ext>
            </a:extLst>
          </p:cNvPr>
          <p:cNvSpPr txBox="1"/>
          <p:nvPr/>
        </p:nvSpPr>
        <p:spPr>
          <a:xfrm>
            <a:off x="4648200" y="1739900"/>
            <a:ext cx="31242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名前・場所は知る（</a:t>
            </a:r>
            <a:r>
              <a:rPr kumimoji="1" lang="en-US" altLang="ja-JP" sz="1750" b="1">
                <a:solidFill>
                  <a:srgbClr val="1E293B"/>
                </a:solidFill>
                <a:latin typeface="Meiryo UI" panose="020B0604030504040204" pitchFamily="50" charset="-128"/>
                <a:ea typeface="Meiryo UI" panose="020B0604030504040204" pitchFamily="50" charset="-128"/>
              </a:rPr>
              <a:t>126</a:t>
            </a:r>
            <a:r>
              <a:rPr kumimoji="1" lang="ja-JP" altLang="en-US" sz="1750" b="1">
                <a:solidFill>
                  <a:srgbClr val="1E293B"/>
                </a:solidFill>
                <a:latin typeface="Meiryo UI" panose="020B0604030504040204" pitchFamily="50" charset="-128"/>
                <a:ea typeface="Meiryo UI" panose="020B0604030504040204" pitchFamily="50" charset="-128"/>
              </a:rPr>
              <a:t>名）</a:t>
            </a:r>
          </a:p>
        </p:txBody>
      </p:sp>
      <p:sp>
        <p:nvSpPr>
          <p:cNvPr id="24" name="部分円 23">
            <a:extLst>
              <a:ext uri="{FF2B5EF4-FFF2-40B4-BE49-F238E27FC236}">
                <a16:creationId xmlns:a16="http://schemas.microsoft.com/office/drawing/2014/main" id="{B649F3DC-EB36-F13D-109B-9036901000EB}"/>
              </a:ext>
            </a:extLst>
          </p:cNvPr>
          <p:cNvSpPr/>
          <p:nvPr/>
        </p:nvSpPr>
        <p:spPr>
          <a:xfrm>
            <a:off x="5105400" y="2286000"/>
            <a:ext cx="1981200" cy="1981200"/>
          </a:xfrm>
          <a:prstGeom prst="pie">
            <a:avLst>
              <a:gd name="adj1" fmla="val 16200000"/>
              <a:gd name="adj2" fmla="val 203040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5" name="部分円 24">
            <a:extLst>
              <a:ext uri="{FF2B5EF4-FFF2-40B4-BE49-F238E27FC236}">
                <a16:creationId xmlns:a16="http://schemas.microsoft.com/office/drawing/2014/main" id="{DB8513EE-A9A3-90F2-989F-A092B52B262A}"/>
              </a:ext>
            </a:extLst>
          </p:cNvPr>
          <p:cNvSpPr/>
          <p:nvPr/>
        </p:nvSpPr>
        <p:spPr>
          <a:xfrm>
            <a:off x="5105400" y="2286000"/>
            <a:ext cx="1981200" cy="1981200"/>
          </a:xfrm>
          <a:prstGeom prst="pie">
            <a:avLst>
              <a:gd name="adj1" fmla="val 20304000"/>
              <a:gd name="adj2" fmla="val 148176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6" name="部分円 25">
            <a:extLst>
              <a:ext uri="{FF2B5EF4-FFF2-40B4-BE49-F238E27FC236}">
                <a16:creationId xmlns:a16="http://schemas.microsoft.com/office/drawing/2014/main" id="{750C8989-AFDE-5AA8-8391-12A271630AA8}"/>
              </a:ext>
            </a:extLst>
          </p:cNvPr>
          <p:cNvSpPr/>
          <p:nvPr/>
        </p:nvSpPr>
        <p:spPr>
          <a:xfrm>
            <a:off x="5105400" y="2286000"/>
            <a:ext cx="1981200" cy="1981200"/>
          </a:xfrm>
          <a:prstGeom prst="pie">
            <a:avLst>
              <a:gd name="adj1" fmla="val 14817600"/>
              <a:gd name="adj2" fmla="val 16178401"/>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7" name="楕円 26">
            <a:extLst>
              <a:ext uri="{FF2B5EF4-FFF2-40B4-BE49-F238E27FC236}">
                <a16:creationId xmlns:a16="http://schemas.microsoft.com/office/drawing/2014/main" id="{5AB7197A-4931-E1F3-CD36-826401914566}"/>
              </a:ext>
            </a:extLst>
          </p:cNvPr>
          <p:cNvSpPr/>
          <p:nvPr/>
        </p:nvSpPr>
        <p:spPr>
          <a:xfrm>
            <a:off x="5561076" y="2741676"/>
            <a:ext cx="1069848" cy="1069848"/>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6B2476D8-2957-F347-8ABF-869B333632A4}"/>
              </a:ext>
            </a:extLst>
          </p:cNvPr>
          <p:cNvSpPr txBox="1"/>
          <p:nvPr/>
        </p:nvSpPr>
        <p:spPr>
          <a:xfrm>
            <a:off x="5611876" y="2946400"/>
            <a:ext cx="968248" cy="595035"/>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好意的評価</a:t>
            </a:r>
          </a:p>
        </p:txBody>
      </p:sp>
      <p:sp>
        <p:nvSpPr>
          <p:cNvPr id="29" name="テキスト ボックス 28">
            <a:extLst>
              <a:ext uri="{FF2B5EF4-FFF2-40B4-BE49-F238E27FC236}">
                <a16:creationId xmlns:a16="http://schemas.microsoft.com/office/drawing/2014/main" id="{90FC5136-D77A-4060-857A-9A4BF5277D28}"/>
              </a:ext>
            </a:extLst>
          </p:cNvPr>
          <p:cNvSpPr txBox="1"/>
          <p:nvPr/>
        </p:nvSpPr>
        <p:spPr>
          <a:xfrm>
            <a:off x="5611876" y="3302000"/>
            <a:ext cx="968248" cy="29495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93.7%</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9E69C62A-937F-1826-8B1C-20BA9D373154}"/>
              </a:ext>
            </a:extLst>
          </p:cNvPr>
          <p:cNvSpPr txBox="1"/>
          <p:nvPr/>
        </p:nvSpPr>
        <p:spPr>
          <a:xfrm>
            <a:off x="4368800" y="4394200"/>
            <a:ext cx="3454400" cy="548868"/>
          </a:xfrm>
          <a:prstGeom prst="rect">
            <a:avLst/>
          </a:prstGeom>
          <a:noFill/>
        </p:spPr>
        <p:txBody>
          <a:bodyPr vert="horz" wrap="square" lIns="76200" tIns="50800" rIns="76200" bIns="50800" rtlCol="0">
            <a:spAutoFit/>
          </a:bodyPr>
          <a:lstStyle/>
          <a:p>
            <a:pPr algn="ctr"/>
            <a:r>
              <a:rPr kumimoji="1" lang="ja-JP" altLang="en-US" sz="1450" b="1">
                <a:solidFill>
                  <a:srgbClr val="1E293B"/>
                </a:solidFill>
                <a:latin typeface="Meiryo UI" panose="020B0604030504040204" pitchFamily="50" charset="-128"/>
                <a:ea typeface="Meiryo UI" panose="020B0604030504040204" pitchFamily="50" charset="-128"/>
              </a:rPr>
              <a:t>ぜひ利用：</a:t>
            </a:r>
            <a:r>
              <a:rPr kumimoji="1" lang="en-US" altLang="ja-JP" sz="1450" b="1">
                <a:solidFill>
                  <a:srgbClr val="1E293B"/>
                </a:solidFill>
                <a:latin typeface="Meiryo UI" panose="020B0604030504040204" pitchFamily="50" charset="-128"/>
                <a:ea typeface="Meiryo UI" panose="020B0604030504040204" pitchFamily="50" charset="-128"/>
              </a:rPr>
              <a:t>19.0%</a:t>
            </a:r>
            <a:r>
              <a:rPr kumimoji="1" lang="ja-JP" altLang="en-US" sz="1450" b="1">
                <a:solidFill>
                  <a:srgbClr val="1E293B"/>
                </a:solidFill>
                <a:latin typeface="Meiryo UI" panose="020B0604030504040204" pitchFamily="50" charset="-128"/>
                <a:ea typeface="Meiryo UI" panose="020B0604030504040204" pitchFamily="50" charset="-128"/>
              </a:rPr>
              <a:t>（</a:t>
            </a:r>
            <a:r>
              <a:rPr kumimoji="1" lang="en-US" altLang="ja-JP" sz="1450" b="1">
                <a:solidFill>
                  <a:srgbClr val="1E293B"/>
                </a:solidFill>
                <a:latin typeface="Meiryo UI" panose="020B0604030504040204" pitchFamily="50" charset="-128"/>
                <a:ea typeface="Meiryo UI" panose="020B0604030504040204" pitchFamily="50" charset="-128"/>
              </a:rPr>
              <a:t>24</a:t>
            </a:r>
            <a:r>
              <a:rPr kumimoji="1" lang="ja-JP" altLang="en-US" sz="1450" b="1">
                <a:solidFill>
                  <a:srgbClr val="1E293B"/>
                </a:solidFill>
                <a:latin typeface="Meiryo UI" panose="020B0604030504040204" pitchFamily="50" charset="-128"/>
                <a:ea typeface="Meiryo UI" panose="020B0604030504040204" pitchFamily="50" charset="-128"/>
              </a:rPr>
              <a:t>名）
検討したい：</a:t>
            </a:r>
            <a:r>
              <a:rPr kumimoji="1" lang="en-US" altLang="ja-JP" sz="1450" b="1">
                <a:solidFill>
                  <a:srgbClr val="1E293B"/>
                </a:solidFill>
                <a:latin typeface="Meiryo UI" panose="020B0604030504040204" pitchFamily="50" charset="-128"/>
                <a:ea typeface="Meiryo UI" panose="020B0604030504040204" pitchFamily="50" charset="-128"/>
              </a:rPr>
              <a:t>74.6%</a:t>
            </a:r>
            <a:r>
              <a:rPr kumimoji="1" lang="ja-JP" altLang="en-US" sz="1450" b="1">
                <a:solidFill>
                  <a:srgbClr val="1E293B"/>
                </a:solidFill>
                <a:latin typeface="Meiryo UI" panose="020B0604030504040204" pitchFamily="50" charset="-128"/>
                <a:ea typeface="Meiryo UI" panose="020B0604030504040204" pitchFamily="50" charset="-128"/>
              </a:rPr>
              <a:t>（</a:t>
            </a:r>
            <a:r>
              <a:rPr kumimoji="1" lang="en-US" altLang="ja-JP" sz="1450" b="1">
                <a:solidFill>
                  <a:srgbClr val="1E293B"/>
                </a:solidFill>
                <a:latin typeface="Meiryo UI" panose="020B0604030504040204" pitchFamily="50" charset="-128"/>
                <a:ea typeface="Meiryo UI" panose="020B0604030504040204" pitchFamily="50" charset="-128"/>
              </a:rPr>
              <a:t>94</a:t>
            </a:r>
            <a:r>
              <a:rPr kumimoji="1" lang="ja-JP" altLang="en-US" sz="1450" b="1">
                <a:solidFill>
                  <a:srgbClr val="1E293B"/>
                </a:solidFill>
                <a:latin typeface="Meiryo UI" panose="020B0604030504040204" pitchFamily="50" charset="-128"/>
                <a:ea typeface="Meiryo UI" panose="020B0604030504040204" pitchFamily="50" charset="-128"/>
              </a:rPr>
              <a:t>名）</a:t>
            </a:r>
          </a:p>
        </p:txBody>
      </p:sp>
      <p:sp>
        <p:nvSpPr>
          <p:cNvPr id="31" name="四角形: 角を丸くする 30">
            <a:extLst>
              <a:ext uri="{FF2B5EF4-FFF2-40B4-BE49-F238E27FC236}">
                <a16:creationId xmlns:a16="http://schemas.microsoft.com/office/drawing/2014/main" id="{97DB79BB-A778-2F49-9DF8-8FDB1F896254}"/>
              </a:ext>
            </a:extLst>
          </p:cNvPr>
          <p:cNvSpPr/>
          <p:nvPr/>
        </p:nvSpPr>
        <p:spPr>
          <a:xfrm>
            <a:off x="8178800" y="1549400"/>
            <a:ext cx="3759200" cy="3657600"/>
          </a:xfrm>
          <a:prstGeom prst="roundRect">
            <a:avLst>
              <a:gd name="adj" fmla="val 6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B3804121-8AB0-36DB-8C03-AB5C9460BE56}"/>
              </a:ext>
            </a:extLst>
          </p:cNvPr>
          <p:cNvSpPr/>
          <p:nvPr/>
        </p:nvSpPr>
        <p:spPr>
          <a:xfrm>
            <a:off x="8407400" y="1778000"/>
            <a:ext cx="101600" cy="3302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2BDA338D-6D30-4050-1517-5A46E8CAE00B}"/>
              </a:ext>
            </a:extLst>
          </p:cNvPr>
          <p:cNvSpPr txBox="1"/>
          <p:nvPr/>
        </p:nvSpPr>
        <p:spPr>
          <a:xfrm>
            <a:off x="8610600" y="1739900"/>
            <a:ext cx="3124200" cy="379591"/>
          </a:xfrm>
          <a:prstGeom prst="rect">
            <a:avLst/>
          </a:prstGeom>
          <a:noFill/>
        </p:spPr>
        <p:txBody>
          <a:bodyPr vert="horz" wrap="square" lIns="76200" tIns="50800" rIns="76200" bIns="50800" rtlCol="0">
            <a:spAutoFit/>
          </a:bodyPr>
          <a:lstStyle/>
          <a:p>
            <a:r>
              <a:rPr kumimoji="1" lang="ja-JP" altLang="en-US" sz="1750" b="1">
                <a:solidFill>
                  <a:srgbClr val="1E293B"/>
                </a:solidFill>
                <a:latin typeface="Meiryo UI" panose="020B0604030504040204" pitchFamily="50" charset="-128"/>
                <a:ea typeface="Meiryo UI" panose="020B0604030504040204" pitchFamily="50" charset="-128"/>
              </a:rPr>
              <a:t>よく知っている（</a:t>
            </a:r>
            <a:r>
              <a:rPr kumimoji="1" lang="en-US" altLang="ja-JP" sz="1750" b="1">
                <a:solidFill>
                  <a:srgbClr val="1E293B"/>
                </a:solidFill>
                <a:latin typeface="Meiryo UI" panose="020B0604030504040204" pitchFamily="50" charset="-128"/>
                <a:ea typeface="Meiryo UI" panose="020B0604030504040204" pitchFamily="50" charset="-128"/>
              </a:rPr>
              <a:t>39</a:t>
            </a:r>
            <a:r>
              <a:rPr kumimoji="1" lang="ja-JP" altLang="en-US" sz="1750" b="1">
                <a:solidFill>
                  <a:srgbClr val="1E293B"/>
                </a:solidFill>
                <a:latin typeface="Meiryo UI" panose="020B0604030504040204" pitchFamily="50" charset="-128"/>
                <a:ea typeface="Meiryo UI" panose="020B0604030504040204" pitchFamily="50" charset="-128"/>
              </a:rPr>
              <a:t>名）</a:t>
            </a:r>
          </a:p>
        </p:txBody>
      </p:sp>
      <p:sp>
        <p:nvSpPr>
          <p:cNvPr id="34" name="部分円 33">
            <a:extLst>
              <a:ext uri="{FF2B5EF4-FFF2-40B4-BE49-F238E27FC236}">
                <a16:creationId xmlns:a16="http://schemas.microsoft.com/office/drawing/2014/main" id="{A0F6FB99-3F41-0196-05BC-541AD20574F3}"/>
              </a:ext>
            </a:extLst>
          </p:cNvPr>
          <p:cNvSpPr/>
          <p:nvPr/>
        </p:nvSpPr>
        <p:spPr>
          <a:xfrm>
            <a:off x="9067800" y="2286000"/>
            <a:ext cx="1981200" cy="1981200"/>
          </a:xfrm>
          <a:prstGeom prst="pie">
            <a:avLst>
              <a:gd name="adj1" fmla="val 16200000"/>
              <a:gd name="adj2" fmla="val 9007200"/>
            </a:avLst>
          </a:prstGeom>
          <a:solidFill>
            <a:srgbClr val="10B98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5" name="部分円 34">
            <a:extLst>
              <a:ext uri="{FF2B5EF4-FFF2-40B4-BE49-F238E27FC236}">
                <a16:creationId xmlns:a16="http://schemas.microsoft.com/office/drawing/2014/main" id="{E1A02A6E-9FF2-7067-F1B0-BC88D5B1FE5F}"/>
              </a:ext>
            </a:extLst>
          </p:cNvPr>
          <p:cNvSpPr/>
          <p:nvPr/>
        </p:nvSpPr>
        <p:spPr>
          <a:xfrm>
            <a:off x="9067800" y="2286000"/>
            <a:ext cx="1981200" cy="1981200"/>
          </a:xfrm>
          <a:prstGeom prst="pie">
            <a:avLst>
              <a:gd name="adj1" fmla="val 9007200"/>
              <a:gd name="adj2" fmla="val 145368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6" name="部分円 35">
            <a:extLst>
              <a:ext uri="{FF2B5EF4-FFF2-40B4-BE49-F238E27FC236}">
                <a16:creationId xmlns:a16="http://schemas.microsoft.com/office/drawing/2014/main" id="{9C8C4652-88B3-FFE8-948D-70DDAD36390F}"/>
              </a:ext>
            </a:extLst>
          </p:cNvPr>
          <p:cNvSpPr/>
          <p:nvPr/>
        </p:nvSpPr>
        <p:spPr>
          <a:xfrm>
            <a:off x="9067800" y="2286000"/>
            <a:ext cx="1981200" cy="1981200"/>
          </a:xfrm>
          <a:prstGeom prst="pie">
            <a:avLst>
              <a:gd name="adj1" fmla="val 14536800"/>
              <a:gd name="adj2" fmla="val 16200000"/>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7" name="楕円 36">
            <a:extLst>
              <a:ext uri="{FF2B5EF4-FFF2-40B4-BE49-F238E27FC236}">
                <a16:creationId xmlns:a16="http://schemas.microsoft.com/office/drawing/2014/main" id="{516CC62A-13C2-828C-E43A-C41D8A87ADA2}"/>
              </a:ext>
            </a:extLst>
          </p:cNvPr>
          <p:cNvSpPr/>
          <p:nvPr/>
        </p:nvSpPr>
        <p:spPr>
          <a:xfrm>
            <a:off x="9523476" y="2741676"/>
            <a:ext cx="1069848" cy="1069848"/>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CE6EB5F8-AB98-B7AE-A9F0-D867C3E7CC19}"/>
              </a:ext>
            </a:extLst>
          </p:cNvPr>
          <p:cNvSpPr txBox="1"/>
          <p:nvPr/>
        </p:nvSpPr>
        <p:spPr>
          <a:xfrm>
            <a:off x="9574276" y="2946400"/>
            <a:ext cx="968248" cy="348813"/>
          </a:xfrm>
          <a:prstGeom prst="rect">
            <a:avLst/>
          </a:prstGeom>
          <a:noFill/>
        </p:spPr>
        <p:txBody>
          <a:bodyPr vert="horz" wrap="square" lIns="76200" tIns="50800" rIns="76200" bIns="50800" rtlCol="0">
            <a:spAutoFit/>
          </a:bodyPr>
          <a:lstStyle/>
          <a:p>
            <a:pPr algn="ctr"/>
            <a:r>
              <a:rPr kumimoji="1" lang="ja-JP" altLang="en-US" sz="1600" b="1">
                <a:solidFill>
                  <a:srgbClr val="1E293B"/>
                </a:solidFill>
                <a:latin typeface="Meiryo UI" panose="020B0604030504040204" pitchFamily="50" charset="-128"/>
                <a:ea typeface="Meiryo UI" panose="020B0604030504040204" pitchFamily="50" charset="-128"/>
              </a:rPr>
              <a:t>ぜひ利用</a:t>
            </a:r>
          </a:p>
        </p:txBody>
      </p:sp>
      <p:sp>
        <p:nvSpPr>
          <p:cNvPr id="39" name="テキスト ボックス 38">
            <a:extLst>
              <a:ext uri="{FF2B5EF4-FFF2-40B4-BE49-F238E27FC236}">
                <a16:creationId xmlns:a16="http://schemas.microsoft.com/office/drawing/2014/main" id="{380EB993-A2B5-ABB6-E762-4F1E4D5208C2}"/>
              </a:ext>
            </a:extLst>
          </p:cNvPr>
          <p:cNvSpPr txBox="1"/>
          <p:nvPr/>
        </p:nvSpPr>
        <p:spPr>
          <a:xfrm>
            <a:off x="9574276" y="3302000"/>
            <a:ext cx="968248" cy="294953"/>
          </a:xfrm>
          <a:prstGeom prst="rect">
            <a:avLst/>
          </a:prstGeom>
          <a:noFill/>
        </p:spPr>
        <p:txBody>
          <a:bodyPr vert="horz" wrap="square" lIns="76200" tIns="50800" rIns="76200" bIns="50800" rtlCol="0">
            <a:spAutoFit/>
          </a:bodyPr>
          <a:lstStyle/>
          <a:p>
            <a:pPr algn="ctr"/>
            <a:r>
              <a:rPr kumimoji="1" lang="en-US" altLang="ja-JP" sz="1250" b="1">
                <a:solidFill>
                  <a:srgbClr val="64748B"/>
                </a:solidFill>
                <a:latin typeface="Meiryo UI" panose="020B0604030504040204" pitchFamily="50" charset="-128"/>
                <a:ea typeface="Meiryo UI" panose="020B0604030504040204" pitchFamily="50" charset="-128"/>
              </a:rPr>
              <a:t>66.7%</a:t>
            </a:r>
            <a:endParaRPr kumimoji="1" lang="ja-JP" altLang="en-US" sz="1250" b="1">
              <a:solidFill>
                <a:srgbClr val="64748B"/>
              </a:solidFill>
              <a:latin typeface="Meiryo UI" panose="020B0604030504040204" pitchFamily="50" charset="-128"/>
              <a:ea typeface="Meiryo UI" panose="020B0604030504040204" pitchFamily="50" charset="-128"/>
            </a:endParaRPr>
          </a:p>
        </p:txBody>
      </p:sp>
      <p:sp>
        <p:nvSpPr>
          <p:cNvPr id="40" name="テキスト ボックス 39">
            <a:extLst>
              <a:ext uri="{FF2B5EF4-FFF2-40B4-BE49-F238E27FC236}">
                <a16:creationId xmlns:a16="http://schemas.microsoft.com/office/drawing/2014/main" id="{F7665A7B-BA43-8B02-51D4-6CF18D89C2F3}"/>
              </a:ext>
            </a:extLst>
          </p:cNvPr>
          <p:cNvSpPr txBox="1"/>
          <p:nvPr/>
        </p:nvSpPr>
        <p:spPr>
          <a:xfrm>
            <a:off x="8331200" y="4394200"/>
            <a:ext cx="3454400" cy="548868"/>
          </a:xfrm>
          <a:prstGeom prst="rect">
            <a:avLst/>
          </a:prstGeom>
          <a:noFill/>
        </p:spPr>
        <p:txBody>
          <a:bodyPr vert="horz" wrap="square" lIns="76200" tIns="50800" rIns="76200" bIns="50800" rtlCol="0">
            <a:spAutoFit/>
          </a:bodyPr>
          <a:lstStyle/>
          <a:p>
            <a:pPr algn="ctr"/>
            <a:r>
              <a:rPr kumimoji="1" lang="ja-JP" altLang="en-US" sz="1450" b="1">
                <a:solidFill>
                  <a:srgbClr val="10B981"/>
                </a:solidFill>
                <a:latin typeface="Meiryo UI" panose="020B0604030504040204" pitchFamily="50" charset="-128"/>
                <a:ea typeface="Meiryo UI" panose="020B0604030504040204" pitchFamily="50" charset="-128"/>
              </a:rPr>
              <a:t>ぜひ利用：</a:t>
            </a:r>
            <a:r>
              <a:rPr kumimoji="1" lang="en-US" altLang="ja-JP" sz="1450" b="1">
                <a:solidFill>
                  <a:srgbClr val="10B981"/>
                </a:solidFill>
                <a:latin typeface="Meiryo UI" panose="020B0604030504040204" pitchFamily="50" charset="-128"/>
                <a:ea typeface="Meiryo UI" panose="020B0604030504040204" pitchFamily="50" charset="-128"/>
              </a:rPr>
              <a:t>66.7%</a:t>
            </a:r>
            <a:r>
              <a:rPr kumimoji="1" lang="ja-JP" altLang="en-US" sz="1450" b="1">
                <a:solidFill>
                  <a:srgbClr val="10B981"/>
                </a:solidFill>
                <a:latin typeface="Meiryo UI" panose="020B0604030504040204" pitchFamily="50" charset="-128"/>
                <a:ea typeface="Meiryo UI" panose="020B0604030504040204" pitchFamily="50" charset="-128"/>
              </a:rPr>
              <a:t>（</a:t>
            </a:r>
            <a:r>
              <a:rPr kumimoji="1" lang="en-US" altLang="ja-JP" sz="1450" b="1">
                <a:solidFill>
                  <a:srgbClr val="10B981"/>
                </a:solidFill>
                <a:latin typeface="Meiryo UI" panose="020B0604030504040204" pitchFamily="50" charset="-128"/>
                <a:ea typeface="Meiryo UI" panose="020B0604030504040204" pitchFamily="50" charset="-128"/>
              </a:rPr>
              <a:t>26</a:t>
            </a:r>
            <a:r>
              <a:rPr kumimoji="1" lang="ja-JP" altLang="en-US" sz="1450" b="1">
                <a:solidFill>
                  <a:srgbClr val="10B981"/>
                </a:solidFill>
                <a:latin typeface="Meiryo UI" panose="020B0604030504040204" pitchFamily="50" charset="-128"/>
                <a:ea typeface="Meiryo UI" panose="020B0604030504040204" pitchFamily="50" charset="-128"/>
              </a:rPr>
              <a:t>名）
検討したい：</a:t>
            </a:r>
            <a:r>
              <a:rPr kumimoji="1" lang="en-US" altLang="ja-JP" sz="1450" b="1">
                <a:solidFill>
                  <a:srgbClr val="10B981"/>
                </a:solidFill>
                <a:latin typeface="Meiryo UI" panose="020B0604030504040204" pitchFamily="50" charset="-128"/>
                <a:ea typeface="Meiryo UI" panose="020B0604030504040204" pitchFamily="50" charset="-128"/>
              </a:rPr>
              <a:t>25.6%</a:t>
            </a:r>
            <a:r>
              <a:rPr kumimoji="1" lang="ja-JP" altLang="en-US" sz="1450" b="1">
                <a:solidFill>
                  <a:srgbClr val="10B981"/>
                </a:solidFill>
                <a:latin typeface="Meiryo UI" panose="020B0604030504040204" pitchFamily="50" charset="-128"/>
                <a:ea typeface="Meiryo UI" panose="020B0604030504040204" pitchFamily="50" charset="-128"/>
              </a:rPr>
              <a:t>（</a:t>
            </a:r>
            <a:r>
              <a:rPr kumimoji="1" lang="en-US" altLang="ja-JP" sz="1450" b="1">
                <a:solidFill>
                  <a:srgbClr val="10B981"/>
                </a:solidFill>
                <a:latin typeface="Meiryo UI" panose="020B0604030504040204" pitchFamily="50" charset="-128"/>
                <a:ea typeface="Meiryo UI" panose="020B0604030504040204" pitchFamily="50" charset="-128"/>
              </a:rPr>
              <a:t>10</a:t>
            </a:r>
            <a:r>
              <a:rPr kumimoji="1" lang="ja-JP" altLang="en-US" sz="1450" b="1">
                <a:solidFill>
                  <a:srgbClr val="10B981"/>
                </a:solidFill>
                <a:latin typeface="Meiryo UI" panose="020B0604030504040204" pitchFamily="50" charset="-128"/>
                <a:ea typeface="Meiryo UI" panose="020B0604030504040204" pitchFamily="50" charset="-128"/>
              </a:rPr>
              <a:t>名）</a:t>
            </a:r>
          </a:p>
        </p:txBody>
      </p:sp>
      <p:sp>
        <p:nvSpPr>
          <p:cNvPr id="41" name="四角形: 角を丸くする 40">
            <a:extLst>
              <a:ext uri="{FF2B5EF4-FFF2-40B4-BE49-F238E27FC236}">
                <a16:creationId xmlns:a16="http://schemas.microsoft.com/office/drawing/2014/main" id="{0B6DB69A-DC8B-2006-B01B-E7E25271E8A2}"/>
              </a:ext>
            </a:extLst>
          </p:cNvPr>
          <p:cNvSpPr/>
          <p:nvPr/>
        </p:nvSpPr>
        <p:spPr>
          <a:xfrm>
            <a:off x="254000" y="53594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AD69D71A-AC5F-7204-E785-B1B6BE2411C7}"/>
              </a:ext>
            </a:extLst>
          </p:cNvPr>
          <p:cNvSpPr txBox="1"/>
          <p:nvPr/>
        </p:nvSpPr>
        <p:spPr>
          <a:xfrm>
            <a:off x="508000" y="5486400"/>
            <a:ext cx="11176000" cy="579646"/>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・「今日初めて知った」層でも体験後は</a:t>
            </a:r>
            <a:r>
              <a:rPr kumimoji="1" lang="en-US" altLang="ja-JP" sz="1550" b="1">
                <a:solidFill>
                  <a:srgbClr val="1E293B"/>
                </a:solidFill>
                <a:latin typeface="Meiryo UI" panose="020B0604030504040204" pitchFamily="50" charset="-128"/>
                <a:ea typeface="Meiryo UI" panose="020B0604030504040204" pitchFamily="50" charset="-128"/>
              </a:rPr>
              <a:t>88.1%</a:t>
            </a:r>
            <a:r>
              <a:rPr kumimoji="1" lang="ja-JP" altLang="en-US" sz="1550" b="1">
                <a:solidFill>
                  <a:srgbClr val="1E293B"/>
                </a:solidFill>
                <a:latin typeface="Meiryo UI" panose="020B0604030504040204" pitchFamily="50" charset="-128"/>
                <a:ea typeface="Meiryo UI" panose="020B0604030504040204" pitchFamily="50" charset="-128"/>
              </a:rPr>
              <a:t>、「名前・場所のみ」層では</a:t>
            </a:r>
            <a:r>
              <a:rPr kumimoji="1" lang="en-US" altLang="ja-JP" sz="1550" b="1">
                <a:solidFill>
                  <a:srgbClr val="1E293B"/>
                </a:solidFill>
                <a:latin typeface="Meiryo UI" panose="020B0604030504040204" pitchFamily="50" charset="-128"/>
                <a:ea typeface="Meiryo UI" panose="020B0604030504040204" pitchFamily="50" charset="-128"/>
              </a:rPr>
              <a:t>93.7%</a:t>
            </a:r>
            <a:r>
              <a:rPr kumimoji="1" lang="ja-JP" altLang="en-US" sz="1550" b="1">
                <a:solidFill>
                  <a:srgbClr val="1E293B"/>
                </a:solidFill>
                <a:latin typeface="Meiryo UI" panose="020B0604030504040204" pitchFamily="50" charset="-128"/>
                <a:ea typeface="Meiryo UI" panose="020B0604030504040204" pitchFamily="50" charset="-128"/>
              </a:rPr>
              <a:t>が利用・検討したいと回答した。
・さらに「よく知っている」層では</a:t>
            </a:r>
            <a:r>
              <a:rPr kumimoji="1" lang="en-US" altLang="ja-JP" sz="1550" b="1">
                <a:solidFill>
                  <a:srgbClr val="1E293B"/>
                </a:solidFill>
                <a:latin typeface="Meiryo UI" panose="020B0604030504040204" pitchFamily="50" charset="-128"/>
                <a:ea typeface="Meiryo UI" panose="020B0604030504040204" pitchFamily="50" charset="-128"/>
              </a:rPr>
              <a:t>66.7%</a:t>
            </a:r>
            <a:r>
              <a:rPr kumimoji="1" lang="ja-JP" altLang="en-US" sz="1550" b="1">
                <a:solidFill>
                  <a:srgbClr val="1E293B"/>
                </a:solidFill>
                <a:latin typeface="Meiryo UI" panose="020B0604030504040204" pitchFamily="50" charset="-128"/>
                <a:ea typeface="Meiryo UI" panose="020B0604030504040204" pitchFamily="50" charset="-128"/>
              </a:rPr>
              <a:t>が「ぜひ利用したい」と答えており、当院の中身を知ってもらう機会を増やせば高い評価につながる。</a:t>
            </a:r>
          </a:p>
        </p:txBody>
      </p:sp>
    </p:spTree>
    <p:extLst>
      <p:ext uri="{BB962C8B-B14F-4D97-AF65-F5344CB8AC3E}">
        <p14:creationId xmlns:p14="http://schemas.microsoft.com/office/powerpoint/2010/main" val="1396052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9951389D-AE1D-8811-9564-18F22EAFF5E5}"/>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64F6E409-70E6-EAC4-0563-61F44705D96E}"/>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D4515777-D290-131C-8030-61A4D8E25A97}"/>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5FB79E11-8DEF-2AAA-E22B-8461964F113C}"/>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CN" altLang="en-US" sz="1300" b="1">
                <a:solidFill>
                  <a:srgbClr val="FFFFFF"/>
                </a:solidFill>
                <a:latin typeface="Meiryo UI" panose="020B0604030504040204" pitchFamily="50" charset="-128"/>
                <a:ea typeface="Meiryo UI" panose="020B0604030504040204" pitchFamily="50" charset="-128"/>
              </a:rPr>
              <a:t>第</a:t>
            </a:r>
            <a:r>
              <a:rPr kumimoji="1" lang="en-US" altLang="zh-CN" sz="1300" b="1">
                <a:solidFill>
                  <a:srgbClr val="FFFFFF"/>
                </a:solidFill>
                <a:latin typeface="Meiryo UI" panose="020B0604030504040204" pitchFamily="50" charset="-128"/>
                <a:ea typeface="Meiryo UI" panose="020B0604030504040204" pitchFamily="50" charset="-128"/>
              </a:rPr>
              <a:t>4</a:t>
            </a:r>
            <a:r>
              <a:rPr kumimoji="1" lang="zh-CN" altLang="en-US" sz="1300" b="1">
                <a:solidFill>
                  <a:srgbClr val="FFFFFF"/>
                </a:solidFill>
                <a:latin typeface="Meiryo UI" panose="020B0604030504040204" pitchFamily="50" charset="-128"/>
                <a:ea typeface="Meiryo UI" panose="020B0604030504040204" pitchFamily="50" charset="-128"/>
              </a:rPr>
              <a:t>部：来年度提案①</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DE819027-11B1-6427-14F3-4A66ADA0EC0D}"/>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来年度の出展に向けた</a:t>
            </a:r>
            <a:r>
              <a:rPr kumimoji="1" lang="en-US" altLang="ja-JP" sz="2100" b="1">
                <a:solidFill>
                  <a:srgbClr val="1E293B"/>
                </a:solidFill>
                <a:latin typeface="Meiryo UI" panose="020B0604030504040204" pitchFamily="50" charset="-128"/>
                <a:ea typeface="Meiryo UI" panose="020B0604030504040204" pitchFamily="50" charset="-128"/>
              </a:rPr>
              <a:t>3</a:t>
            </a:r>
            <a:r>
              <a:rPr kumimoji="1" lang="ja-JP" altLang="en-US" sz="2100" b="1">
                <a:solidFill>
                  <a:srgbClr val="1E293B"/>
                </a:solidFill>
                <a:latin typeface="Meiryo UI" panose="020B0604030504040204" pitchFamily="50" charset="-128"/>
                <a:ea typeface="Meiryo UI" panose="020B0604030504040204" pitchFamily="50" charset="-128"/>
              </a:rPr>
              <a:t>つの改善提案</a:t>
            </a:r>
          </a:p>
        </p:txBody>
      </p:sp>
      <p:sp>
        <p:nvSpPr>
          <p:cNvPr id="7" name="四角形: 角を丸くする 6">
            <a:extLst>
              <a:ext uri="{FF2B5EF4-FFF2-40B4-BE49-F238E27FC236}">
                <a16:creationId xmlns:a16="http://schemas.microsoft.com/office/drawing/2014/main" id="{FA890F0D-698F-8A83-7771-378BD7338E2E}"/>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E6C0C69-4761-6484-D40B-0FD98558EBCC}"/>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20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4D1AE281-2D15-3D5D-B4B3-EC17C26B8612}"/>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B6BC1E25-EDF4-DFC2-EA14-354D074FA8CB}"/>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2563EB"/>
                </a:solidFill>
                <a:latin typeface="Meiryo UI" panose="020B0604030504040204" pitchFamily="50" charset="-128"/>
                <a:ea typeface="Meiryo UI" panose="020B0604030504040204" pitchFamily="50" charset="-128"/>
              </a:rPr>
              <a:t>今年度の混雑・</a:t>
            </a:r>
            <a:r>
              <a:rPr kumimoji="1" lang="en-US" altLang="ja-JP" sz="1500" b="1">
                <a:solidFill>
                  <a:srgbClr val="2563EB"/>
                </a:solidFill>
                <a:latin typeface="Meiryo UI" panose="020B0604030504040204" pitchFamily="50" charset="-128"/>
                <a:ea typeface="Meiryo UI" panose="020B0604030504040204" pitchFamily="50" charset="-128"/>
              </a:rPr>
              <a:t>InBody</a:t>
            </a:r>
            <a:r>
              <a:rPr kumimoji="1" lang="ja-JP" altLang="en-US" sz="1500" b="1">
                <a:solidFill>
                  <a:srgbClr val="2563EB"/>
                </a:solidFill>
                <a:latin typeface="Meiryo UI" panose="020B0604030504040204" pitchFamily="50" charset="-128"/>
                <a:ea typeface="Meiryo UI" panose="020B0604030504040204" pitchFamily="50" charset="-128"/>
              </a:rPr>
              <a:t>受付中止・スタッフ休憩不足を解消するため、</a:t>
            </a:r>
            <a:r>
              <a:rPr kumimoji="1" lang="en-US" altLang="ja-JP" sz="1500" b="1">
                <a:solidFill>
                  <a:srgbClr val="2563EB"/>
                </a:solidFill>
                <a:latin typeface="Meiryo UI" panose="020B0604030504040204" pitchFamily="50" charset="-128"/>
                <a:ea typeface="Meiryo UI" panose="020B0604030504040204" pitchFamily="50" charset="-128"/>
              </a:rPr>
              <a:t>4</a:t>
            </a:r>
            <a:r>
              <a:rPr kumimoji="1" lang="ja-JP" altLang="en-US" sz="1500" b="1">
                <a:solidFill>
                  <a:srgbClr val="2563EB"/>
                </a:solidFill>
                <a:latin typeface="Meiryo UI" panose="020B0604030504040204" pitchFamily="50" charset="-128"/>
                <a:ea typeface="Meiryo UI" panose="020B0604030504040204" pitchFamily="50" charset="-128"/>
              </a:rPr>
              <a:t>区画化と増員を提案</a:t>
            </a:r>
          </a:p>
        </p:txBody>
      </p:sp>
      <p:sp>
        <p:nvSpPr>
          <p:cNvPr id="11" name="四角形: 角を丸くする 10">
            <a:extLst>
              <a:ext uri="{FF2B5EF4-FFF2-40B4-BE49-F238E27FC236}">
                <a16:creationId xmlns:a16="http://schemas.microsoft.com/office/drawing/2014/main" id="{49DCBC55-FD30-604C-81DD-58B57331B50A}"/>
              </a:ext>
            </a:extLst>
          </p:cNvPr>
          <p:cNvSpPr/>
          <p:nvPr/>
        </p:nvSpPr>
        <p:spPr>
          <a:xfrm>
            <a:off x="254000" y="1574800"/>
            <a:ext cx="3759200" cy="49784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3A3F9182-7408-48BB-466E-D313AEA669B7}"/>
              </a:ext>
            </a:extLst>
          </p:cNvPr>
          <p:cNvSpPr/>
          <p:nvPr/>
        </p:nvSpPr>
        <p:spPr>
          <a:xfrm>
            <a:off x="457200" y="1803400"/>
            <a:ext cx="3352800" cy="533400"/>
          </a:xfrm>
          <a:prstGeom prst="roundRect">
            <a:avLst>
              <a:gd name="adj" fmla="val 4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2CD4115-B8AA-71B2-AC12-D52D71208FED}"/>
              </a:ext>
            </a:extLst>
          </p:cNvPr>
          <p:cNvSpPr txBox="1"/>
          <p:nvPr/>
        </p:nvSpPr>
        <p:spPr>
          <a:xfrm>
            <a:off x="457200" y="1879600"/>
            <a:ext cx="3352800" cy="364202"/>
          </a:xfrm>
          <a:prstGeom prst="rect">
            <a:avLst/>
          </a:prstGeom>
          <a:noFill/>
        </p:spPr>
        <p:txBody>
          <a:bodyPr vert="horz" wrap="square" lIns="76200" tIns="50800" rIns="76200" bIns="50800" rtlCol="0">
            <a:spAutoFit/>
          </a:bodyPr>
          <a:lstStyle/>
          <a:p>
            <a:pPr algn="ctr"/>
            <a:r>
              <a:rPr kumimoji="1" lang="ja-JP" altLang="en-US" sz="1700" b="1">
                <a:solidFill>
                  <a:srgbClr val="EF4444"/>
                </a:solidFill>
                <a:latin typeface="Meiryo UI" panose="020B0604030504040204" pitchFamily="50" charset="-128"/>
                <a:ea typeface="Meiryo UI" panose="020B0604030504040204" pitchFamily="50" charset="-128"/>
              </a:rPr>
              <a:t>① </a:t>
            </a:r>
            <a:r>
              <a:rPr kumimoji="1" lang="en-US" altLang="ja-JP" sz="1700" b="1">
                <a:solidFill>
                  <a:srgbClr val="EF4444"/>
                </a:solidFill>
                <a:latin typeface="Meiryo UI" panose="020B0604030504040204" pitchFamily="50" charset="-128"/>
                <a:ea typeface="Meiryo UI" panose="020B0604030504040204" pitchFamily="50" charset="-128"/>
              </a:rPr>
              <a:t>3</a:t>
            </a:r>
            <a:r>
              <a:rPr kumimoji="1" lang="ja-JP" altLang="en-US" sz="1700" b="1">
                <a:solidFill>
                  <a:srgbClr val="EF4444"/>
                </a:solidFill>
                <a:latin typeface="Meiryo UI" panose="020B0604030504040204" pitchFamily="50" charset="-128"/>
                <a:ea typeface="Meiryo UI" panose="020B0604030504040204" pitchFamily="50" charset="-128"/>
              </a:rPr>
              <a:t>区画 ➔ </a:t>
            </a:r>
            <a:r>
              <a:rPr kumimoji="1" lang="en-US" altLang="ja-JP" sz="1700" b="1">
                <a:solidFill>
                  <a:srgbClr val="EF4444"/>
                </a:solidFill>
                <a:latin typeface="Meiryo UI" panose="020B0604030504040204" pitchFamily="50" charset="-128"/>
                <a:ea typeface="Meiryo UI" panose="020B0604030504040204" pitchFamily="50" charset="-128"/>
              </a:rPr>
              <a:t>4</a:t>
            </a:r>
            <a:r>
              <a:rPr kumimoji="1" lang="ja-JP" altLang="en-US" sz="1700" b="1">
                <a:solidFill>
                  <a:srgbClr val="EF4444"/>
                </a:solidFill>
                <a:latin typeface="Meiryo UI" panose="020B0604030504040204" pitchFamily="50" charset="-128"/>
                <a:ea typeface="Meiryo UI" panose="020B0604030504040204" pitchFamily="50" charset="-128"/>
              </a:rPr>
              <a:t>区画へ拡大</a:t>
            </a:r>
          </a:p>
        </p:txBody>
      </p:sp>
      <p:sp>
        <p:nvSpPr>
          <p:cNvPr id="14" name="テキスト ボックス 13">
            <a:extLst>
              <a:ext uri="{FF2B5EF4-FFF2-40B4-BE49-F238E27FC236}">
                <a16:creationId xmlns:a16="http://schemas.microsoft.com/office/drawing/2014/main" id="{40E3326C-F34D-3952-2EBD-FBE4CA4B75FC}"/>
              </a:ext>
            </a:extLst>
          </p:cNvPr>
          <p:cNvSpPr txBox="1"/>
          <p:nvPr/>
        </p:nvSpPr>
        <p:spPr>
          <a:xfrm>
            <a:off x="482600" y="2565400"/>
            <a:ext cx="3302000" cy="1333698"/>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a:t>
            </a:r>
            <a:r>
              <a:rPr kumimoji="1" lang="en-US" altLang="ja-JP" sz="1600">
                <a:solidFill>
                  <a:srgbClr val="1E293B"/>
                </a:solidFill>
                <a:latin typeface="Meiryo UI" panose="020B0604030504040204" pitchFamily="50" charset="-128"/>
                <a:ea typeface="Meiryo UI" panose="020B0604030504040204" pitchFamily="50" charset="-128"/>
              </a:rPr>
              <a:t>3</a:t>
            </a:r>
            <a:r>
              <a:rPr kumimoji="1" lang="ja-JP" altLang="en-US" sz="1600">
                <a:solidFill>
                  <a:srgbClr val="1E293B"/>
                </a:solidFill>
                <a:latin typeface="Meiryo UI" panose="020B0604030504040204" pitchFamily="50" charset="-128"/>
                <a:ea typeface="Meiryo UI" panose="020B0604030504040204" pitchFamily="50" charset="-128"/>
              </a:rPr>
              <a:t>区画では満席が続き、座れない方に外出を案内する機会損失が生じた。
・来年度は「</a:t>
            </a:r>
            <a:r>
              <a:rPr kumimoji="1" lang="en-US" altLang="ja-JP" sz="1600">
                <a:solidFill>
                  <a:srgbClr val="1E293B"/>
                </a:solidFill>
                <a:latin typeface="Meiryo UI" panose="020B0604030504040204" pitchFamily="50" charset="-128"/>
                <a:ea typeface="Meiryo UI" panose="020B0604030504040204" pitchFamily="50" charset="-128"/>
              </a:rPr>
              <a:t>4</a:t>
            </a:r>
            <a:r>
              <a:rPr kumimoji="1" lang="ja-JP" altLang="en-US" sz="1600">
                <a:solidFill>
                  <a:srgbClr val="1E293B"/>
                </a:solidFill>
                <a:latin typeface="Meiryo UI" panose="020B0604030504040204" pitchFamily="50" charset="-128"/>
                <a:ea typeface="Meiryo UI" panose="020B0604030504040204" pitchFamily="50" charset="-128"/>
              </a:rPr>
              <a:t>区画」を確保し、待合椅子と相談スペースを広げる。</a:t>
            </a:r>
          </a:p>
        </p:txBody>
      </p:sp>
      <p:sp>
        <p:nvSpPr>
          <p:cNvPr id="15" name="四角形: 角を丸くする 14">
            <a:extLst>
              <a:ext uri="{FF2B5EF4-FFF2-40B4-BE49-F238E27FC236}">
                <a16:creationId xmlns:a16="http://schemas.microsoft.com/office/drawing/2014/main" id="{5C3EDEA3-6E02-502A-B99F-DC965B828995}"/>
              </a:ext>
            </a:extLst>
          </p:cNvPr>
          <p:cNvSpPr/>
          <p:nvPr/>
        </p:nvSpPr>
        <p:spPr>
          <a:xfrm>
            <a:off x="4216400" y="1574800"/>
            <a:ext cx="3759200" cy="49784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92B32B1C-CE1E-324D-76D8-B5CB94CA94F9}"/>
              </a:ext>
            </a:extLst>
          </p:cNvPr>
          <p:cNvSpPr/>
          <p:nvPr/>
        </p:nvSpPr>
        <p:spPr>
          <a:xfrm>
            <a:off x="4419600" y="1803400"/>
            <a:ext cx="3352800" cy="533400"/>
          </a:xfrm>
          <a:prstGeom prst="roundRect">
            <a:avLst>
              <a:gd name="adj" fmla="val 40000"/>
            </a:avLst>
          </a:prstGeom>
          <a:solidFill>
            <a:srgbClr val="FFFB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CB6789C0-C49F-424B-BC63-56B87E397FF4}"/>
              </a:ext>
            </a:extLst>
          </p:cNvPr>
          <p:cNvSpPr txBox="1"/>
          <p:nvPr/>
        </p:nvSpPr>
        <p:spPr>
          <a:xfrm>
            <a:off x="4419600" y="1879600"/>
            <a:ext cx="3352800" cy="364202"/>
          </a:xfrm>
          <a:prstGeom prst="rect">
            <a:avLst/>
          </a:prstGeom>
          <a:noFill/>
        </p:spPr>
        <p:txBody>
          <a:bodyPr vert="horz" wrap="square" lIns="76200" tIns="50800" rIns="76200" bIns="50800" rtlCol="0">
            <a:spAutoFit/>
          </a:bodyPr>
          <a:lstStyle/>
          <a:p>
            <a:pPr algn="ctr"/>
            <a:r>
              <a:rPr kumimoji="1" lang="ja-JP" altLang="en-US" sz="1700" b="1">
                <a:solidFill>
                  <a:srgbClr val="F59E0B"/>
                </a:solidFill>
                <a:latin typeface="Meiryo UI" panose="020B0604030504040204" pitchFamily="50" charset="-128"/>
                <a:ea typeface="Meiryo UI" panose="020B0604030504040204" pitchFamily="50" charset="-128"/>
              </a:rPr>
              <a:t>② 増員と休憩</a:t>
            </a:r>
            <a:r>
              <a:rPr kumimoji="1" lang="en-US" altLang="ja-JP" sz="1700" b="1">
                <a:solidFill>
                  <a:srgbClr val="F59E0B"/>
                </a:solidFill>
                <a:latin typeface="Meiryo UI" panose="020B0604030504040204" pitchFamily="50" charset="-128"/>
                <a:ea typeface="Meiryo UI" panose="020B0604030504040204" pitchFamily="50" charset="-128"/>
              </a:rPr>
              <a:t>1</a:t>
            </a:r>
            <a:r>
              <a:rPr kumimoji="1" lang="ja-JP" altLang="en-US" sz="1700" b="1">
                <a:solidFill>
                  <a:srgbClr val="F59E0B"/>
                </a:solidFill>
                <a:latin typeface="Meiryo UI" panose="020B0604030504040204" pitchFamily="50" charset="-128"/>
                <a:ea typeface="Meiryo UI" panose="020B0604030504040204" pitchFamily="50" charset="-128"/>
              </a:rPr>
              <a:t>時間の確保</a:t>
            </a:r>
          </a:p>
        </p:txBody>
      </p:sp>
      <p:sp>
        <p:nvSpPr>
          <p:cNvPr id="18" name="テキスト ボックス 17">
            <a:extLst>
              <a:ext uri="{FF2B5EF4-FFF2-40B4-BE49-F238E27FC236}">
                <a16:creationId xmlns:a16="http://schemas.microsoft.com/office/drawing/2014/main" id="{0959FE34-AE53-F89E-A59D-3F3B5580FDD7}"/>
              </a:ext>
            </a:extLst>
          </p:cNvPr>
          <p:cNvSpPr txBox="1"/>
          <p:nvPr/>
        </p:nvSpPr>
        <p:spPr>
          <a:xfrm>
            <a:off x="4445000" y="2565400"/>
            <a:ext cx="3302000" cy="1579920"/>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・スタッフの</a:t>
            </a:r>
            <a:r>
              <a:rPr kumimoji="1" lang="en-US" altLang="ja-JP" sz="1600">
                <a:solidFill>
                  <a:srgbClr val="1E293B"/>
                </a:solidFill>
                <a:latin typeface="Meiryo UI" panose="020B0604030504040204" pitchFamily="50" charset="-128"/>
                <a:ea typeface="Meiryo UI" panose="020B0604030504040204" pitchFamily="50" charset="-128"/>
              </a:rPr>
              <a:t>76.9%</a:t>
            </a:r>
            <a:r>
              <a:rPr kumimoji="1" lang="ja-JP" altLang="en-US" sz="1600">
                <a:solidFill>
                  <a:srgbClr val="1E293B"/>
                </a:solidFill>
                <a:latin typeface="Meiryo UI" panose="020B0604030504040204" pitchFamily="50" charset="-128"/>
                <a:ea typeface="Meiryo UI" panose="020B0604030504040204" pitchFamily="50" charset="-128"/>
              </a:rPr>
              <a:t>が人員不足（休憩</a:t>
            </a:r>
            <a:r>
              <a:rPr kumimoji="1" lang="en-US" altLang="ja-JP" sz="1600">
                <a:solidFill>
                  <a:srgbClr val="1E293B"/>
                </a:solidFill>
                <a:latin typeface="Meiryo UI" panose="020B0604030504040204" pitchFamily="50" charset="-128"/>
                <a:ea typeface="Meiryo UI" panose="020B0604030504040204" pitchFamily="50" charset="-128"/>
              </a:rPr>
              <a:t>10〜15</a:t>
            </a:r>
            <a:r>
              <a:rPr kumimoji="1" lang="ja-JP" altLang="en-US" sz="1600">
                <a:solidFill>
                  <a:srgbClr val="1E293B"/>
                </a:solidFill>
                <a:latin typeface="Meiryo UI" panose="020B0604030504040204" pitchFamily="50" charset="-128"/>
                <a:ea typeface="Meiryo UI" panose="020B0604030504040204" pitchFamily="50" charset="-128"/>
              </a:rPr>
              <a:t>分のみ）を課題に挙げた。
・各部署の参加人数を増やし「休憩</a:t>
            </a:r>
            <a:r>
              <a:rPr kumimoji="1" lang="en-US" altLang="ja-JP" sz="1600">
                <a:solidFill>
                  <a:srgbClr val="1E293B"/>
                </a:solidFill>
                <a:latin typeface="Meiryo UI" panose="020B0604030504040204" pitchFamily="50" charset="-128"/>
                <a:ea typeface="Meiryo UI" panose="020B0604030504040204" pitchFamily="50" charset="-128"/>
              </a:rPr>
              <a:t>1</a:t>
            </a:r>
            <a:r>
              <a:rPr kumimoji="1" lang="ja-JP" altLang="en-US" sz="1600">
                <a:solidFill>
                  <a:srgbClr val="1E293B"/>
                </a:solidFill>
                <a:latin typeface="Meiryo UI" panose="020B0604030504040204" pitchFamily="50" charset="-128"/>
                <a:ea typeface="Meiryo UI" panose="020B0604030504040204" pitchFamily="50" charset="-128"/>
              </a:rPr>
              <a:t>時間」を確保するとともに、「全体統括」と「誘導係（整理券方式）」を置く。</a:t>
            </a:r>
          </a:p>
        </p:txBody>
      </p:sp>
      <p:sp>
        <p:nvSpPr>
          <p:cNvPr id="19" name="四角形: 角を丸くする 18">
            <a:extLst>
              <a:ext uri="{FF2B5EF4-FFF2-40B4-BE49-F238E27FC236}">
                <a16:creationId xmlns:a16="http://schemas.microsoft.com/office/drawing/2014/main" id="{08921037-66CA-8542-71CF-40E14663B2AA}"/>
              </a:ext>
            </a:extLst>
          </p:cNvPr>
          <p:cNvSpPr/>
          <p:nvPr/>
        </p:nvSpPr>
        <p:spPr>
          <a:xfrm>
            <a:off x="8178800" y="1574800"/>
            <a:ext cx="3759200" cy="4978400"/>
          </a:xfrm>
          <a:prstGeom prst="roundRect">
            <a:avLst>
              <a:gd name="adj" fmla="val 8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AED59645-A0D5-DA9C-320B-7503CC125ADA}"/>
              </a:ext>
            </a:extLst>
          </p:cNvPr>
          <p:cNvSpPr/>
          <p:nvPr/>
        </p:nvSpPr>
        <p:spPr>
          <a:xfrm>
            <a:off x="8382000" y="1803400"/>
            <a:ext cx="3352800" cy="5334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625B14A0-06F1-A057-DE0F-6F8595CB446E}"/>
              </a:ext>
            </a:extLst>
          </p:cNvPr>
          <p:cNvSpPr txBox="1"/>
          <p:nvPr/>
        </p:nvSpPr>
        <p:spPr>
          <a:xfrm>
            <a:off x="8382000" y="1879600"/>
            <a:ext cx="3352800" cy="364202"/>
          </a:xfrm>
          <a:prstGeom prst="rect">
            <a:avLst/>
          </a:prstGeom>
          <a:noFill/>
        </p:spPr>
        <p:txBody>
          <a:bodyPr vert="horz" wrap="square" lIns="76200" tIns="50800" rIns="76200" bIns="50800" rtlCol="0">
            <a:spAutoFit/>
          </a:bodyPr>
          <a:lstStyle/>
          <a:p>
            <a:pPr algn="ctr"/>
            <a:r>
              <a:rPr kumimoji="1" lang="en-US" altLang="ja-JP" sz="1700" b="1">
                <a:solidFill>
                  <a:srgbClr val="2563EB"/>
                </a:solidFill>
                <a:latin typeface="Meiryo UI" panose="020B0604030504040204" pitchFamily="50" charset="-128"/>
                <a:ea typeface="Meiryo UI" panose="020B0604030504040204" pitchFamily="50" charset="-128"/>
              </a:rPr>
              <a:t>③ InBody2</a:t>
            </a:r>
            <a:r>
              <a:rPr kumimoji="1" lang="ja-JP" altLang="en-US" sz="1700" b="1">
                <a:solidFill>
                  <a:srgbClr val="2563EB"/>
                </a:solidFill>
                <a:latin typeface="Meiryo UI" panose="020B0604030504040204" pitchFamily="50" charset="-128"/>
                <a:ea typeface="Meiryo UI" panose="020B0604030504040204" pitchFamily="50" charset="-128"/>
              </a:rPr>
              <a:t>台・</a:t>
            </a:r>
            <a:r>
              <a:rPr kumimoji="1" lang="en-US" altLang="ja-JP" sz="1700" b="1">
                <a:solidFill>
                  <a:srgbClr val="2563EB"/>
                </a:solidFill>
                <a:latin typeface="Meiryo UI" panose="020B0604030504040204" pitchFamily="50" charset="-128"/>
                <a:ea typeface="Meiryo UI" panose="020B0604030504040204" pitchFamily="50" charset="-128"/>
              </a:rPr>
              <a:t>PR</a:t>
            </a:r>
            <a:r>
              <a:rPr kumimoji="1" lang="ja-JP" altLang="en-US" sz="1700" b="1">
                <a:solidFill>
                  <a:srgbClr val="2563EB"/>
                </a:solidFill>
                <a:latin typeface="Meiryo UI" panose="020B0604030504040204" pitchFamily="50" charset="-128"/>
                <a:ea typeface="Meiryo UI" panose="020B0604030504040204" pitchFamily="50" charset="-128"/>
              </a:rPr>
              <a:t>パネル</a:t>
            </a:r>
          </a:p>
        </p:txBody>
      </p:sp>
      <p:sp>
        <p:nvSpPr>
          <p:cNvPr id="22" name="テキスト ボックス 21">
            <a:extLst>
              <a:ext uri="{FF2B5EF4-FFF2-40B4-BE49-F238E27FC236}">
                <a16:creationId xmlns:a16="http://schemas.microsoft.com/office/drawing/2014/main" id="{98877B65-DC84-40C7-031D-19A4E116AA00}"/>
              </a:ext>
            </a:extLst>
          </p:cNvPr>
          <p:cNvSpPr txBox="1"/>
          <p:nvPr/>
        </p:nvSpPr>
        <p:spPr>
          <a:xfrm>
            <a:off x="8407400" y="2565400"/>
            <a:ext cx="3302000" cy="1579920"/>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a:t>
            </a:r>
            <a:r>
              <a:rPr kumimoji="1" lang="en-US" altLang="ja-JP" sz="1600">
                <a:solidFill>
                  <a:srgbClr val="1E293B"/>
                </a:solidFill>
                <a:latin typeface="Meiryo UI" panose="020B0604030504040204" pitchFamily="50" charset="-128"/>
                <a:ea typeface="Meiryo UI" panose="020B0604030504040204" pitchFamily="50" charset="-128"/>
              </a:rPr>
              <a:t>30</a:t>
            </a:r>
            <a:r>
              <a:rPr kumimoji="1" lang="ja-JP" altLang="en-US" sz="1600">
                <a:solidFill>
                  <a:srgbClr val="1E293B"/>
                </a:solidFill>
                <a:latin typeface="Meiryo UI" panose="020B0604030504040204" pitchFamily="50" charset="-128"/>
                <a:ea typeface="Meiryo UI" panose="020B0604030504040204" pitchFamily="50" charset="-128"/>
              </a:rPr>
              <a:t>分待ちで受付中止となった</a:t>
            </a:r>
            <a:r>
              <a:rPr kumimoji="1" lang="en-US" altLang="ja-JP" sz="1600">
                <a:solidFill>
                  <a:srgbClr val="1E293B"/>
                </a:solidFill>
                <a:latin typeface="Meiryo UI" panose="020B0604030504040204" pitchFamily="50" charset="-128"/>
                <a:ea typeface="Meiryo UI" panose="020B0604030504040204" pitchFamily="50" charset="-128"/>
              </a:rPr>
              <a:t>InBody</a:t>
            </a:r>
            <a:r>
              <a:rPr kumimoji="1" lang="ja-JP" altLang="en-US" sz="1600">
                <a:solidFill>
                  <a:srgbClr val="1E293B"/>
                </a:solidFill>
                <a:latin typeface="Meiryo UI" panose="020B0604030504040204" pitchFamily="50" charset="-128"/>
                <a:ea typeface="Meiryo UI" panose="020B0604030504040204" pitchFamily="50" charset="-128"/>
              </a:rPr>
              <a:t>を「</a:t>
            </a:r>
            <a:r>
              <a:rPr kumimoji="1" lang="en-US" altLang="ja-JP" sz="1600">
                <a:solidFill>
                  <a:srgbClr val="1E293B"/>
                </a:solidFill>
                <a:latin typeface="Meiryo UI" panose="020B0604030504040204" pitchFamily="50" charset="-128"/>
                <a:ea typeface="Meiryo UI" panose="020B0604030504040204" pitchFamily="50" charset="-128"/>
              </a:rPr>
              <a:t>2</a:t>
            </a:r>
            <a:r>
              <a:rPr kumimoji="1" lang="ja-JP" altLang="en-US" sz="1600">
                <a:solidFill>
                  <a:srgbClr val="1E293B"/>
                </a:solidFill>
                <a:latin typeface="Meiryo UI" panose="020B0604030504040204" pitchFamily="50" charset="-128"/>
                <a:ea typeface="Meiryo UI" panose="020B0604030504040204" pitchFamily="50" charset="-128"/>
              </a:rPr>
              <a:t>台体制」にする。
・リハ病院の役割を伝える「広報誌・病院紹介パネル」を持参し、靴ベラ・バインダー・ノベルティを拡充する。</a:t>
            </a:r>
          </a:p>
        </p:txBody>
      </p:sp>
    </p:spTree>
    <p:extLst>
      <p:ext uri="{BB962C8B-B14F-4D97-AF65-F5344CB8AC3E}">
        <p14:creationId xmlns:p14="http://schemas.microsoft.com/office/powerpoint/2010/main" val="2308668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3CE9082-CA7B-93B8-0FDD-B325188EEF3E}"/>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F96596CB-54BA-1D3E-1EAB-87287901CDD3}"/>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03772DD3-0999-7154-B892-A1ABC5FEC633}"/>
              </a:ext>
            </a:extLst>
          </p:cNvPr>
          <p:cNvSpPr/>
          <p:nvPr/>
        </p:nvSpPr>
        <p:spPr>
          <a:xfrm>
            <a:off x="457200" y="330200"/>
            <a:ext cx="2082800" cy="406400"/>
          </a:xfrm>
          <a:prstGeom prst="roundRect">
            <a:avLst>
              <a:gd name="adj" fmla="val 50000"/>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F2CCE881-D4D9-ED19-3B26-ECA85981ECF0}"/>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zh-CN" altLang="en-US" sz="1300" b="1">
                <a:solidFill>
                  <a:srgbClr val="FFFFFF"/>
                </a:solidFill>
                <a:latin typeface="Meiryo UI" panose="020B0604030504040204" pitchFamily="50" charset="-128"/>
                <a:ea typeface="Meiryo UI" panose="020B0604030504040204" pitchFamily="50" charset="-128"/>
              </a:rPr>
              <a:t>第</a:t>
            </a:r>
            <a:r>
              <a:rPr kumimoji="1" lang="en-US" altLang="zh-CN" sz="1300" b="1">
                <a:solidFill>
                  <a:srgbClr val="FFFFFF"/>
                </a:solidFill>
                <a:latin typeface="Meiryo UI" panose="020B0604030504040204" pitchFamily="50" charset="-128"/>
                <a:ea typeface="Meiryo UI" panose="020B0604030504040204" pitchFamily="50" charset="-128"/>
              </a:rPr>
              <a:t>4</a:t>
            </a:r>
            <a:r>
              <a:rPr kumimoji="1" lang="zh-CN" altLang="en-US" sz="1300" b="1">
                <a:solidFill>
                  <a:srgbClr val="FFFFFF"/>
                </a:solidFill>
                <a:latin typeface="Meiryo UI" panose="020B0604030504040204" pitchFamily="50" charset="-128"/>
                <a:ea typeface="Meiryo UI" panose="020B0604030504040204" pitchFamily="50" charset="-128"/>
              </a:rPr>
              <a:t>部：来年度提案②</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2C280B7C-8FED-4511-9D0E-CE667F6E5291}"/>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今後の知名度向上に向けたアクション（定期的な健康教室）</a:t>
            </a:r>
          </a:p>
        </p:txBody>
      </p:sp>
      <p:sp>
        <p:nvSpPr>
          <p:cNvPr id="7" name="四角形: 角を丸くする 6">
            <a:extLst>
              <a:ext uri="{FF2B5EF4-FFF2-40B4-BE49-F238E27FC236}">
                <a16:creationId xmlns:a16="http://schemas.microsoft.com/office/drawing/2014/main" id="{434A6C10-5A17-9636-445C-C3CB48694C18}"/>
              </a:ext>
            </a:extLst>
          </p:cNvPr>
          <p:cNvSpPr/>
          <p:nvPr/>
        </p:nvSpPr>
        <p:spPr>
          <a:xfrm>
            <a:off x="10871200" y="330200"/>
            <a:ext cx="863600" cy="381000"/>
          </a:xfrm>
          <a:prstGeom prst="roundRect">
            <a:avLst>
              <a:gd name="adj" fmla="val 5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BF42E626-9320-52BF-36C7-5AE62E07D83B}"/>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10B981"/>
                </a:solidFill>
                <a:latin typeface="Meiryo UI" panose="020B0604030504040204" pitchFamily="50" charset="-128"/>
                <a:ea typeface="Meiryo UI" panose="020B0604030504040204" pitchFamily="50" charset="-128"/>
              </a:rPr>
              <a:t>21 / 22</a:t>
            </a:r>
            <a:endParaRPr kumimoji="1" lang="ja-JP" altLang="en-US" sz="1250" b="1">
              <a:solidFill>
                <a:srgbClr val="10B98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3AA849C6-3E7D-5B88-4F90-150DBC5CD874}"/>
              </a:ext>
            </a:extLst>
          </p:cNvPr>
          <p:cNvSpPr/>
          <p:nvPr/>
        </p:nvSpPr>
        <p:spPr>
          <a:xfrm>
            <a:off x="457200" y="838200"/>
            <a:ext cx="11277600" cy="431800"/>
          </a:xfrm>
          <a:prstGeom prst="roundRect">
            <a:avLst>
              <a:gd name="adj" fmla="val 3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7C0B3A5D-AC7F-8E21-8394-23AE390516AB}"/>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en-US" altLang="ja-JP" sz="1500" b="1">
                <a:solidFill>
                  <a:srgbClr val="10B981"/>
                </a:solidFill>
                <a:latin typeface="Meiryo UI" panose="020B0604030504040204" pitchFamily="50" charset="-128"/>
                <a:ea typeface="Meiryo UI" panose="020B0604030504040204" pitchFamily="50" charset="-128"/>
              </a:rPr>
              <a:t>Q4</a:t>
            </a:r>
            <a:r>
              <a:rPr kumimoji="1" lang="ja-JP" altLang="en-US" sz="1500" b="1">
                <a:solidFill>
                  <a:srgbClr val="10B981"/>
                </a:solidFill>
                <a:latin typeface="Meiryo UI" panose="020B0604030504040204" pitchFamily="50" charset="-128"/>
                <a:ea typeface="Meiryo UI" panose="020B0604030504040204" pitchFamily="50" charset="-128"/>
              </a:rPr>
              <a:t>で判明した地域住民の</a:t>
            </a:r>
            <a:r>
              <a:rPr kumimoji="1" lang="en-US" altLang="ja-JP" sz="1500" b="1">
                <a:solidFill>
                  <a:srgbClr val="10B981"/>
                </a:solidFill>
                <a:latin typeface="Meiryo UI" panose="020B0604030504040204" pitchFamily="50" charset="-128"/>
                <a:ea typeface="Meiryo UI" panose="020B0604030504040204" pitchFamily="50" charset="-128"/>
              </a:rPr>
              <a:t>4</a:t>
            </a:r>
            <a:r>
              <a:rPr kumimoji="1" lang="ja-JP" altLang="en-US" sz="1500" b="1">
                <a:solidFill>
                  <a:srgbClr val="10B981"/>
                </a:solidFill>
                <a:latin typeface="Meiryo UI" panose="020B0604030504040204" pitchFamily="50" charset="-128"/>
                <a:ea typeface="Meiryo UI" panose="020B0604030504040204" pitchFamily="50" charset="-128"/>
              </a:rPr>
              <a:t>大関心テーマ（各</a:t>
            </a:r>
            <a:r>
              <a:rPr kumimoji="1" lang="en-US" altLang="ja-JP" sz="1500" b="1">
                <a:solidFill>
                  <a:srgbClr val="10B981"/>
                </a:solidFill>
                <a:latin typeface="Meiryo UI" panose="020B0604030504040204" pitchFamily="50" charset="-128"/>
                <a:ea typeface="Meiryo UI" panose="020B0604030504040204" pitchFamily="50" charset="-128"/>
              </a:rPr>
              <a:t>30%</a:t>
            </a:r>
            <a:r>
              <a:rPr kumimoji="1" lang="ja-JP" altLang="en-US" sz="1500" b="1">
                <a:solidFill>
                  <a:srgbClr val="10B981"/>
                </a:solidFill>
                <a:latin typeface="Meiryo UI" panose="020B0604030504040204" pitchFamily="50" charset="-128"/>
                <a:ea typeface="Meiryo UI" panose="020B0604030504040204" pitchFamily="50" charset="-128"/>
              </a:rPr>
              <a:t>超）を活かし、健康教室でコツコツ認知を広げる</a:t>
            </a:r>
          </a:p>
        </p:txBody>
      </p:sp>
      <p:sp>
        <p:nvSpPr>
          <p:cNvPr id="11" name="四角形: 角を丸くする 10">
            <a:extLst>
              <a:ext uri="{FF2B5EF4-FFF2-40B4-BE49-F238E27FC236}">
                <a16:creationId xmlns:a16="http://schemas.microsoft.com/office/drawing/2014/main" id="{94F3C39E-CDB8-5A75-5C0E-80003E99BC93}"/>
              </a:ext>
            </a:extLst>
          </p:cNvPr>
          <p:cNvSpPr/>
          <p:nvPr/>
        </p:nvSpPr>
        <p:spPr>
          <a:xfrm>
            <a:off x="254000" y="1574800"/>
            <a:ext cx="5740400" cy="1574800"/>
          </a:xfrm>
          <a:prstGeom prst="roundRect">
            <a:avLst>
              <a:gd name="adj" fmla="val 10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D3DC8B05-0B6A-C366-AD18-6C6A624E7D15}"/>
              </a:ext>
            </a:extLst>
          </p:cNvPr>
          <p:cNvSpPr/>
          <p:nvPr/>
        </p:nvSpPr>
        <p:spPr>
          <a:xfrm>
            <a:off x="457200" y="1752600"/>
            <a:ext cx="5334000" cy="4318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5D4463F8-8308-7127-91B1-68B1D0EE7C43}"/>
              </a:ext>
            </a:extLst>
          </p:cNvPr>
          <p:cNvSpPr txBox="1"/>
          <p:nvPr/>
        </p:nvSpPr>
        <p:spPr>
          <a:xfrm>
            <a:off x="558800" y="1790700"/>
            <a:ext cx="5130800" cy="348813"/>
          </a:xfrm>
          <a:prstGeom prst="rect">
            <a:avLst/>
          </a:prstGeom>
          <a:noFill/>
        </p:spPr>
        <p:txBody>
          <a:bodyPr vert="horz" wrap="square" lIns="76200" tIns="50800" rIns="76200" bIns="50800" rtlCol="0">
            <a:spAutoFit/>
          </a:bodyPr>
          <a:lstStyle/>
          <a:p>
            <a:r>
              <a:rPr kumimoji="1" lang="ja-JP" altLang="en-US" sz="1600" b="1">
                <a:solidFill>
                  <a:srgbClr val="2563EB"/>
                </a:solidFill>
                <a:latin typeface="Meiryo UI" panose="020B0604030504040204" pitchFamily="50" charset="-128"/>
                <a:ea typeface="Meiryo UI" panose="020B0604030504040204" pitchFamily="50" charset="-128"/>
              </a:rPr>
              <a:t>テーマ① 転倒予防・運動 </a:t>
            </a:r>
            <a:r>
              <a:rPr kumimoji="1" lang="en-US" altLang="ja-JP" sz="1600" b="1">
                <a:solidFill>
                  <a:srgbClr val="2563EB"/>
                </a:solidFill>
                <a:latin typeface="Meiryo UI" panose="020B0604030504040204" pitchFamily="50" charset="-128"/>
                <a:ea typeface="Meiryo UI" panose="020B0604030504040204" pitchFamily="50" charset="-128"/>
              </a:rPr>
              <a:t>(39.4%)</a:t>
            </a:r>
            <a:endParaRPr kumimoji="1" lang="ja-JP" altLang="en-US" sz="1600" b="1">
              <a:solidFill>
                <a:srgbClr val="2563EB"/>
              </a:solidFill>
              <a:latin typeface="Meiryo UI" panose="020B0604030504040204" pitchFamily="50" charset="-128"/>
              <a:ea typeface="Meiryo UI" panose="020B0604030504040204" pitchFamily="50" charset="-128"/>
            </a:endParaRPr>
          </a:p>
        </p:txBody>
      </p:sp>
      <p:sp>
        <p:nvSpPr>
          <p:cNvPr id="14" name="テキスト ボックス 13">
            <a:extLst>
              <a:ext uri="{FF2B5EF4-FFF2-40B4-BE49-F238E27FC236}">
                <a16:creationId xmlns:a16="http://schemas.microsoft.com/office/drawing/2014/main" id="{55E738B9-1093-B3A3-274C-BCB6C34CACA2}"/>
              </a:ext>
            </a:extLst>
          </p:cNvPr>
          <p:cNvSpPr txBox="1"/>
          <p:nvPr/>
        </p:nvSpPr>
        <p:spPr>
          <a:xfrm>
            <a:off x="558800" y="2286000"/>
            <a:ext cx="5130800" cy="333425"/>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自宅でできるストレッチや筋力維持・バランスチェック（</a:t>
            </a:r>
            <a:r>
              <a:rPr kumimoji="1" lang="en-US" altLang="ja-JP" sz="1500">
                <a:solidFill>
                  <a:srgbClr val="1E293B"/>
                </a:solidFill>
                <a:latin typeface="Meiryo UI" panose="020B0604030504040204" pitchFamily="50" charset="-128"/>
                <a:ea typeface="Meiryo UI" panose="020B0604030504040204" pitchFamily="50" charset="-128"/>
              </a:rPr>
              <a:t>PT/OT</a:t>
            </a:r>
            <a:r>
              <a:rPr kumimoji="1" lang="ja-JP" altLang="en-US" sz="1500">
                <a:solidFill>
                  <a:srgbClr val="1E293B"/>
                </a:solidFill>
                <a:latin typeface="Meiryo UI" panose="020B0604030504040204" pitchFamily="50" charset="-128"/>
                <a:ea typeface="Meiryo UI" panose="020B0604030504040204" pitchFamily="50" charset="-128"/>
              </a:rPr>
              <a:t>）</a:t>
            </a:r>
          </a:p>
        </p:txBody>
      </p:sp>
      <p:sp>
        <p:nvSpPr>
          <p:cNvPr id="15" name="四角形: 角を丸くする 14">
            <a:extLst>
              <a:ext uri="{FF2B5EF4-FFF2-40B4-BE49-F238E27FC236}">
                <a16:creationId xmlns:a16="http://schemas.microsoft.com/office/drawing/2014/main" id="{50BBFE96-3BE6-9410-5C1F-8AFAE0E13513}"/>
              </a:ext>
            </a:extLst>
          </p:cNvPr>
          <p:cNvSpPr/>
          <p:nvPr/>
        </p:nvSpPr>
        <p:spPr>
          <a:xfrm>
            <a:off x="6197600" y="1574800"/>
            <a:ext cx="5740400" cy="1574800"/>
          </a:xfrm>
          <a:prstGeom prst="roundRect">
            <a:avLst>
              <a:gd name="adj" fmla="val 10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356AD56A-E1C3-8A7A-F119-3BD4EB1B03CB}"/>
              </a:ext>
            </a:extLst>
          </p:cNvPr>
          <p:cNvSpPr/>
          <p:nvPr/>
        </p:nvSpPr>
        <p:spPr>
          <a:xfrm>
            <a:off x="6400800" y="1752600"/>
            <a:ext cx="5334000" cy="431800"/>
          </a:xfrm>
          <a:prstGeom prst="roundRect">
            <a:avLst>
              <a:gd name="adj" fmla="val 4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BBEFFB10-A0DA-5CF6-BC60-5FDA8338185A}"/>
              </a:ext>
            </a:extLst>
          </p:cNvPr>
          <p:cNvSpPr txBox="1"/>
          <p:nvPr/>
        </p:nvSpPr>
        <p:spPr>
          <a:xfrm>
            <a:off x="6502400" y="1790700"/>
            <a:ext cx="5130800" cy="348813"/>
          </a:xfrm>
          <a:prstGeom prst="rect">
            <a:avLst/>
          </a:prstGeom>
          <a:noFill/>
        </p:spPr>
        <p:txBody>
          <a:bodyPr vert="horz" wrap="square" lIns="76200" tIns="50800" rIns="76200" bIns="50800" rtlCol="0">
            <a:spAutoFit/>
          </a:bodyPr>
          <a:lstStyle/>
          <a:p>
            <a:r>
              <a:rPr kumimoji="1" lang="ja-JP" altLang="en-US" sz="1600" b="1">
                <a:solidFill>
                  <a:srgbClr val="10B981"/>
                </a:solidFill>
                <a:latin typeface="Meiryo UI" panose="020B0604030504040204" pitchFamily="50" charset="-128"/>
                <a:ea typeface="Meiryo UI" panose="020B0604030504040204" pitchFamily="50" charset="-128"/>
              </a:rPr>
              <a:t>テーマ② 食事・栄養バランス </a:t>
            </a:r>
            <a:r>
              <a:rPr kumimoji="1" lang="en-US" altLang="ja-JP" sz="1600" b="1">
                <a:solidFill>
                  <a:srgbClr val="10B981"/>
                </a:solidFill>
                <a:latin typeface="Meiryo UI" panose="020B0604030504040204" pitchFamily="50" charset="-128"/>
                <a:ea typeface="Meiryo UI" panose="020B0604030504040204" pitchFamily="50" charset="-128"/>
              </a:rPr>
              <a:t>(33.5%)</a:t>
            </a:r>
            <a:endParaRPr kumimoji="1" lang="ja-JP" altLang="en-US" sz="1600" b="1">
              <a:solidFill>
                <a:srgbClr val="10B981"/>
              </a:solidFill>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C68F8379-8C2F-E568-F54E-B12C140D4ACC}"/>
              </a:ext>
            </a:extLst>
          </p:cNvPr>
          <p:cNvSpPr txBox="1"/>
          <p:nvPr/>
        </p:nvSpPr>
        <p:spPr>
          <a:xfrm>
            <a:off x="6502400" y="2286000"/>
            <a:ext cx="5130800" cy="564257"/>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筋肉量を維持する食事や生活習慣病予防の栄養講座（管理栄養士）</a:t>
            </a:r>
          </a:p>
        </p:txBody>
      </p:sp>
      <p:sp>
        <p:nvSpPr>
          <p:cNvPr id="19" name="四角形: 角を丸くする 18">
            <a:extLst>
              <a:ext uri="{FF2B5EF4-FFF2-40B4-BE49-F238E27FC236}">
                <a16:creationId xmlns:a16="http://schemas.microsoft.com/office/drawing/2014/main" id="{AA617053-2B3B-307D-DE61-84BDA9D9C996}"/>
              </a:ext>
            </a:extLst>
          </p:cNvPr>
          <p:cNvSpPr/>
          <p:nvPr/>
        </p:nvSpPr>
        <p:spPr>
          <a:xfrm>
            <a:off x="254000" y="3327400"/>
            <a:ext cx="5740400" cy="1574800"/>
          </a:xfrm>
          <a:prstGeom prst="roundRect">
            <a:avLst>
              <a:gd name="adj" fmla="val 10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F5C22962-A756-D905-2801-B3467A481FD3}"/>
              </a:ext>
            </a:extLst>
          </p:cNvPr>
          <p:cNvSpPr/>
          <p:nvPr/>
        </p:nvSpPr>
        <p:spPr>
          <a:xfrm>
            <a:off x="457200" y="3505200"/>
            <a:ext cx="5334000" cy="431800"/>
          </a:xfrm>
          <a:prstGeom prst="roundRect">
            <a:avLst>
              <a:gd name="adj" fmla="val 40000"/>
            </a:avLst>
          </a:prstGeom>
          <a:solidFill>
            <a:srgbClr val="FFFB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55EA581F-D186-03C0-A083-09395EA2D7B9}"/>
              </a:ext>
            </a:extLst>
          </p:cNvPr>
          <p:cNvSpPr txBox="1"/>
          <p:nvPr/>
        </p:nvSpPr>
        <p:spPr>
          <a:xfrm>
            <a:off x="558800" y="3543300"/>
            <a:ext cx="5130800" cy="348813"/>
          </a:xfrm>
          <a:prstGeom prst="rect">
            <a:avLst/>
          </a:prstGeom>
          <a:noFill/>
        </p:spPr>
        <p:txBody>
          <a:bodyPr vert="horz" wrap="square" lIns="76200" tIns="50800" rIns="76200" bIns="50800" rtlCol="0">
            <a:spAutoFit/>
          </a:bodyPr>
          <a:lstStyle/>
          <a:p>
            <a:r>
              <a:rPr kumimoji="1" lang="ja-JP" altLang="en-US" sz="1600" b="1">
                <a:solidFill>
                  <a:srgbClr val="F59E0B"/>
                </a:solidFill>
                <a:latin typeface="Meiryo UI" panose="020B0604030504040204" pitchFamily="50" charset="-128"/>
                <a:ea typeface="Meiryo UI" panose="020B0604030504040204" pitchFamily="50" charset="-128"/>
              </a:rPr>
              <a:t>テーマ③ 物忘れ・認知機能 </a:t>
            </a:r>
            <a:r>
              <a:rPr kumimoji="1" lang="en-US" altLang="ja-JP" sz="1600" b="1">
                <a:solidFill>
                  <a:srgbClr val="F59E0B"/>
                </a:solidFill>
                <a:latin typeface="Meiryo UI" panose="020B0604030504040204" pitchFamily="50" charset="-128"/>
                <a:ea typeface="Meiryo UI" panose="020B0604030504040204" pitchFamily="50" charset="-128"/>
              </a:rPr>
              <a:t>(33.1%)</a:t>
            </a:r>
            <a:endParaRPr kumimoji="1" lang="ja-JP" altLang="en-US" sz="1600" b="1">
              <a:solidFill>
                <a:srgbClr val="F59E0B"/>
              </a:solidFill>
              <a:latin typeface="Meiryo UI" panose="020B0604030504040204" pitchFamily="50" charset="-128"/>
              <a:ea typeface="Meiryo UI" panose="020B0604030504040204" pitchFamily="50" charset="-128"/>
            </a:endParaRPr>
          </a:p>
        </p:txBody>
      </p:sp>
      <p:sp>
        <p:nvSpPr>
          <p:cNvPr id="22" name="テキスト ボックス 21">
            <a:extLst>
              <a:ext uri="{FF2B5EF4-FFF2-40B4-BE49-F238E27FC236}">
                <a16:creationId xmlns:a16="http://schemas.microsoft.com/office/drawing/2014/main" id="{F360AC3E-912A-9A82-1FC6-E1ED25765CB4}"/>
              </a:ext>
            </a:extLst>
          </p:cNvPr>
          <p:cNvSpPr txBox="1"/>
          <p:nvPr/>
        </p:nvSpPr>
        <p:spPr>
          <a:xfrm>
            <a:off x="558800" y="4038600"/>
            <a:ext cx="5130800" cy="333425"/>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認知症予防・フレイル予防のチェックと生活指導（リハ・看護）</a:t>
            </a:r>
          </a:p>
        </p:txBody>
      </p:sp>
      <p:sp>
        <p:nvSpPr>
          <p:cNvPr id="23" name="四角形: 角を丸くする 22">
            <a:extLst>
              <a:ext uri="{FF2B5EF4-FFF2-40B4-BE49-F238E27FC236}">
                <a16:creationId xmlns:a16="http://schemas.microsoft.com/office/drawing/2014/main" id="{E776EA5B-6828-A906-B1DE-1EDA6FD42F7B}"/>
              </a:ext>
            </a:extLst>
          </p:cNvPr>
          <p:cNvSpPr/>
          <p:nvPr/>
        </p:nvSpPr>
        <p:spPr>
          <a:xfrm>
            <a:off x="6197600" y="3327400"/>
            <a:ext cx="5740400" cy="1574800"/>
          </a:xfrm>
          <a:prstGeom prst="roundRect">
            <a:avLst>
              <a:gd name="adj" fmla="val 10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7CC1BD6E-5094-E5EA-6258-AD36B0A06741}"/>
              </a:ext>
            </a:extLst>
          </p:cNvPr>
          <p:cNvSpPr/>
          <p:nvPr/>
        </p:nvSpPr>
        <p:spPr>
          <a:xfrm>
            <a:off x="6400800" y="3505200"/>
            <a:ext cx="5334000" cy="431800"/>
          </a:xfrm>
          <a:prstGeom prst="roundRect">
            <a:avLst>
              <a:gd name="adj" fmla="val 40000"/>
            </a:avLst>
          </a:prstGeom>
          <a:solidFill>
            <a:srgbClr val="F5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4C5D0421-1684-33F8-FE83-DBB59B3431AB}"/>
              </a:ext>
            </a:extLst>
          </p:cNvPr>
          <p:cNvSpPr txBox="1"/>
          <p:nvPr/>
        </p:nvSpPr>
        <p:spPr>
          <a:xfrm>
            <a:off x="6502400" y="3543300"/>
            <a:ext cx="5130800" cy="348813"/>
          </a:xfrm>
          <a:prstGeom prst="rect">
            <a:avLst/>
          </a:prstGeom>
          <a:noFill/>
        </p:spPr>
        <p:txBody>
          <a:bodyPr vert="horz" wrap="square" lIns="76200" tIns="50800" rIns="76200" bIns="50800" rtlCol="0">
            <a:spAutoFit/>
          </a:bodyPr>
          <a:lstStyle/>
          <a:p>
            <a:r>
              <a:rPr kumimoji="1" lang="ja-JP" altLang="en-US" sz="1600" b="1">
                <a:solidFill>
                  <a:srgbClr val="8B5CF6"/>
                </a:solidFill>
                <a:latin typeface="Meiryo UI" panose="020B0604030504040204" pitchFamily="50" charset="-128"/>
                <a:ea typeface="Meiryo UI" panose="020B0604030504040204" pitchFamily="50" charset="-128"/>
              </a:rPr>
              <a:t>テーマ④ 将来の介護や終活 </a:t>
            </a:r>
            <a:r>
              <a:rPr kumimoji="1" lang="en-US" altLang="ja-JP" sz="1600" b="1">
                <a:solidFill>
                  <a:srgbClr val="8B5CF6"/>
                </a:solidFill>
                <a:latin typeface="Meiryo UI" panose="020B0604030504040204" pitchFamily="50" charset="-128"/>
                <a:ea typeface="Meiryo UI" panose="020B0604030504040204" pitchFamily="50" charset="-128"/>
              </a:rPr>
              <a:t>(30.1%)</a:t>
            </a:r>
            <a:endParaRPr kumimoji="1" lang="ja-JP" altLang="en-US" sz="1600" b="1">
              <a:solidFill>
                <a:srgbClr val="8B5CF6"/>
              </a:solidFill>
              <a:latin typeface="Meiryo UI" panose="020B0604030504040204" pitchFamily="50" charset="-128"/>
              <a:ea typeface="Meiryo UI" panose="020B0604030504040204" pitchFamily="50" charset="-128"/>
            </a:endParaRPr>
          </a:p>
        </p:txBody>
      </p:sp>
      <p:sp>
        <p:nvSpPr>
          <p:cNvPr id="26" name="テキスト ボックス 25">
            <a:extLst>
              <a:ext uri="{FF2B5EF4-FFF2-40B4-BE49-F238E27FC236}">
                <a16:creationId xmlns:a16="http://schemas.microsoft.com/office/drawing/2014/main" id="{E3F5340E-0429-39E9-4368-095F7B7A0CC1}"/>
              </a:ext>
            </a:extLst>
          </p:cNvPr>
          <p:cNvSpPr txBox="1"/>
          <p:nvPr/>
        </p:nvSpPr>
        <p:spPr>
          <a:xfrm>
            <a:off x="6502400" y="4038600"/>
            <a:ext cx="5130800" cy="564257"/>
          </a:xfrm>
          <a:prstGeom prst="rect">
            <a:avLst/>
          </a:prstGeom>
          <a:noFill/>
        </p:spPr>
        <p:txBody>
          <a:bodyPr vert="horz" wrap="square" lIns="76200" tIns="50800" rIns="76200" bIns="50800" rtlCol="0">
            <a:spAutoFit/>
          </a:bodyPr>
          <a:lstStyle/>
          <a:p>
            <a:r>
              <a:rPr kumimoji="1" lang="ja-JP" altLang="en-US" sz="1500">
                <a:solidFill>
                  <a:srgbClr val="1E293B"/>
                </a:solidFill>
                <a:latin typeface="Meiryo UI" panose="020B0604030504040204" pitchFamily="50" charset="-128"/>
                <a:ea typeface="Meiryo UI" panose="020B0604030504040204" pitchFamily="50" charset="-128"/>
              </a:rPr>
              <a:t>回復期リハ入院や訪問・通所リハの仕組み、介護相談（連携室・薬剤）</a:t>
            </a:r>
          </a:p>
        </p:txBody>
      </p:sp>
      <p:sp>
        <p:nvSpPr>
          <p:cNvPr id="27" name="四角形: 角を丸くする 26">
            <a:extLst>
              <a:ext uri="{FF2B5EF4-FFF2-40B4-BE49-F238E27FC236}">
                <a16:creationId xmlns:a16="http://schemas.microsoft.com/office/drawing/2014/main" id="{67F7E915-7C01-C7FC-AE69-F2EF6B7C8B93}"/>
              </a:ext>
            </a:extLst>
          </p:cNvPr>
          <p:cNvSpPr/>
          <p:nvPr/>
        </p:nvSpPr>
        <p:spPr>
          <a:xfrm>
            <a:off x="254000" y="5156200"/>
            <a:ext cx="11684000" cy="1397000"/>
          </a:xfrm>
          <a:prstGeom prst="roundRect">
            <a:avLst>
              <a:gd name="adj" fmla="val 12000"/>
            </a:avLst>
          </a:prstGeom>
          <a:solidFill>
            <a:srgbClr val="FFFFFF"/>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F280D5DA-B179-95F0-C3F5-40F9A0B9E8D4}"/>
              </a:ext>
            </a:extLst>
          </p:cNvPr>
          <p:cNvSpPr txBox="1"/>
          <p:nvPr/>
        </p:nvSpPr>
        <p:spPr>
          <a:xfrm>
            <a:off x="508000" y="5308600"/>
            <a:ext cx="11176000" cy="579646"/>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・八千代市民の</a:t>
            </a:r>
            <a:r>
              <a:rPr kumimoji="1" lang="en-US" altLang="ja-JP" sz="1550" b="1">
                <a:solidFill>
                  <a:srgbClr val="1E293B"/>
                </a:solidFill>
                <a:latin typeface="Meiryo UI" panose="020B0604030504040204" pitchFamily="50" charset="-128"/>
                <a:ea typeface="Meiryo UI" panose="020B0604030504040204" pitchFamily="50" charset="-128"/>
              </a:rPr>
              <a:t>80.7%</a:t>
            </a:r>
            <a:r>
              <a:rPr kumimoji="1" lang="ja-JP" altLang="en-US" sz="1550" b="1">
                <a:solidFill>
                  <a:srgbClr val="1E293B"/>
                </a:solidFill>
                <a:latin typeface="Meiryo UI" panose="020B0604030504040204" pitchFamily="50" charset="-128"/>
                <a:ea typeface="Meiryo UI" panose="020B0604030504040204" pitchFamily="50" charset="-128"/>
              </a:rPr>
              <a:t>が当院を詳しく知らない弱点を補うには、年</a:t>
            </a:r>
            <a:r>
              <a:rPr kumimoji="1" lang="en-US" altLang="ja-JP" sz="1550" b="1">
                <a:solidFill>
                  <a:srgbClr val="1E293B"/>
                </a:solidFill>
                <a:latin typeface="Meiryo UI" panose="020B0604030504040204" pitchFamily="50" charset="-128"/>
                <a:ea typeface="Meiryo UI" panose="020B0604030504040204" pitchFamily="50" charset="-128"/>
              </a:rPr>
              <a:t>1</a:t>
            </a:r>
            <a:r>
              <a:rPr kumimoji="1" lang="ja-JP" altLang="en-US" sz="1550" b="1">
                <a:solidFill>
                  <a:srgbClr val="1E293B"/>
                </a:solidFill>
                <a:latin typeface="Meiryo UI" panose="020B0604030504040204" pitchFamily="50" charset="-128"/>
                <a:ea typeface="Meiryo UI" panose="020B0604030504040204" pitchFamily="50" charset="-128"/>
              </a:rPr>
              <a:t>回の産業祭だけでなく継続的な接点づくりが必要である。
・今回</a:t>
            </a:r>
            <a:r>
              <a:rPr kumimoji="1" lang="en-US" altLang="ja-JP" sz="1550" b="1">
                <a:solidFill>
                  <a:srgbClr val="1E293B"/>
                </a:solidFill>
                <a:latin typeface="Meiryo UI" panose="020B0604030504040204" pitchFamily="50" charset="-128"/>
                <a:ea typeface="Meiryo UI" panose="020B0604030504040204" pitchFamily="50" charset="-128"/>
              </a:rPr>
              <a:t>Q4</a:t>
            </a:r>
            <a:r>
              <a:rPr kumimoji="1" lang="ja-JP" altLang="en-US" sz="1550" b="1">
                <a:solidFill>
                  <a:srgbClr val="1E293B"/>
                </a:solidFill>
                <a:latin typeface="Meiryo UI" panose="020B0604030504040204" pitchFamily="50" charset="-128"/>
                <a:ea typeface="Meiryo UI" panose="020B0604030504040204" pitchFamily="50" charset="-128"/>
              </a:rPr>
              <a:t>で把握した上記</a:t>
            </a:r>
            <a:r>
              <a:rPr kumimoji="1" lang="en-US" altLang="ja-JP" sz="1550" b="1">
                <a:solidFill>
                  <a:srgbClr val="1E293B"/>
                </a:solidFill>
                <a:latin typeface="Meiryo UI" panose="020B0604030504040204" pitchFamily="50" charset="-128"/>
                <a:ea typeface="Meiryo UI" panose="020B0604030504040204" pitchFamily="50" charset="-128"/>
              </a:rPr>
              <a:t>4</a:t>
            </a:r>
            <a:r>
              <a:rPr kumimoji="1" lang="ja-JP" altLang="en-US" sz="1550" b="1">
                <a:solidFill>
                  <a:srgbClr val="1E293B"/>
                </a:solidFill>
                <a:latin typeface="Meiryo UI" panose="020B0604030504040204" pitchFamily="50" charset="-128"/>
                <a:ea typeface="Meiryo UI" panose="020B0604030504040204" pitchFamily="50" charset="-128"/>
              </a:rPr>
              <a:t>テーマで定期的に「健康教室」を開催し、当院の役割（入院リハ・訪問・通所）をコツコツと浸透させる。</a:t>
            </a:r>
          </a:p>
        </p:txBody>
      </p:sp>
    </p:spTree>
    <p:extLst>
      <p:ext uri="{BB962C8B-B14F-4D97-AF65-F5344CB8AC3E}">
        <p14:creationId xmlns:p14="http://schemas.microsoft.com/office/powerpoint/2010/main" val="463707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74D00550-0302-A8BC-912E-E723AA5E5999}"/>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F01297C0-7862-FBAD-166C-5BB9AAC819B0}"/>
              </a:ext>
            </a:extLst>
          </p:cNvPr>
          <p:cNvSpPr/>
          <p:nvPr/>
        </p:nvSpPr>
        <p:spPr>
          <a:xfrm>
            <a:off x="254000" y="177800"/>
            <a:ext cx="11684000" cy="1219200"/>
          </a:xfrm>
          <a:prstGeom prst="roundRect">
            <a:avLst>
              <a:gd name="adj" fmla="val 12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E768D0F3-865B-BCCC-919C-90166CFC1CD9}"/>
              </a:ext>
            </a:extLst>
          </p:cNvPr>
          <p:cNvSpPr/>
          <p:nvPr/>
        </p:nvSpPr>
        <p:spPr>
          <a:xfrm>
            <a:off x="457200" y="330200"/>
            <a:ext cx="2082800" cy="406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B6C0A2C-DD91-9D1E-DB53-98113853F252}"/>
              </a:ext>
            </a:extLst>
          </p:cNvPr>
          <p:cNvSpPr txBox="1"/>
          <p:nvPr/>
        </p:nvSpPr>
        <p:spPr>
          <a:xfrm>
            <a:off x="457200" y="355600"/>
            <a:ext cx="20828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4</a:t>
            </a:r>
            <a:r>
              <a:rPr kumimoji="1" lang="ja-JP" altLang="en-US" sz="1300" b="1">
                <a:solidFill>
                  <a:srgbClr val="FFFFFF"/>
                </a:solidFill>
                <a:latin typeface="Meiryo UI" panose="020B0604030504040204" pitchFamily="50" charset="-128"/>
                <a:ea typeface="Meiryo UI" panose="020B0604030504040204" pitchFamily="50" charset="-128"/>
              </a:rPr>
              <a:t>部：総括まとめ</a:t>
            </a:r>
          </a:p>
        </p:txBody>
      </p:sp>
      <p:sp>
        <p:nvSpPr>
          <p:cNvPr id="6" name="テキスト ボックス 5">
            <a:extLst>
              <a:ext uri="{FF2B5EF4-FFF2-40B4-BE49-F238E27FC236}">
                <a16:creationId xmlns:a16="http://schemas.microsoft.com/office/drawing/2014/main" id="{08383283-6D4C-BBFE-247D-341F364A51B6}"/>
              </a:ext>
            </a:extLst>
          </p:cNvPr>
          <p:cNvSpPr txBox="1"/>
          <p:nvPr/>
        </p:nvSpPr>
        <p:spPr>
          <a:xfrm>
            <a:off x="2692400" y="279400"/>
            <a:ext cx="81280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まとめ：当院の弱点・出展で得られたこと・来年度の課題</a:t>
            </a:r>
          </a:p>
        </p:txBody>
      </p:sp>
      <p:sp>
        <p:nvSpPr>
          <p:cNvPr id="7" name="四角形: 角を丸くする 6">
            <a:extLst>
              <a:ext uri="{FF2B5EF4-FFF2-40B4-BE49-F238E27FC236}">
                <a16:creationId xmlns:a16="http://schemas.microsoft.com/office/drawing/2014/main" id="{E150714D-4CF5-9D06-C8EF-F9A80882AA6C}"/>
              </a:ext>
            </a:extLst>
          </p:cNvPr>
          <p:cNvSpPr/>
          <p:nvPr/>
        </p:nvSpPr>
        <p:spPr>
          <a:xfrm>
            <a:off x="10871200" y="330200"/>
            <a:ext cx="863600" cy="3810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03A30344-9028-1169-93DD-F08C3377D20D}"/>
              </a:ext>
            </a:extLst>
          </p:cNvPr>
          <p:cNvSpPr txBox="1"/>
          <p:nvPr/>
        </p:nvSpPr>
        <p:spPr>
          <a:xfrm>
            <a:off x="10871200" y="355600"/>
            <a:ext cx="863600" cy="294953"/>
          </a:xfrm>
          <a:prstGeom prst="rect">
            <a:avLst/>
          </a:prstGeom>
          <a:noFill/>
        </p:spPr>
        <p:txBody>
          <a:bodyPr vert="horz" wrap="square" lIns="76200" tIns="50800" rIns="76200" bIns="50800" rtlCol="0">
            <a:spAutoFit/>
          </a:bodyPr>
          <a:lstStyle/>
          <a:p>
            <a:pPr algn="ctr"/>
            <a:r>
              <a:rPr kumimoji="1" lang="en-US" altLang="ja-JP" sz="1250" b="1">
                <a:solidFill>
                  <a:srgbClr val="2563EB"/>
                </a:solidFill>
                <a:latin typeface="Meiryo UI" panose="020B0604030504040204" pitchFamily="50" charset="-128"/>
                <a:ea typeface="Meiryo UI" panose="020B0604030504040204" pitchFamily="50" charset="-128"/>
              </a:rPr>
              <a:t>22 / 22</a:t>
            </a:r>
            <a:endParaRPr kumimoji="1" lang="ja-JP" altLang="en-US" sz="125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B4695BC0-776F-6121-995D-FAEAFFEFA3A3}"/>
              </a:ext>
            </a:extLst>
          </p:cNvPr>
          <p:cNvSpPr/>
          <p:nvPr/>
        </p:nvSpPr>
        <p:spPr>
          <a:xfrm>
            <a:off x="457200" y="838200"/>
            <a:ext cx="11277600" cy="4318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577F2670-BAAF-BFD8-8504-633E77F3C78E}"/>
              </a:ext>
            </a:extLst>
          </p:cNvPr>
          <p:cNvSpPr txBox="1"/>
          <p:nvPr/>
        </p:nvSpPr>
        <p:spPr>
          <a:xfrm>
            <a:off x="609600" y="876300"/>
            <a:ext cx="11023600" cy="333425"/>
          </a:xfrm>
          <a:prstGeom prst="rect">
            <a:avLst/>
          </a:prstGeom>
          <a:noFill/>
        </p:spPr>
        <p:txBody>
          <a:bodyPr vert="horz" wrap="square" lIns="76200" tIns="50800" rIns="76200" bIns="50800" rtlCol="0">
            <a:spAutoFit/>
          </a:bodyPr>
          <a:lstStyle/>
          <a:p>
            <a:r>
              <a:rPr kumimoji="1" lang="ja-JP" altLang="en-US" sz="1500" b="1">
                <a:solidFill>
                  <a:srgbClr val="2563EB"/>
                </a:solidFill>
                <a:latin typeface="Meiryo UI" panose="020B0604030504040204" pitchFamily="50" charset="-128"/>
                <a:ea typeface="Meiryo UI" panose="020B0604030504040204" pitchFamily="50" charset="-128"/>
              </a:rPr>
              <a:t>来場者アンケート（</a:t>
            </a:r>
            <a:r>
              <a:rPr kumimoji="1" lang="en-US" altLang="ja-JP" sz="1500" b="1">
                <a:solidFill>
                  <a:srgbClr val="2563EB"/>
                </a:solidFill>
                <a:latin typeface="Meiryo UI" panose="020B0604030504040204" pitchFamily="50" charset="-128"/>
                <a:ea typeface="Meiryo UI" panose="020B0604030504040204" pitchFamily="50" charset="-128"/>
              </a:rPr>
              <a:t>236</a:t>
            </a:r>
            <a:r>
              <a:rPr kumimoji="1" lang="ja-JP" altLang="en-US" sz="1500" b="1">
                <a:solidFill>
                  <a:srgbClr val="2563EB"/>
                </a:solidFill>
                <a:latin typeface="Meiryo UI" panose="020B0604030504040204" pitchFamily="50" charset="-128"/>
                <a:ea typeface="Meiryo UI" panose="020B0604030504040204" pitchFamily="50" charset="-128"/>
              </a:rPr>
              <a:t>名）とスタッフアンケート（</a:t>
            </a:r>
            <a:r>
              <a:rPr kumimoji="1" lang="en-US" altLang="ja-JP" sz="1500" b="1">
                <a:solidFill>
                  <a:srgbClr val="2563EB"/>
                </a:solidFill>
                <a:latin typeface="Meiryo UI" panose="020B0604030504040204" pitchFamily="50" charset="-128"/>
                <a:ea typeface="Meiryo UI" panose="020B0604030504040204" pitchFamily="50" charset="-128"/>
              </a:rPr>
              <a:t>13</a:t>
            </a:r>
            <a:r>
              <a:rPr kumimoji="1" lang="ja-JP" altLang="en-US" sz="1500" b="1">
                <a:solidFill>
                  <a:srgbClr val="2563EB"/>
                </a:solidFill>
                <a:latin typeface="Meiryo UI" panose="020B0604030504040204" pitchFamily="50" charset="-128"/>
                <a:ea typeface="Meiryo UI" panose="020B0604030504040204" pitchFamily="50" charset="-128"/>
              </a:rPr>
              <a:t>名）を掛け合わせた最終結論</a:t>
            </a:r>
          </a:p>
        </p:txBody>
      </p:sp>
      <p:sp>
        <p:nvSpPr>
          <p:cNvPr id="11" name="四角形: 角を丸くする 10">
            <a:extLst>
              <a:ext uri="{FF2B5EF4-FFF2-40B4-BE49-F238E27FC236}">
                <a16:creationId xmlns:a16="http://schemas.microsoft.com/office/drawing/2014/main" id="{7AD64087-A51A-6926-3BD1-B2275133CE04}"/>
              </a:ext>
            </a:extLst>
          </p:cNvPr>
          <p:cNvSpPr/>
          <p:nvPr/>
        </p:nvSpPr>
        <p:spPr>
          <a:xfrm>
            <a:off x="254000" y="1574800"/>
            <a:ext cx="11684000" cy="1549400"/>
          </a:xfrm>
          <a:prstGeom prst="roundRect">
            <a:avLst>
              <a:gd name="adj" fmla="val 10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3010B82-38F7-B603-7892-5FD9B3050AF2}"/>
              </a:ext>
            </a:extLst>
          </p:cNvPr>
          <p:cNvSpPr/>
          <p:nvPr/>
        </p:nvSpPr>
        <p:spPr>
          <a:xfrm>
            <a:off x="431800" y="1752600"/>
            <a:ext cx="2413000" cy="1193800"/>
          </a:xfrm>
          <a:prstGeom prst="roundRect">
            <a:avLst>
              <a:gd name="adj" fmla="val 2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20EE167F-CE87-5FBF-BF16-BC7FBB3B4843}"/>
              </a:ext>
            </a:extLst>
          </p:cNvPr>
          <p:cNvSpPr txBox="1"/>
          <p:nvPr/>
        </p:nvSpPr>
        <p:spPr>
          <a:xfrm>
            <a:off x="508000" y="2032000"/>
            <a:ext cx="2260600" cy="610424"/>
          </a:xfrm>
          <a:prstGeom prst="rect">
            <a:avLst/>
          </a:prstGeom>
          <a:noFill/>
        </p:spPr>
        <p:txBody>
          <a:bodyPr vert="horz" wrap="square" lIns="76200" tIns="50800" rIns="76200" bIns="50800" rtlCol="0">
            <a:spAutoFit/>
          </a:bodyPr>
          <a:lstStyle/>
          <a:p>
            <a:pPr algn="ctr"/>
            <a:r>
              <a:rPr kumimoji="1" lang="en-US" altLang="ja-JP" sz="1650" b="1">
                <a:solidFill>
                  <a:srgbClr val="EF4444"/>
                </a:solidFill>
                <a:latin typeface="Meiryo UI" panose="020B0604030504040204" pitchFamily="50" charset="-128"/>
                <a:ea typeface="Meiryo UI" panose="020B0604030504040204" pitchFamily="50" charset="-128"/>
              </a:rPr>
              <a:t>1. </a:t>
            </a:r>
            <a:r>
              <a:rPr kumimoji="1" lang="ja-JP" altLang="en-US" sz="1650" b="1">
                <a:solidFill>
                  <a:srgbClr val="EF4444"/>
                </a:solidFill>
                <a:latin typeface="Meiryo UI" panose="020B0604030504040204" pitchFamily="50" charset="-128"/>
                <a:ea typeface="Meiryo UI" panose="020B0604030504040204" pitchFamily="50" charset="-128"/>
              </a:rPr>
              <a:t>当院の弱点
（知名度の低さ）</a:t>
            </a:r>
          </a:p>
        </p:txBody>
      </p:sp>
      <p:sp>
        <p:nvSpPr>
          <p:cNvPr id="14" name="テキスト ボックス 13">
            <a:extLst>
              <a:ext uri="{FF2B5EF4-FFF2-40B4-BE49-F238E27FC236}">
                <a16:creationId xmlns:a16="http://schemas.microsoft.com/office/drawing/2014/main" id="{67353EB4-F0A7-41BF-D10B-D531D7F708D5}"/>
              </a:ext>
            </a:extLst>
          </p:cNvPr>
          <p:cNvSpPr txBox="1"/>
          <p:nvPr/>
        </p:nvSpPr>
        <p:spPr>
          <a:xfrm>
            <a:off x="3048000" y="1727200"/>
            <a:ext cx="8686800" cy="1025922"/>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・八千代市民（</a:t>
            </a:r>
            <a:r>
              <a:rPr kumimoji="1" lang="en-US" altLang="ja-JP" sz="1500" b="1">
                <a:solidFill>
                  <a:srgbClr val="1E293B"/>
                </a:solidFill>
                <a:latin typeface="Meiryo UI" panose="020B0604030504040204" pitchFamily="50" charset="-128"/>
                <a:ea typeface="Meiryo UI" panose="020B0604030504040204" pitchFamily="50" charset="-128"/>
              </a:rPr>
              <a:t>171</a:t>
            </a:r>
            <a:r>
              <a:rPr kumimoji="1" lang="ja-JP" altLang="en-US" sz="1500" b="1">
                <a:solidFill>
                  <a:srgbClr val="1E293B"/>
                </a:solidFill>
                <a:latin typeface="Meiryo UI" panose="020B0604030504040204" pitchFamily="50" charset="-128"/>
                <a:ea typeface="Meiryo UI" panose="020B0604030504040204" pitchFamily="50" charset="-128"/>
              </a:rPr>
              <a:t>名）の</a:t>
            </a:r>
            <a:r>
              <a:rPr kumimoji="1" lang="en-US" altLang="ja-JP" sz="1500" b="1">
                <a:solidFill>
                  <a:srgbClr val="1E293B"/>
                </a:solidFill>
                <a:latin typeface="Meiryo UI" panose="020B0604030504040204" pitchFamily="50" charset="-128"/>
                <a:ea typeface="Meiryo UI" panose="020B0604030504040204" pitchFamily="50" charset="-128"/>
              </a:rPr>
              <a:t>80.7%</a:t>
            </a:r>
            <a:r>
              <a:rPr kumimoji="1" lang="ja-JP" altLang="en-US" sz="1500" b="1">
                <a:solidFill>
                  <a:srgbClr val="1E293B"/>
                </a:solidFill>
                <a:latin typeface="Meiryo UI" panose="020B0604030504040204" pitchFamily="50" charset="-128"/>
                <a:ea typeface="Meiryo UI" panose="020B0604030504040204" pitchFamily="50" charset="-128"/>
              </a:rPr>
              <a:t>が「今日初めて知った（</a:t>
            </a:r>
            <a:r>
              <a:rPr kumimoji="1" lang="en-US" altLang="ja-JP" sz="1500" b="1">
                <a:solidFill>
                  <a:srgbClr val="1E293B"/>
                </a:solidFill>
                <a:latin typeface="Meiryo UI" panose="020B0604030504040204" pitchFamily="50" charset="-128"/>
                <a:ea typeface="Meiryo UI" panose="020B0604030504040204" pitchFamily="50" charset="-128"/>
              </a:rPr>
              <a:t>21.1%</a:t>
            </a:r>
            <a:r>
              <a:rPr kumimoji="1" lang="ja-JP" altLang="en-US" sz="1500" b="1">
                <a:solidFill>
                  <a:srgbClr val="1E293B"/>
                </a:solidFill>
                <a:latin typeface="Meiryo UI" panose="020B0604030504040204" pitchFamily="50" charset="-128"/>
                <a:ea typeface="Meiryo UI" panose="020B0604030504040204" pitchFamily="50" charset="-128"/>
              </a:rPr>
              <a:t>）」または「名前のみ（</a:t>
            </a:r>
            <a:r>
              <a:rPr kumimoji="1" lang="en-US" altLang="ja-JP" sz="1500" b="1">
                <a:solidFill>
                  <a:srgbClr val="1E293B"/>
                </a:solidFill>
                <a:latin typeface="Meiryo UI" panose="020B0604030504040204" pitchFamily="50" charset="-128"/>
                <a:ea typeface="Meiryo UI" panose="020B0604030504040204" pitchFamily="50" charset="-128"/>
              </a:rPr>
              <a:t>59.6%</a:t>
            </a:r>
            <a:r>
              <a:rPr kumimoji="1" lang="ja-JP" altLang="en-US" sz="1500" b="1">
                <a:solidFill>
                  <a:srgbClr val="1E293B"/>
                </a:solidFill>
                <a:latin typeface="Meiryo UI" panose="020B0604030504040204" pitchFamily="50" charset="-128"/>
                <a:ea typeface="Meiryo UI" panose="020B0604030504040204" pitchFamily="50" charset="-128"/>
              </a:rPr>
              <a:t>）」と回答。
・スタッフも「認知度の低さや他院との誤認」を痛感しており、一般外来がない当院にとって地域での知名度向上が最重要課題である。</a:t>
            </a:r>
          </a:p>
        </p:txBody>
      </p:sp>
      <p:sp>
        <p:nvSpPr>
          <p:cNvPr id="15" name="四角形: 角を丸くする 14">
            <a:extLst>
              <a:ext uri="{FF2B5EF4-FFF2-40B4-BE49-F238E27FC236}">
                <a16:creationId xmlns:a16="http://schemas.microsoft.com/office/drawing/2014/main" id="{5071F055-F622-C2D2-1980-E1328F1B6B6B}"/>
              </a:ext>
            </a:extLst>
          </p:cNvPr>
          <p:cNvSpPr/>
          <p:nvPr/>
        </p:nvSpPr>
        <p:spPr>
          <a:xfrm>
            <a:off x="254000" y="3276600"/>
            <a:ext cx="11684000" cy="1549400"/>
          </a:xfrm>
          <a:prstGeom prst="roundRect">
            <a:avLst>
              <a:gd name="adj" fmla="val 10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1A80F96-B187-A2F8-482A-9052F847505E}"/>
              </a:ext>
            </a:extLst>
          </p:cNvPr>
          <p:cNvSpPr/>
          <p:nvPr/>
        </p:nvSpPr>
        <p:spPr>
          <a:xfrm>
            <a:off x="431800" y="3454400"/>
            <a:ext cx="2413000" cy="1193800"/>
          </a:xfrm>
          <a:prstGeom prst="roundRect">
            <a:avLst>
              <a:gd name="adj" fmla="val 2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7214128F-FC40-C962-2CDF-397FCDE619D4}"/>
              </a:ext>
            </a:extLst>
          </p:cNvPr>
          <p:cNvSpPr txBox="1"/>
          <p:nvPr/>
        </p:nvSpPr>
        <p:spPr>
          <a:xfrm>
            <a:off x="508000" y="3733800"/>
            <a:ext cx="2260600" cy="610424"/>
          </a:xfrm>
          <a:prstGeom prst="rect">
            <a:avLst/>
          </a:prstGeom>
          <a:noFill/>
        </p:spPr>
        <p:txBody>
          <a:bodyPr vert="horz" wrap="square" lIns="76200" tIns="50800" rIns="76200" bIns="50800" rtlCol="0">
            <a:spAutoFit/>
          </a:bodyPr>
          <a:lstStyle/>
          <a:p>
            <a:pPr algn="ctr"/>
            <a:r>
              <a:rPr kumimoji="1" lang="en-US" altLang="ja-JP" sz="1650" b="1">
                <a:solidFill>
                  <a:srgbClr val="10B981"/>
                </a:solidFill>
                <a:latin typeface="Meiryo UI" panose="020B0604030504040204" pitchFamily="50" charset="-128"/>
                <a:ea typeface="Meiryo UI" panose="020B0604030504040204" pitchFamily="50" charset="-128"/>
              </a:rPr>
              <a:t>2. </a:t>
            </a:r>
            <a:r>
              <a:rPr kumimoji="1" lang="ja-JP" altLang="en-US" sz="1650" b="1">
                <a:solidFill>
                  <a:srgbClr val="10B981"/>
                </a:solidFill>
                <a:latin typeface="Meiryo UI" panose="020B0604030504040204" pitchFamily="50" charset="-128"/>
                <a:ea typeface="Meiryo UI" panose="020B0604030504040204" pitchFamily="50" charset="-128"/>
              </a:rPr>
              <a:t>出展で
得られたこと</a:t>
            </a:r>
          </a:p>
        </p:txBody>
      </p:sp>
      <p:sp>
        <p:nvSpPr>
          <p:cNvPr id="18" name="テキスト ボックス 17">
            <a:extLst>
              <a:ext uri="{FF2B5EF4-FFF2-40B4-BE49-F238E27FC236}">
                <a16:creationId xmlns:a16="http://schemas.microsoft.com/office/drawing/2014/main" id="{B0CFCD96-0BA3-5D23-9741-915E8D454654}"/>
              </a:ext>
            </a:extLst>
          </p:cNvPr>
          <p:cNvSpPr txBox="1"/>
          <p:nvPr/>
        </p:nvSpPr>
        <p:spPr>
          <a:xfrm>
            <a:off x="3048000" y="3429000"/>
            <a:ext cx="8686800" cy="1025922"/>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a:t>
            </a:r>
            <a:r>
              <a:rPr kumimoji="1" lang="en-US" altLang="ja-JP" sz="1500" b="1">
                <a:solidFill>
                  <a:srgbClr val="1E293B"/>
                </a:solidFill>
                <a:latin typeface="Meiryo UI" panose="020B0604030504040204" pitchFamily="50" charset="-128"/>
                <a:ea typeface="Meiryo UI" panose="020B0604030504040204" pitchFamily="50" charset="-128"/>
              </a:rPr>
              <a:t>6</a:t>
            </a:r>
            <a:r>
              <a:rPr kumimoji="1" lang="ja-JP" altLang="en-US" sz="1500" b="1">
                <a:solidFill>
                  <a:srgbClr val="1E293B"/>
                </a:solidFill>
                <a:latin typeface="Meiryo UI" panose="020B0604030504040204" pitchFamily="50" charset="-128"/>
                <a:ea typeface="Meiryo UI" panose="020B0604030504040204" pitchFamily="50" charset="-128"/>
              </a:rPr>
              <a:t>部署協働で来場</a:t>
            </a:r>
            <a:r>
              <a:rPr kumimoji="1" lang="en-US" altLang="ja-JP" sz="1500" b="1">
                <a:solidFill>
                  <a:srgbClr val="1E293B"/>
                </a:solidFill>
                <a:latin typeface="Meiryo UI" panose="020B0604030504040204" pitchFamily="50" charset="-128"/>
                <a:ea typeface="Meiryo UI" panose="020B0604030504040204" pitchFamily="50" charset="-128"/>
              </a:rPr>
              <a:t>268</a:t>
            </a:r>
            <a:r>
              <a:rPr kumimoji="1" lang="ja-JP" altLang="en-US" sz="1500" b="1">
                <a:solidFill>
                  <a:srgbClr val="1E293B"/>
                </a:solidFill>
                <a:latin typeface="Meiryo UI" panose="020B0604030504040204" pitchFamily="50" charset="-128"/>
                <a:ea typeface="Meiryo UI" panose="020B0604030504040204" pitchFamily="50" charset="-128"/>
              </a:rPr>
              <a:t>名・回答</a:t>
            </a:r>
            <a:r>
              <a:rPr kumimoji="1" lang="en-US" altLang="ja-JP" sz="1500" b="1">
                <a:solidFill>
                  <a:srgbClr val="1E293B"/>
                </a:solidFill>
                <a:latin typeface="Meiryo UI" panose="020B0604030504040204" pitchFamily="50" charset="-128"/>
                <a:ea typeface="Meiryo UI" panose="020B0604030504040204" pitchFamily="50" charset="-128"/>
              </a:rPr>
              <a:t>236</a:t>
            </a:r>
            <a:r>
              <a:rPr kumimoji="1" lang="ja-JP" altLang="en-US" sz="1500" b="1">
                <a:solidFill>
                  <a:srgbClr val="1E293B"/>
                </a:solidFill>
                <a:latin typeface="Meiryo UI" panose="020B0604030504040204" pitchFamily="50" charset="-128"/>
                <a:ea typeface="Meiryo UI" panose="020B0604030504040204" pitchFamily="50" charset="-128"/>
              </a:rPr>
              <a:t>名（目標比</a:t>
            </a:r>
            <a:r>
              <a:rPr kumimoji="1" lang="en-US" altLang="ja-JP" sz="1500" b="1">
                <a:solidFill>
                  <a:srgbClr val="1E293B"/>
                </a:solidFill>
                <a:latin typeface="Meiryo UI" panose="020B0604030504040204" pitchFamily="50" charset="-128"/>
                <a:ea typeface="Meiryo UI" panose="020B0604030504040204" pitchFamily="50" charset="-128"/>
              </a:rPr>
              <a:t>472%</a:t>
            </a:r>
            <a:r>
              <a:rPr kumimoji="1" lang="ja-JP" altLang="en-US" sz="1500" b="1">
                <a:solidFill>
                  <a:srgbClr val="1E293B"/>
                </a:solidFill>
                <a:latin typeface="Meiryo UI" panose="020B0604030504040204" pitchFamily="50" charset="-128"/>
                <a:ea typeface="Meiryo UI" panose="020B0604030504040204" pitchFamily="50" charset="-128"/>
              </a:rPr>
              <a:t>）を達成し、多職種連携の強化（満足度</a:t>
            </a:r>
            <a:r>
              <a:rPr kumimoji="1" lang="en-US" altLang="ja-JP" sz="1500" b="1">
                <a:solidFill>
                  <a:srgbClr val="1E293B"/>
                </a:solidFill>
                <a:latin typeface="Meiryo UI" panose="020B0604030504040204" pitchFamily="50" charset="-128"/>
                <a:ea typeface="Meiryo UI" panose="020B0604030504040204" pitchFamily="50" charset="-128"/>
              </a:rPr>
              <a:t>100%</a:t>
            </a:r>
            <a:r>
              <a:rPr kumimoji="1" lang="ja-JP" altLang="en-US" sz="1500" b="1">
                <a:solidFill>
                  <a:srgbClr val="1E293B"/>
                </a:solidFill>
                <a:latin typeface="Meiryo UI" panose="020B0604030504040204" pitchFamily="50" charset="-128"/>
                <a:ea typeface="Meiryo UI" panose="020B0604030504040204" pitchFamily="50" charset="-128"/>
              </a:rPr>
              <a:t>）を実現した。
・初めて知った層でも体験後は</a:t>
            </a:r>
            <a:r>
              <a:rPr kumimoji="1" lang="en-US" altLang="ja-JP" sz="1500" b="1">
                <a:solidFill>
                  <a:srgbClr val="1E293B"/>
                </a:solidFill>
                <a:latin typeface="Meiryo UI" panose="020B0604030504040204" pitchFamily="50" charset="-128"/>
                <a:ea typeface="Meiryo UI" panose="020B0604030504040204" pitchFamily="50" charset="-128"/>
              </a:rPr>
              <a:t>88.1%</a:t>
            </a:r>
            <a:r>
              <a:rPr kumimoji="1" lang="ja-JP" altLang="en-US" sz="1500" b="1">
                <a:solidFill>
                  <a:srgbClr val="1E293B"/>
                </a:solidFill>
                <a:latin typeface="Meiryo UI" panose="020B0604030504040204" pitchFamily="50" charset="-128"/>
                <a:ea typeface="Meiryo UI" panose="020B0604030504040204" pitchFamily="50" charset="-128"/>
              </a:rPr>
              <a:t>（全体</a:t>
            </a:r>
            <a:r>
              <a:rPr kumimoji="1" lang="en-US" altLang="ja-JP" sz="1500" b="1">
                <a:solidFill>
                  <a:srgbClr val="1E293B"/>
                </a:solidFill>
                <a:latin typeface="Meiryo UI" panose="020B0604030504040204" pitchFamily="50" charset="-128"/>
                <a:ea typeface="Meiryo UI" panose="020B0604030504040204" pitchFamily="50" charset="-128"/>
              </a:rPr>
              <a:t>90.3%</a:t>
            </a:r>
            <a:r>
              <a:rPr kumimoji="1" lang="ja-JP" altLang="en-US" sz="1500" b="1">
                <a:solidFill>
                  <a:srgbClr val="1E293B"/>
                </a:solidFill>
                <a:latin typeface="Meiryo UI" panose="020B0604030504040204" pitchFamily="50" charset="-128"/>
                <a:ea typeface="Meiryo UI" panose="020B0604030504040204" pitchFamily="50" charset="-128"/>
              </a:rPr>
              <a:t>）が「利用・検討したい」と評価し、対面活動の有効性と健康教室の</a:t>
            </a:r>
            <a:r>
              <a:rPr kumimoji="1" lang="en-US" altLang="ja-JP" sz="1500" b="1">
                <a:solidFill>
                  <a:srgbClr val="1E293B"/>
                </a:solidFill>
                <a:latin typeface="Meiryo UI" panose="020B0604030504040204" pitchFamily="50" charset="-128"/>
                <a:ea typeface="Meiryo UI" panose="020B0604030504040204" pitchFamily="50" charset="-128"/>
              </a:rPr>
              <a:t>4</a:t>
            </a:r>
            <a:r>
              <a:rPr kumimoji="1" lang="ja-JP" altLang="en-US" sz="1500" b="1">
                <a:solidFill>
                  <a:srgbClr val="1E293B"/>
                </a:solidFill>
                <a:latin typeface="Meiryo UI" panose="020B0604030504040204" pitchFamily="50" charset="-128"/>
                <a:ea typeface="Meiryo UI" panose="020B0604030504040204" pitchFamily="50" charset="-128"/>
              </a:rPr>
              <a:t>大テーマが判明した。</a:t>
            </a:r>
          </a:p>
        </p:txBody>
      </p:sp>
      <p:sp>
        <p:nvSpPr>
          <p:cNvPr id="19" name="四角形: 角を丸くする 18">
            <a:extLst>
              <a:ext uri="{FF2B5EF4-FFF2-40B4-BE49-F238E27FC236}">
                <a16:creationId xmlns:a16="http://schemas.microsoft.com/office/drawing/2014/main" id="{83CB0D63-2A43-22A1-89B2-CAE579ADE00D}"/>
              </a:ext>
            </a:extLst>
          </p:cNvPr>
          <p:cNvSpPr/>
          <p:nvPr/>
        </p:nvSpPr>
        <p:spPr>
          <a:xfrm>
            <a:off x="254000" y="4978400"/>
            <a:ext cx="11684000" cy="1574800"/>
          </a:xfrm>
          <a:prstGeom prst="roundRect">
            <a:avLst>
              <a:gd name="adj" fmla="val 10000"/>
            </a:avLst>
          </a:prstGeom>
          <a:solidFill>
            <a:srgbClr val="FFFFFF"/>
          </a:solidFill>
          <a:ln w="19050">
            <a:solidFill>
              <a:srgbClr val="DB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51EFD71E-58FB-E769-BC87-083EF0924808}"/>
              </a:ext>
            </a:extLst>
          </p:cNvPr>
          <p:cNvSpPr/>
          <p:nvPr/>
        </p:nvSpPr>
        <p:spPr>
          <a:xfrm>
            <a:off x="431800" y="5156200"/>
            <a:ext cx="2413000" cy="1219200"/>
          </a:xfrm>
          <a:prstGeom prst="roundRect">
            <a:avLst>
              <a:gd name="adj" fmla="val 2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BBAD57F1-AA66-A0CD-835D-C53C187F2F33}"/>
              </a:ext>
            </a:extLst>
          </p:cNvPr>
          <p:cNvSpPr txBox="1"/>
          <p:nvPr/>
        </p:nvSpPr>
        <p:spPr>
          <a:xfrm>
            <a:off x="508000" y="5435600"/>
            <a:ext cx="2260600" cy="610424"/>
          </a:xfrm>
          <a:prstGeom prst="rect">
            <a:avLst/>
          </a:prstGeom>
          <a:noFill/>
        </p:spPr>
        <p:txBody>
          <a:bodyPr vert="horz" wrap="square" lIns="76200" tIns="50800" rIns="76200" bIns="50800" rtlCol="0">
            <a:spAutoFit/>
          </a:bodyPr>
          <a:lstStyle/>
          <a:p>
            <a:pPr algn="ctr"/>
            <a:r>
              <a:rPr kumimoji="1" lang="en-US" altLang="ja-JP" sz="1650" b="1">
                <a:solidFill>
                  <a:srgbClr val="2563EB"/>
                </a:solidFill>
                <a:latin typeface="Meiryo UI" panose="020B0604030504040204" pitchFamily="50" charset="-128"/>
                <a:ea typeface="Meiryo UI" panose="020B0604030504040204" pitchFamily="50" charset="-128"/>
              </a:rPr>
              <a:t>3. </a:t>
            </a:r>
            <a:r>
              <a:rPr kumimoji="1" lang="ja-JP" altLang="en-US" sz="1650" b="1">
                <a:solidFill>
                  <a:srgbClr val="2563EB"/>
                </a:solidFill>
                <a:latin typeface="Meiryo UI" panose="020B0604030504040204" pitchFamily="50" charset="-128"/>
                <a:ea typeface="Meiryo UI" panose="020B0604030504040204" pitchFamily="50" charset="-128"/>
              </a:rPr>
              <a:t>来年度の課題
（環境と体制整備）</a:t>
            </a:r>
          </a:p>
        </p:txBody>
      </p:sp>
      <p:sp>
        <p:nvSpPr>
          <p:cNvPr id="22" name="テキスト ボックス 21">
            <a:extLst>
              <a:ext uri="{FF2B5EF4-FFF2-40B4-BE49-F238E27FC236}">
                <a16:creationId xmlns:a16="http://schemas.microsoft.com/office/drawing/2014/main" id="{BE71F6A7-4AAD-077B-A5D1-87960A65C2B9}"/>
              </a:ext>
            </a:extLst>
          </p:cNvPr>
          <p:cNvSpPr txBox="1"/>
          <p:nvPr/>
        </p:nvSpPr>
        <p:spPr>
          <a:xfrm>
            <a:off x="3048000" y="5130800"/>
            <a:ext cx="8686800" cy="1025922"/>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・来場者の「測定への人気集中・順路や備品の要望」と、スタッフの「</a:t>
            </a:r>
            <a:r>
              <a:rPr kumimoji="1" lang="en-US" altLang="ja-JP" sz="1500" b="1">
                <a:solidFill>
                  <a:srgbClr val="1E293B"/>
                </a:solidFill>
                <a:latin typeface="Meiryo UI" panose="020B0604030504040204" pitchFamily="50" charset="-128"/>
                <a:ea typeface="Meiryo UI" panose="020B0604030504040204" pitchFamily="50" charset="-128"/>
              </a:rPr>
              <a:t>3</a:t>
            </a:r>
            <a:r>
              <a:rPr kumimoji="1" lang="ja-JP" altLang="en-US" sz="1500" b="1">
                <a:solidFill>
                  <a:srgbClr val="1E293B"/>
                </a:solidFill>
                <a:latin typeface="Meiryo UI" panose="020B0604030504040204" pitchFamily="50" charset="-128"/>
                <a:ea typeface="Meiryo UI" panose="020B0604030504040204" pitchFamily="50" charset="-128"/>
              </a:rPr>
              <a:t>区画の狭さ・</a:t>
            </a:r>
            <a:r>
              <a:rPr kumimoji="1" lang="en-US" altLang="ja-JP" sz="1500" b="1">
                <a:solidFill>
                  <a:srgbClr val="1E293B"/>
                </a:solidFill>
                <a:latin typeface="Meiryo UI" panose="020B0604030504040204" pitchFamily="50" charset="-128"/>
                <a:ea typeface="Meiryo UI" panose="020B0604030504040204" pitchFamily="50" charset="-128"/>
              </a:rPr>
              <a:t>InBody</a:t>
            </a:r>
            <a:r>
              <a:rPr kumimoji="1" lang="ja-JP" altLang="en-US" sz="1500" b="1">
                <a:solidFill>
                  <a:srgbClr val="1E293B"/>
                </a:solidFill>
                <a:latin typeface="Meiryo UI" panose="020B0604030504040204" pitchFamily="50" charset="-128"/>
                <a:ea typeface="Meiryo UI" panose="020B0604030504040204" pitchFamily="50" charset="-128"/>
              </a:rPr>
              <a:t>受付中止・人員と休憩不足（</a:t>
            </a:r>
            <a:r>
              <a:rPr kumimoji="1" lang="en-US" altLang="ja-JP" sz="1500" b="1">
                <a:solidFill>
                  <a:srgbClr val="1E293B"/>
                </a:solidFill>
                <a:latin typeface="Meiryo UI" panose="020B0604030504040204" pitchFamily="50" charset="-128"/>
                <a:ea typeface="Meiryo UI" panose="020B0604030504040204" pitchFamily="50" charset="-128"/>
              </a:rPr>
              <a:t>76.9%</a:t>
            </a:r>
            <a:r>
              <a:rPr kumimoji="1" lang="ja-JP" altLang="en-US" sz="1500" b="1">
                <a:solidFill>
                  <a:srgbClr val="1E293B"/>
                </a:solidFill>
                <a:latin typeface="Meiryo UI" panose="020B0604030504040204" pitchFamily="50" charset="-128"/>
                <a:ea typeface="Meiryo UI" panose="020B0604030504040204" pitchFamily="50" charset="-128"/>
              </a:rPr>
              <a:t>）」が一致。
・来年度は「① </a:t>
            </a:r>
            <a:r>
              <a:rPr kumimoji="1" lang="en-US" altLang="ja-JP" sz="1500" b="1">
                <a:solidFill>
                  <a:srgbClr val="1E293B"/>
                </a:solidFill>
                <a:latin typeface="Meiryo UI" panose="020B0604030504040204" pitchFamily="50" charset="-128"/>
                <a:ea typeface="Meiryo UI" panose="020B0604030504040204" pitchFamily="50" charset="-128"/>
              </a:rPr>
              <a:t>4</a:t>
            </a:r>
            <a:r>
              <a:rPr kumimoji="1" lang="ja-JP" altLang="en-US" sz="1500" b="1">
                <a:solidFill>
                  <a:srgbClr val="1E293B"/>
                </a:solidFill>
                <a:latin typeface="Meiryo UI" panose="020B0604030504040204" pitchFamily="50" charset="-128"/>
                <a:ea typeface="Meiryo UI" panose="020B0604030504040204" pitchFamily="50" charset="-128"/>
              </a:rPr>
              <a:t>区画への拡大」「② </a:t>
            </a:r>
            <a:r>
              <a:rPr kumimoji="1" lang="en-US" altLang="ja-JP" sz="1500" b="1">
                <a:solidFill>
                  <a:srgbClr val="1E293B"/>
                </a:solidFill>
                <a:latin typeface="Meiryo UI" panose="020B0604030504040204" pitchFamily="50" charset="-128"/>
                <a:ea typeface="Meiryo UI" panose="020B0604030504040204" pitchFamily="50" charset="-128"/>
              </a:rPr>
              <a:t>InBody 2</a:t>
            </a:r>
            <a:r>
              <a:rPr kumimoji="1" lang="ja-JP" altLang="en-US" sz="1500" b="1">
                <a:solidFill>
                  <a:srgbClr val="1E293B"/>
                </a:solidFill>
                <a:latin typeface="Meiryo UI" panose="020B0604030504040204" pitchFamily="50" charset="-128"/>
                <a:ea typeface="Meiryo UI" panose="020B0604030504040204" pitchFamily="50" charset="-128"/>
              </a:rPr>
              <a:t>台体制・病院紹介パネル持参」「③ 誘導係・各部署の増員（休憩</a:t>
            </a:r>
            <a:r>
              <a:rPr kumimoji="1" lang="en-US" altLang="ja-JP" sz="1500" b="1">
                <a:solidFill>
                  <a:srgbClr val="1E293B"/>
                </a:solidFill>
                <a:latin typeface="Meiryo UI" panose="020B0604030504040204" pitchFamily="50" charset="-128"/>
                <a:ea typeface="Meiryo UI" panose="020B0604030504040204" pitchFamily="50" charset="-128"/>
              </a:rPr>
              <a:t>1</a:t>
            </a:r>
            <a:r>
              <a:rPr kumimoji="1" lang="ja-JP" altLang="en-US" sz="1500" b="1">
                <a:solidFill>
                  <a:srgbClr val="1E293B"/>
                </a:solidFill>
                <a:latin typeface="Meiryo UI" panose="020B0604030504040204" pitchFamily="50" charset="-128"/>
                <a:ea typeface="Meiryo UI" panose="020B0604030504040204" pitchFamily="50" charset="-128"/>
              </a:rPr>
              <a:t>時間確保）」を実施する。</a:t>
            </a:r>
          </a:p>
        </p:txBody>
      </p:sp>
    </p:spTree>
    <p:extLst>
      <p:ext uri="{BB962C8B-B14F-4D97-AF65-F5344CB8AC3E}">
        <p14:creationId xmlns:p14="http://schemas.microsoft.com/office/powerpoint/2010/main" val="27222474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4595</Words>
  <Application>Microsoft Office PowerPoint</Application>
  <PresentationFormat>ユーザー設定</PresentationFormat>
  <Paragraphs>367</Paragraphs>
  <Slides>22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22</vt:i4>
      </vt:variant>
    </vt:vector>
  </HeadingPairs>
  <TitlesOfParts>
    <vt:vector size="27" baseType="lpstr">
      <vt:lpstr>Meiryo UI</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憲幸 保科</dc:creator>
  <cp:lastModifiedBy>憲幸 保科</cp:lastModifiedBy>
  <cp:revision>1</cp:revision>
  <dcterms:created xsi:type="dcterms:W3CDTF">2026-10-21T00:08:30Z</dcterms:created>
  <dcterms:modified xsi:type="dcterms:W3CDTF">2026-10-21T00:08:32Z</dcterms:modified>
</cp:coreProperties>
</file>