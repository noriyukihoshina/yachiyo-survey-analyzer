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85F9E-96E6-55B0-F929-15BCB6A0370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7BDD37E-0D82-157E-7187-F605E1E382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E22C4741-DD66-AC46-7DFB-82C2EED76038}"/>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4CDD90B2-04C9-597A-2F9A-E94A02F2BE4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FA9CE80-EADF-B3A3-D9E1-52CEFBDE4125}"/>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995865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E80980-ECA1-8151-0DEB-BB7CBC41CCC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6E7C79-A35D-9ED1-DE4B-286C875F1E5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F67D09-EEF3-FD05-695F-2A7B4C7A3C32}"/>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8C62415C-9ACD-60E5-FA98-C457BB7E433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C1DD7EC-4F22-7173-0531-673D2A5A8018}"/>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844266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015CAE-2D40-3353-7D5F-AA19CA9DBD8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F77BAD9-24EF-717A-B0B6-BBCBA95FC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1EBCB805-0124-CFEB-22B9-78742BC7A946}"/>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18881D10-DC56-D378-E016-D08CB817428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8E4CBD-EAE5-BC94-1534-5C0549D88974}"/>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7046644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CE52E3-B87F-D146-9302-379E2280D2F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4BA133C-731C-C6BF-6B67-2337AE7EC24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C6ED480-BD3E-4136-0B1D-4A8F7310555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4688C8A-57F2-115B-056C-E1D93DEA47BB}"/>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8ACDDEFE-BE3B-8373-5C28-F3BFB1C5394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7C43A3-D76A-EB37-2589-CF2E277BC41F}"/>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1493647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D3855-115F-8864-54DB-FB9FBBE855B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FC106A4-10D9-2867-B2A1-44FAD83868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3A7C21C-7DE9-9050-D691-901366BB45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C1AC343-2203-5998-CE7B-2F7BD9C6F6D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3BA0B77-4521-83EE-6640-7A3D935AEA0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9A4DA83-F3E8-E3B8-9753-91793760E313}"/>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8" name="フッター プレースホルダー 7">
            <a:extLst>
              <a:ext uri="{FF2B5EF4-FFF2-40B4-BE49-F238E27FC236}">
                <a16:creationId xmlns:a16="http://schemas.microsoft.com/office/drawing/2014/main" id="{528A2D27-3494-0043-E076-6FE56403EE14}"/>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5C6572C-267E-1FDE-BE57-EEFBDE5B893A}"/>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989665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3A1585-1FC1-12A5-FD29-1C41403E20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01756C1-B202-CD07-FEF8-D0AA5FF4739F}"/>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4" name="フッター プレースホルダー 3">
            <a:extLst>
              <a:ext uri="{FF2B5EF4-FFF2-40B4-BE49-F238E27FC236}">
                <a16:creationId xmlns:a16="http://schemas.microsoft.com/office/drawing/2014/main" id="{DA450616-AA1C-F49E-4FE4-A6A55E40A391}"/>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A43371-7EE9-818F-3F90-C0488877F058}"/>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644109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128E480-A506-5967-8118-C4B10FEB2B1A}"/>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3" name="フッター プレースホルダー 2">
            <a:extLst>
              <a:ext uri="{FF2B5EF4-FFF2-40B4-BE49-F238E27FC236}">
                <a16:creationId xmlns:a16="http://schemas.microsoft.com/office/drawing/2014/main" id="{AC34B7A3-5FFE-0D6F-FA3A-D7D5E2C4AE5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961745-901E-51BE-B5CC-55E9639A5CC9}"/>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99849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D3B45E-4DB7-B50F-6C77-71A4C98355E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9134887-2901-0960-1D9D-43F9F5884C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E74F8F3-F91F-5016-F0D5-F2BC454282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5A70D04-470B-53DB-CC5F-3B2B03A46A90}"/>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340B14A8-3488-20FD-D26E-B6FB660628F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C4BD9DB-DB4D-F81B-C5BE-CE4CC536F857}"/>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348764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9136-93A1-61A8-820A-C1CD5D4CF35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CD2758F4-3EA1-DA61-BA6E-7E19CA7B6A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1C78584-2BA3-FDB8-2F11-A23D568220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65956-DD5E-F05F-5615-BC294467D9F0}"/>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00FE1D93-4DC5-6CC3-BB69-54640A1C66E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821F93E-FFAE-E419-7487-EC540DC939C6}"/>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7343323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7C1E76-405A-FAE1-CD54-3382776FDF1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5D28453-F531-2B04-C273-189B2CAA154E}"/>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70CB0D4-B21E-F915-C58D-219CBAB49961}"/>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8ED83C14-52BC-A34C-6186-A2093257DCF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6C55A40-E11A-5A27-1A6C-5A35759DECD7}"/>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4348449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91F867F0-0AC2-17F8-45DE-0D17F1B9A5E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20B4A91-90B8-75DA-AC21-E6361B032FAD}"/>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0B71D2F-C99C-F987-26B3-D992A82C6456}"/>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76E8A228-0826-D4F4-1870-C16F82E33B8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92D308-5550-5CF1-3CE4-E6D028DF45C1}"/>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2327600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7E6A1A-A6AA-ACDB-8C36-8061B05D59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F5F5BB-9888-B388-81C6-611E67E87A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57FC3F8-B067-75E5-5D23-05C385A84C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A8E55309-64E4-B8DC-54FA-4A67AB1B7E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5709B9B-7B43-B677-82C6-D014B13CB5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558541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3957725-894A-C772-96F9-213AF311071E}"/>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0FA2C4A9-29C0-9EF4-9B52-E16FA6C7C399}"/>
              </a:ext>
            </a:extLst>
          </p:cNvPr>
          <p:cNvSpPr/>
          <p:nvPr/>
        </p:nvSpPr>
        <p:spPr>
          <a:xfrm>
            <a:off x="304800" y="254000"/>
            <a:ext cx="11582400" cy="2133600"/>
          </a:xfrm>
          <a:prstGeom prst="roundRect">
            <a:avLst>
              <a:gd name="adj" fmla="val 8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EAE191B3-AB62-6629-C574-7459FFBBB41B}"/>
              </a:ext>
            </a:extLst>
          </p:cNvPr>
          <p:cNvSpPr/>
          <p:nvPr/>
        </p:nvSpPr>
        <p:spPr>
          <a:xfrm>
            <a:off x="660400" y="609600"/>
            <a:ext cx="863600" cy="863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8EF20BDD-BBCE-7E43-5A85-A5C4732B65B3}"/>
              </a:ext>
            </a:extLst>
          </p:cNvPr>
          <p:cNvSpPr/>
          <p:nvPr/>
        </p:nvSpPr>
        <p:spPr>
          <a:xfrm>
            <a:off x="990600" y="787400"/>
            <a:ext cx="203200" cy="508000"/>
          </a:xfrm>
          <a:prstGeom prst="roundRect">
            <a:avLst>
              <a:gd name="adj" fmla="val 2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456B1F3-665F-901D-02F5-2133FFD0195A}"/>
              </a:ext>
            </a:extLst>
          </p:cNvPr>
          <p:cNvSpPr/>
          <p:nvPr/>
        </p:nvSpPr>
        <p:spPr>
          <a:xfrm>
            <a:off x="838200" y="939800"/>
            <a:ext cx="508000" cy="203200"/>
          </a:xfrm>
          <a:prstGeom prst="roundRect">
            <a:avLst>
              <a:gd name="adj" fmla="val 2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383F8E1-11D1-2F6F-588A-170C3B142544}"/>
              </a:ext>
            </a:extLst>
          </p:cNvPr>
          <p:cNvSpPr txBox="1"/>
          <p:nvPr/>
        </p:nvSpPr>
        <p:spPr>
          <a:xfrm>
            <a:off x="1778000" y="482600"/>
            <a:ext cx="9652000" cy="333425"/>
          </a:xfrm>
          <a:prstGeom prst="rect">
            <a:avLst/>
          </a:prstGeom>
          <a:noFill/>
        </p:spPr>
        <p:txBody>
          <a:bodyPr vert="horz" wrap="square" lIns="76200" tIns="50800" rIns="76200" bIns="50800" rtlCol="0">
            <a:spAutoFit/>
          </a:bodyPr>
          <a:lstStyle/>
          <a:p>
            <a:r>
              <a:rPr kumimoji="1" lang="ja-JP" altLang="en-US" sz="1500" b="1">
                <a:solidFill>
                  <a:srgbClr val="DBEAFE"/>
                </a:solidFill>
                <a:latin typeface="Meiryo UI" panose="020B0604030504040204" pitchFamily="50" charset="-128"/>
                <a:ea typeface="Meiryo UI" panose="020B0604030504040204" pitchFamily="50" charset="-128"/>
              </a:rPr>
              <a:t>八千代リハビリテーション病院 ｜ 四役報告資料（</a:t>
            </a:r>
            <a:r>
              <a:rPr kumimoji="1" lang="en-US" altLang="ja-JP" sz="1500" b="1">
                <a:solidFill>
                  <a:srgbClr val="DBEAFE"/>
                </a:solidFill>
                <a:latin typeface="Meiryo UI" panose="020B0604030504040204" pitchFamily="50" charset="-128"/>
                <a:ea typeface="Meiryo UI" panose="020B0604030504040204" pitchFamily="50" charset="-128"/>
              </a:rPr>
              <a:t>2026</a:t>
            </a:r>
            <a:r>
              <a:rPr kumimoji="1" lang="ja-JP" altLang="en-US" sz="1500" b="1">
                <a:solidFill>
                  <a:srgbClr val="DBEAFE"/>
                </a:solidFill>
                <a:latin typeface="Meiryo UI" panose="020B0604030504040204" pitchFamily="50" charset="-128"/>
                <a:ea typeface="Meiryo UI" panose="020B0604030504040204" pitchFamily="50" charset="-128"/>
              </a:rPr>
              <a:t>年</a:t>
            </a:r>
            <a:r>
              <a:rPr kumimoji="1" lang="en-US" altLang="ja-JP" sz="1500" b="1">
                <a:solidFill>
                  <a:srgbClr val="DBEAFE"/>
                </a:solidFill>
                <a:latin typeface="Meiryo UI" panose="020B0604030504040204" pitchFamily="50" charset="-128"/>
                <a:ea typeface="Meiryo UI" panose="020B0604030504040204" pitchFamily="50" charset="-128"/>
              </a:rPr>
              <a:t>10</a:t>
            </a:r>
            <a:r>
              <a:rPr kumimoji="1" lang="ja-JP" altLang="en-US" sz="1500" b="1">
                <a:solidFill>
                  <a:srgbClr val="DBEAFE"/>
                </a:solidFill>
                <a:latin typeface="Meiryo UI" panose="020B0604030504040204" pitchFamily="50" charset="-128"/>
                <a:ea typeface="Meiryo UI" panose="020B0604030504040204" pitchFamily="50" charset="-128"/>
              </a:rPr>
              <a:t>月</a:t>
            </a:r>
            <a:r>
              <a:rPr kumimoji="1" lang="en-US" altLang="ja-JP" sz="1500" b="1">
                <a:solidFill>
                  <a:srgbClr val="DBEAFE"/>
                </a:solidFill>
                <a:latin typeface="Meiryo UI" panose="020B0604030504040204" pitchFamily="50" charset="-128"/>
                <a:ea typeface="Meiryo UI" panose="020B0604030504040204" pitchFamily="50" charset="-128"/>
              </a:rPr>
              <a:t>17</a:t>
            </a:r>
            <a:r>
              <a:rPr kumimoji="1" lang="ja-JP" altLang="en-US" sz="1500" b="1">
                <a:solidFill>
                  <a:srgbClr val="DBEAFE"/>
                </a:solidFill>
                <a:latin typeface="Meiryo UI" panose="020B0604030504040204" pitchFamily="50" charset="-128"/>
                <a:ea typeface="Meiryo UI" panose="020B0604030504040204" pitchFamily="50" charset="-128"/>
              </a:rPr>
              <a:t>日・</a:t>
            </a:r>
            <a:r>
              <a:rPr kumimoji="1" lang="en-US" altLang="ja-JP" sz="1500" b="1">
                <a:solidFill>
                  <a:srgbClr val="DBEAFE"/>
                </a:solidFill>
                <a:latin typeface="Meiryo UI" panose="020B0604030504040204" pitchFamily="50" charset="-128"/>
                <a:ea typeface="Meiryo UI" panose="020B0604030504040204" pitchFamily="50" charset="-128"/>
              </a:rPr>
              <a:t>18</a:t>
            </a:r>
            <a:r>
              <a:rPr kumimoji="1" lang="ja-JP" altLang="en-US" sz="1500" b="1">
                <a:solidFill>
                  <a:srgbClr val="DBEAFE"/>
                </a:solidFill>
                <a:latin typeface="Meiryo UI" panose="020B0604030504040204" pitchFamily="50" charset="-128"/>
                <a:ea typeface="Meiryo UI" panose="020B0604030504040204" pitchFamily="50" charset="-128"/>
              </a:rPr>
              <a:t>日 開催）</a:t>
            </a:r>
          </a:p>
        </p:txBody>
      </p:sp>
      <p:sp>
        <p:nvSpPr>
          <p:cNvPr id="8" name="テキスト ボックス 7">
            <a:extLst>
              <a:ext uri="{FF2B5EF4-FFF2-40B4-BE49-F238E27FC236}">
                <a16:creationId xmlns:a16="http://schemas.microsoft.com/office/drawing/2014/main" id="{D6D14565-FB5A-ED63-A26B-B1094A443F8C}"/>
              </a:ext>
            </a:extLst>
          </p:cNvPr>
          <p:cNvSpPr txBox="1"/>
          <p:nvPr/>
        </p:nvSpPr>
        <p:spPr>
          <a:xfrm>
            <a:off x="1778000" y="863600"/>
            <a:ext cx="9652000" cy="548868"/>
          </a:xfrm>
          <a:prstGeom prst="rect">
            <a:avLst/>
          </a:prstGeom>
          <a:noFill/>
        </p:spPr>
        <p:txBody>
          <a:bodyPr vert="horz" wrap="square" lIns="76200" tIns="50800" rIns="76200" bIns="50800" rtlCol="0">
            <a:spAutoFit/>
          </a:bodyPr>
          <a:lstStyle/>
          <a:p>
            <a:r>
              <a:rPr kumimoji="1" lang="ja-JP" altLang="en-US" sz="2900" b="1">
                <a:solidFill>
                  <a:srgbClr val="FFFFFF"/>
                </a:solidFill>
                <a:latin typeface="Meiryo UI" panose="020B0604030504040204" pitchFamily="50" charset="-128"/>
                <a:ea typeface="Meiryo UI" panose="020B0604030504040204" pitchFamily="50" charset="-128"/>
              </a:rPr>
              <a:t>八千代市産業祭「どーんと祭」出展結果報告書</a:t>
            </a:r>
          </a:p>
        </p:txBody>
      </p:sp>
      <p:sp>
        <p:nvSpPr>
          <p:cNvPr id="9" name="テキスト ボックス 8">
            <a:extLst>
              <a:ext uri="{FF2B5EF4-FFF2-40B4-BE49-F238E27FC236}">
                <a16:creationId xmlns:a16="http://schemas.microsoft.com/office/drawing/2014/main" id="{77EA89F4-AAF9-07EC-4AC4-34F166A376BE}"/>
              </a:ext>
            </a:extLst>
          </p:cNvPr>
          <p:cNvSpPr txBox="1"/>
          <p:nvPr/>
        </p:nvSpPr>
        <p:spPr>
          <a:xfrm>
            <a:off x="1778000" y="1625600"/>
            <a:ext cx="9652000" cy="533479"/>
          </a:xfrm>
          <a:prstGeom prst="rect">
            <a:avLst/>
          </a:prstGeom>
          <a:noFill/>
        </p:spPr>
        <p:txBody>
          <a:bodyPr vert="horz" wrap="square" lIns="76200" tIns="50800" rIns="76200" bIns="50800" rtlCol="0">
            <a:spAutoFit/>
          </a:bodyPr>
          <a:lstStyle/>
          <a:p>
            <a:r>
              <a:rPr kumimoji="1" lang="ja-JP" altLang="en-US" sz="1400">
                <a:solidFill>
                  <a:srgbClr val="EFF6FF"/>
                </a:solidFill>
                <a:latin typeface="Meiryo UI" panose="020B0604030504040204" pitchFamily="50" charset="-128"/>
                <a:ea typeface="Meiryo UI" panose="020B0604030504040204" pitchFamily="50" charset="-128"/>
              </a:rPr>
              <a:t>ブース来場者：</a:t>
            </a:r>
            <a:r>
              <a:rPr kumimoji="1" lang="en-US" altLang="ja-JP" sz="1400">
                <a:solidFill>
                  <a:srgbClr val="EFF6FF"/>
                </a:solidFill>
                <a:latin typeface="Meiryo UI" panose="020B0604030504040204" pitchFamily="50" charset="-128"/>
                <a:ea typeface="Meiryo UI" panose="020B0604030504040204" pitchFamily="50" charset="-128"/>
              </a:rPr>
              <a:t>268</a:t>
            </a:r>
            <a:r>
              <a:rPr kumimoji="1" lang="ja-JP" altLang="en-US" sz="1400">
                <a:solidFill>
                  <a:srgbClr val="EFF6FF"/>
                </a:solidFill>
                <a:latin typeface="Meiryo UI" panose="020B0604030504040204" pitchFamily="50" charset="-128"/>
                <a:ea typeface="Meiryo UI" panose="020B0604030504040204" pitchFamily="50" charset="-128"/>
              </a:rPr>
              <a:t>名（</a:t>
            </a:r>
            <a:r>
              <a:rPr kumimoji="1" lang="en-US" altLang="ja-JP" sz="1400">
                <a:solidFill>
                  <a:srgbClr val="EFF6FF"/>
                </a:solidFill>
                <a:latin typeface="Meiryo UI" panose="020B0604030504040204" pitchFamily="50" charset="-128"/>
                <a:ea typeface="Meiryo UI" panose="020B0604030504040204" pitchFamily="50" charset="-128"/>
              </a:rPr>
              <a:t>1</a:t>
            </a:r>
            <a:r>
              <a:rPr kumimoji="1" lang="ja-JP" altLang="en-US" sz="1400">
                <a:solidFill>
                  <a:srgbClr val="EFF6FF"/>
                </a:solidFill>
                <a:latin typeface="Meiryo UI" panose="020B0604030504040204" pitchFamily="50" charset="-128"/>
                <a:ea typeface="Meiryo UI" panose="020B0604030504040204" pitchFamily="50" charset="-128"/>
              </a:rPr>
              <a:t>日目</a:t>
            </a:r>
            <a:r>
              <a:rPr kumimoji="1" lang="en-US" altLang="ja-JP" sz="1400">
                <a:solidFill>
                  <a:srgbClr val="EFF6FF"/>
                </a:solidFill>
                <a:latin typeface="Meiryo UI" panose="020B0604030504040204" pitchFamily="50" charset="-128"/>
                <a:ea typeface="Meiryo UI" panose="020B0604030504040204" pitchFamily="50" charset="-128"/>
              </a:rPr>
              <a:t>120</a:t>
            </a:r>
            <a:r>
              <a:rPr kumimoji="1" lang="ja-JP" altLang="en-US" sz="1400">
                <a:solidFill>
                  <a:srgbClr val="EFF6FF"/>
                </a:solidFill>
                <a:latin typeface="Meiryo UI" panose="020B0604030504040204" pitchFamily="50" charset="-128"/>
                <a:ea typeface="Meiryo UI" panose="020B0604030504040204" pitchFamily="50" charset="-128"/>
              </a:rPr>
              <a:t>名・</a:t>
            </a:r>
            <a:r>
              <a:rPr kumimoji="1" lang="en-US" altLang="ja-JP" sz="1400">
                <a:solidFill>
                  <a:srgbClr val="EFF6FF"/>
                </a:solidFill>
                <a:latin typeface="Meiryo UI" panose="020B0604030504040204" pitchFamily="50" charset="-128"/>
                <a:ea typeface="Meiryo UI" panose="020B0604030504040204" pitchFamily="50" charset="-128"/>
              </a:rPr>
              <a:t>2</a:t>
            </a:r>
            <a:r>
              <a:rPr kumimoji="1" lang="ja-JP" altLang="en-US" sz="1400">
                <a:solidFill>
                  <a:srgbClr val="EFF6FF"/>
                </a:solidFill>
                <a:latin typeface="Meiryo UI" panose="020B0604030504040204" pitchFamily="50" charset="-128"/>
                <a:ea typeface="Meiryo UI" panose="020B0604030504040204" pitchFamily="50" charset="-128"/>
              </a:rPr>
              <a:t>日目</a:t>
            </a:r>
            <a:r>
              <a:rPr kumimoji="1" lang="en-US" altLang="ja-JP" sz="1400">
                <a:solidFill>
                  <a:srgbClr val="EFF6FF"/>
                </a:solidFill>
                <a:latin typeface="Meiryo UI" panose="020B0604030504040204" pitchFamily="50" charset="-128"/>
                <a:ea typeface="Meiryo UI" panose="020B0604030504040204" pitchFamily="50" charset="-128"/>
              </a:rPr>
              <a:t>148</a:t>
            </a:r>
            <a:r>
              <a:rPr kumimoji="1" lang="ja-JP" altLang="en-US" sz="1400">
                <a:solidFill>
                  <a:srgbClr val="EFF6FF"/>
                </a:solidFill>
                <a:latin typeface="Meiryo UI" panose="020B0604030504040204" pitchFamily="50" charset="-128"/>
                <a:ea typeface="Meiryo UI" panose="020B0604030504040204" pitchFamily="50" charset="-128"/>
              </a:rPr>
              <a:t>名） ／ アンケート有効回答：</a:t>
            </a:r>
            <a:r>
              <a:rPr kumimoji="1" lang="en-US" altLang="ja-JP" sz="1400">
                <a:solidFill>
                  <a:srgbClr val="EFF6FF"/>
                </a:solidFill>
                <a:latin typeface="Meiryo UI" panose="020B0604030504040204" pitchFamily="50" charset="-128"/>
                <a:ea typeface="Meiryo UI" panose="020B0604030504040204" pitchFamily="50" charset="-128"/>
              </a:rPr>
              <a:t>236</a:t>
            </a:r>
            <a:r>
              <a:rPr kumimoji="1" lang="ja-JP" altLang="en-US" sz="1400">
                <a:solidFill>
                  <a:srgbClr val="EFF6FF"/>
                </a:solidFill>
                <a:latin typeface="Meiryo UI" panose="020B0604030504040204" pitchFamily="50" charset="-128"/>
                <a:ea typeface="Meiryo UI" panose="020B0604030504040204" pitchFamily="50" charset="-128"/>
              </a:rPr>
              <a:t>名
出展規模：</a:t>
            </a:r>
            <a:r>
              <a:rPr kumimoji="1" lang="en-US" altLang="ja-JP" sz="1400">
                <a:solidFill>
                  <a:srgbClr val="EFF6FF"/>
                </a:solidFill>
                <a:latin typeface="Meiryo UI" panose="020B0604030504040204" pitchFamily="50" charset="-128"/>
                <a:ea typeface="Meiryo UI" panose="020B0604030504040204" pitchFamily="50" charset="-128"/>
              </a:rPr>
              <a:t>3</a:t>
            </a:r>
            <a:r>
              <a:rPr kumimoji="1" lang="ja-JP" altLang="en-US" sz="1400">
                <a:solidFill>
                  <a:srgbClr val="EFF6FF"/>
                </a:solidFill>
                <a:latin typeface="Meiryo UI" panose="020B0604030504040204" pitchFamily="50" charset="-128"/>
                <a:ea typeface="Meiryo UI" panose="020B0604030504040204" pitchFamily="50" charset="-128"/>
              </a:rPr>
              <a:t>区画・</a:t>
            </a:r>
            <a:r>
              <a:rPr kumimoji="1" lang="en-US" altLang="ja-JP" sz="1400">
                <a:solidFill>
                  <a:srgbClr val="EFF6FF"/>
                </a:solidFill>
                <a:latin typeface="Meiryo UI" panose="020B0604030504040204" pitchFamily="50" charset="-128"/>
                <a:ea typeface="Meiryo UI" panose="020B0604030504040204" pitchFamily="50" charset="-128"/>
              </a:rPr>
              <a:t>6</a:t>
            </a:r>
            <a:r>
              <a:rPr kumimoji="1" lang="ja-JP" altLang="en-US" sz="1400">
                <a:solidFill>
                  <a:srgbClr val="EFF6FF"/>
                </a:solidFill>
                <a:latin typeface="Meiryo UI" panose="020B0604030504040204" pitchFamily="50" charset="-128"/>
                <a:ea typeface="Meiryo UI" panose="020B0604030504040204" pitchFamily="50" charset="-128"/>
              </a:rPr>
              <a:t>部署協働（参加スタッフ</a:t>
            </a:r>
            <a:r>
              <a:rPr kumimoji="1" lang="en-US" altLang="ja-JP" sz="1400">
                <a:solidFill>
                  <a:srgbClr val="EFF6FF"/>
                </a:solidFill>
                <a:latin typeface="Meiryo UI" panose="020B0604030504040204" pitchFamily="50" charset="-128"/>
                <a:ea typeface="Meiryo UI" panose="020B0604030504040204" pitchFamily="50" charset="-128"/>
              </a:rPr>
              <a:t>14</a:t>
            </a:r>
            <a:r>
              <a:rPr kumimoji="1" lang="ja-JP" altLang="en-US" sz="1400">
                <a:solidFill>
                  <a:srgbClr val="EFF6FF"/>
                </a:solidFill>
                <a:latin typeface="Meiryo UI" panose="020B0604030504040204" pitchFamily="50" charset="-128"/>
                <a:ea typeface="Meiryo UI" panose="020B0604030504040204" pitchFamily="50" charset="-128"/>
              </a:rPr>
              <a:t>名） ／ 報告者：リハビリテーション部 保科憲幸</a:t>
            </a:r>
          </a:p>
        </p:txBody>
      </p:sp>
      <p:sp>
        <p:nvSpPr>
          <p:cNvPr id="10" name="テキスト ボックス 9">
            <a:extLst>
              <a:ext uri="{FF2B5EF4-FFF2-40B4-BE49-F238E27FC236}">
                <a16:creationId xmlns:a16="http://schemas.microsoft.com/office/drawing/2014/main" id="{6B5F97B8-7496-EBED-A0D3-1C3DD9AEE260}"/>
              </a:ext>
            </a:extLst>
          </p:cNvPr>
          <p:cNvSpPr txBox="1"/>
          <p:nvPr/>
        </p:nvSpPr>
        <p:spPr>
          <a:xfrm>
            <a:off x="406400" y="2590800"/>
            <a:ext cx="11379200" cy="381000"/>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 起案書における</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つの出展目的</a:t>
            </a:r>
          </a:p>
        </p:txBody>
      </p:sp>
      <p:sp>
        <p:nvSpPr>
          <p:cNvPr id="11" name="四角形: 角を丸くする 10">
            <a:extLst>
              <a:ext uri="{FF2B5EF4-FFF2-40B4-BE49-F238E27FC236}">
                <a16:creationId xmlns:a16="http://schemas.microsoft.com/office/drawing/2014/main" id="{6B997491-6550-ED18-D13B-8074EDA31D52}"/>
              </a:ext>
            </a:extLst>
          </p:cNvPr>
          <p:cNvSpPr/>
          <p:nvPr/>
        </p:nvSpPr>
        <p:spPr>
          <a:xfrm>
            <a:off x="304800" y="3073400"/>
            <a:ext cx="3708400" cy="3454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E20A6329-B488-6322-89AF-2F2169B9D64F}"/>
              </a:ext>
            </a:extLst>
          </p:cNvPr>
          <p:cNvSpPr/>
          <p:nvPr/>
        </p:nvSpPr>
        <p:spPr>
          <a:xfrm>
            <a:off x="508000" y="3276600"/>
            <a:ext cx="3302000" cy="4826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7B14A4F-40A6-3DCB-CB6B-1E0BBE5C095F}"/>
              </a:ext>
            </a:extLst>
          </p:cNvPr>
          <p:cNvSpPr txBox="1"/>
          <p:nvPr/>
        </p:nvSpPr>
        <p:spPr>
          <a:xfrm>
            <a:off x="508000" y="33401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2563EB"/>
                </a:solidFill>
                <a:latin typeface="Meiryo UI" panose="020B0604030504040204" pitchFamily="50" charset="-128"/>
                <a:ea typeface="Meiryo UI" panose="020B0604030504040204" pitchFamily="50" charset="-128"/>
              </a:rPr>
              <a:t>目的① 地域貢献</a:t>
            </a:r>
          </a:p>
        </p:txBody>
      </p:sp>
      <p:sp>
        <p:nvSpPr>
          <p:cNvPr id="14" name="テキスト ボックス 13">
            <a:extLst>
              <a:ext uri="{FF2B5EF4-FFF2-40B4-BE49-F238E27FC236}">
                <a16:creationId xmlns:a16="http://schemas.microsoft.com/office/drawing/2014/main" id="{C6748EBF-8870-D117-D9B4-8A610098D50B}"/>
              </a:ext>
            </a:extLst>
          </p:cNvPr>
          <p:cNvSpPr txBox="1"/>
          <p:nvPr/>
        </p:nvSpPr>
        <p:spPr>
          <a:xfrm>
            <a:off x="508000" y="3962400"/>
            <a:ext cx="3302000" cy="84125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多職種による健康測定・相談の機会を提供し、地域医療への貢献と住民の健康寿命延伸に寄与する。</a:t>
            </a:r>
          </a:p>
        </p:txBody>
      </p:sp>
      <p:sp>
        <p:nvSpPr>
          <p:cNvPr id="15" name="四角形: 角を丸くする 14">
            <a:extLst>
              <a:ext uri="{FF2B5EF4-FFF2-40B4-BE49-F238E27FC236}">
                <a16:creationId xmlns:a16="http://schemas.microsoft.com/office/drawing/2014/main" id="{27E373AC-4AF8-C2E5-449D-014C41B3C4FB}"/>
              </a:ext>
            </a:extLst>
          </p:cNvPr>
          <p:cNvSpPr/>
          <p:nvPr/>
        </p:nvSpPr>
        <p:spPr>
          <a:xfrm>
            <a:off x="4241800" y="3073400"/>
            <a:ext cx="3708400" cy="3454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0052DC21-F772-60F2-2EC6-E61EF3ADDF42}"/>
              </a:ext>
            </a:extLst>
          </p:cNvPr>
          <p:cNvSpPr/>
          <p:nvPr/>
        </p:nvSpPr>
        <p:spPr>
          <a:xfrm>
            <a:off x="4445000" y="3276600"/>
            <a:ext cx="3302000" cy="4826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B5CAC16-2432-480F-8FF3-9B6FBCD4C38C}"/>
              </a:ext>
            </a:extLst>
          </p:cNvPr>
          <p:cNvSpPr txBox="1"/>
          <p:nvPr/>
        </p:nvSpPr>
        <p:spPr>
          <a:xfrm>
            <a:off x="4445000" y="33401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F59E0B"/>
                </a:solidFill>
                <a:latin typeface="Meiryo UI" panose="020B0604030504040204" pitchFamily="50" charset="-128"/>
                <a:ea typeface="Meiryo UI" panose="020B0604030504040204" pitchFamily="50" charset="-128"/>
              </a:rPr>
              <a:t>目的② 認知・集患</a:t>
            </a:r>
          </a:p>
        </p:txBody>
      </p:sp>
      <p:sp>
        <p:nvSpPr>
          <p:cNvPr id="18" name="テキスト ボックス 17">
            <a:extLst>
              <a:ext uri="{FF2B5EF4-FFF2-40B4-BE49-F238E27FC236}">
                <a16:creationId xmlns:a16="http://schemas.microsoft.com/office/drawing/2014/main" id="{8BCFBA11-338B-EE10-5333-596160757E4C}"/>
              </a:ext>
            </a:extLst>
          </p:cNvPr>
          <p:cNvSpPr txBox="1"/>
          <p:nvPr/>
        </p:nvSpPr>
        <p:spPr>
          <a:xfrm>
            <a:off x="4445000" y="3962400"/>
            <a:ext cx="3302000" cy="84125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「顔が見える医療機関」として認知を確立し、将来入院を要する際に第一選択として思い浮かぶ下地を作る。</a:t>
            </a:r>
          </a:p>
        </p:txBody>
      </p:sp>
      <p:sp>
        <p:nvSpPr>
          <p:cNvPr id="19" name="四角形: 角を丸くする 18">
            <a:extLst>
              <a:ext uri="{FF2B5EF4-FFF2-40B4-BE49-F238E27FC236}">
                <a16:creationId xmlns:a16="http://schemas.microsoft.com/office/drawing/2014/main" id="{0036BAF8-C37E-F524-14E9-A5516DA02CE5}"/>
              </a:ext>
            </a:extLst>
          </p:cNvPr>
          <p:cNvSpPr/>
          <p:nvPr/>
        </p:nvSpPr>
        <p:spPr>
          <a:xfrm>
            <a:off x="8178800" y="3073400"/>
            <a:ext cx="3708400" cy="3454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BA092F37-141A-2E4B-2A2A-B055263A88A2}"/>
              </a:ext>
            </a:extLst>
          </p:cNvPr>
          <p:cNvSpPr/>
          <p:nvPr/>
        </p:nvSpPr>
        <p:spPr>
          <a:xfrm>
            <a:off x="8382000" y="3276600"/>
            <a:ext cx="3302000" cy="4826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D303034A-B475-FBE4-025A-089681F1BE3A}"/>
              </a:ext>
            </a:extLst>
          </p:cNvPr>
          <p:cNvSpPr txBox="1"/>
          <p:nvPr/>
        </p:nvSpPr>
        <p:spPr>
          <a:xfrm>
            <a:off x="8382000" y="33401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10B981"/>
                </a:solidFill>
                <a:latin typeface="Meiryo UI" panose="020B0604030504040204" pitchFamily="50" charset="-128"/>
                <a:ea typeface="Meiryo UI" panose="020B0604030504040204" pitchFamily="50" charset="-128"/>
              </a:rPr>
              <a:t>目的③ 多職種連携の強化</a:t>
            </a:r>
          </a:p>
        </p:txBody>
      </p:sp>
      <p:sp>
        <p:nvSpPr>
          <p:cNvPr id="22" name="テキスト ボックス 21">
            <a:extLst>
              <a:ext uri="{FF2B5EF4-FFF2-40B4-BE49-F238E27FC236}">
                <a16:creationId xmlns:a16="http://schemas.microsoft.com/office/drawing/2014/main" id="{031CB308-561A-2BDF-D405-FE4F8C54258D}"/>
              </a:ext>
            </a:extLst>
          </p:cNvPr>
          <p:cNvSpPr txBox="1"/>
          <p:nvPr/>
        </p:nvSpPr>
        <p:spPr>
          <a:xfrm>
            <a:off x="8382000" y="3962400"/>
            <a:ext cx="3302000" cy="841256"/>
          </a:xfrm>
          <a:prstGeom prst="rect">
            <a:avLst/>
          </a:prstGeom>
          <a:noFill/>
        </p:spPr>
        <p:txBody>
          <a:bodyPr vert="horz" wrap="square" lIns="76200" tIns="50800" rIns="76200" bIns="50800" rtlCol="0">
            <a:spAutoFit/>
          </a:bodyPr>
          <a:lstStyle/>
          <a:p>
            <a:r>
              <a:rPr kumimoji="1" lang="en-US" altLang="ja-JP" sz="1600">
                <a:solidFill>
                  <a:srgbClr val="1E293B"/>
                </a:solidFill>
                <a:latin typeface="Meiryo UI" panose="020B0604030504040204" pitchFamily="50" charset="-128"/>
                <a:ea typeface="Meiryo UI" panose="020B0604030504040204" pitchFamily="50" charset="-128"/>
              </a:rPr>
              <a:t>6</a:t>
            </a:r>
            <a:r>
              <a:rPr kumimoji="1" lang="ja-JP" altLang="en-US" sz="1600">
                <a:solidFill>
                  <a:srgbClr val="1E293B"/>
                </a:solidFill>
                <a:latin typeface="Meiryo UI" panose="020B0604030504040204" pitchFamily="50" charset="-128"/>
                <a:ea typeface="Meiryo UI" panose="020B0604030504040204" pitchFamily="50" charset="-128"/>
              </a:rPr>
              <a:t>部署が協働してイベントを企画・運営することで院内の多職種連携を強化し、日常業務の連携基盤を強固にする。</a:t>
            </a:r>
          </a:p>
        </p:txBody>
      </p:sp>
    </p:spTree>
    <p:extLst>
      <p:ext uri="{BB962C8B-B14F-4D97-AF65-F5344CB8AC3E}">
        <p14:creationId xmlns:p14="http://schemas.microsoft.com/office/powerpoint/2010/main" val="32249950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C5C0D8D-737B-C6DE-679B-5A1C4CC5F164}"/>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2B4BB753-D9E8-8BE4-7120-0C51566CF6A4}"/>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33EBAF7E-61EE-9DCE-173D-7B594BBB6457}"/>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4D49FFD-B12B-55A1-60CC-31EB2774DC01}"/>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部：来場者調査</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5855C7E8-D008-641A-8B36-FC1EEE19FD4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来場者アンケートの質問事項とそこから見えること</a:t>
            </a:r>
          </a:p>
        </p:txBody>
      </p:sp>
      <p:sp>
        <p:nvSpPr>
          <p:cNvPr id="7" name="四角形: 角を丸くする 6">
            <a:extLst>
              <a:ext uri="{FF2B5EF4-FFF2-40B4-BE49-F238E27FC236}">
                <a16:creationId xmlns:a16="http://schemas.microsoft.com/office/drawing/2014/main" id="{46322A18-378F-E3CE-1B2C-FF824BD08BF5}"/>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C352960-D362-99A5-7A4D-88E596CED877}"/>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2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3217845D-8055-9C2A-9A83-FCABA936CFF3}"/>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B2DA4D7-FAB0-0D3C-5D61-4636827292D8}"/>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基本情報と</a:t>
            </a:r>
            <a:r>
              <a:rPr kumimoji="1" lang="en-US" altLang="ja-JP" sz="1500" b="1">
                <a:solidFill>
                  <a:srgbClr val="2563EB"/>
                </a:solidFill>
                <a:latin typeface="Meiryo UI" panose="020B0604030504040204" pitchFamily="50" charset="-128"/>
                <a:ea typeface="Meiryo UI" panose="020B0604030504040204" pitchFamily="50" charset="-128"/>
              </a:rPr>
              <a:t>Q1〜Q5</a:t>
            </a:r>
            <a:r>
              <a:rPr kumimoji="1" lang="ja-JP" altLang="en-US" sz="1500" b="1">
                <a:solidFill>
                  <a:srgbClr val="2563EB"/>
                </a:solidFill>
                <a:latin typeface="Meiryo UI" panose="020B0604030504040204" pitchFamily="50" charset="-128"/>
                <a:ea typeface="Meiryo UI" panose="020B0604030504040204" pitchFamily="50" charset="-128"/>
              </a:rPr>
              <a:t>の</a:t>
            </a:r>
            <a:r>
              <a:rPr kumimoji="1" lang="en-US" altLang="ja-JP" sz="1500" b="1">
                <a:solidFill>
                  <a:srgbClr val="2563EB"/>
                </a:solidFill>
                <a:latin typeface="Meiryo UI" panose="020B0604030504040204" pitchFamily="50" charset="-128"/>
                <a:ea typeface="Meiryo UI" panose="020B0604030504040204" pitchFamily="50" charset="-128"/>
              </a:rPr>
              <a:t>6</a:t>
            </a:r>
            <a:r>
              <a:rPr kumimoji="1" lang="ja-JP" altLang="en-US" sz="1500" b="1">
                <a:solidFill>
                  <a:srgbClr val="2563EB"/>
                </a:solidFill>
                <a:latin typeface="Meiryo UI" panose="020B0604030504040204" pitchFamily="50" charset="-128"/>
                <a:ea typeface="Meiryo UI" panose="020B0604030504040204" pitchFamily="50" charset="-128"/>
              </a:rPr>
              <a:t>項目から、今回の出展評価・現在の認知度・当院の評価・健康課題を把握</a:t>
            </a:r>
          </a:p>
        </p:txBody>
      </p:sp>
      <p:graphicFrame>
        <p:nvGraphicFramePr>
          <p:cNvPr id="11" name="表 10">
            <a:extLst>
              <a:ext uri="{FF2B5EF4-FFF2-40B4-BE49-F238E27FC236}">
                <a16:creationId xmlns:a16="http://schemas.microsoft.com/office/drawing/2014/main" id="{BEFD2F21-E448-5C46-3D42-4A11118C2004}"/>
              </a:ext>
            </a:extLst>
          </p:cNvPr>
          <p:cNvGraphicFramePr>
            <a:graphicFrameLocks noGrp="1"/>
          </p:cNvGraphicFramePr>
          <p:nvPr>
            <p:extLst>
              <p:ext uri="{D42A27DB-BD31-4B8C-83A1-F6EECF244321}">
                <p14:modId xmlns:p14="http://schemas.microsoft.com/office/powerpoint/2010/main" val="2358816544"/>
              </p:ext>
            </p:extLst>
          </p:nvPr>
        </p:nvGraphicFramePr>
        <p:xfrm>
          <a:off x="304800" y="1574800"/>
          <a:ext cx="11582400" cy="497840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1678379099"/>
                    </a:ext>
                  </a:extLst>
                </a:gridCol>
                <a:gridCol w="4470400">
                  <a:extLst>
                    <a:ext uri="{9D8B030D-6E8A-4147-A177-3AD203B41FA5}">
                      <a16:colId xmlns:a16="http://schemas.microsoft.com/office/drawing/2014/main" val="2757475459"/>
                    </a:ext>
                  </a:extLst>
                </a:gridCol>
                <a:gridCol w="4064000">
                  <a:extLst>
                    <a:ext uri="{9D8B030D-6E8A-4147-A177-3AD203B41FA5}">
                      <a16:colId xmlns:a16="http://schemas.microsoft.com/office/drawing/2014/main" val="3823725322"/>
                    </a:ext>
                  </a:extLst>
                </a:gridCol>
              </a:tblGrid>
              <a:tr h="711200">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質問項目</a:t>
                      </a:r>
                    </a:p>
                  </a:txBody>
                  <a:tcPr>
                    <a:solidFill>
                      <a:srgbClr val="2563EB"/>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選択肢</a:t>
                      </a:r>
                    </a:p>
                  </a:txBody>
                  <a:tcPr>
                    <a:solidFill>
                      <a:srgbClr val="2563EB"/>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この質問から何が見えるか</a:t>
                      </a:r>
                    </a:p>
                  </a:txBody>
                  <a:tcPr>
                    <a:solidFill>
                      <a:srgbClr val="2563EB"/>
                    </a:solidFill>
                  </a:tcPr>
                </a:tc>
                <a:extLst>
                  <a:ext uri="{0D108BD9-81ED-4DB2-BD59-A6C34878D82A}">
                    <a16:rowId xmlns:a16="http://schemas.microsoft.com/office/drawing/2014/main" val="3629984613"/>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基本情報</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年齢（</a:t>
                      </a:r>
                      <a:r>
                        <a:rPr kumimoji="1" lang="en-US" altLang="ja-JP" sz="1500">
                          <a:solidFill>
                            <a:srgbClr val="1E293B"/>
                          </a:solidFill>
                          <a:latin typeface="Meiryo UI" panose="020B0604030504040204" pitchFamily="50" charset="-128"/>
                          <a:ea typeface="Meiryo UI" panose="020B0604030504040204" pitchFamily="50" charset="-128"/>
                        </a:rPr>
                        <a:t>10〜90</a:t>
                      </a:r>
                      <a:r>
                        <a:rPr kumimoji="1" lang="ja-JP" altLang="en-US" sz="1500">
                          <a:solidFill>
                            <a:srgbClr val="1E293B"/>
                          </a:solidFill>
                          <a:latin typeface="Meiryo UI" panose="020B0604030504040204" pitchFamily="50" charset="-128"/>
                          <a:ea typeface="Meiryo UI" panose="020B0604030504040204" pitchFamily="50" charset="-128"/>
                        </a:rPr>
                        <a:t>代）／ 性別 ／ お住まい（市内・市外）</a:t>
                      </a:r>
                    </a:p>
                  </a:txBody>
                  <a:tcPr>
                    <a:solidFill>
                      <a:srgbClr val="FFFF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来場者の属性と</a:t>
                      </a:r>
                      <a:r>
                        <a:rPr kumimoji="1" lang="en-US" altLang="ja-JP" sz="1500" b="1">
                          <a:solidFill>
                            <a:srgbClr val="2563EB"/>
                          </a:solidFill>
                          <a:latin typeface="Meiryo UI" panose="020B0604030504040204" pitchFamily="50" charset="-128"/>
                          <a:ea typeface="Meiryo UI" panose="020B0604030504040204" pitchFamily="50" charset="-128"/>
                        </a:rPr>
                        <a:t>1</a:t>
                      </a:r>
                      <a:r>
                        <a:rPr kumimoji="1" lang="ja-JP" altLang="en-US" sz="1500" b="1">
                          <a:solidFill>
                            <a:srgbClr val="2563EB"/>
                          </a:solidFill>
                          <a:latin typeface="Meiryo UI" panose="020B0604030504040204" pitchFamily="50" charset="-128"/>
                          <a:ea typeface="Meiryo UI" panose="020B0604030504040204" pitchFamily="50" charset="-128"/>
                        </a:rPr>
                        <a:t>日目・</a:t>
                      </a:r>
                      <a:r>
                        <a:rPr kumimoji="1" lang="en-US" altLang="ja-JP" sz="1500" b="1">
                          <a:solidFill>
                            <a:srgbClr val="2563EB"/>
                          </a:solidFill>
                          <a:latin typeface="Meiryo UI" panose="020B0604030504040204" pitchFamily="50" charset="-128"/>
                          <a:ea typeface="Meiryo UI" panose="020B0604030504040204" pitchFamily="50" charset="-128"/>
                        </a:rPr>
                        <a:t>2</a:t>
                      </a:r>
                      <a:r>
                        <a:rPr kumimoji="1" lang="ja-JP" altLang="en-US" sz="1500" b="1">
                          <a:solidFill>
                            <a:srgbClr val="2563EB"/>
                          </a:solidFill>
                          <a:latin typeface="Meiryo UI" panose="020B0604030504040204" pitchFamily="50" charset="-128"/>
                          <a:ea typeface="Meiryo UI" panose="020B0604030504040204" pitchFamily="50" charset="-128"/>
                        </a:rPr>
                        <a:t>日目の違い</a:t>
                      </a:r>
                    </a:p>
                  </a:txBody>
                  <a:tcPr>
                    <a:solidFill>
                      <a:srgbClr val="FFFFFF"/>
                    </a:solidFill>
                  </a:tcPr>
                </a:tc>
                <a:extLst>
                  <a:ext uri="{0D108BD9-81ED-4DB2-BD59-A6C34878D82A}">
                    <a16:rowId xmlns:a16="http://schemas.microsoft.com/office/drawing/2014/main" val="2274935346"/>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Q1. </a:t>
                      </a:r>
                      <a:r>
                        <a:rPr kumimoji="1" lang="ja-JP" altLang="en-US" sz="1500" b="1">
                          <a:solidFill>
                            <a:srgbClr val="1E293B"/>
                          </a:solidFill>
                          <a:latin typeface="Meiryo UI" panose="020B0604030504040204" pitchFamily="50" charset="-128"/>
                          <a:ea typeface="Meiryo UI" panose="020B0604030504040204" pitchFamily="50" charset="-128"/>
                        </a:rPr>
                        <a:t>参考になった内容</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筋肉量 ／ 血管年齢 ／ お薬 ／ 栄養 ／ 人生会議</a:t>
                      </a:r>
                    </a:p>
                  </a:txBody>
                  <a:tcPr>
                    <a:solidFill>
                      <a:srgbClr val="EFF6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今回の出展内容に対する評価</a:t>
                      </a:r>
                    </a:p>
                  </a:txBody>
                  <a:tcPr>
                    <a:solidFill>
                      <a:srgbClr val="EFF6FF"/>
                    </a:solidFill>
                  </a:tcPr>
                </a:tc>
                <a:extLst>
                  <a:ext uri="{0D108BD9-81ED-4DB2-BD59-A6C34878D82A}">
                    <a16:rowId xmlns:a16="http://schemas.microsoft.com/office/drawing/2014/main" val="2420258518"/>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Q2. </a:t>
                      </a:r>
                      <a:r>
                        <a:rPr kumimoji="1" lang="ja-JP" altLang="en-US" sz="1500" b="1">
                          <a:solidFill>
                            <a:srgbClr val="1E293B"/>
                          </a:solidFill>
                          <a:latin typeface="Meiryo UI" panose="020B0604030504040204" pitchFamily="50" charset="-128"/>
                          <a:ea typeface="Meiryo UI" panose="020B0604030504040204" pitchFamily="50" charset="-128"/>
                        </a:rPr>
                        <a:t>当院をご存知でしたか</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よく知っている ／ 名前・場所は知る ／ 今日初めて知った</a:t>
                      </a:r>
                    </a:p>
                  </a:txBody>
                  <a:tcPr>
                    <a:solidFill>
                      <a:srgbClr val="FFFF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地域における当院の現在の認知度</a:t>
                      </a:r>
                    </a:p>
                  </a:txBody>
                  <a:tcPr>
                    <a:solidFill>
                      <a:srgbClr val="FFFFFF"/>
                    </a:solidFill>
                  </a:tcPr>
                </a:tc>
                <a:extLst>
                  <a:ext uri="{0D108BD9-81ED-4DB2-BD59-A6C34878D82A}">
                    <a16:rowId xmlns:a16="http://schemas.microsoft.com/office/drawing/2014/main" val="2421614944"/>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Q3. </a:t>
                      </a:r>
                      <a:r>
                        <a:rPr kumimoji="1" lang="ja-JP" altLang="en-US" sz="1500" b="1">
                          <a:solidFill>
                            <a:srgbClr val="1E293B"/>
                          </a:solidFill>
                          <a:latin typeface="Meiryo UI" panose="020B0604030504040204" pitchFamily="50" charset="-128"/>
                          <a:ea typeface="Meiryo UI" panose="020B0604030504040204" pitchFamily="50" charset="-128"/>
                        </a:rPr>
                        <a:t>当院を利用したいですか</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ぜひ利用したい ／ 候補として検討 ／ 他院・不明</a:t>
                      </a:r>
                    </a:p>
                  </a:txBody>
                  <a:tcPr>
                    <a:solidFill>
                      <a:srgbClr val="EFF6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アンケート回答時の当院の評価</a:t>
                      </a:r>
                    </a:p>
                  </a:txBody>
                  <a:tcPr>
                    <a:solidFill>
                      <a:srgbClr val="EFF6FF"/>
                    </a:solidFill>
                  </a:tcPr>
                </a:tc>
                <a:extLst>
                  <a:ext uri="{0D108BD9-81ED-4DB2-BD59-A6C34878D82A}">
                    <a16:rowId xmlns:a16="http://schemas.microsoft.com/office/drawing/2014/main" val="1030230773"/>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Q4. </a:t>
                      </a:r>
                      <a:r>
                        <a:rPr kumimoji="1" lang="ja-JP" altLang="en-US" sz="1500" b="1">
                          <a:solidFill>
                            <a:srgbClr val="1E293B"/>
                          </a:solidFill>
                          <a:latin typeface="Meiryo UI" panose="020B0604030504040204" pitchFamily="50" charset="-128"/>
                          <a:ea typeface="Meiryo UI" panose="020B0604030504040204" pitchFamily="50" charset="-128"/>
                        </a:rPr>
                        <a:t>健康で気になること</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転倒 ／ 認知機能 ／ 栄養 ／ 薬 ／ 介護終活 ／ その他</a:t>
                      </a:r>
                    </a:p>
                  </a:txBody>
                  <a:tcPr>
                    <a:solidFill>
                      <a:srgbClr val="FFFF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地域住民の抱える課題や関心のチェック</a:t>
                      </a:r>
                    </a:p>
                  </a:txBody>
                  <a:tcPr>
                    <a:solidFill>
                      <a:srgbClr val="FFFFFF"/>
                    </a:solidFill>
                  </a:tcPr>
                </a:tc>
                <a:extLst>
                  <a:ext uri="{0D108BD9-81ED-4DB2-BD59-A6C34878D82A}">
                    <a16:rowId xmlns:a16="http://schemas.microsoft.com/office/drawing/2014/main" val="4073955468"/>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Q5. </a:t>
                      </a:r>
                      <a:r>
                        <a:rPr kumimoji="1" lang="ja-JP" altLang="en-US" sz="1500" b="1">
                          <a:solidFill>
                            <a:srgbClr val="1E293B"/>
                          </a:solidFill>
                          <a:latin typeface="Meiryo UI" panose="020B0604030504040204" pitchFamily="50" charset="-128"/>
                          <a:ea typeface="Meiryo UI" panose="020B0604030504040204" pitchFamily="50" charset="-128"/>
                        </a:rPr>
                        <a:t>来年に期待する内容</a:t>
                      </a:r>
                    </a:p>
                  </a:txBody>
                  <a:tcPr>
                    <a:solidFill>
                      <a:srgbClr val="EFF6FF"/>
                    </a:solidFill>
                  </a:tcPr>
                </a:tc>
                <a:tc>
                  <a:txBody>
                    <a:bodyPr/>
                    <a:lstStyle/>
                    <a:p>
                      <a:r>
                        <a:rPr kumimoji="1" lang="zh-TW" altLang="en-US" sz="1500">
                          <a:solidFill>
                            <a:srgbClr val="1E293B"/>
                          </a:solidFill>
                          <a:latin typeface="Meiryo UI" panose="020B0604030504040204" pitchFamily="50" charset="-128"/>
                          <a:ea typeface="Meiryo UI" panose="020B0604030504040204" pitchFamily="50" charset="-128"/>
                        </a:rPr>
                        <a:t>自由記述（</a:t>
                      </a:r>
                      <a:r>
                        <a:rPr kumimoji="1" lang="en-US" altLang="zh-TW" sz="1500">
                          <a:solidFill>
                            <a:srgbClr val="1E293B"/>
                          </a:solidFill>
                          <a:latin typeface="Meiryo UI" panose="020B0604030504040204" pitchFamily="50" charset="-128"/>
                          <a:ea typeface="Meiryo UI" panose="020B0604030504040204" pitchFamily="50" charset="-128"/>
                        </a:rPr>
                        <a:t>39</a:t>
                      </a:r>
                      <a:r>
                        <a:rPr kumimoji="1" lang="zh-TW" altLang="en-US" sz="1500">
                          <a:solidFill>
                            <a:srgbClr val="1E293B"/>
                          </a:solidFill>
                          <a:latin typeface="Meiryo UI" panose="020B0604030504040204" pitchFamily="50" charset="-128"/>
                          <a:ea typeface="Meiryo UI" panose="020B0604030504040204" pitchFamily="50" charset="-128"/>
                        </a:rPr>
                        <a:t>件）</a:t>
                      </a:r>
                      <a:endParaRPr kumimoji="1" lang="ja-JP" altLang="en-US" sz="1500">
                        <a:solidFill>
                          <a:srgbClr val="1E293B"/>
                        </a:solidFill>
                        <a:latin typeface="Meiryo UI" panose="020B0604030504040204" pitchFamily="50" charset="-128"/>
                        <a:ea typeface="Meiryo UI" panose="020B0604030504040204" pitchFamily="50" charset="-128"/>
                      </a:endParaRPr>
                    </a:p>
                  </a:txBody>
                  <a:tcPr>
                    <a:solidFill>
                      <a:srgbClr val="EFF6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来年度の出展内容のヒント</a:t>
                      </a:r>
                    </a:p>
                  </a:txBody>
                  <a:tcPr>
                    <a:solidFill>
                      <a:srgbClr val="EFF6FF"/>
                    </a:solidFill>
                  </a:tcPr>
                </a:tc>
                <a:extLst>
                  <a:ext uri="{0D108BD9-81ED-4DB2-BD59-A6C34878D82A}">
                    <a16:rowId xmlns:a16="http://schemas.microsoft.com/office/drawing/2014/main" val="2862781061"/>
                  </a:ext>
                </a:extLst>
              </a:tr>
            </a:tbl>
          </a:graphicData>
        </a:graphic>
      </p:graphicFrame>
    </p:spTree>
    <p:extLst>
      <p:ext uri="{BB962C8B-B14F-4D97-AF65-F5344CB8AC3E}">
        <p14:creationId xmlns:p14="http://schemas.microsoft.com/office/powerpoint/2010/main" val="10063940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04CE50C-BB92-15EA-28C5-54DAE429B00C}"/>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10677C17-832D-2456-A2E3-052345D6F990}"/>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ECCFCF6-2129-F7AC-23B8-70BCDFC621AF}"/>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57CAAFE-8216-D0D4-C546-69FF8EA0DA8D}"/>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部：来場者結果①</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F404E169-50AA-0F75-E3CE-43083C4E2C8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基本情報①：お住まい と 性別（</a:t>
            </a:r>
            <a:r>
              <a:rPr kumimoji="1" lang="en-US" altLang="ja-JP" sz="2000" b="1">
                <a:solidFill>
                  <a:srgbClr val="1E293B"/>
                </a:solidFill>
                <a:latin typeface="Meiryo UI" panose="020B0604030504040204" pitchFamily="50" charset="-128"/>
                <a:ea typeface="Meiryo UI" panose="020B0604030504040204" pitchFamily="50" charset="-128"/>
              </a:rPr>
              <a:t>N=236</a:t>
            </a:r>
            <a:r>
              <a:rPr kumimoji="1" lang="ja-JP" altLang="en-US" sz="20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442583F1-430B-9DA8-8785-2E9DD61B0D33}"/>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8F58C7F-7CAC-3B9D-7494-2644521BD97A}"/>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3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C9E4E99-DDE4-29B6-67A3-9CB2E67CEE57}"/>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0D788FE-98E4-D4A2-7BF7-46CADAD34541}"/>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お住まいは八千代市内が</a:t>
            </a:r>
            <a:r>
              <a:rPr kumimoji="1" lang="en-US" altLang="ja-JP" sz="1500" b="1">
                <a:solidFill>
                  <a:srgbClr val="2563EB"/>
                </a:solidFill>
                <a:latin typeface="Meiryo UI" panose="020B0604030504040204" pitchFamily="50" charset="-128"/>
                <a:ea typeface="Meiryo UI" panose="020B0604030504040204" pitchFamily="50" charset="-128"/>
              </a:rPr>
              <a:t>72.5%</a:t>
            </a:r>
            <a:r>
              <a:rPr kumimoji="1" lang="ja-JP" altLang="en-US" sz="1500" b="1">
                <a:solidFill>
                  <a:srgbClr val="2563EB"/>
                </a:solidFill>
                <a:latin typeface="Meiryo UI" panose="020B0604030504040204" pitchFamily="50" charset="-128"/>
                <a:ea typeface="Meiryo UI" panose="020B0604030504040204" pitchFamily="50" charset="-128"/>
              </a:rPr>
              <a:t>（市外</a:t>
            </a:r>
            <a:r>
              <a:rPr kumimoji="1" lang="en-US" altLang="ja-JP" sz="1500" b="1">
                <a:solidFill>
                  <a:srgbClr val="2563EB"/>
                </a:solidFill>
                <a:latin typeface="Meiryo UI" panose="020B0604030504040204" pitchFamily="50" charset="-128"/>
                <a:ea typeface="Meiryo UI" panose="020B0604030504040204" pitchFamily="50" charset="-128"/>
              </a:rPr>
              <a:t>26.3%</a:t>
            </a:r>
            <a:r>
              <a:rPr kumimoji="1" lang="ja-JP" altLang="en-US" sz="1500" b="1">
                <a:solidFill>
                  <a:srgbClr val="2563EB"/>
                </a:solidFill>
                <a:latin typeface="Meiryo UI" panose="020B0604030504040204" pitchFamily="50" charset="-128"/>
                <a:ea typeface="Meiryo UI" panose="020B0604030504040204" pitchFamily="50" charset="-128"/>
              </a:rPr>
              <a:t>）。性別は女性が</a:t>
            </a:r>
            <a:r>
              <a:rPr kumimoji="1" lang="en-US" altLang="ja-JP" sz="1500" b="1">
                <a:solidFill>
                  <a:srgbClr val="2563EB"/>
                </a:solidFill>
                <a:latin typeface="Meiryo UI" panose="020B0604030504040204" pitchFamily="50" charset="-128"/>
                <a:ea typeface="Meiryo UI" panose="020B0604030504040204" pitchFamily="50" charset="-128"/>
              </a:rPr>
              <a:t>64.8%</a:t>
            </a:r>
            <a:r>
              <a:rPr kumimoji="1" lang="ja-JP" altLang="en-US" sz="1500" b="1">
                <a:solidFill>
                  <a:srgbClr val="2563EB"/>
                </a:solidFill>
                <a:latin typeface="Meiryo UI" panose="020B0604030504040204" pitchFamily="50" charset="-128"/>
                <a:ea typeface="Meiryo UI" panose="020B0604030504040204" pitchFamily="50" charset="-128"/>
              </a:rPr>
              <a:t>を占めた</a:t>
            </a:r>
          </a:p>
        </p:txBody>
      </p:sp>
      <p:sp>
        <p:nvSpPr>
          <p:cNvPr id="11" name="四角形: 角を丸くする 10">
            <a:extLst>
              <a:ext uri="{FF2B5EF4-FFF2-40B4-BE49-F238E27FC236}">
                <a16:creationId xmlns:a16="http://schemas.microsoft.com/office/drawing/2014/main" id="{06E96C9B-38C0-F280-9DB4-10089D239EF4}"/>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DA6262AD-1583-37B4-1FCD-3313F9B7BFA5}"/>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30ADA6FA-39D8-EE9D-FD54-E7051CCCE744}"/>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お住まいの内訳</a:t>
            </a:r>
          </a:p>
        </p:txBody>
      </p:sp>
      <p:sp>
        <p:nvSpPr>
          <p:cNvPr id="14" name="部分円 13">
            <a:extLst>
              <a:ext uri="{FF2B5EF4-FFF2-40B4-BE49-F238E27FC236}">
                <a16:creationId xmlns:a16="http://schemas.microsoft.com/office/drawing/2014/main" id="{3D95895E-AE30-966B-8941-E8D6D9DD91E2}"/>
              </a:ext>
            </a:extLst>
          </p:cNvPr>
          <p:cNvSpPr/>
          <p:nvPr/>
        </p:nvSpPr>
        <p:spPr>
          <a:xfrm>
            <a:off x="635000" y="2349500"/>
            <a:ext cx="2413000" cy="2413000"/>
          </a:xfrm>
          <a:prstGeom prst="pie">
            <a:avLst>
              <a:gd name="adj1" fmla="val 16200000"/>
              <a:gd name="adj2" fmla="val 10260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92A873B-EDDC-5322-DED1-34714ADD9E57}"/>
              </a:ext>
            </a:extLst>
          </p:cNvPr>
          <p:cNvSpPr/>
          <p:nvPr/>
        </p:nvSpPr>
        <p:spPr>
          <a:xfrm>
            <a:off x="635000" y="2349500"/>
            <a:ext cx="2413000" cy="2413000"/>
          </a:xfrm>
          <a:prstGeom prst="pie">
            <a:avLst>
              <a:gd name="adj1" fmla="val 10260000"/>
              <a:gd name="adj2" fmla="val 15940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FF3BEB43-C67B-0747-F219-7B40739FAE4D}"/>
              </a:ext>
            </a:extLst>
          </p:cNvPr>
          <p:cNvSpPr/>
          <p:nvPr/>
        </p:nvSpPr>
        <p:spPr>
          <a:xfrm>
            <a:off x="635000" y="2349500"/>
            <a:ext cx="2413000" cy="2413000"/>
          </a:xfrm>
          <a:prstGeom prst="pie">
            <a:avLst>
              <a:gd name="adj1" fmla="val 15940800"/>
              <a:gd name="adj2" fmla="val 16221599"/>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楕円 16">
            <a:extLst>
              <a:ext uri="{FF2B5EF4-FFF2-40B4-BE49-F238E27FC236}">
                <a16:creationId xmlns:a16="http://schemas.microsoft.com/office/drawing/2014/main" id="{CA33E391-B6FC-3AF4-2FB4-B346785CD6FA}"/>
              </a:ext>
            </a:extLst>
          </p:cNvPr>
          <p:cNvSpPr/>
          <p:nvPr/>
        </p:nvSpPr>
        <p:spPr>
          <a:xfrm>
            <a:off x="1141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AD9D7D3D-B91B-C0F0-649F-FA6434E2A3EF}"/>
              </a:ext>
            </a:extLst>
          </p:cNvPr>
          <p:cNvSpPr txBox="1"/>
          <p:nvPr/>
        </p:nvSpPr>
        <p:spPr>
          <a:xfrm>
            <a:off x="889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市内 </a:t>
            </a:r>
            <a:r>
              <a:rPr kumimoji="1" lang="en-US" altLang="ja-JP" sz="1350" b="1">
                <a:solidFill>
                  <a:srgbClr val="1E293B"/>
                </a:solidFill>
                <a:latin typeface="Meiryo UI" panose="020B0604030504040204" pitchFamily="50" charset="-128"/>
                <a:ea typeface="Meiryo UI" panose="020B0604030504040204" pitchFamily="50" charset="-128"/>
              </a:rPr>
              <a:t>72.5%</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19" name="テキスト ボックス 18">
            <a:extLst>
              <a:ext uri="{FF2B5EF4-FFF2-40B4-BE49-F238E27FC236}">
                <a16:creationId xmlns:a16="http://schemas.microsoft.com/office/drawing/2014/main" id="{41B46D19-6E7B-52AE-7E33-1B3C5FF768EA}"/>
              </a:ext>
            </a:extLst>
          </p:cNvPr>
          <p:cNvSpPr txBox="1"/>
          <p:nvPr/>
        </p:nvSpPr>
        <p:spPr>
          <a:xfrm>
            <a:off x="889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171</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236</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20" name="楕円 19">
            <a:extLst>
              <a:ext uri="{FF2B5EF4-FFF2-40B4-BE49-F238E27FC236}">
                <a16:creationId xmlns:a16="http://schemas.microsoft.com/office/drawing/2014/main" id="{E425E332-2B15-A3F5-B1CC-A77C7D36DE95}"/>
              </a:ext>
            </a:extLst>
          </p:cNvPr>
          <p:cNvSpPr/>
          <p:nvPr/>
        </p:nvSpPr>
        <p:spPr>
          <a:xfrm>
            <a:off x="3238500" y="2730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0A9AB882-DC6D-4166-34DB-896B24937E03}"/>
              </a:ext>
            </a:extLst>
          </p:cNvPr>
          <p:cNvSpPr txBox="1"/>
          <p:nvPr/>
        </p:nvSpPr>
        <p:spPr>
          <a:xfrm>
            <a:off x="3517900" y="2667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八千代市内</a:t>
            </a:r>
          </a:p>
        </p:txBody>
      </p:sp>
      <p:sp>
        <p:nvSpPr>
          <p:cNvPr id="22" name="テキスト ボックス 21">
            <a:extLst>
              <a:ext uri="{FF2B5EF4-FFF2-40B4-BE49-F238E27FC236}">
                <a16:creationId xmlns:a16="http://schemas.microsoft.com/office/drawing/2014/main" id="{FDC24E81-2E38-3EDD-5BFB-65C24797192F}"/>
              </a:ext>
            </a:extLst>
          </p:cNvPr>
          <p:cNvSpPr txBox="1"/>
          <p:nvPr/>
        </p:nvSpPr>
        <p:spPr>
          <a:xfrm>
            <a:off x="3746500" y="2667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171</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(72.5%)</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3" name="楕円 22">
            <a:extLst>
              <a:ext uri="{FF2B5EF4-FFF2-40B4-BE49-F238E27FC236}">
                <a16:creationId xmlns:a16="http://schemas.microsoft.com/office/drawing/2014/main" id="{E4026113-AD3A-AA02-D495-4096D260BC87}"/>
              </a:ext>
            </a:extLst>
          </p:cNvPr>
          <p:cNvSpPr/>
          <p:nvPr/>
        </p:nvSpPr>
        <p:spPr>
          <a:xfrm>
            <a:off x="3238500" y="33401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A385E8C3-1307-AD5F-26B9-CAAE044F6F20}"/>
              </a:ext>
            </a:extLst>
          </p:cNvPr>
          <p:cNvSpPr txBox="1"/>
          <p:nvPr/>
        </p:nvSpPr>
        <p:spPr>
          <a:xfrm>
            <a:off x="3517900" y="3276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八千代市外</a:t>
            </a:r>
          </a:p>
        </p:txBody>
      </p:sp>
      <p:sp>
        <p:nvSpPr>
          <p:cNvPr id="25" name="テキスト ボックス 24">
            <a:extLst>
              <a:ext uri="{FF2B5EF4-FFF2-40B4-BE49-F238E27FC236}">
                <a16:creationId xmlns:a16="http://schemas.microsoft.com/office/drawing/2014/main" id="{34861935-7853-C8EE-1E9D-B2FD6C8D21D7}"/>
              </a:ext>
            </a:extLst>
          </p:cNvPr>
          <p:cNvSpPr txBox="1"/>
          <p:nvPr/>
        </p:nvSpPr>
        <p:spPr>
          <a:xfrm>
            <a:off x="3746500" y="3276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62</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(26.3%)</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6" name="楕円 25">
            <a:extLst>
              <a:ext uri="{FF2B5EF4-FFF2-40B4-BE49-F238E27FC236}">
                <a16:creationId xmlns:a16="http://schemas.microsoft.com/office/drawing/2014/main" id="{81C45261-5D9A-726A-3F40-B6AE2B989812}"/>
              </a:ext>
            </a:extLst>
          </p:cNvPr>
          <p:cNvSpPr/>
          <p:nvPr/>
        </p:nvSpPr>
        <p:spPr>
          <a:xfrm>
            <a:off x="3238500" y="39497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E7DBF30F-EAF0-8B28-D229-B47154A04832}"/>
              </a:ext>
            </a:extLst>
          </p:cNvPr>
          <p:cNvSpPr txBox="1"/>
          <p:nvPr/>
        </p:nvSpPr>
        <p:spPr>
          <a:xfrm>
            <a:off x="3517900" y="38862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28" name="テキスト ボックス 27">
            <a:extLst>
              <a:ext uri="{FF2B5EF4-FFF2-40B4-BE49-F238E27FC236}">
                <a16:creationId xmlns:a16="http://schemas.microsoft.com/office/drawing/2014/main" id="{014C6797-3432-30BD-8329-52BBBB73117A}"/>
              </a:ext>
            </a:extLst>
          </p:cNvPr>
          <p:cNvSpPr txBox="1"/>
          <p:nvPr/>
        </p:nvSpPr>
        <p:spPr>
          <a:xfrm>
            <a:off x="3746500" y="38862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3</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(1.3%)</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a16:creationId xmlns:a16="http://schemas.microsoft.com/office/drawing/2014/main" id="{A9F63B99-33C4-BE52-70BD-7DFF138B3026}"/>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EFD2BA4-058C-CA64-EA70-98D4E753FC2A}"/>
              </a:ext>
            </a:extLst>
          </p:cNvPr>
          <p:cNvSpPr/>
          <p:nvPr/>
        </p:nvSpPr>
        <p:spPr>
          <a:xfrm>
            <a:off x="6451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D0705293-B4BC-B809-D466-3927B0D52535}"/>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性別の内訳</a:t>
            </a:r>
          </a:p>
        </p:txBody>
      </p:sp>
      <p:sp>
        <p:nvSpPr>
          <p:cNvPr id="32" name="部分円 31">
            <a:extLst>
              <a:ext uri="{FF2B5EF4-FFF2-40B4-BE49-F238E27FC236}">
                <a16:creationId xmlns:a16="http://schemas.microsoft.com/office/drawing/2014/main" id="{74549B22-BAD6-9DCF-2504-9239B57CC0D1}"/>
              </a:ext>
            </a:extLst>
          </p:cNvPr>
          <p:cNvSpPr/>
          <p:nvPr/>
        </p:nvSpPr>
        <p:spPr>
          <a:xfrm>
            <a:off x="6604000" y="2349500"/>
            <a:ext cx="2413000" cy="2413000"/>
          </a:xfrm>
          <a:prstGeom prst="pie">
            <a:avLst>
              <a:gd name="adj1" fmla="val 16200000"/>
              <a:gd name="adj2" fmla="val 85968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部分円 32">
            <a:extLst>
              <a:ext uri="{FF2B5EF4-FFF2-40B4-BE49-F238E27FC236}">
                <a16:creationId xmlns:a16="http://schemas.microsoft.com/office/drawing/2014/main" id="{FF41A82D-5CCC-540B-C8C2-3D178E99ED9F}"/>
              </a:ext>
            </a:extLst>
          </p:cNvPr>
          <p:cNvSpPr/>
          <p:nvPr/>
        </p:nvSpPr>
        <p:spPr>
          <a:xfrm>
            <a:off x="6604000" y="2349500"/>
            <a:ext cx="2413000" cy="2413000"/>
          </a:xfrm>
          <a:prstGeom prst="pie">
            <a:avLst>
              <a:gd name="adj1" fmla="val 8596800"/>
              <a:gd name="adj2" fmla="val 16005601"/>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4" name="部分円 33">
            <a:extLst>
              <a:ext uri="{FF2B5EF4-FFF2-40B4-BE49-F238E27FC236}">
                <a16:creationId xmlns:a16="http://schemas.microsoft.com/office/drawing/2014/main" id="{4A894D22-745B-7162-2F0E-560E5661375F}"/>
              </a:ext>
            </a:extLst>
          </p:cNvPr>
          <p:cNvSpPr/>
          <p:nvPr/>
        </p:nvSpPr>
        <p:spPr>
          <a:xfrm>
            <a:off x="6604000" y="2349500"/>
            <a:ext cx="2413000" cy="2413000"/>
          </a:xfrm>
          <a:prstGeom prst="pie">
            <a:avLst>
              <a:gd name="adj1" fmla="val 16005601"/>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楕円 34">
            <a:extLst>
              <a:ext uri="{FF2B5EF4-FFF2-40B4-BE49-F238E27FC236}">
                <a16:creationId xmlns:a16="http://schemas.microsoft.com/office/drawing/2014/main" id="{28983BB8-BFFD-1172-8445-31901003496F}"/>
              </a:ext>
            </a:extLst>
          </p:cNvPr>
          <p:cNvSpPr/>
          <p:nvPr/>
        </p:nvSpPr>
        <p:spPr>
          <a:xfrm>
            <a:off x="7110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7F386C7-1071-C246-9F6B-075449FCDC07}"/>
              </a:ext>
            </a:extLst>
          </p:cNvPr>
          <p:cNvSpPr txBox="1"/>
          <p:nvPr/>
        </p:nvSpPr>
        <p:spPr>
          <a:xfrm>
            <a:off x="6858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女性 </a:t>
            </a:r>
            <a:r>
              <a:rPr kumimoji="1" lang="en-US" altLang="ja-JP" sz="1350" b="1">
                <a:solidFill>
                  <a:srgbClr val="1E293B"/>
                </a:solidFill>
                <a:latin typeface="Meiryo UI" panose="020B0604030504040204" pitchFamily="50" charset="-128"/>
                <a:ea typeface="Meiryo UI" panose="020B0604030504040204" pitchFamily="50" charset="-128"/>
              </a:rPr>
              <a:t>64.8%</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a16:creationId xmlns:a16="http://schemas.microsoft.com/office/drawing/2014/main" id="{E872934E-0138-8E9B-6369-9DB1AEDA51C1}"/>
              </a:ext>
            </a:extLst>
          </p:cNvPr>
          <p:cNvSpPr txBox="1"/>
          <p:nvPr/>
        </p:nvSpPr>
        <p:spPr>
          <a:xfrm>
            <a:off x="6858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153</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236</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38" name="楕円 37">
            <a:extLst>
              <a:ext uri="{FF2B5EF4-FFF2-40B4-BE49-F238E27FC236}">
                <a16:creationId xmlns:a16="http://schemas.microsoft.com/office/drawing/2014/main" id="{536389E9-D5DB-C2F3-D48E-19DFAF0F0A12}"/>
              </a:ext>
            </a:extLst>
          </p:cNvPr>
          <p:cNvSpPr/>
          <p:nvPr/>
        </p:nvSpPr>
        <p:spPr>
          <a:xfrm>
            <a:off x="9207500" y="27305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289C975-7CB3-8C35-1B05-C6F3F8AD70E6}"/>
              </a:ext>
            </a:extLst>
          </p:cNvPr>
          <p:cNvSpPr txBox="1"/>
          <p:nvPr/>
        </p:nvSpPr>
        <p:spPr>
          <a:xfrm>
            <a:off x="9486900" y="2667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女性</a:t>
            </a:r>
          </a:p>
        </p:txBody>
      </p:sp>
      <p:sp>
        <p:nvSpPr>
          <p:cNvPr id="40" name="テキスト ボックス 39">
            <a:extLst>
              <a:ext uri="{FF2B5EF4-FFF2-40B4-BE49-F238E27FC236}">
                <a16:creationId xmlns:a16="http://schemas.microsoft.com/office/drawing/2014/main" id="{ADA5EDC6-8583-CC65-B150-BAC45918C4C0}"/>
              </a:ext>
            </a:extLst>
          </p:cNvPr>
          <p:cNvSpPr txBox="1"/>
          <p:nvPr/>
        </p:nvSpPr>
        <p:spPr>
          <a:xfrm>
            <a:off x="9715500" y="2667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153</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(64.8%)</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41" name="楕円 40">
            <a:extLst>
              <a:ext uri="{FF2B5EF4-FFF2-40B4-BE49-F238E27FC236}">
                <a16:creationId xmlns:a16="http://schemas.microsoft.com/office/drawing/2014/main" id="{0F272515-5C01-5868-4316-8429B407B426}"/>
              </a:ext>
            </a:extLst>
          </p:cNvPr>
          <p:cNvSpPr/>
          <p:nvPr/>
        </p:nvSpPr>
        <p:spPr>
          <a:xfrm>
            <a:off x="9207500" y="33401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9A17BDD1-617C-CEFC-B55D-78E0A1047BED}"/>
              </a:ext>
            </a:extLst>
          </p:cNvPr>
          <p:cNvSpPr txBox="1"/>
          <p:nvPr/>
        </p:nvSpPr>
        <p:spPr>
          <a:xfrm>
            <a:off x="9486900" y="3276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男性</a:t>
            </a:r>
          </a:p>
        </p:txBody>
      </p:sp>
      <p:sp>
        <p:nvSpPr>
          <p:cNvPr id="43" name="テキスト ボックス 42">
            <a:extLst>
              <a:ext uri="{FF2B5EF4-FFF2-40B4-BE49-F238E27FC236}">
                <a16:creationId xmlns:a16="http://schemas.microsoft.com/office/drawing/2014/main" id="{CA68B261-79CB-4194-6612-8D9554FD6F76}"/>
              </a:ext>
            </a:extLst>
          </p:cNvPr>
          <p:cNvSpPr txBox="1"/>
          <p:nvPr/>
        </p:nvSpPr>
        <p:spPr>
          <a:xfrm>
            <a:off x="9715500" y="3276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81</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(34.3%)</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44" name="楕円 43">
            <a:extLst>
              <a:ext uri="{FF2B5EF4-FFF2-40B4-BE49-F238E27FC236}">
                <a16:creationId xmlns:a16="http://schemas.microsoft.com/office/drawing/2014/main" id="{4D39DE47-E4A4-25BA-8BF1-76DA7438953D}"/>
              </a:ext>
            </a:extLst>
          </p:cNvPr>
          <p:cNvSpPr/>
          <p:nvPr/>
        </p:nvSpPr>
        <p:spPr>
          <a:xfrm>
            <a:off x="9207500" y="39497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F28D80FB-DB68-AA6C-7EDA-AAC346C6FA62}"/>
              </a:ext>
            </a:extLst>
          </p:cNvPr>
          <p:cNvSpPr txBox="1"/>
          <p:nvPr/>
        </p:nvSpPr>
        <p:spPr>
          <a:xfrm>
            <a:off x="9486900" y="38862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46" name="テキスト ボックス 45">
            <a:extLst>
              <a:ext uri="{FF2B5EF4-FFF2-40B4-BE49-F238E27FC236}">
                <a16:creationId xmlns:a16="http://schemas.microsoft.com/office/drawing/2014/main" id="{434C4373-AF65-5B0A-A326-A522F51D7447}"/>
              </a:ext>
            </a:extLst>
          </p:cNvPr>
          <p:cNvSpPr txBox="1"/>
          <p:nvPr/>
        </p:nvSpPr>
        <p:spPr>
          <a:xfrm>
            <a:off x="9715500" y="38862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2</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(0.8%)</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a16:creationId xmlns:a16="http://schemas.microsoft.com/office/drawing/2014/main" id="{1DB6DFC2-F7D1-DED7-BAF4-D2FF3A340216}"/>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C1D06E72-DB5C-82ED-0B83-AF86EBB625A8}"/>
              </a:ext>
            </a:extLst>
          </p:cNvPr>
          <p:cNvSpPr txBox="1"/>
          <p:nvPr/>
        </p:nvSpPr>
        <p:spPr>
          <a:xfrm>
            <a:off x="508000" y="5511800"/>
            <a:ext cx="11176000" cy="610424"/>
          </a:xfrm>
          <a:prstGeom prst="rect">
            <a:avLst/>
          </a:prstGeom>
          <a:noFill/>
        </p:spPr>
        <p:txBody>
          <a:bodyPr vert="horz" wrap="square" lIns="76200" tIns="50800" rIns="76200" bIns="50800" rtlCol="0">
            <a:spAutoFit/>
          </a:bodyPr>
          <a:lstStyle/>
          <a:p>
            <a:r>
              <a:rPr kumimoji="1" lang="ja-JP" altLang="en-US" sz="1650" b="1">
                <a:solidFill>
                  <a:srgbClr val="1E293B"/>
                </a:solidFill>
                <a:latin typeface="Meiryo UI" panose="020B0604030504040204" pitchFamily="50" charset="-128"/>
                <a:ea typeface="Meiryo UI" panose="020B0604030504040204" pitchFamily="50" charset="-128"/>
              </a:rPr>
              <a:t>・お住まいは「八千代市内」が</a:t>
            </a:r>
            <a:r>
              <a:rPr kumimoji="1" lang="en-US" altLang="ja-JP" sz="1650" b="1">
                <a:solidFill>
                  <a:srgbClr val="1E293B"/>
                </a:solidFill>
                <a:latin typeface="Meiryo UI" panose="020B0604030504040204" pitchFamily="50" charset="-128"/>
                <a:ea typeface="Meiryo UI" panose="020B0604030504040204" pitchFamily="50" charset="-128"/>
              </a:rPr>
              <a:t>171</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72.5%</a:t>
            </a:r>
            <a:r>
              <a:rPr kumimoji="1" lang="ja-JP" altLang="en-US" sz="1650" b="1">
                <a:solidFill>
                  <a:srgbClr val="1E293B"/>
                </a:solidFill>
                <a:latin typeface="Meiryo UI" panose="020B0604030504040204" pitchFamily="50" charset="-128"/>
                <a:ea typeface="Meiryo UI" panose="020B0604030504040204" pitchFamily="50" charset="-128"/>
              </a:rPr>
              <a:t>）、「八千代市外」が</a:t>
            </a:r>
            <a:r>
              <a:rPr kumimoji="1" lang="en-US" altLang="ja-JP" sz="1650" b="1">
                <a:solidFill>
                  <a:srgbClr val="1E293B"/>
                </a:solidFill>
                <a:latin typeface="Meiryo UI" panose="020B0604030504040204" pitchFamily="50" charset="-128"/>
                <a:ea typeface="Meiryo UI" panose="020B0604030504040204" pitchFamily="50" charset="-128"/>
              </a:rPr>
              <a:t>62</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26.3%</a:t>
            </a:r>
            <a:r>
              <a:rPr kumimoji="1" lang="ja-JP" altLang="en-US" sz="1650" b="1">
                <a:solidFill>
                  <a:srgbClr val="1E293B"/>
                </a:solidFill>
                <a:latin typeface="Meiryo UI" panose="020B0604030504040204" pitchFamily="50" charset="-128"/>
                <a:ea typeface="Meiryo UI" panose="020B0604030504040204" pitchFamily="50" charset="-128"/>
              </a:rPr>
              <a:t>）であった。
・性別は「女性」が</a:t>
            </a:r>
            <a:r>
              <a:rPr kumimoji="1" lang="en-US" altLang="ja-JP" sz="1650" b="1">
                <a:solidFill>
                  <a:srgbClr val="1E293B"/>
                </a:solidFill>
                <a:latin typeface="Meiryo UI" panose="020B0604030504040204" pitchFamily="50" charset="-128"/>
                <a:ea typeface="Meiryo UI" panose="020B0604030504040204" pitchFamily="50" charset="-128"/>
              </a:rPr>
              <a:t>153</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64.8%</a:t>
            </a:r>
            <a:r>
              <a:rPr kumimoji="1" lang="ja-JP" altLang="en-US" sz="1650" b="1">
                <a:solidFill>
                  <a:srgbClr val="1E293B"/>
                </a:solidFill>
                <a:latin typeface="Meiryo UI" panose="020B0604030504040204" pitchFamily="50" charset="-128"/>
                <a:ea typeface="Meiryo UI" panose="020B0604030504040204" pitchFamily="50" charset="-128"/>
              </a:rPr>
              <a:t>）、「男性」が</a:t>
            </a:r>
            <a:r>
              <a:rPr kumimoji="1" lang="en-US" altLang="ja-JP" sz="1650" b="1">
                <a:solidFill>
                  <a:srgbClr val="1E293B"/>
                </a:solidFill>
                <a:latin typeface="Meiryo UI" panose="020B0604030504040204" pitchFamily="50" charset="-128"/>
                <a:ea typeface="Meiryo UI" panose="020B0604030504040204" pitchFamily="50" charset="-128"/>
              </a:rPr>
              <a:t>81</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34.3%</a:t>
            </a:r>
            <a:r>
              <a:rPr kumimoji="1" lang="ja-JP" altLang="en-US" sz="1650" b="1">
                <a:solidFill>
                  <a:srgbClr val="1E293B"/>
                </a:solidFill>
                <a:latin typeface="Meiryo UI" panose="020B0604030504040204" pitchFamily="50" charset="-128"/>
                <a:ea typeface="Meiryo UI" panose="020B0604030504040204" pitchFamily="50" charset="-128"/>
              </a:rPr>
              <a:t>）であった。</a:t>
            </a:r>
          </a:p>
        </p:txBody>
      </p:sp>
    </p:spTree>
    <p:extLst>
      <p:ext uri="{BB962C8B-B14F-4D97-AF65-F5344CB8AC3E}">
        <p14:creationId xmlns:p14="http://schemas.microsoft.com/office/powerpoint/2010/main" val="10406281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A380C54-6FA4-B67F-2E90-AA498F338966}"/>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5744085F-ACB2-757C-DF3C-BC088FCD644C}"/>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8EEEAEF-7667-B92E-BBFF-0FF28A88010F}"/>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9BE9C8C-F825-C9C0-AFEC-B56712EB9FA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部：来場者結果②</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8C4E2BA8-31C6-B4C5-700D-62C92C944B1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基本情報②：年齢別の内訳（</a:t>
            </a:r>
            <a:r>
              <a:rPr kumimoji="1" lang="en-US" altLang="ja-JP" sz="2000" b="1">
                <a:solidFill>
                  <a:srgbClr val="1E293B"/>
                </a:solidFill>
                <a:latin typeface="Meiryo UI" panose="020B0604030504040204" pitchFamily="50" charset="-128"/>
                <a:ea typeface="Meiryo UI" panose="020B0604030504040204" pitchFamily="50" charset="-128"/>
              </a:rPr>
              <a:t>N=236</a:t>
            </a:r>
            <a:r>
              <a:rPr kumimoji="1" lang="ja-JP" altLang="en-US" sz="20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B480F2FB-4E5F-3407-3AA3-F7A3ADB226D0}"/>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C0B3924-C29D-A43D-F1AD-6F0E3A9918C5}"/>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4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8F1D9141-2DFF-0E1D-6142-7E42659552FE}"/>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4FE31D7-3F9B-096B-A13F-16E3D1AB0297}"/>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50</a:t>
            </a:r>
            <a:r>
              <a:rPr kumimoji="1" lang="ja-JP" altLang="en-US" sz="1500" b="1">
                <a:solidFill>
                  <a:srgbClr val="2563EB"/>
                </a:solidFill>
                <a:latin typeface="Meiryo UI" panose="020B0604030504040204" pitchFamily="50" charset="-128"/>
                <a:ea typeface="Meiryo UI" panose="020B0604030504040204" pitchFamily="50" charset="-128"/>
              </a:rPr>
              <a:t>歳代が</a:t>
            </a:r>
            <a:r>
              <a:rPr kumimoji="1" lang="en-US" altLang="ja-JP" sz="1500" b="1">
                <a:solidFill>
                  <a:srgbClr val="2563EB"/>
                </a:solidFill>
                <a:latin typeface="Meiryo UI" panose="020B0604030504040204" pitchFamily="50" charset="-128"/>
                <a:ea typeface="Meiryo UI" panose="020B0604030504040204" pitchFamily="50" charset="-128"/>
              </a:rPr>
              <a:t>26.3%</a:t>
            </a:r>
            <a:r>
              <a:rPr kumimoji="1" lang="ja-JP" altLang="en-US" sz="1500" b="1">
                <a:solidFill>
                  <a:srgbClr val="2563EB"/>
                </a:solidFill>
                <a:latin typeface="Meiryo UI" panose="020B0604030504040204" pitchFamily="50" charset="-128"/>
                <a:ea typeface="Meiryo UI" panose="020B0604030504040204" pitchFamily="50" charset="-128"/>
              </a:rPr>
              <a:t>（</a:t>
            </a:r>
            <a:r>
              <a:rPr kumimoji="1" lang="en-US" altLang="ja-JP" sz="1500" b="1">
                <a:solidFill>
                  <a:srgbClr val="2563EB"/>
                </a:solidFill>
                <a:latin typeface="Meiryo UI" panose="020B0604030504040204" pitchFamily="50" charset="-128"/>
                <a:ea typeface="Meiryo UI" panose="020B0604030504040204" pitchFamily="50" charset="-128"/>
              </a:rPr>
              <a:t>62</a:t>
            </a:r>
            <a:r>
              <a:rPr kumimoji="1" lang="ja-JP" altLang="en-US" sz="1500" b="1">
                <a:solidFill>
                  <a:srgbClr val="2563EB"/>
                </a:solidFill>
                <a:latin typeface="Meiryo UI" panose="020B0604030504040204" pitchFamily="50" charset="-128"/>
                <a:ea typeface="Meiryo UI" panose="020B0604030504040204" pitchFamily="50" charset="-128"/>
              </a:rPr>
              <a:t>名）で最多。次いで</a:t>
            </a:r>
            <a:r>
              <a:rPr kumimoji="1" lang="en-US" altLang="ja-JP" sz="1500" b="1">
                <a:solidFill>
                  <a:srgbClr val="2563EB"/>
                </a:solidFill>
                <a:latin typeface="Meiryo UI" panose="020B0604030504040204" pitchFamily="50" charset="-128"/>
                <a:ea typeface="Meiryo UI" panose="020B0604030504040204" pitchFamily="50" charset="-128"/>
              </a:rPr>
              <a:t>70</a:t>
            </a:r>
            <a:r>
              <a:rPr kumimoji="1" lang="ja-JP" altLang="en-US" sz="1500" b="1">
                <a:solidFill>
                  <a:srgbClr val="2563EB"/>
                </a:solidFill>
                <a:latin typeface="Meiryo UI" panose="020B0604030504040204" pitchFamily="50" charset="-128"/>
                <a:ea typeface="Meiryo UI" panose="020B0604030504040204" pitchFamily="50" charset="-128"/>
              </a:rPr>
              <a:t>歳代（</a:t>
            </a:r>
            <a:r>
              <a:rPr kumimoji="1" lang="en-US" altLang="ja-JP" sz="1500" b="1">
                <a:solidFill>
                  <a:srgbClr val="2563EB"/>
                </a:solidFill>
                <a:latin typeface="Meiryo UI" panose="020B0604030504040204" pitchFamily="50" charset="-128"/>
                <a:ea typeface="Meiryo UI" panose="020B0604030504040204" pitchFamily="50" charset="-128"/>
              </a:rPr>
              <a:t>17.8%</a:t>
            </a:r>
            <a:r>
              <a:rPr kumimoji="1" lang="ja-JP" altLang="en-US" sz="1500" b="1">
                <a:solidFill>
                  <a:srgbClr val="2563EB"/>
                </a:solidFill>
                <a:latin typeface="Meiryo UI" panose="020B0604030504040204" pitchFamily="50" charset="-128"/>
                <a:ea typeface="Meiryo UI" panose="020B0604030504040204" pitchFamily="50" charset="-128"/>
              </a:rPr>
              <a:t>）、</a:t>
            </a:r>
            <a:r>
              <a:rPr kumimoji="1" lang="en-US" altLang="ja-JP" sz="1500" b="1">
                <a:solidFill>
                  <a:srgbClr val="2563EB"/>
                </a:solidFill>
                <a:latin typeface="Meiryo UI" panose="020B0604030504040204" pitchFamily="50" charset="-128"/>
                <a:ea typeface="Meiryo UI" panose="020B0604030504040204" pitchFamily="50" charset="-128"/>
              </a:rPr>
              <a:t>60</a:t>
            </a:r>
            <a:r>
              <a:rPr kumimoji="1" lang="ja-JP" altLang="en-US" sz="1500" b="1">
                <a:solidFill>
                  <a:srgbClr val="2563EB"/>
                </a:solidFill>
                <a:latin typeface="Meiryo UI" panose="020B0604030504040204" pitchFamily="50" charset="-128"/>
                <a:ea typeface="Meiryo UI" panose="020B0604030504040204" pitchFamily="50" charset="-128"/>
              </a:rPr>
              <a:t>歳代（</a:t>
            </a:r>
            <a:r>
              <a:rPr kumimoji="1" lang="en-US" altLang="ja-JP" sz="1500" b="1">
                <a:solidFill>
                  <a:srgbClr val="2563EB"/>
                </a:solidFill>
                <a:latin typeface="Meiryo UI" panose="020B0604030504040204" pitchFamily="50" charset="-128"/>
                <a:ea typeface="Meiryo UI" panose="020B0604030504040204" pitchFamily="50" charset="-128"/>
              </a:rPr>
              <a:t>16.5%</a:t>
            </a:r>
            <a:r>
              <a:rPr kumimoji="1" lang="ja-JP" altLang="en-US" sz="1500" b="1">
                <a:solidFill>
                  <a:srgbClr val="2563EB"/>
                </a:solidFill>
                <a:latin typeface="Meiryo UI" panose="020B0604030504040204" pitchFamily="50" charset="-128"/>
                <a:ea typeface="Meiryo UI" panose="020B0604030504040204" pitchFamily="50" charset="-128"/>
              </a:rPr>
              <a:t>）、</a:t>
            </a:r>
            <a:r>
              <a:rPr kumimoji="1" lang="en-US" altLang="ja-JP" sz="1500" b="1">
                <a:solidFill>
                  <a:srgbClr val="2563EB"/>
                </a:solidFill>
                <a:latin typeface="Meiryo UI" panose="020B0604030504040204" pitchFamily="50" charset="-128"/>
                <a:ea typeface="Meiryo UI" panose="020B0604030504040204" pitchFamily="50" charset="-128"/>
              </a:rPr>
              <a:t>40</a:t>
            </a:r>
            <a:r>
              <a:rPr kumimoji="1" lang="ja-JP" altLang="en-US" sz="1500" b="1">
                <a:solidFill>
                  <a:srgbClr val="2563EB"/>
                </a:solidFill>
                <a:latin typeface="Meiryo UI" panose="020B0604030504040204" pitchFamily="50" charset="-128"/>
                <a:ea typeface="Meiryo UI" panose="020B0604030504040204" pitchFamily="50" charset="-128"/>
              </a:rPr>
              <a:t>歳代（</a:t>
            </a:r>
            <a:r>
              <a:rPr kumimoji="1" lang="en-US" altLang="ja-JP" sz="1500" b="1">
                <a:solidFill>
                  <a:srgbClr val="2563EB"/>
                </a:solidFill>
                <a:latin typeface="Meiryo UI" panose="020B0604030504040204" pitchFamily="50" charset="-128"/>
                <a:ea typeface="Meiryo UI" panose="020B0604030504040204" pitchFamily="50" charset="-128"/>
              </a:rPr>
              <a:t>14.0%</a:t>
            </a:r>
            <a:r>
              <a:rPr kumimoji="1" lang="ja-JP" altLang="en-US" sz="1500" b="1">
                <a:solidFill>
                  <a:srgbClr val="2563EB"/>
                </a:solidFill>
                <a:latin typeface="Meiryo UI" panose="020B0604030504040204" pitchFamily="50" charset="-128"/>
                <a:ea typeface="Meiryo UI" panose="020B0604030504040204" pitchFamily="50" charset="-128"/>
              </a:rPr>
              <a:t>）</a:t>
            </a:r>
          </a:p>
        </p:txBody>
      </p:sp>
      <p:sp>
        <p:nvSpPr>
          <p:cNvPr id="11" name="四角形: 角を丸くする 10">
            <a:extLst>
              <a:ext uri="{FF2B5EF4-FFF2-40B4-BE49-F238E27FC236}">
                <a16:creationId xmlns:a16="http://schemas.microsoft.com/office/drawing/2014/main" id="{20A54536-F36C-222F-34EE-5056E69E5903}"/>
              </a:ext>
            </a:extLst>
          </p:cNvPr>
          <p:cNvSpPr/>
          <p:nvPr/>
        </p:nvSpPr>
        <p:spPr>
          <a:xfrm>
            <a:off x="254000" y="1549400"/>
            <a:ext cx="7112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E14C2E5F-4370-C3D9-0BC7-50BD4A22B164}"/>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D1DDDDD-17C9-D4D0-E88F-5114B5B1182A}"/>
              </a:ext>
            </a:extLst>
          </p:cNvPr>
          <p:cNvSpPr txBox="1"/>
          <p:nvPr/>
        </p:nvSpPr>
        <p:spPr>
          <a:xfrm>
            <a:off x="685800" y="1739900"/>
            <a:ext cx="6477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年代別の回答数・割合</a:t>
            </a:r>
          </a:p>
        </p:txBody>
      </p:sp>
      <p:sp>
        <p:nvSpPr>
          <p:cNvPr id="14" name="テキスト ボックス 13">
            <a:extLst>
              <a:ext uri="{FF2B5EF4-FFF2-40B4-BE49-F238E27FC236}">
                <a16:creationId xmlns:a16="http://schemas.microsoft.com/office/drawing/2014/main" id="{39D81F85-CF3F-AED4-774F-3CBC2263E679}"/>
              </a:ext>
            </a:extLst>
          </p:cNvPr>
          <p:cNvSpPr txBox="1"/>
          <p:nvPr/>
        </p:nvSpPr>
        <p:spPr>
          <a:xfrm>
            <a:off x="508000" y="2260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10〜20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15" name="四角形: 角を丸くする 14">
            <a:extLst>
              <a:ext uri="{FF2B5EF4-FFF2-40B4-BE49-F238E27FC236}">
                <a16:creationId xmlns:a16="http://schemas.microsoft.com/office/drawing/2014/main" id="{FDE21E52-138B-9E84-BBA6-1D8F68A26AF1}"/>
              </a:ext>
            </a:extLst>
          </p:cNvPr>
          <p:cNvSpPr/>
          <p:nvPr/>
        </p:nvSpPr>
        <p:spPr>
          <a:xfrm>
            <a:off x="2070100" y="2324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139DE12-1F5F-0C60-F2BE-CE614DE0A3A9}"/>
              </a:ext>
            </a:extLst>
          </p:cNvPr>
          <p:cNvSpPr/>
          <p:nvPr/>
        </p:nvSpPr>
        <p:spPr>
          <a:xfrm>
            <a:off x="2070100" y="2324100"/>
            <a:ext cx="762000" cy="254000"/>
          </a:xfrm>
          <a:prstGeom prst="roundRect">
            <a:avLst>
              <a:gd name="adj" fmla="val 50000"/>
            </a:avLst>
          </a:prstGeom>
          <a:solidFill>
            <a:srgbClr val="0EA5E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EF830D99-9EDF-72F2-08F0-ADE13881F698}"/>
              </a:ext>
            </a:extLst>
          </p:cNvPr>
          <p:cNvSpPr txBox="1"/>
          <p:nvPr/>
        </p:nvSpPr>
        <p:spPr>
          <a:xfrm>
            <a:off x="5308600" y="2260600"/>
            <a:ext cx="1841500" cy="333425"/>
          </a:xfrm>
          <a:prstGeom prst="rect">
            <a:avLst/>
          </a:prstGeom>
          <a:noFill/>
        </p:spPr>
        <p:txBody>
          <a:bodyPr vert="horz" wrap="square" lIns="76200" tIns="50800" rIns="76200" bIns="50800" rtlCol="0">
            <a:spAutoFit/>
          </a:bodyPr>
          <a:lstStyle/>
          <a:p>
            <a:r>
              <a:rPr kumimoji="1" lang="en-US" altLang="ja-JP" sz="1500" b="1">
                <a:solidFill>
                  <a:srgbClr val="0EA5E9"/>
                </a:solidFill>
                <a:latin typeface="Meiryo UI" panose="020B0604030504040204" pitchFamily="50" charset="-128"/>
                <a:ea typeface="Meiryo UI" panose="020B0604030504040204" pitchFamily="50" charset="-128"/>
              </a:rPr>
              <a:t>18</a:t>
            </a:r>
            <a:r>
              <a:rPr kumimoji="1" lang="ja-JP" altLang="en-US" sz="1500" b="1">
                <a:solidFill>
                  <a:srgbClr val="0EA5E9"/>
                </a:solidFill>
                <a:latin typeface="Meiryo UI" panose="020B0604030504040204" pitchFamily="50" charset="-128"/>
                <a:ea typeface="Meiryo UI" panose="020B0604030504040204" pitchFamily="50" charset="-128"/>
              </a:rPr>
              <a:t>名 </a:t>
            </a:r>
            <a:r>
              <a:rPr kumimoji="1" lang="en-US" altLang="ja-JP" sz="1500" b="1">
                <a:solidFill>
                  <a:srgbClr val="0EA5E9"/>
                </a:solidFill>
                <a:latin typeface="Meiryo UI" panose="020B0604030504040204" pitchFamily="50" charset="-128"/>
                <a:ea typeface="Meiryo UI" panose="020B0604030504040204" pitchFamily="50" charset="-128"/>
              </a:rPr>
              <a:t>(7.6%)</a:t>
            </a:r>
            <a:endParaRPr kumimoji="1" lang="ja-JP" altLang="en-US" sz="1500" b="1">
              <a:solidFill>
                <a:srgbClr val="0EA5E9"/>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2A4AEDA6-F7D9-7DFA-D7BF-37B0E434FFCE}"/>
              </a:ext>
            </a:extLst>
          </p:cNvPr>
          <p:cNvSpPr txBox="1"/>
          <p:nvPr/>
        </p:nvSpPr>
        <p:spPr>
          <a:xfrm>
            <a:off x="508000" y="2768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19" name="四角形: 角を丸くする 18">
            <a:extLst>
              <a:ext uri="{FF2B5EF4-FFF2-40B4-BE49-F238E27FC236}">
                <a16:creationId xmlns:a16="http://schemas.microsoft.com/office/drawing/2014/main" id="{3E2ED93D-1E9C-FB03-FADD-517A0726030D}"/>
              </a:ext>
            </a:extLst>
          </p:cNvPr>
          <p:cNvSpPr/>
          <p:nvPr/>
        </p:nvSpPr>
        <p:spPr>
          <a:xfrm>
            <a:off x="2070100" y="2832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C0D0DE4C-A481-9E29-B302-A99BBD905FAA}"/>
              </a:ext>
            </a:extLst>
          </p:cNvPr>
          <p:cNvSpPr/>
          <p:nvPr/>
        </p:nvSpPr>
        <p:spPr>
          <a:xfrm>
            <a:off x="2070100" y="2832100"/>
            <a:ext cx="508000" cy="254000"/>
          </a:xfrm>
          <a:prstGeom prst="roundRect">
            <a:avLst>
              <a:gd name="adj" fmla="val 50000"/>
            </a:avLst>
          </a:prstGeom>
          <a:solidFill>
            <a:srgbClr val="0EA5E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98CD55F3-B7C1-85C2-60AB-27A7208D3A39}"/>
              </a:ext>
            </a:extLst>
          </p:cNvPr>
          <p:cNvSpPr txBox="1"/>
          <p:nvPr/>
        </p:nvSpPr>
        <p:spPr>
          <a:xfrm>
            <a:off x="5308600" y="2768600"/>
            <a:ext cx="1841500" cy="333425"/>
          </a:xfrm>
          <a:prstGeom prst="rect">
            <a:avLst/>
          </a:prstGeom>
          <a:noFill/>
        </p:spPr>
        <p:txBody>
          <a:bodyPr vert="horz" wrap="square" lIns="76200" tIns="50800" rIns="76200" bIns="50800" rtlCol="0">
            <a:spAutoFit/>
          </a:bodyPr>
          <a:lstStyle/>
          <a:p>
            <a:r>
              <a:rPr kumimoji="1" lang="en-US" altLang="ja-JP" sz="1500" b="1">
                <a:solidFill>
                  <a:srgbClr val="0EA5E9"/>
                </a:solidFill>
                <a:latin typeface="Meiryo UI" panose="020B0604030504040204" pitchFamily="50" charset="-128"/>
                <a:ea typeface="Meiryo UI" panose="020B0604030504040204" pitchFamily="50" charset="-128"/>
              </a:rPr>
              <a:t>12</a:t>
            </a:r>
            <a:r>
              <a:rPr kumimoji="1" lang="ja-JP" altLang="en-US" sz="1500" b="1">
                <a:solidFill>
                  <a:srgbClr val="0EA5E9"/>
                </a:solidFill>
                <a:latin typeface="Meiryo UI" panose="020B0604030504040204" pitchFamily="50" charset="-128"/>
                <a:ea typeface="Meiryo UI" panose="020B0604030504040204" pitchFamily="50" charset="-128"/>
              </a:rPr>
              <a:t>名 </a:t>
            </a:r>
            <a:r>
              <a:rPr kumimoji="1" lang="en-US" altLang="ja-JP" sz="1500" b="1">
                <a:solidFill>
                  <a:srgbClr val="0EA5E9"/>
                </a:solidFill>
                <a:latin typeface="Meiryo UI" panose="020B0604030504040204" pitchFamily="50" charset="-128"/>
                <a:ea typeface="Meiryo UI" panose="020B0604030504040204" pitchFamily="50" charset="-128"/>
              </a:rPr>
              <a:t>(5.1%)</a:t>
            </a:r>
            <a:endParaRPr kumimoji="1" lang="ja-JP" altLang="en-US" sz="1500" b="1">
              <a:solidFill>
                <a:srgbClr val="0EA5E9"/>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32D012F1-BDF9-54C2-3B63-622C70ADD65E}"/>
              </a:ext>
            </a:extLst>
          </p:cNvPr>
          <p:cNvSpPr txBox="1"/>
          <p:nvPr/>
        </p:nvSpPr>
        <p:spPr>
          <a:xfrm>
            <a:off x="508000" y="3276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40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23" name="四角形: 角を丸くする 22">
            <a:extLst>
              <a:ext uri="{FF2B5EF4-FFF2-40B4-BE49-F238E27FC236}">
                <a16:creationId xmlns:a16="http://schemas.microsoft.com/office/drawing/2014/main" id="{0B8D711E-3376-E8CE-C9BD-1E066D3B2A95}"/>
              </a:ext>
            </a:extLst>
          </p:cNvPr>
          <p:cNvSpPr/>
          <p:nvPr/>
        </p:nvSpPr>
        <p:spPr>
          <a:xfrm>
            <a:off x="2070100" y="3340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97E51311-0E33-3B54-3CCB-88D2C99DDBDF}"/>
              </a:ext>
            </a:extLst>
          </p:cNvPr>
          <p:cNvSpPr/>
          <p:nvPr/>
        </p:nvSpPr>
        <p:spPr>
          <a:xfrm>
            <a:off x="2070100" y="3340100"/>
            <a:ext cx="1397000" cy="2540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2B5A4153-D613-210E-E160-DB82A1170ADE}"/>
              </a:ext>
            </a:extLst>
          </p:cNvPr>
          <p:cNvSpPr txBox="1"/>
          <p:nvPr/>
        </p:nvSpPr>
        <p:spPr>
          <a:xfrm>
            <a:off x="5308600" y="3276600"/>
            <a:ext cx="18415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33</a:t>
            </a:r>
            <a:r>
              <a:rPr kumimoji="1" lang="ja-JP" altLang="en-US" sz="1500" b="1">
                <a:solidFill>
                  <a:srgbClr val="10B981"/>
                </a:solidFill>
                <a:latin typeface="Meiryo UI" panose="020B0604030504040204" pitchFamily="50" charset="-128"/>
                <a:ea typeface="Meiryo UI" panose="020B0604030504040204" pitchFamily="50" charset="-128"/>
              </a:rPr>
              <a:t>名 </a:t>
            </a:r>
            <a:r>
              <a:rPr kumimoji="1" lang="en-US" altLang="ja-JP" sz="1500" b="1">
                <a:solidFill>
                  <a:srgbClr val="10B981"/>
                </a:solidFill>
                <a:latin typeface="Meiryo UI" panose="020B0604030504040204" pitchFamily="50" charset="-128"/>
                <a:ea typeface="Meiryo UI" panose="020B0604030504040204" pitchFamily="50" charset="-128"/>
              </a:rPr>
              <a:t>(14.0%)</a:t>
            </a:r>
            <a:endParaRPr kumimoji="1" lang="ja-JP" altLang="en-US" sz="1500" b="1">
              <a:solidFill>
                <a:srgbClr val="10B981"/>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F0860D74-B0B8-5F92-61C7-46833C3BC820}"/>
              </a:ext>
            </a:extLst>
          </p:cNvPr>
          <p:cNvSpPr txBox="1"/>
          <p:nvPr/>
        </p:nvSpPr>
        <p:spPr>
          <a:xfrm>
            <a:off x="508000" y="3784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50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27" name="四角形: 角を丸くする 26">
            <a:extLst>
              <a:ext uri="{FF2B5EF4-FFF2-40B4-BE49-F238E27FC236}">
                <a16:creationId xmlns:a16="http://schemas.microsoft.com/office/drawing/2014/main" id="{DBBDF63A-87D2-98A1-BF4E-2C466BE947A0}"/>
              </a:ext>
            </a:extLst>
          </p:cNvPr>
          <p:cNvSpPr/>
          <p:nvPr/>
        </p:nvSpPr>
        <p:spPr>
          <a:xfrm>
            <a:off x="2070100" y="3848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BD5B460-C2BA-56A8-2B02-4A0A9215713E}"/>
              </a:ext>
            </a:extLst>
          </p:cNvPr>
          <p:cNvSpPr/>
          <p:nvPr/>
        </p:nvSpPr>
        <p:spPr>
          <a:xfrm>
            <a:off x="2070100" y="3848100"/>
            <a:ext cx="26162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0BA74D35-CDE3-BA26-0313-03D5AD61E997}"/>
              </a:ext>
            </a:extLst>
          </p:cNvPr>
          <p:cNvSpPr txBox="1"/>
          <p:nvPr/>
        </p:nvSpPr>
        <p:spPr>
          <a:xfrm>
            <a:off x="5308600" y="3784600"/>
            <a:ext cx="18415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62</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(26.3%)</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8E5DF706-FEBB-BE41-6489-EAFC55C1B443}"/>
              </a:ext>
            </a:extLst>
          </p:cNvPr>
          <p:cNvSpPr txBox="1"/>
          <p:nvPr/>
        </p:nvSpPr>
        <p:spPr>
          <a:xfrm>
            <a:off x="508000" y="4292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60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31" name="四角形: 角を丸くする 30">
            <a:extLst>
              <a:ext uri="{FF2B5EF4-FFF2-40B4-BE49-F238E27FC236}">
                <a16:creationId xmlns:a16="http://schemas.microsoft.com/office/drawing/2014/main" id="{1ECE5A48-DFD9-2DC6-8EF5-310BBAFCC5CF}"/>
              </a:ext>
            </a:extLst>
          </p:cNvPr>
          <p:cNvSpPr/>
          <p:nvPr/>
        </p:nvSpPr>
        <p:spPr>
          <a:xfrm>
            <a:off x="2070100" y="4356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1FCB8A63-B1EA-65FB-4820-BA23B99805B2}"/>
              </a:ext>
            </a:extLst>
          </p:cNvPr>
          <p:cNvSpPr/>
          <p:nvPr/>
        </p:nvSpPr>
        <p:spPr>
          <a:xfrm>
            <a:off x="2070100" y="4356100"/>
            <a:ext cx="16383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6DCD688F-B2BB-7071-ABB3-20C50A22CEFC}"/>
              </a:ext>
            </a:extLst>
          </p:cNvPr>
          <p:cNvSpPr txBox="1"/>
          <p:nvPr/>
        </p:nvSpPr>
        <p:spPr>
          <a:xfrm>
            <a:off x="5308600" y="4292600"/>
            <a:ext cx="18415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39</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(16.5%)</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5C1A5EA-C28C-20EF-2E01-992777D4F085}"/>
              </a:ext>
            </a:extLst>
          </p:cNvPr>
          <p:cNvSpPr txBox="1"/>
          <p:nvPr/>
        </p:nvSpPr>
        <p:spPr>
          <a:xfrm>
            <a:off x="508000" y="4800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70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35" name="四角形: 角を丸くする 34">
            <a:extLst>
              <a:ext uri="{FF2B5EF4-FFF2-40B4-BE49-F238E27FC236}">
                <a16:creationId xmlns:a16="http://schemas.microsoft.com/office/drawing/2014/main" id="{DD2BD270-F7BF-5F3D-F1E4-BB6A8B117EC7}"/>
              </a:ext>
            </a:extLst>
          </p:cNvPr>
          <p:cNvSpPr/>
          <p:nvPr/>
        </p:nvSpPr>
        <p:spPr>
          <a:xfrm>
            <a:off x="2070100" y="4864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F3B1D3B-D87C-D5AC-A760-D90E5E3258E9}"/>
              </a:ext>
            </a:extLst>
          </p:cNvPr>
          <p:cNvSpPr/>
          <p:nvPr/>
        </p:nvSpPr>
        <p:spPr>
          <a:xfrm>
            <a:off x="2070100" y="4864100"/>
            <a:ext cx="17780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3972FF6B-C6EA-307E-5A1F-B49624C3D0CE}"/>
              </a:ext>
            </a:extLst>
          </p:cNvPr>
          <p:cNvSpPr txBox="1"/>
          <p:nvPr/>
        </p:nvSpPr>
        <p:spPr>
          <a:xfrm>
            <a:off x="5308600" y="4800600"/>
            <a:ext cx="1841500" cy="333425"/>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42</a:t>
            </a:r>
            <a:r>
              <a:rPr kumimoji="1" lang="ja-JP" altLang="en-US" sz="1500" b="1">
                <a:solidFill>
                  <a:srgbClr val="F59E0B"/>
                </a:solidFill>
                <a:latin typeface="Meiryo UI" panose="020B0604030504040204" pitchFamily="50" charset="-128"/>
                <a:ea typeface="Meiryo UI" panose="020B0604030504040204" pitchFamily="50" charset="-128"/>
              </a:rPr>
              <a:t>名 </a:t>
            </a:r>
            <a:r>
              <a:rPr kumimoji="1" lang="en-US" altLang="ja-JP" sz="1500" b="1">
                <a:solidFill>
                  <a:srgbClr val="F59E0B"/>
                </a:solidFill>
                <a:latin typeface="Meiryo UI" panose="020B0604030504040204" pitchFamily="50" charset="-128"/>
                <a:ea typeface="Meiryo UI" panose="020B0604030504040204" pitchFamily="50" charset="-128"/>
              </a:rPr>
              <a:t>(17.8%)</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38" name="テキスト ボックス 37">
            <a:extLst>
              <a:ext uri="{FF2B5EF4-FFF2-40B4-BE49-F238E27FC236}">
                <a16:creationId xmlns:a16="http://schemas.microsoft.com/office/drawing/2014/main" id="{0A19F6F7-7C3B-BCBF-D6C7-DC0C92DD85C2}"/>
              </a:ext>
            </a:extLst>
          </p:cNvPr>
          <p:cNvSpPr txBox="1"/>
          <p:nvPr/>
        </p:nvSpPr>
        <p:spPr>
          <a:xfrm>
            <a:off x="508000" y="5308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80〜90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39" name="四角形: 角を丸くする 38">
            <a:extLst>
              <a:ext uri="{FF2B5EF4-FFF2-40B4-BE49-F238E27FC236}">
                <a16:creationId xmlns:a16="http://schemas.microsoft.com/office/drawing/2014/main" id="{BEB830FE-C6B4-F428-A630-E836AF99A263}"/>
              </a:ext>
            </a:extLst>
          </p:cNvPr>
          <p:cNvSpPr/>
          <p:nvPr/>
        </p:nvSpPr>
        <p:spPr>
          <a:xfrm>
            <a:off x="2070100" y="5372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97DFDAC8-EF8F-BCA4-7166-206BCD31E9ED}"/>
              </a:ext>
            </a:extLst>
          </p:cNvPr>
          <p:cNvSpPr/>
          <p:nvPr/>
        </p:nvSpPr>
        <p:spPr>
          <a:xfrm>
            <a:off x="2070100" y="5372100"/>
            <a:ext cx="1130300" cy="2540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B83789EB-AEF1-EF30-8DD7-BDA967E86E9C}"/>
              </a:ext>
            </a:extLst>
          </p:cNvPr>
          <p:cNvSpPr txBox="1"/>
          <p:nvPr/>
        </p:nvSpPr>
        <p:spPr>
          <a:xfrm>
            <a:off x="5308600" y="5308600"/>
            <a:ext cx="1841500" cy="333425"/>
          </a:xfrm>
          <a:prstGeom prst="rect">
            <a:avLst/>
          </a:prstGeom>
          <a:noFill/>
        </p:spPr>
        <p:txBody>
          <a:bodyPr vert="horz" wrap="square" lIns="76200" tIns="50800" rIns="76200" bIns="50800" rtlCol="0">
            <a:spAutoFit/>
          </a:bodyPr>
          <a:lstStyle/>
          <a:p>
            <a:r>
              <a:rPr kumimoji="1" lang="en-US" altLang="ja-JP" sz="1500" b="1">
                <a:solidFill>
                  <a:srgbClr val="8B5CF6"/>
                </a:solidFill>
                <a:latin typeface="Meiryo UI" panose="020B0604030504040204" pitchFamily="50" charset="-128"/>
                <a:ea typeface="Meiryo UI" panose="020B0604030504040204" pitchFamily="50" charset="-128"/>
              </a:rPr>
              <a:t>27</a:t>
            </a:r>
            <a:r>
              <a:rPr kumimoji="1" lang="ja-JP" altLang="en-US" sz="1500" b="1">
                <a:solidFill>
                  <a:srgbClr val="8B5CF6"/>
                </a:solidFill>
                <a:latin typeface="Meiryo UI" panose="020B0604030504040204" pitchFamily="50" charset="-128"/>
                <a:ea typeface="Meiryo UI" panose="020B0604030504040204" pitchFamily="50" charset="-128"/>
              </a:rPr>
              <a:t>名 </a:t>
            </a:r>
            <a:r>
              <a:rPr kumimoji="1" lang="en-US" altLang="ja-JP" sz="1500" b="1">
                <a:solidFill>
                  <a:srgbClr val="8B5CF6"/>
                </a:solidFill>
                <a:latin typeface="Meiryo UI" panose="020B0604030504040204" pitchFamily="50" charset="-128"/>
                <a:ea typeface="Meiryo UI" panose="020B0604030504040204" pitchFamily="50" charset="-128"/>
              </a:rPr>
              <a:t>(11.4%)</a:t>
            </a:r>
            <a:endParaRPr kumimoji="1" lang="ja-JP" altLang="en-US" sz="1500" b="1">
              <a:solidFill>
                <a:srgbClr val="8B5CF6"/>
              </a:solidFill>
              <a:latin typeface="Meiryo UI" panose="020B0604030504040204" pitchFamily="50" charset="-128"/>
              <a:ea typeface="Meiryo UI" panose="020B0604030504040204" pitchFamily="50" charset="-128"/>
            </a:endParaRPr>
          </a:p>
        </p:txBody>
      </p:sp>
      <p:sp>
        <p:nvSpPr>
          <p:cNvPr id="42" name="テキスト ボックス 41">
            <a:extLst>
              <a:ext uri="{FF2B5EF4-FFF2-40B4-BE49-F238E27FC236}">
                <a16:creationId xmlns:a16="http://schemas.microsoft.com/office/drawing/2014/main" id="{A8C667B6-7A44-8AD4-06E1-A5455DE8317B}"/>
              </a:ext>
            </a:extLst>
          </p:cNvPr>
          <p:cNvSpPr txBox="1"/>
          <p:nvPr/>
        </p:nvSpPr>
        <p:spPr>
          <a:xfrm>
            <a:off x="508000" y="5816600"/>
            <a:ext cx="1460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未記入</a:t>
            </a:r>
          </a:p>
        </p:txBody>
      </p:sp>
      <p:sp>
        <p:nvSpPr>
          <p:cNvPr id="43" name="四角形: 角を丸くする 42">
            <a:extLst>
              <a:ext uri="{FF2B5EF4-FFF2-40B4-BE49-F238E27FC236}">
                <a16:creationId xmlns:a16="http://schemas.microsoft.com/office/drawing/2014/main" id="{AE2AEC8E-DD4B-37AF-57A7-3B0362D56369}"/>
              </a:ext>
            </a:extLst>
          </p:cNvPr>
          <p:cNvSpPr/>
          <p:nvPr/>
        </p:nvSpPr>
        <p:spPr>
          <a:xfrm>
            <a:off x="2070100" y="5880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四角形: 角を丸くする 43">
            <a:extLst>
              <a:ext uri="{FF2B5EF4-FFF2-40B4-BE49-F238E27FC236}">
                <a16:creationId xmlns:a16="http://schemas.microsoft.com/office/drawing/2014/main" id="{01D90E31-CC03-6DB1-FB0E-CD7EDD3D5FE7}"/>
              </a:ext>
            </a:extLst>
          </p:cNvPr>
          <p:cNvSpPr/>
          <p:nvPr/>
        </p:nvSpPr>
        <p:spPr>
          <a:xfrm>
            <a:off x="2070100" y="5880100"/>
            <a:ext cx="127000" cy="2540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055553EA-1EE5-2E45-6D5B-ED4054A18FD9}"/>
              </a:ext>
            </a:extLst>
          </p:cNvPr>
          <p:cNvSpPr txBox="1"/>
          <p:nvPr/>
        </p:nvSpPr>
        <p:spPr>
          <a:xfrm>
            <a:off x="5308600" y="5816600"/>
            <a:ext cx="1841500" cy="333425"/>
          </a:xfrm>
          <a:prstGeom prst="rect">
            <a:avLst/>
          </a:prstGeom>
          <a:noFill/>
        </p:spPr>
        <p:txBody>
          <a:bodyPr vert="horz" wrap="square" lIns="76200" tIns="50800" rIns="76200" bIns="50800" rtlCol="0">
            <a:spAutoFit/>
          </a:bodyPr>
          <a:lstStyle/>
          <a:p>
            <a:r>
              <a:rPr kumimoji="1" lang="en-US" altLang="ja-JP" sz="1500" b="1">
                <a:solidFill>
                  <a:srgbClr val="94A3B8"/>
                </a:solidFill>
                <a:latin typeface="Meiryo UI" panose="020B0604030504040204" pitchFamily="50" charset="-128"/>
                <a:ea typeface="Meiryo UI" panose="020B0604030504040204" pitchFamily="50" charset="-128"/>
              </a:rPr>
              <a:t>3</a:t>
            </a:r>
            <a:r>
              <a:rPr kumimoji="1" lang="ja-JP" altLang="en-US" sz="1500" b="1">
                <a:solidFill>
                  <a:srgbClr val="94A3B8"/>
                </a:solidFill>
                <a:latin typeface="Meiryo UI" panose="020B0604030504040204" pitchFamily="50" charset="-128"/>
                <a:ea typeface="Meiryo UI" panose="020B0604030504040204" pitchFamily="50" charset="-128"/>
              </a:rPr>
              <a:t>名 </a:t>
            </a:r>
            <a:r>
              <a:rPr kumimoji="1" lang="en-US" altLang="ja-JP" sz="1500" b="1">
                <a:solidFill>
                  <a:srgbClr val="94A3B8"/>
                </a:solidFill>
                <a:latin typeface="Meiryo UI" panose="020B0604030504040204" pitchFamily="50" charset="-128"/>
                <a:ea typeface="Meiryo UI" panose="020B0604030504040204" pitchFamily="50" charset="-128"/>
              </a:rPr>
              <a:t>(1.3%)</a:t>
            </a:r>
            <a:endParaRPr kumimoji="1" lang="ja-JP" altLang="en-US" sz="1500" b="1">
              <a:solidFill>
                <a:srgbClr val="94A3B8"/>
              </a:solidFill>
              <a:latin typeface="Meiryo UI" panose="020B0604030504040204" pitchFamily="50" charset="-128"/>
              <a:ea typeface="Meiryo UI" panose="020B0604030504040204" pitchFamily="50" charset="-128"/>
            </a:endParaRPr>
          </a:p>
        </p:txBody>
      </p:sp>
      <p:sp>
        <p:nvSpPr>
          <p:cNvPr id="46" name="四角形: 角を丸くする 45">
            <a:extLst>
              <a:ext uri="{FF2B5EF4-FFF2-40B4-BE49-F238E27FC236}">
                <a16:creationId xmlns:a16="http://schemas.microsoft.com/office/drawing/2014/main" id="{740A80C5-C56E-05B1-118C-1FC7AF1C658B}"/>
              </a:ext>
            </a:extLst>
          </p:cNvPr>
          <p:cNvSpPr/>
          <p:nvPr/>
        </p:nvSpPr>
        <p:spPr>
          <a:xfrm>
            <a:off x="7569200" y="1549400"/>
            <a:ext cx="4368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四角形: 角を丸くする 46">
            <a:extLst>
              <a:ext uri="{FF2B5EF4-FFF2-40B4-BE49-F238E27FC236}">
                <a16:creationId xmlns:a16="http://schemas.microsoft.com/office/drawing/2014/main" id="{473666FC-C5C9-3C98-00EA-4C9BB91B09D7}"/>
              </a:ext>
            </a:extLst>
          </p:cNvPr>
          <p:cNvSpPr/>
          <p:nvPr/>
        </p:nvSpPr>
        <p:spPr>
          <a:xfrm>
            <a:off x="77978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8DA00145-DD03-B8D1-6976-D1BC9099C3DB}"/>
              </a:ext>
            </a:extLst>
          </p:cNvPr>
          <p:cNvSpPr txBox="1"/>
          <p:nvPr/>
        </p:nvSpPr>
        <p:spPr>
          <a:xfrm>
            <a:off x="8001000" y="1739900"/>
            <a:ext cx="3733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結果のポイント</a:t>
            </a:r>
          </a:p>
        </p:txBody>
      </p:sp>
      <p:sp>
        <p:nvSpPr>
          <p:cNvPr id="49" name="テキスト ボックス 48">
            <a:extLst>
              <a:ext uri="{FF2B5EF4-FFF2-40B4-BE49-F238E27FC236}">
                <a16:creationId xmlns:a16="http://schemas.microsoft.com/office/drawing/2014/main" id="{FE3BA2B8-C6C0-85B5-E61B-AC5D7309EB87}"/>
              </a:ext>
            </a:extLst>
          </p:cNvPr>
          <p:cNvSpPr txBox="1"/>
          <p:nvPr/>
        </p:nvSpPr>
        <p:spPr>
          <a:xfrm>
            <a:off x="7823200" y="2336800"/>
            <a:ext cx="3860800" cy="2387833"/>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50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62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26.3%</a:t>
            </a:r>
            <a:r>
              <a:rPr kumimoji="1" lang="ja-JP" altLang="en-US" sz="1650">
                <a:solidFill>
                  <a:srgbClr val="1E293B"/>
                </a:solidFill>
                <a:latin typeface="Meiryo UI" panose="020B0604030504040204" pitchFamily="50" charset="-128"/>
                <a:ea typeface="Meiryo UI" panose="020B0604030504040204" pitchFamily="50" charset="-128"/>
              </a:rPr>
              <a:t>）で最も多い。
・次いで</a:t>
            </a:r>
            <a:r>
              <a:rPr kumimoji="1" lang="en-US" altLang="ja-JP" sz="1650">
                <a:solidFill>
                  <a:srgbClr val="1E293B"/>
                </a:solidFill>
                <a:latin typeface="Meiryo UI" panose="020B0604030504040204" pitchFamily="50" charset="-128"/>
                <a:ea typeface="Meiryo UI" panose="020B0604030504040204" pitchFamily="50" charset="-128"/>
              </a:rPr>
              <a:t>70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42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17.8%</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60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39</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16.5%</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40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33</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14.0%</a:t>
            </a:r>
            <a:r>
              <a:rPr kumimoji="1" lang="ja-JP" altLang="en-US" sz="1650">
                <a:solidFill>
                  <a:srgbClr val="1E293B"/>
                </a:solidFill>
                <a:latin typeface="Meiryo UI" panose="020B0604030504040204" pitchFamily="50" charset="-128"/>
                <a:ea typeface="Meiryo UI" panose="020B0604030504040204" pitchFamily="50" charset="-128"/>
              </a:rPr>
              <a:t>）となった。
・</a:t>
            </a:r>
            <a:r>
              <a:rPr kumimoji="1" lang="en-US" altLang="ja-JP" sz="1650">
                <a:solidFill>
                  <a:srgbClr val="1E293B"/>
                </a:solidFill>
                <a:latin typeface="Meiryo UI" panose="020B0604030504040204" pitchFamily="50" charset="-128"/>
                <a:ea typeface="Meiryo UI" panose="020B0604030504040204" pitchFamily="50" charset="-128"/>
              </a:rPr>
              <a:t>50〜70</a:t>
            </a:r>
            <a:r>
              <a:rPr kumimoji="1" lang="ja-JP" altLang="en-US" sz="1650">
                <a:solidFill>
                  <a:srgbClr val="1E293B"/>
                </a:solidFill>
                <a:latin typeface="Meiryo UI" panose="020B0604030504040204" pitchFamily="50" charset="-128"/>
                <a:ea typeface="Meiryo UI" panose="020B0604030504040204" pitchFamily="50" charset="-128"/>
              </a:rPr>
              <a:t>歳代で全体の</a:t>
            </a:r>
            <a:r>
              <a:rPr kumimoji="1" lang="en-US" altLang="ja-JP" sz="1650">
                <a:solidFill>
                  <a:srgbClr val="1E293B"/>
                </a:solidFill>
                <a:latin typeface="Meiryo UI" panose="020B0604030504040204" pitchFamily="50" charset="-128"/>
                <a:ea typeface="Meiryo UI" panose="020B0604030504040204" pitchFamily="50" charset="-128"/>
              </a:rPr>
              <a:t>60.6%</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143</a:t>
            </a:r>
            <a:r>
              <a:rPr kumimoji="1" lang="ja-JP" altLang="en-US" sz="1650">
                <a:solidFill>
                  <a:srgbClr val="1E293B"/>
                </a:solidFill>
                <a:latin typeface="Meiryo UI" panose="020B0604030504040204" pitchFamily="50" charset="-128"/>
                <a:ea typeface="Meiryo UI" panose="020B0604030504040204" pitchFamily="50" charset="-128"/>
              </a:rPr>
              <a:t>名）を占める一方、</a:t>
            </a:r>
            <a:r>
              <a:rPr kumimoji="1" lang="en-US" altLang="ja-JP" sz="1650">
                <a:solidFill>
                  <a:srgbClr val="1E293B"/>
                </a:solidFill>
                <a:latin typeface="Meiryo UI" panose="020B0604030504040204" pitchFamily="50" charset="-128"/>
                <a:ea typeface="Meiryo UI" panose="020B0604030504040204" pitchFamily="50" charset="-128"/>
              </a:rPr>
              <a:t>40</a:t>
            </a:r>
            <a:r>
              <a:rPr kumimoji="1" lang="ja-JP" altLang="en-US" sz="1650">
                <a:solidFill>
                  <a:srgbClr val="1E293B"/>
                </a:solidFill>
                <a:latin typeface="Meiryo UI" panose="020B0604030504040204" pitchFamily="50" charset="-128"/>
                <a:ea typeface="Meiryo UI" panose="020B0604030504040204" pitchFamily="50" charset="-128"/>
              </a:rPr>
              <a:t>歳代以下も</a:t>
            </a:r>
            <a:r>
              <a:rPr kumimoji="1" lang="en-US" altLang="ja-JP" sz="1650">
                <a:solidFill>
                  <a:srgbClr val="1E293B"/>
                </a:solidFill>
                <a:latin typeface="Meiryo UI" panose="020B0604030504040204" pitchFamily="50" charset="-128"/>
                <a:ea typeface="Meiryo UI" panose="020B0604030504040204" pitchFamily="50" charset="-128"/>
              </a:rPr>
              <a:t>26.7%</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63</a:t>
            </a:r>
            <a:r>
              <a:rPr kumimoji="1" lang="ja-JP" altLang="en-US" sz="1650">
                <a:solidFill>
                  <a:srgbClr val="1E293B"/>
                </a:solidFill>
                <a:latin typeface="Meiryo UI" panose="020B0604030504040204" pitchFamily="50" charset="-128"/>
                <a:ea typeface="Meiryo UI" panose="020B0604030504040204" pitchFamily="50" charset="-128"/>
              </a:rPr>
              <a:t>名）が来場した。</a:t>
            </a:r>
          </a:p>
        </p:txBody>
      </p:sp>
    </p:spTree>
    <p:extLst>
      <p:ext uri="{BB962C8B-B14F-4D97-AF65-F5344CB8AC3E}">
        <p14:creationId xmlns:p14="http://schemas.microsoft.com/office/powerpoint/2010/main" val="1482412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17E4D83-389B-ED6D-A5BC-2A31E8951440}"/>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D03B7714-BAE8-83D7-62F2-0F34C7D08D6B}"/>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8F437D31-B96B-B47A-C4DD-AF6505F7E997}"/>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520A9E3-2C12-AB1E-3F87-48C29340E57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部：来場者結果③</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7E107C0A-234A-5AE8-25CA-BD6709F81292}"/>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Q1. </a:t>
            </a:r>
            <a:r>
              <a:rPr kumimoji="1" lang="ja-JP" altLang="en-US" sz="2000" b="1">
                <a:solidFill>
                  <a:srgbClr val="1E293B"/>
                </a:solidFill>
                <a:latin typeface="Meiryo UI" panose="020B0604030504040204" pitchFamily="50" charset="-128"/>
                <a:ea typeface="Meiryo UI" panose="020B0604030504040204" pitchFamily="50" charset="-128"/>
              </a:rPr>
              <a:t>本日参考になった内容（今回の出展の評価）</a:t>
            </a:r>
          </a:p>
        </p:txBody>
      </p:sp>
      <p:sp>
        <p:nvSpPr>
          <p:cNvPr id="7" name="四角形: 角を丸くする 6">
            <a:extLst>
              <a:ext uri="{FF2B5EF4-FFF2-40B4-BE49-F238E27FC236}">
                <a16:creationId xmlns:a16="http://schemas.microsoft.com/office/drawing/2014/main" id="{39D3D251-A1E0-78A5-82FC-574511F8DF1F}"/>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75E845A-0286-8706-E1FE-C3AF21E8D857}"/>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5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599C7A1-239C-83FB-1267-ED16FF462B4F}"/>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C0CF218-58EE-0AB4-C36E-FE0FD513DDC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「血管年齢測定（</a:t>
            </a:r>
            <a:r>
              <a:rPr kumimoji="1" lang="en-US" altLang="ja-JP" sz="1500" b="1">
                <a:solidFill>
                  <a:srgbClr val="2563EB"/>
                </a:solidFill>
                <a:latin typeface="Meiryo UI" panose="020B0604030504040204" pitchFamily="50" charset="-128"/>
                <a:ea typeface="Meiryo UI" panose="020B0604030504040204" pitchFamily="50" charset="-128"/>
              </a:rPr>
              <a:t>72.9%</a:t>
            </a:r>
            <a:r>
              <a:rPr kumimoji="1" lang="ja-JP" altLang="en-US" sz="1500" b="1">
                <a:solidFill>
                  <a:srgbClr val="2563EB"/>
                </a:solidFill>
                <a:latin typeface="Meiryo UI" panose="020B0604030504040204" pitchFamily="50" charset="-128"/>
                <a:ea typeface="Meiryo UI" panose="020B0604030504040204" pitchFamily="50" charset="-128"/>
              </a:rPr>
              <a:t>）」と「筋肉量測定（</a:t>
            </a:r>
            <a:r>
              <a:rPr kumimoji="1" lang="en-US" altLang="ja-JP" sz="1500" b="1">
                <a:solidFill>
                  <a:srgbClr val="2563EB"/>
                </a:solidFill>
                <a:latin typeface="Meiryo UI" panose="020B0604030504040204" pitchFamily="50" charset="-128"/>
                <a:ea typeface="Meiryo UI" panose="020B0604030504040204" pitchFamily="50" charset="-128"/>
              </a:rPr>
              <a:t>66.5%</a:t>
            </a:r>
            <a:r>
              <a:rPr kumimoji="1" lang="ja-JP" altLang="en-US" sz="1500" b="1">
                <a:solidFill>
                  <a:srgbClr val="2563EB"/>
                </a:solidFill>
                <a:latin typeface="Meiryo UI" panose="020B0604030504040204" pitchFamily="50" charset="-128"/>
                <a:ea typeface="Meiryo UI" panose="020B0604030504040204" pitchFamily="50" charset="-128"/>
              </a:rPr>
              <a:t>）」に回答者の約</a:t>
            </a:r>
            <a:r>
              <a:rPr kumimoji="1" lang="en-US" altLang="ja-JP" sz="1500" b="1">
                <a:solidFill>
                  <a:srgbClr val="2563EB"/>
                </a:solidFill>
                <a:latin typeface="Meiryo UI" panose="020B0604030504040204" pitchFamily="50" charset="-128"/>
                <a:ea typeface="Meiryo UI" panose="020B0604030504040204" pitchFamily="50" charset="-128"/>
              </a:rPr>
              <a:t>7</a:t>
            </a:r>
            <a:r>
              <a:rPr kumimoji="1" lang="ja-JP" altLang="en-US" sz="1500" b="1">
                <a:solidFill>
                  <a:srgbClr val="2563EB"/>
                </a:solidFill>
                <a:latin typeface="Meiryo UI" panose="020B0604030504040204" pitchFamily="50" charset="-128"/>
                <a:ea typeface="Meiryo UI" panose="020B0604030504040204" pitchFamily="50" charset="-128"/>
              </a:rPr>
              <a:t>割の評価が集まった</a:t>
            </a:r>
          </a:p>
        </p:txBody>
      </p:sp>
      <p:sp>
        <p:nvSpPr>
          <p:cNvPr id="11" name="四角形: 角を丸くする 10">
            <a:extLst>
              <a:ext uri="{FF2B5EF4-FFF2-40B4-BE49-F238E27FC236}">
                <a16:creationId xmlns:a16="http://schemas.microsoft.com/office/drawing/2014/main" id="{75C0D5E6-7B21-87E9-6E9C-40DA64413110}"/>
              </a:ext>
            </a:extLst>
          </p:cNvPr>
          <p:cNvSpPr/>
          <p:nvPr/>
        </p:nvSpPr>
        <p:spPr>
          <a:xfrm>
            <a:off x="254000" y="1549400"/>
            <a:ext cx="7239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1E4F23D7-BBAE-0B5A-63DB-6CC9ADCB9198}"/>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853D117-D578-52B1-E3F3-CD3D6B1D3BC6}"/>
              </a:ext>
            </a:extLst>
          </p:cNvPr>
          <p:cNvSpPr txBox="1"/>
          <p:nvPr/>
        </p:nvSpPr>
        <p:spPr>
          <a:xfrm>
            <a:off x="685800" y="1739900"/>
            <a:ext cx="6604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Q1. </a:t>
            </a:r>
            <a:r>
              <a:rPr kumimoji="1" lang="ja-JP" altLang="en-US" sz="1750" b="1">
                <a:solidFill>
                  <a:srgbClr val="1E293B"/>
                </a:solidFill>
                <a:latin typeface="Meiryo UI" panose="020B0604030504040204" pitchFamily="50" charset="-128"/>
                <a:ea typeface="Meiryo UI" panose="020B0604030504040204" pitchFamily="50" charset="-128"/>
              </a:rPr>
              <a:t>参考になった内容（複数回答・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テキスト ボックス 13">
            <a:extLst>
              <a:ext uri="{FF2B5EF4-FFF2-40B4-BE49-F238E27FC236}">
                <a16:creationId xmlns:a16="http://schemas.microsoft.com/office/drawing/2014/main" id="{F5B4B5F5-7A00-E0CA-779F-9D09834E266B}"/>
              </a:ext>
            </a:extLst>
          </p:cNvPr>
          <p:cNvSpPr txBox="1"/>
          <p:nvPr/>
        </p:nvSpPr>
        <p:spPr>
          <a:xfrm>
            <a:off x="508000" y="2413000"/>
            <a:ext cx="2349500" cy="341119"/>
          </a:xfrm>
          <a:prstGeom prst="rect">
            <a:avLst/>
          </a:prstGeom>
          <a:noFill/>
        </p:spPr>
        <p:txBody>
          <a:bodyPr vert="horz" wrap="square" lIns="76200" tIns="50800" rIns="76200" bIns="50800" rtlCol="0">
            <a:spAutoFit/>
          </a:bodyPr>
          <a:lstStyle/>
          <a:p>
            <a:r>
              <a:rPr kumimoji="1" lang="zh-TW" altLang="en-US" sz="1550" b="1">
                <a:solidFill>
                  <a:srgbClr val="1E293B"/>
                </a:solidFill>
                <a:latin typeface="Meiryo UI" panose="020B0604030504040204" pitchFamily="50" charset="-128"/>
                <a:ea typeface="Meiryo UI" panose="020B0604030504040204" pitchFamily="50" charset="-128"/>
              </a:rPr>
              <a:t>血管年齢測定</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a16:creationId xmlns:a16="http://schemas.microsoft.com/office/drawing/2014/main" id="{CA51E479-5E88-F6B6-B9DD-2138F92AAD06}"/>
              </a:ext>
            </a:extLst>
          </p:cNvPr>
          <p:cNvSpPr/>
          <p:nvPr/>
        </p:nvSpPr>
        <p:spPr>
          <a:xfrm>
            <a:off x="2959100" y="2476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C600A876-EE87-04FA-8B18-A6C2417D5C1E}"/>
              </a:ext>
            </a:extLst>
          </p:cNvPr>
          <p:cNvSpPr/>
          <p:nvPr/>
        </p:nvSpPr>
        <p:spPr>
          <a:xfrm>
            <a:off x="2959100" y="2476500"/>
            <a:ext cx="19939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F067A9A-BE51-1B14-7951-AB2C30A42CA3}"/>
              </a:ext>
            </a:extLst>
          </p:cNvPr>
          <p:cNvSpPr txBox="1"/>
          <p:nvPr/>
        </p:nvSpPr>
        <p:spPr>
          <a:xfrm>
            <a:off x="5816600" y="2413000"/>
            <a:ext cx="1841500" cy="341119"/>
          </a:xfrm>
          <a:prstGeom prst="rect">
            <a:avLst/>
          </a:prstGeom>
          <a:noFill/>
        </p:spPr>
        <p:txBody>
          <a:bodyPr vert="horz" wrap="square" lIns="76200" tIns="50800" rIns="76200" bIns="50800" rtlCol="0">
            <a:spAutoFit/>
          </a:bodyPr>
          <a:lstStyle/>
          <a:p>
            <a:r>
              <a:rPr kumimoji="1" lang="en-US" altLang="ja-JP" sz="1550" b="1">
                <a:solidFill>
                  <a:srgbClr val="2563EB"/>
                </a:solidFill>
                <a:latin typeface="Meiryo UI" panose="020B0604030504040204" pitchFamily="50" charset="-128"/>
                <a:ea typeface="Meiryo UI" panose="020B0604030504040204" pitchFamily="50" charset="-128"/>
              </a:rPr>
              <a:t>172</a:t>
            </a:r>
            <a:r>
              <a:rPr kumimoji="1" lang="ja-JP" altLang="en-US" sz="1550" b="1">
                <a:solidFill>
                  <a:srgbClr val="2563EB"/>
                </a:solidFill>
                <a:latin typeface="Meiryo UI" panose="020B0604030504040204" pitchFamily="50" charset="-128"/>
                <a:ea typeface="Meiryo UI" panose="020B0604030504040204" pitchFamily="50" charset="-128"/>
              </a:rPr>
              <a:t>名 </a:t>
            </a:r>
            <a:r>
              <a:rPr kumimoji="1" lang="en-US" altLang="ja-JP" sz="1550" b="1">
                <a:solidFill>
                  <a:srgbClr val="2563EB"/>
                </a:solidFill>
                <a:latin typeface="Meiryo UI" panose="020B0604030504040204" pitchFamily="50" charset="-128"/>
                <a:ea typeface="Meiryo UI" panose="020B0604030504040204" pitchFamily="50" charset="-128"/>
              </a:rPr>
              <a:t>(72.9%)</a:t>
            </a:r>
            <a:endParaRPr kumimoji="1" lang="ja-JP" altLang="en-US" sz="1550" b="1">
              <a:solidFill>
                <a:srgbClr val="2563EB"/>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87810D5F-D3EE-A527-9D7E-E5FE3C5DEBA8}"/>
              </a:ext>
            </a:extLst>
          </p:cNvPr>
          <p:cNvSpPr txBox="1"/>
          <p:nvPr/>
        </p:nvSpPr>
        <p:spPr>
          <a:xfrm>
            <a:off x="508000" y="3175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筋肉量測定</a:t>
            </a:r>
            <a:r>
              <a:rPr kumimoji="1" lang="en-US" altLang="ja-JP" sz="1550" b="1">
                <a:solidFill>
                  <a:srgbClr val="1E293B"/>
                </a:solidFill>
                <a:latin typeface="Meiryo UI" panose="020B0604030504040204" pitchFamily="50" charset="-128"/>
                <a:ea typeface="Meiryo UI" panose="020B0604030504040204" pitchFamily="50" charset="-128"/>
              </a:rPr>
              <a:t>(InBody)</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a16:creationId xmlns:a16="http://schemas.microsoft.com/office/drawing/2014/main" id="{B5007394-2D89-BD95-FC14-6EECC14272F2}"/>
              </a:ext>
            </a:extLst>
          </p:cNvPr>
          <p:cNvSpPr/>
          <p:nvPr/>
        </p:nvSpPr>
        <p:spPr>
          <a:xfrm>
            <a:off x="2959100" y="3238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4ED5FC41-1152-ECA1-6973-A36FF2093505}"/>
              </a:ext>
            </a:extLst>
          </p:cNvPr>
          <p:cNvSpPr/>
          <p:nvPr/>
        </p:nvSpPr>
        <p:spPr>
          <a:xfrm>
            <a:off x="2959100" y="3238500"/>
            <a:ext cx="1816100" cy="2540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93AC88E6-92D6-8E1A-8CAF-6117F07DE863}"/>
              </a:ext>
            </a:extLst>
          </p:cNvPr>
          <p:cNvSpPr txBox="1"/>
          <p:nvPr/>
        </p:nvSpPr>
        <p:spPr>
          <a:xfrm>
            <a:off x="5816600" y="3175000"/>
            <a:ext cx="1841500" cy="341119"/>
          </a:xfrm>
          <a:prstGeom prst="rect">
            <a:avLst/>
          </a:prstGeom>
          <a:noFill/>
        </p:spPr>
        <p:txBody>
          <a:bodyPr vert="horz" wrap="square" lIns="76200" tIns="50800" rIns="76200" bIns="50800" rtlCol="0">
            <a:spAutoFit/>
          </a:bodyPr>
          <a:lstStyle/>
          <a:p>
            <a:r>
              <a:rPr kumimoji="1" lang="en-US" altLang="ja-JP" sz="1550" b="1">
                <a:solidFill>
                  <a:srgbClr val="10B981"/>
                </a:solidFill>
                <a:latin typeface="Meiryo UI" panose="020B0604030504040204" pitchFamily="50" charset="-128"/>
                <a:ea typeface="Meiryo UI" panose="020B0604030504040204" pitchFamily="50" charset="-128"/>
              </a:rPr>
              <a:t>157</a:t>
            </a:r>
            <a:r>
              <a:rPr kumimoji="1" lang="ja-JP" altLang="en-US" sz="1550" b="1">
                <a:solidFill>
                  <a:srgbClr val="10B981"/>
                </a:solidFill>
                <a:latin typeface="Meiryo UI" panose="020B0604030504040204" pitchFamily="50" charset="-128"/>
                <a:ea typeface="Meiryo UI" panose="020B0604030504040204" pitchFamily="50" charset="-128"/>
              </a:rPr>
              <a:t>名 </a:t>
            </a:r>
            <a:r>
              <a:rPr kumimoji="1" lang="en-US" altLang="ja-JP" sz="1550" b="1">
                <a:solidFill>
                  <a:srgbClr val="10B981"/>
                </a:solidFill>
                <a:latin typeface="Meiryo UI" panose="020B0604030504040204" pitchFamily="50" charset="-128"/>
                <a:ea typeface="Meiryo UI" panose="020B0604030504040204" pitchFamily="50" charset="-128"/>
              </a:rPr>
              <a:t>(66.5%)</a:t>
            </a:r>
            <a:endParaRPr kumimoji="1" lang="ja-JP" altLang="en-US" sz="1550" b="1">
              <a:solidFill>
                <a:srgbClr val="10B981"/>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CC4CD0DE-917C-E37B-6BBC-A6190304DABE}"/>
              </a:ext>
            </a:extLst>
          </p:cNvPr>
          <p:cNvSpPr txBox="1"/>
          <p:nvPr/>
        </p:nvSpPr>
        <p:spPr>
          <a:xfrm>
            <a:off x="508000" y="3937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栄養レッスン</a:t>
            </a:r>
          </a:p>
        </p:txBody>
      </p:sp>
      <p:sp>
        <p:nvSpPr>
          <p:cNvPr id="23" name="四角形: 角を丸くする 22">
            <a:extLst>
              <a:ext uri="{FF2B5EF4-FFF2-40B4-BE49-F238E27FC236}">
                <a16:creationId xmlns:a16="http://schemas.microsoft.com/office/drawing/2014/main" id="{1BC86F3C-1405-A4AE-EF18-15F27D3B44B6}"/>
              </a:ext>
            </a:extLst>
          </p:cNvPr>
          <p:cNvSpPr/>
          <p:nvPr/>
        </p:nvSpPr>
        <p:spPr>
          <a:xfrm>
            <a:off x="2959100" y="4000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4A5AFE1C-0125-DE18-3567-355A44DDCA44}"/>
              </a:ext>
            </a:extLst>
          </p:cNvPr>
          <p:cNvSpPr/>
          <p:nvPr/>
        </p:nvSpPr>
        <p:spPr>
          <a:xfrm>
            <a:off x="2959100" y="4000500"/>
            <a:ext cx="6604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4AD57A44-CC0C-6486-2388-4D899CB30CDE}"/>
              </a:ext>
            </a:extLst>
          </p:cNvPr>
          <p:cNvSpPr txBox="1"/>
          <p:nvPr/>
        </p:nvSpPr>
        <p:spPr>
          <a:xfrm>
            <a:off x="5816600" y="3937000"/>
            <a:ext cx="1841500" cy="341119"/>
          </a:xfrm>
          <a:prstGeom prst="rect">
            <a:avLst/>
          </a:prstGeom>
          <a:noFill/>
        </p:spPr>
        <p:txBody>
          <a:bodyPr vert="horz" wrap="square" lIns="76200" tIns="50800" rIns="76200" bIns="50800" rtlCol="0">
            <a:spAutoFit/>
          </a:bodyPr>
          <a:lstStyle/>
          <a:p>
            <a:r>
              <a:rPr kumimoji="1" lang="en-US" altLang="ja-JP" sz="1550" b="1">
                <a:solidFill>
                  <a:srgbClr val="F59E0B"/>
                </a:solidFill>
                <a:latin typeface="Meiryo UI" panose="020B0604030504040204" pitchFamily="50" charset="-128"/>
                <a:ea typeface="Meiryo UI" panose="020B0604030504040204" pitchFamily="50" charset="-128"/>
              </a:rPr>
              <a:t>57</a:t>
            </a:r>
            <a:r>
              <a:rPr kumimoji="1" lang="ja-JP" altLang="en-US" sz="1550" b="1">
                <a:solidFill>
                  <a:srgbClr val="F59E0B"/>
                </a:solidFill>
                <a:latin typeface="Meiryo UI" panose="020B0604030504040204" pitchFamily="50" charset="-128"/>
                <a:ea typeface="Meiryo UI" panose="020B0604030504040204" pitchFamily="50" charset="-128"/>
              </a:rPr>
              <a:t>名 </a:t>
            </a:r>
            <a:r>
              <a:rPr kumimoji="1" lang="en-US" altLang="ja-JP" sz="1550" b="1">
                <a:solidFill>
                  <a:srgbClr val="F59E0B"/>
                </a:solidFill>
                <a:latin typeface="Meiryo UI" panose="020B0604030504040204" pitchFamily="50" charset="-128"/>
                <a:ea typeface="Meiryo UI" panose="020B0604030504040204" pitchFamily="50" charset="-128"/>
              </a:rPr>
              <a:t>(24.2%)</a:t>
            </a:r>
            <a:endParaRPr kumimoji="1" lang="ja-JP" altLang="en-US" sz="1550" b="1">
              <a:solidFill>
                <a:srgbClr val="F59E0B"/>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A450EF7A-6FC6-433C-CFA3-6B64811B45A6}"/>
              </a:ext>
            </a:extLst>
          </p:cNvPr>
          <p:cNvSpPr txBox="1"/>
          <p:nvPr/>
        </p:nvSpPr>
        <p:spPr>
          <a:xfrm>
            <a:off x="508000" y="4699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人生会議</a:t>
            </a:r>
            <a:r>
              <a:rPr kumimoji="1" lang="en-US" altLang="ja-JP" sz="1550" b="1">
                <a:solidFill>
                  <a:srgbClr val="1E293B"/>
                </a:solidFill>
                <a:latin typeface="Meiryo UI" panose="020B0604030504040204" pitchFamily="50" charset="-128"/>
                <a:ea typeface="Meiryo UI" panose="020B0604030504040204" pitchFamily="50" charset="-128"/>
              </a:rPr>
              <a:t>(</a:t>
            </a:r>
            <a:r>
              <a:rPr kumimoji="1" lang="ja-JP" altLang="en-US" sz="1550" b="1">
                <a:solidFill>
                  <a:srgbClr val="1E293B"/>
                </a:solidFill>
                <a:latin typeface="Meiryo UI" panose="020B0604030504040204" pitchFamily="50" charset="-128"/>
                <a:ea typeface="Meiryo UI" panose="020B0604030504040204" pitchFamily="50" charset="-128"/>
              </a:rPr>
              <a:t>終活</a:t>
            </a:r>
            <a:r>
              <a:rPr kumimoji="1" lang="en-US" altLang="ja-JP" sz="1550" b="1">
                <a:solidFill>
                  <a:srgbClr val="1E293B"/>
                </a:solidFill>
                <a:latin typeface="Meiryo UI" panose="020B0604030504040204" pitchFamily="50" charset="-128"/>
                <a:ea typeface="Meiryo UI" panose="020B0604030504040204" pitchFamily="50" charset="-128"/>
              </a:rPr>
              <a:t>)</a:t>
            </a:r>
            <a:r>
              <a:rPr kumimoji="1" lang="ja-JP" altLang="en-US" sz="1550" b="1">
                <a:solidFill>
                  <a:srgbClr val="1E293B"/>
                </a:solidFill>
                <a:latin typeface="Meiryo UI" panose="020B0604030504040204" pitchFamily="50" charset="-128"/>
                <a:ea typeface="Meiryo UI" panose="020B0604030504040204" pitchFamily="50" charset="-128"/>
              </a:rPr>
              <a:t>の案内</a:t>
            </a:r>
          </a:p>
        </p:txBody>
      </p:sp>
      <p:sp>
        <p:nvSpPr>
          <p:cNvPr id="27" name="四角形: 角を丸くする 26">
            <a:extLst>
              <a:ext uri="{FF2B5EF4-FFF2-40B4-BE49-F238E27FC236}">
                <a16:creationId xmlns:a16="http://schemas.microsoft.com/office/drawing/2014/main" id="{892E4E05-D272-4345-2420-EEB72930D5A7}"/>
              </a:ext>
            </a:extLst>
          </p:cNvPr>
          <p:cNvSpPr/>
          <p:nvPr/>
        </p:nvSpPr>
        <p:spPr>
          <a:xfrm>
            <a:off x="2959100" y="4762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90774D24-EDAD-03A5-C182-A184F538BDDF}"/>
              </a:ext>
            </a:extLst>
          </p:cNvPr>
          <p:cNvSpPr/>
          <p:nvPr/>
        </p:nvSpPr>
        <p:spPr>
          <a:xfrm>
            <a:off x="2959100" y="4762500"/>
            <a:ext cx="469900" cy="2540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7166D6F8-E19C-B207-5166-00046B1DE086}"/>
              </a:ext>
            </a:extLst>
          </p:cNvPr>
          <p:cNvSpPr txBox="1"/>
          <p:nvPr/>
        </p:nvSpPr>
        <p:spPr>
          <a:xfrm>
            <a:off x="5816600" y="4699000"/>
            <a:ext cx="1841500" cy="341119"/>
          </a:xfrm>
          <a:prstGeom prst="rect">
            <a:avLst/>
          </a:prstGeom>
          <a:noFill/>
        </p:spPr>
        <p:txBody>
          <a:bodyPr vert="horz" wrap="square" lIns="76200" tIns="50800" rIns="76200" bIns="50800" rtlCol="0">
            <a:spAutoFit/>
          </a:bodyPr>
          <a:lstStyle/>
          <a:p>
            <a:r>
              <a:rPr kumimoji="1" lang="en-US" altLang="ja-JP" sz="1550" b="1">
                <a:solidFill>
                  <a:srgbClr val="8B5CF6"/>
                </a:solidFill>
                <a:latin typeface="Meiryo UI" panose="020B0604030504040204" pitchFamily="50" charset="-128"/>
                <a:ea typeface="Meiryo UI" panose="020B0604030504040204" pitchFamily="50" charset="-128"/>
              </a:rPr>
              <a:t>41</a:t>
            </a:r>
            <a:r>
              <a:rPr kumimoji="1" lang="ja-JP" altLang="en-US" sz="1550" b="1">
                <a:solidFill>
                  <a:srgbClr val="8B5CF6"/>
                </a:solidFill>
                <a:latin typeface="Meiryo UI" panose="020B0604030504040204" pitchFamily="50" charset="-128"/>
                <a:ea typeface="Meiryo UI" panose="020B0604030504040204" pitchFamily="50" charset="-128"/>
              </a:rPr>
              <a:t>名 </a:t>
            </a:r>
            <a:r>
              <a:rPr kumimoji="1" lang="en-US" altLang="ja-JP" sz="1550" b="1">
                <a:solidFill>
                  <a:srgbClr val="8B5CF6"/>
                </a:solidFill>
                <a:latin typeface="Meiryo UI" panose="020B0604030504040204" pitchFamily="50" charset="-128"/>
                <a:ea typeface="Meiryo UI" panose="020B0604030504040204" pitchFamily="50" charset="-128"/>
              </a:rPr>
              <a:t>(17.4%)</a:t>
            </a:r>
            <a:endParaRPr kumimoji="1" lang="ja-JP" altLang="en-US" sz="1550" b="1">
              <a:solidFill>
                <a:srgbClr val="8B5CF6"/>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1E2198D5-5F82-13D9-68D9-05695569E20E}"/>
              </a:ext>
            </a:extLst>
          </p:cNvPr>
          <p:cNvSpPr txBox="1"/>
          <p:nvPr/>
        </p:nvSpPr>
        <p:spPr>
          <a:xfrm>
            <a:off x="508000" y="5461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お薬相談</a:t>
            </a:r>
          </a:p>
        </p:txBody>
      </p:sp>
      <p:sp>
        <p:nvSpPr>
          <p:cNvPr id="31" name="四角形: 角を丸くする 30">
            <a:extLst>
              <a:ext uri="{FF2B5EF4-FFF2-40B4-BE49-F238E27FC236}">
                <a16:creationId xmlns:a16="http://schemas.microsoft.com/office/drawing/2014/main" id="{F33BCD1A-669F-39AB-9DDE-F1737372402C}"/>
              </a:ext>
            </a:extLst>
          </p:cNvPr>
          <p:cNvSpPr/>
          <p:nvPr/>
        </p:nvSpPr>
        <p:spPr>
          <a:xfrm>
            <a:off x="2959100" y="5524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DB83E833-1FB6-E9E7-2025-106BA43781E0}"/>
              </a:ext>
            </a:extLst>
          </p:cNvPr>
          <p:cNvSpPr/>
          <p:nvPr/>
        </p:nvSpPr>
        <p:spPr>
          <a:xfrm>
            <a:off x="2959100" y="5524500"/>
            <a:ext cx="368300" cy="254000"/>
          </a:xfrm>
          <a:prstGeom prst="roundRect">
            <a:avLst>
              <a:gd name="adj" fmla="val 50000"/>
            </a:avLst>
          </a:prstGeom>
          <a:solidFill>
            <a:srgbClr val="0EA5E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E68C9D93-97D1-F228-41E8-39D4790EAF1A}"/>
              </a:ext>
            </a:extLst>
          </p:cNvPr>
          <p:cNvSpPr txBox="1"/>
          <p:nvPr/>
        </p:nvSpPr>
        <p:spPr>
          <a:xfrm>
            <a:off x="5816600" y="5461000"/>
            <a:ext cx="1841500" cy="341119"/>
          </a:xfrm>
          <a:prstGeom prst="rect">
            <a:avLst/>
          </a:prstGeom>
          <a:noFill/>
        </p:spPr>
        <p:txBody>
          <a:bodyPr vert="horz" wrap="square" lIns="76200" tIns="50800" rIns="76200" bIns="50800" rtlCol="0">
            <a:spAutoFit/>
          </a:bodyPr>
          <a:lstStyle/>
          <a:p>
            <a:r>
              <a:rPr kumimoji="1" lang="en-US" altLang="ja-JP" sz="1550" b="1">
                <a:solidFill>
                  <a:srgbClr val="0EA5E9"/>
                </a:solidFill>
                <a:latin typeface="Meiryo UI" panose="020B0604030504040204" pitchFamily="50" charset="-128"/>
                <a:ea typeface="Meiryo UI" panose="020B0604030504040204" pitchFamily="50" charset="-128"/>
              </a:rPr>
              <a:t>32</a:t>
            </a:r>
            <a:r>
              <a:rPr kumimoji="1" lang="ja-JP" altLang="en-US" sz="1550" b="1">
                <a:solidFill>
                  <a:srgbClr val="0EA5E9"/>
                </a:solidFill>
                <a:latin typeface="Meiryo UI" panose="020B0604030504040204" pitchFamily="50" charset="-128"/>
                <a:ea typeface="Meiryo UI" panose="020B0604030504040204" pitchFamily="50" charset="-128"/>
              </a:rPr>
              <a:t>名 </a:t>
            </a:r>
            <a:r>
              <a:rPr kumimoji="1" lang="en-US" altLang="ja-JP" sz="1550" b="1">
                <a:solidFill>
                  <a:srgbClr val="0EA5E9"/>
                </a:solidFill>
                <a:latin typeface="Meiryo UI" panose="020B0604030504040204" pitchFamily="50" charset="-128"/>
                <a:ea typeface="Meiryo UI" panose="020B0604030504040204" pitchFamily="50" charset="-128"/>
              </a:rPr>
              <a:t>(13.6%)</a:t>
            </a:r>
            <a:endParaRPr kumimoji="1" lang="ja-JP" altLang="en-US" sz="1550" b="1">
              <a:solidFill>
                <a:srgbClr val="0EA5E9"/>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036C91B5-4991-9C57-D2DD-382913D21960}"/>
              </a:ext>
            </a:extLst>
          </p:cNvPr>
          <p:cNvSpPr/>
          <p:nvPr/>
        </p:nvSpPr>
        <p:spPr>
          <a:xfrm>
            <a:off x="7696200" y="1549400"/>
            <a:ext cx="4241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7C3C74ED-A797-477F-174B-AC42784ABF0A}"/>
              </a:ext>
            </a:extLst>
          </p:cNvPr>
          <p:cNvSpPr/>
          <p:nvPr/>
        </p:nvSpPr>
        <p:spPr>
          <a:xfrm>
            <a:off x="79248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93ACC9F5-1D86-9591-BD16-035579E650E1}"/>
              </a:ext>
            </a:extLst>
          </p:cNvPr>
          <p:cNvSpPr txBox="1"/>
          <p:nvPr/>
        </p:nvSpPr>
        <p:spPr>
          <a:xfrm>
            <a:off x="8128000" y="1739900"/>
            <a:ext cx="3606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結果の説明</a:t>
            </a:r>
          </a:p>
        </p:txBody>
      </p:sp>
      <p:sp>
        <p:nvSpPr>
          <p:cNvPr id="37" name="テキスト ボックス 36">
            <a:extLst>
              <a:ext uri="{FF2B5EF4-FFF2-40B4-BE49-F238E27FC236}">
                <a16:creationId xmlns:a16="http://schemas.microsoft.com/office/drawing/2014/main" id="{AC0C3A04-AFAF-47AC-80BF-5D8DD45A1B99}"/>
              </a:ext>
            </a:extLst>
          </p:cNvPr>
          <p:cNvSpPr txBox="1"/>
          <p:nvPr/>
        </p:nvSpPr>
        <p:spPr>
          <a:xfrm>
            <a:off x="7950200" y="2336800"/>
            <a:ext cx="3733800" cy="2387833"/>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1</a:t>
            </a:r>
            <a:r>
              <a:rPr kumimoji="1" lang="ja-JP" altLang="en-US" sz="1650">
                <a:solidFill>
                  <a:srgbClr val="1E293B"/>
                </a:solidFill>
                <a:latin typeface="Meiryo UI" panose="020B0604030504040204" pitchFamily="50" charset="-128"/>
                <a:ea typeface="Meiryo UI" panose="020B0604030504040204" pitchFamily="50" charset="-128"/>
              </a:rPr>
              <a:t>位は「血管年齢測定」で</a:t>
            </a:r>
            <a:r>
              <a:rPr kumimoji="1" lang="en-US" altLang="ja-JP" sz="1650">
                <a:solidFill>
                  <a:srgbClr val="1E293B"/>
                </a:solidFill>
                <a:latin typeface="Meiryo UI" panose="020B0604030504040204" pitchFamily="50" charset="-128"/>
                <a:ea typeface="Meiryo UI" panose="020B0604030504040204" pitchFamily="50" charset="-128"/>
              </a:rPr>
              <a:t>172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72.9%</a:t>
            </a:r>
            <a:r>
              <a:rPr kumimoji="1" lang="ja-JP" altLang="en-US" sz="1650">
                <a:solidFill>
                  <a:srgbClr val="1E293B"/>
                </a:solidFill>
                <a:latin typeface="Meiryo UI" panose="020B0604030504040204" pitchFamily="50" charset="-128"/>
                <a:ea typeface="Meiryo UI" panose="020B0604030504040204" pitchFamily="50" charset="-128"/>
              </a:rPr>
              <a:t>）。
・</a:t>
            </a:r>
            <a:r>
              <a:rPr kumimoji="1" lang="en-US" altLang="ja-JP" sz="1650">
                <a:solidFill>
                  <a:srgbClr val="1E293B"/>
                </a:solidFill>
                <a:latin typeface="Meiryo UI" panose="020B0604030504040204" pitchFamily="50" charset="-128"/>
                <a:ea typeface="Meiryo UI" panose="020B0604030504040204" pitchFamily="50" charset="-128"/>
              </a:rPr>
              <a:t>2</a:t>
            </a:r>
            <a:r>
              <a:rPr kumimoji="1" lang="ja-JP" altLang="en-US" sz="1650">
                <a:solidFill>
                  <a:srgbClr val="1E293B"/>
                </a:solidFill>
                <a:latin typeface="Meiryo UI" panose="020B0604030504040204" pitchFamily="50" charset="-128"/>
                <a:ea typeface="Meiryo UI" panose="020B0604030504040204" pitchFamily="50" charset="-128"/>
              </a:rPr>
              <a:t>位は「筋肉量測定」で</a:t>
            </a:r>
            <a:r>
              <a:rPr kumimoji="1" lang="en-US" altLang="ja-JP" sz="1650">
                <a:solidFill>
                  <a:srgbClr val="1E293B"/>
                </a:solidFill>
                <a:latin typeface="Meiryo UI" panose="020B0604030504040204" pitchFamily="50" charset="-128"/>
                <a:ea typeface="Meiryo UI" panose="020B0604030504040204" pitchFamily="50" charset="-128"/>
              </a:rPr>
              <a:t>157</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66.5%</a:t>
            </a:r>
            <a:r>
              <a:rPr kumimoji="1" lang="ja-JP" altLang="en-US" sz="1650">
                <a:solidFill>
                  <a:srgbClr val="1E293B"/>
                </a:solidFill>
                <a:latin typeface="Meiryo UI" panose="020B0604030504040204" pitchFamily="50" charset="-128"/>
                <a:ea typeface="Meiryo UI" panose="020B0604030504040204" pitchFamily="50" charset="-128"/>
              </a:rPr>
              <a:t>）。
・以下、「栄養レッスン」</a:t>
            </a:r>
            <a:r>
              <a:rPr kumimoji="1" lang="en-US" altLang="ja-JP" sz="1650">
                <a:solidFill>
                  <a:srgbClr val="1E293B"/>
                </a:solidFill>
                <a:latin typeface="Meiryo UI" panose="020B0604030504040204" pitchFamily="50" charset="-128"/>
                <a:ea typeface="Meiryo UI" panose="020B0604030504040204" pitchFamily="50" charset="-128"/>
              </a:rPr>
              <a:t>57</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24.2%</a:t>
            </a:r>
            <a:r>
              <a:rPr kumimoji="1" lang="ja-JP" altLang="en-US" sz="1650">
                <a:solidFill>
                  <a:srgbClr val="1E293B"/>
                </a:solidFill>
                <a:latin typeface="Meiryo UI" panose="020B0604030504040204" pitchFamily="50" charset="-128"/>
                <a:ea typeface="Meiryo UI" panose="020B0604030504040204" pitchFamily="50" charset="-128"/>
              </a:rPr>
              <a:t>）、「人生会議の案内」</a:t>
            </a:r>
            <a:r>
              <a:rPr kumimoji="1" lang="en-US" altLang="ja-JP" sz="1650">
                <a:solidFill>
                  <a:srgbClr val="1E293B"/>
                </a:solidFill>
                <a:latin typeface="Meiryo UI" panose="020B0604030504040204" pitchFamily="50" charset="-128"/>
                <a:ea typeface="Meiryo UI" panose="020B0604030504040204" pitchFamily="50" charset="-128"/>
              </a:rPr>
              <a:t>41</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17.4%</a:t>
            </a:r>
            <a:r>
              <a:rPr kumimoji="1" lang="ja-JP" altLang="en-US" sz="1650">
                <a:solidFill>
                  <a:srgbClr val="1E293B"/>
                </a:solidFill>
                <a:latin typeface="Meiryo UI" panose="020B0604030504040204" pitchFamily="50" charset="-128"/>
                <a:ea typeface="Meiryo UI" panose="020B0604030504040204" pitchFamily="50" charset="-128"/>
              </a:rPr>
              <a:t>）、「お薬相談」</a:t>
            </a:r>
            <a:r>
              <a:rPr kumimoji="1" lang="en-US" altLang="ja-JP" sz="1650">
                <a:solidFill>
                  <a:srgbClr val="1E293B"/>
                </a:solidFill>
                <a:latin typeface="Meiryo UI" panose="020B0604030504040204" pitchFamily="50" charset="-128"/>
                <a:ea typeface="Meiryo UI" panose="020B0604030504040204" pitchFamily="50" charset="-128"/>
              </a:rPr>
              <a:t>32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13.6%</a:t>
            </a:r>
            <a:r>
              <a:rPr kumimoji="1" lang="ja-JP" altLang="en-US" sz="1650">
                <a:solidFill>
                  <a:srgbClr val="1E293B"/>
                </a:solidFill>
                <a:latin typeface="Meiryo UI" panose="020B0604030504040204" pitchFamily="50" charset="-128"/>
                <a:ea typeface="Meiryo UI" panose="020B0604030504040204" pitchFamily="50" charset="-128"/>
              </a:rPr>
              <a:t>）であった。</a:t>
            </a:r>
          </a:p>
        </p:txBody>
      </p:sp>
    </p:spTree>
    <p:extLst>
      <p:ext uri="{BB962C8B-B14F-4D97-AF65-F5344CB8AC3E}">
        <p14:creationId xmlns:p14="http://schemas.microsoft.com/office/powerpoint/2010/main" val="15497346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7F9E4AE-9B32-B037-8850-C74BF65A3486}"/>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BD867A6D-7909-CED4-2EAB-0B09F3CF661E}"/>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14C3F94-D697-7BFD-24EF-6AD1FB4A1B57}"/>
              </a:ext>
            </a:extLst>
          </p:cNvPr>
          <p:cNvSpPr/>
          <p:nvPr/>
        </p:nvSpPr>
        <p:spPr>
          <a:xfrm>
            <a:off x="457200" y="330200"/>
            <a:ext cx="2336800" cy="4064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57A9CB4-084E-B721-B073-1A04C5F04FDB}"/>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部：来場者結果④</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A241918F-BE76-64B0-81BB-0CDC2C61A4E0}"/>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Q2. </a:t>
            </a:r>
            <a:r>
              <a:rPr kumimoji="1" lang="ja-JP" altLang="en-US" sz="2000" b="1">
                <a:solidFill>
                  <a:srgbClr val="1E293B"/>
                </a:solidFill>
                <a:latin typeface="Meiryo UI" panose="020B0604030504040204" pitchFamily="50" charset="-128"/>
                <a:ea typeface="Meiryo UI" panose="020B0604030504040204" pitchFamily="50" charset="-128"/>
              </a:rPr>
              <a:t>これまで当院をご存知でしたか？（現在の認知度）</a:t>
            </a:r>
          </a:p>
        </p:txBody>
      </p:sp>
      <p:sp>
        <p:nvSpPr>
          <p:cNvPr id="7" name="四角形: 角を丸くする 6">
            <a:extLst>
              <a:ext uri="{FF2B5EF4-FFF2-40B4-BE49-F238E27FC236}">
                <a16:creationId xmlns:a16="http://schemas.microsoft.com/office/drawing/2014/main" id="{6217DA57-5CC7-56A7-BA25-7443D2E37E6F}"/>
              </a:ext>
            </a:extLst>
          </p:cNvPr>
          <p:cNvSpPr/>
          <p:nvPr/>
        </p:nvSpPr>
        <p:spPr>
          <a:xfrm>
            <a:off x="10871200" y="330200"/>
            <a:ext cx="863600" cy="381000"/>
          </a:xfrm>
          <a:prstGeom prst="roundRect">
            <a:avLst>
              <a:gd name="adj" fmla="val 5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2D25CDE-5EA7-8D0C-145D-563B2F2F4141}"/>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F59E0B"/>
                </a:solidFill>
                <a:latin typeface="Meiryo UI" panose="020B0604030504040204" pitchFamily="50" charset="-128"/>
                <a:ea typeface="Meiryo UI" panose="020B0604030504040204" pitchFamily="50" charset="-128"/>
              </a:rPr>
              <a:t>6 / 22</a:t>
            </a:r>
            <a:endParaRPr kumimoji="1" lang="ja-JP" altLang="en-US" sz="1250" b="1">
              <a:solidFill>
                <a:srgbClr val="F59E0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56B3D4E0-E246-C39A-0651-CF3BAEAD0DDF}"/>
              </a:ext>
            </a:extLst>
          </p:cNvPr>
          <p:cNvSpPr/>
          <p:nvPr/>
        </p:nvSpPr>
        <p:spPr>
          <a:xfrm>
            <a:off x="457200" y="838200"/>
            <a:ext cx="11277600" cy="431800"/>
          </a:xfrm>
          <a:prstGeom prst="roundRect">
            <a:avLst>
              <a:gd name="adj" fmla="val 3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E2F3242-A5FE-C236-0DFD-303AAF64900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F59E0B"/>
                </a:solidFill>
                <a:latin typeface="Meiryo UI" panose="020B0604030504040204" pitchFamily="50" charset="-128"/>
                <a:ea typeface="Meiryo UI" panose="020B0604030504040204" pitchFamily="50" charset="-128"/>
              </a:rPr>
              <a:t>「名前や場所は知っている」が</a:t>
            </a:r>
            <a:r>
              <a:rPr kumimoji="1" lang="en-US" altLang="ja-JP" sz="1500" b="1">
                <a:solidFill>
                  <a:srgbClr val="F59E0B"/>
                </a:solidFill>
                <a:latin typeface="Meiryo UI" panose="020B0604030504040204" pitchFamily="50" charset="-128"/>
                <a:ea typeface="Meiryo UI" panose="020B0604030504040204" pitchFamily="50" charset="-128"/>
              </a:rPr>
              <a:t>53.4%</a:t>
            </a:r>
            <a:r>
              <a:rPr kumimoji="1" lang="ja-JP" altLang="en-US" sz="1500" b="1">
                <a:solidFill>
                  <a:srgbClr val="F59E0B"/>
                </a:solidFill>
                <a:latin typeface="Meiryo UI" panose="020B0604030504040204" pitchFamily="50" charset="-128"/>
                <a:ea typeface="Meiryo UI" panose="020B0604030504040204" pitchFamily="50" charset="-128"/>
              </a:rPr>
              <a:t>、「今日初めて知った」が</a:t>
            </a:r>
            <a:r>
              <a:rPr kumimoji="1" lang="en-US" altLang="ja-JP" sz="1500" b="1">
                <a:solidFill>
                  <a:srgbClr val="F59E0B"/>
                </a:solidFill>
                <a:latin typeface="Meiryo UI" panose="020B0604030504040204" pitchFamily="50" charset="-128"/>
                <a:ea typeface="Meiryo UI" panose="020B0604030504040204" pitchFamily="50" charset="-128"/>
              </a:rPr>
              <a:t>28.4%</a:t>
            </a:r>
            <a:r>
              <a:rPr kumimoji="1" lang="ja-JP" altLang="en-US" sz="1500" b="1">
                <a:solidFill>
                  <a:srgbClr val="F59E0B"/>
                </a:solidFill>
                <a:latin typeface="Meiryo UI" panose="020B0604030504040204" pitchFamily="50" charset="-128"/>
                <a:ea typeface="Meiryo UI" panose="020B0604030504040204" pitchFamily="50" charset="-128"/>
              </a:rPr>
              <a:t>、「よく知っている」は</a:t>
            </a:r>
            <a:r>
              <a:rPr kumimoji="1" lang="en-US" altLang="ja-JP" sz="1500" b="1">
                <a:solidFill>
                  <a:srgbClr val="F59E0B"/>
                </a:solidFill>
                <a:latin typeface="Meiryo UI" panose="020B0604030504040204" pitchFamily="50" charset="-128"/>
                <a:ea typeface="Meiryo UI" panose="020B0604030504040204" pitchFamily="50" charset="-128"/>
              </a:rPr>
              <a:t>16.5%</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11" name="四角形: 角を丸くする 10">
            <a:extLst>
              <a:ext uri="{FF2B5EF4-FFF2-40B4-BE49-F238E27FC236}">
                <a16:creationId xmlns:a16="http://schemas.microsoft.com/office/drawing/2014/main" id="{DDC91D4F-DECE-A4C7-5BF0-3CB5401DAB93}"/>
              </a:ext>
            </a:extLst>
          </p:cNvPr>
          <p:cNvSpPr/>
          <p:nvPr/>
        </p:nvSpPr>
        <p:spPr>
          <a:xfrm>
            <a:off x="254000" y="1549400"/>
            <a:ext cx="11684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952245A8-82F8-CC7F-CCE8-68F2588F6502}"/>
              </a:ext>
            </a:extLst>
          </p:cNvPr>
          <p:cNvSpPr/>
          <p:nvPr/>
        </p:nvSpPr>
        <p:spPr>
          <a:xfrm>
            <a:off x="482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2D44B90-7DCB-9494-8930-A68CA2679489}"/>
              </a:ext>
            </a:extLst>
          </p:cNvPr>
          <p:cNvSpPr txBox="1"/>
          <p:nvPr/>
        </p:nvSpPr>
        <p:spPr>
          <a:xfrm>
            <a:off x="685800" y="1739900"/>
            <a:ext cx="11049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Q2. </a:t>
            </a:r>
            <a:r>
              <a:rPr kumimoji="1" lang="ja-JP" altLang="en-US" sz="1750" b="1">
                <a:solidFill>
                  <a:srgbClr val="1E293B"/>
                </a:solidFill>
                <a:latin typeface="Meiryo UI" panose="020B0604030504040204" pitchFamily="50" charset="-128"/>
                <a:ea typeface="Meiryo UI" panose="020B0604030504040204" pitchFamily="50" charset="-128"/>
              </a:rPr>
              <a:t>当院の認知度（単一回答・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部分円 13">
            <a:extLst>
              <a:ext uri="{FF2B5EF4-FFF2-40B4-BE49-F238E27FC236}">
                <a16:creationId xmlns:a16="http://schemas.microsoft.com/office/drawing/2014/main" id="{CE745525-B8A7-AA24-F06D-44B26AFB2260}"/>
              </a:ext>
            </a:extLst>
          </p:cNvPr>
          <p:cNvSpPr/>
          <p:nvPr/>
        </p:nvSpPr>
        <p:spPr>
          <a:xfrm>
            <a:off x="1016000" y="2603500"/>
            <a:ext cx="3302000" cy="3302000"/>
          </a:xfrm>
          <a:prstGeom prst="pie">
            <a:avLst>
              <a:gd name="adj1" fmla="val 16200000"/>
              <a:gd name="adj2" fmla="val 61344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E7548475-983C-8E50-EA66-525BDF063649}"/>
              </a:ext>
            </a:extLst>
          </p:cNvPr>
          <p:cNvSpPr/>
          <p:nvPr/>
        </p:nvSpPr>
        <p:spPr>
          <a:xfrm>
            <a:off x="1016000" y="2603500"/>
            <a:ext cx="3302000" cy="3302000"/>
          </a:xfrm>
          <a:prstGeom prst="pie">
            <a:avLst>
              <a:gd name="adj1" fmla="val 6134400"/>
              <a:gd name="adj2" fmla="val 122688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0A1A55B5-5ED7-8B21-2C39-89070F5AA604}"/>
              </a:ext>
            </a:extLst>
          </p:cNvPr>
          <p:cNvSpPr/>
          <p:nvPr/>
        </p:nvSpPr>
        <p:spPr>
          <a:xfrm>
            <a:off x="1016000" y="2603500"/>
            <a:ext cx="3302000" cy="3302000"/>
          </a:xfrm>
          <a:prstGeom prst="pie">
            <a:avLst>
              <a:gd name="adj1" fmla="val 12268800"/>
              <a:gd name="adj2" fmla="val 15832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93684010-DB54-F6F7-F3D3-030DBBFEE245}"/>
              </a:ext>
            </a:extLst>
          </p:cNvPr>
          <p:cNvSpPr/>
          <p:nvPr/>
        </p:nvSpPr>
        <p:spPr>
          <a:xfrm>
            <a:off x="1016000" y="2603500"/>
            <a:ext cx="3302000" cy="3302000"/>
          </a:xfrm>
          <a:prstGeom prst="pie">
            <a:avLst>
              <a:gd name="adj1" fmla="val 15832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A2CD01E1-15D4-1BBE-8F77-9E03FDB332C9}"/>
              </a:ext>
            </a:extLst>
          </p:cNvPr>
          <p:cNvSpPr/>
          <p:nvPr/>
        </p:nvSpPr>
        <p:spPr>
          <a:xfrm>
            <a:off x="1709420" y="3296920"/>
            <a:ext cx="1915160" cy="191516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35ADF1C-7265-53B0-336C-14C703FA62A9}"/>
              </a:ext>
            </a:extLst>
          </p:cNvPr>
          <p:cNvSpPr txBox="1"/>
          <p:nvPr/>
        </p:nvSpPr>
        <p:spPr>
          <a:xfrm>
            <a:off x="1714500" y="39751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初認知 </a:t>
            </a:r>
            <a:r>
              <a:rPr kumimoji="1" lang="en-US" altLang="ja-JP" sz="1350" b="1">
                <a:solidFill>
                  <a:srgbClr val="1E293B"/>
                </a:solidFill>
                <a:latin typeface="Meiryo UI" panose="020B0604030504040204" pitchFamily="50" charset="-128"/>
                <a:ea typeface="Meiryo UI" panose="020B0604030504040204" pitchFamily="50" charset="-128"/>
              </a:rPr>
              <a:t>28.4%</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591D2950-5FC9-C232-3437-C202170855FD}"/>
              </a:ext>
            </a:extLst>
          </p:cNvPr>
          <p:cNvSpPr txBox="1"/>
          <p:nvPr/>
        </p:nvSpPr>
        <p:spPr>
          <a:xfrm>
            <a:off x="1714500" y="4279900"/>
            <a:ext cx="1905000" cy="294953"/>
          </a:xfrm>
          <a:prstGeom prst="rect">
            <a:avLst/>
          </a:prstGeom>
          <a:noFill/>
        </p:spPr>
        <p:txBody>
          <a:bodyPr vert="horz" wrap="square" lIns="76200" tIns="50800" rIns="76200" bIns="50800" rtlCol="0">
            <a:spAutoFit/>
          </a:bodyPr>
          <a:lstStyle/>
          <a:p>
            <a:pPr algn="ctr"/>
            <a:r>
              <a:rPr kumimoji="1" lang="ja-JP" altLang="en-US" sz="1250" b="1">
                <a:solidFill>
                  <a:srgbClr val="64748B"/>
                </a:solidFill>
                <a:latin typeface="Meiryo UI" panose="020B0604030504040204" pitchFamily="50" charset="-128"/>
                <a:ea typeface="Meiryo UI" panose="020B0604030504040204" pitchFamily="50" charset="-128"/>
              </a:rPr>
              <a:t>名前のみ </a:t>
            </a:r>
            <a:r>
              <a:rPr kumimoji="1" lang="en-US" altLang="ja-JP" sz="1250" b="1">
                <a:solidFill>
                  <a:srgbClr val="64748B"/>
                </a:solidFill>
                <a:latin typeface="Meiryo UI" panose="020B0604030504040204" pitchFamily="50" charset="-128"/>
                <a:ea typeface="Meiryo UI" panose="020B0604030504040204" pitchFamily="50" charset="-128"/>
              </a:rPr>
              <a:t>53.4%</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楕円 20">
            <a:extLst>
              <a:ext uri="{FF2B5EF4-FFF2-40B4-BE49-F238E27FC236}">
                <a16:creationId xmlns:a16="http://schemas.microsoft.com/office/drawing/2014/main" id="{0EDFF356-8216-2F83-FA36-C41A1C3EAC9F}"/>
              </a:ext>
            </a:extLst>
          </p:cNvPr>
          <p:cNvSpPr/>
          <p:nvPr/>
        </p:nvSpPr>
        <p:spPr>
          <a:xfrm>
            <a:off x="5207000" y="2476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263DA11-E2DB-2B46-6EB1-8A2D76D39F04}"/>
              </a:ext>
            </a:extLst>
          </p:cNvPr>
          <p:cNvSpPr txBox="1"/>
          <p:nvPr/>
        </p:nvSpPr>
        <p:spPr>
          <a:xfrm>
            <a:off x="5486400" y="2413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名前や場所は知っている</a:t>
            </a:r>
          </a:p>
        </p:txBody>
      </p:sp>
      <p:sp>
        <p:nvSpPr>
          <p:cNvPr id="23" name="テキスト ボックス 22">
            <a:extLst>
              <a:ext uri="{FF2B5EF4-FFF2-40B4-BE49-F238E27FC236}">
                <a16:creationId xmlns:a16="http://schemas.microsoft.com/office/drawing/2014/main" id="{B3B4CB96-D383-79EA-998D-FBB802065AC6}"/>
              </a:ext>
            </a:extLst>
          </p:cNvPr>
          <p:cNvSpPr txBox="1"/>
          <p:nvPr/>
        </p:nvSpPr>
        <p:spPr>
          <a:xfrm>
            <a:off x="9461500" y="2413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126</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(53.4%)</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a16:creationId xmlns:a16="http://schemas.microsoft.com/office/drawing/2014/main" id="{FD150ED4-BC9A-83E6-4F0F-10DD98C9CBB1}"/>
              </a:ext>
            </a:extLst>
          </p:cNvPr>
          <p:cNvSpPr/>
          <p:nvPr/>
        </p:nvSpPr>
        <p:spPr>
          <a:xfrm>
            <a:off x="5130800" y="30226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E9592B68-4D49-237C-6767-6C1070B70E21}"/>
              </a:ext>
            </a:extLst>
          </p:cNvPr>
          <p:cNvSpPr/>
          <p:nvPr/>
        </p:nvSpPr>
        <p:spPr>
          <a:xfrm>
            <a:off x="5207000" y="31369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278A9197-D671-EDB1-182C-E1BD707E6A31}"/>
              </a:ext>
            </a:extLst>
          </p:cNvPr>
          <p:cNvSpPr txBox="1"/>
          <p:nvPr/>
        </p:nvSpPr>
        <p:spPr>
          <a:xfrm>
            <a:off x="5486400" y="307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今日初めて知った</a:t>
            </a:r>
          </a:p>
        </p:txBody>
      </p:sp>
      <p:sp>
        <p:nvSpPr>
          <p:cNvPr id="27" name="テキスト ボックス 26">
            <a:extLst>
              <a:ext uri="{FF2B5EF4-FFF2-40B4-BE49-F238E27FC236}">
                <a16:creationId xmlns:a16="http://schemas.microsoft.com/office/drawing/2014/main" id="{4482C08F-93EB-6BB7-B49A-3D5CF32F2828}"/>
              </a:ext>
            </a:extLst>
          </p:cNvPr>
          <p:cNvSpPr txBox="1"/>
          <p:nvPr/>
        </p:nvSpPr>
        <p:spPr>
          <a:xfrm>
            <a:off x="9461500" y="307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67</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(28.4%)</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28" name="楕円 27">
            <a:extLst>
              <a:ext uri="{FF2B5EF4-FFF2-40B4-BE49-F238E27FC236}">
                <a16:creationId xmlns:a16="http://schemas.microsoft.com/office/drawing/2014/main" id="{478E5942-6867-A796-E683-DEF7CE477D58}"/>
              </a:ext>
            </a:extLst>
          </p:cNvPr>
          <p:cNvSpPr/>
          <p:nvPr/>
        </p:nvSpPr>
        <p:spPr>
          <a:xfrm>
            <a:off x="5207000" y="37973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1F9D7675-F803-2A6A-4AFD-F497A8CF5387}"/>
              </a:ext>
            </a:extLst>
          </p:cNvPr>
          <p:cNvSpPr txBox="1"/>
          <p:nvPr/>
        </p:nvSpPr>
        <p:spPr>
          <a:xfrm>
            <a:off x="5486400" y="37338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よく知っている（利用経験有）</a:t>
            </a:r>
          </a:p>
        </p:txBody>
      </p:sp>
      <p:sp>
        <p:nvSpPr>
          <p:cNvPr id="30" name="テキスト ボックス 29">
            <a:extLst>
              <a:ext uri="{FF2B5EF4-FFF2-40B4-BE49-F238E27FC236}">
                <a16:creationId xmlns:a16="http://schemas.microsoft.com/office/drawing/2014/main" id="{665811B8-1582-345D-C52D-D9D2DC272F0E}"/>
              </a:ext>
            </a:extLst>
          </p:cNvPr>
          <p:cNvSpPr txBox="1"/>
          <p:nvPr/>
        </p:nvSpPr>
        <p:spPr>
          <a:xfrm>
            <a:off x="9461500" y="37338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39</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(16.5%)</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31" name="楕円 30">
            <a:extLst>
              <a:ext uri="{FF2B5EF4-FFF2-40B4-BE49-F238E27FC236}">
                <a16:creationId xmlns:a16="http://schemas.microsoft.com/office/drawing/2014/main" id="{A5CADE78-4A48-0842-1AA6-A5B32CB6A175}"/>
              </a:ext>
            </a:extLst>
          </p:cNvPr>
          <p:cNvSpPr/>
          <p:nvPr/>
        </p:nvSpPr>
        <p:spPr>
          <a:xfrm>
            <a:off x="5207000" y="44069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94BB8755-1633-98BD-CA50-00D9EBCAD89F}"/>
              </a:ext>
            </a:extLst>
          </p:cNvPr>
          <p:cNvSpPr txBox="1"/>
          <p:nvPr/>
        </p:nvSpPr>
        <p:spPr>
          <a:xfrm>
            <a:off x="5486400" y="434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33" name="テキスト ボックス 32">
            <a:extLst>
              <a:ext uri="{FF2B5EF4-FFF2-40B4-BE49-F238E27FC236}">
                <a16:creationId xmlns:a16="http://schemas.microsoft.com/office/drawing/2014/main" id="{4EFAFE51-7363-F94B-9C6C-EE841AACB83C}"/>
              </a:ext>
            </a:extLst>
          </p:cNvPr>
          <p:cNvSpPr txBox="1"/>
          <p:nvPr/>
        </p:nvSpPr>
        <p:spPr>
          <a:xfrm>
            <a:off x="9461500" y="434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4</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(1.7%)</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3F9FAB05-4B63-9DC2-F5E1-12E3B82AB535}"/>
              </a:ext>
            </a:extLst>
          </p:cNvPr>
          <p:cNvSpPr/>
          <p:nvPr/>
        </p:nvSpPr>
        <p:spPr>
          <a:xfrm>
            <a:off x="5130800" y="5003800"/>
            <a:ext cx="6426200" cy="1295400"/>
          </a:xfrm>
          <a:prstGeom prst="roundRect">
            <a:avLst>
              <a:gd name="adj" fmla="val 12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C557E1C3-16CE-DEAF-E0A4-9DCE4A1E271B}"/>
              </a:ext>
            </a:extLst>
          </p:cNvPr>
          <p:cNvSpPr txBox="1"/>
          <p:nvPr/>
        </p:nvSpPr>
        <p:spPr>
          <a:xfrm>
            <a:off x="5334000" y="5130800"/>
            <a:ext cx="6045200" cy="1056700"/>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・半数以上の</a:t>
            </a:r>
            <a:r>
              <a:rPr kumimoji="1" lang="en-US" altLang="ja-JP" sz="1550" b="1">
                <a:solidFill>
                  <a:srgbClr val="1E293B"/>
                </a:solidFill>
                <a:latin typeface="Meiryo UI" panose="020B0604030504040204" pitchFamily="50" charset="-128"/>
                <a:ea typeface="Meiryo UI" panose="020B0604030504040204" pitchFamily="50" charset="-128"/>
              </a:rPr>
              <a:t>126</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53.4%</a:t>
            </a:r>
            <a:r>
              <a:rPr kumimoji="1" lang="ja-JP" altLang="en-US" sz="1550" b="1">
                <a:solidFill>
                  <a:srgbClr val="1E293B"/>
                </a:solidFill>
                <a:latin typeface="Meiryo UI" panose="020B0604030504040204" pitchFamily="50" charset="-128"/>
                <a:ea typeface="Meiryo UI" panose="020B0604030504040204" pitchFamily="50" charset="-128"/>
              </a:rPr>
              <a:t>）が「名前や場所は知っている」と回答した。
・</a:t>
            </a:r>
            <a:r>
              <a:rPr kumimoji="1" lang="en-US" altLang="ja-JP" sz="1550" b="1">
                <a:solidFill>
                  <a:srgbClr val="1E293B"/>
                </a:solidFill>
                <a:latin typeface="Meiryo UI" panose="020B0604030504040204" pitchFamily="50" charset="-128"/>
                <a:ea typeface="Meiryo UI" panose="020B0604030504040204" pitchFamily="50" charset="-128"/>
              </a:rPr>
              <a:t>67</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28.4%</a:t>
            </a:r>
            <a:r>
              <a:rPr kumimoji="1" lang="ja-JP" altLang="en-US" sz="1550" b="1">
                <a:solidFill>
                  <a:srgbClr val="1E293B"/>
                </a:solidFill>
                <a:latin typeface="Meiryo UI" panose="020B0604030504040204" pitchFamily="50" charset="-128"/>
                <a:ea typeface="Meiryo UI" panose="020B0604030504040204" pitchFamily="50" charset="-128"/>
              </a:rPr>
              <a:t>）が「今日初めて知った」、</a:t>
            </a:r>
            <a:r>
              <a:rPr kumimoji="1" lang="en-US" altLang="ja-JP" sz="1550" b="1">
                <a:solidFill>
                  <a:srgbClr val="1E293B"/>
                </a:solidFill>
                <a:latin typeface="Meiryo UI" panose="020B0604030504040204" pitchFamily="50" charset="-128"/>
                <a:ea typeface="Meiryo UI" panose="020B0604030504040204" pitchFamily="50" charset="-128"/>
              </a:rPr>
              <a:t>39</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16.5%</a:t>
            </a:r>
            <a:r>
              <a:rPr kumimoji="1" lang="ja-JP" altLang="en-US" sz="1550" b="1">
                <a:solidFill>
                  <a:srgbClr val="1E293B"/>
                </a:solidFill>
                <a:latin typeface="Meiryo UI" panose="020B0604030504040204" pitchFamily="50" charset="-128"/>
                <a:ea typeface="Meiryo UI" panose="020B0604030504040204" pitchFamily="50" charset="-128"/>
              </a:rPr>
              <a:t>）が「よく知っている」と回答した。</a:t>
            </a:r>
          </a:p>
        </p:txBody>
      </p:sp>
    </p:spTree>
    <p:extLst>
      <p:ext uri="{BB962C8B-B14F-4D97-AF65-F5344CB8AC3E}">
        <p14:creationId xmlns:p14="http://schemas.microsoft.com/office/powerpoint/2010/main" val="454867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47E9029-0030-BCF0-9CAA-9AC6274F1D0D}"/>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80F3A1-5E95-56E4-7C6E-EB6988D3F62A}"/>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4AA77893-9300-0686-89C1-8177CBD5EA5E}"/>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0276B99E-BFAF-1D7D-56DC-B45D7E2254A3}"/>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部：来場者結果⑤</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1DB9FECB-AB46-E440-1E95-30F5C5092F35}"/>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Q3. </a:t>
            </a:r>
            <a:r>
              <a:rPr kumimoji="1" lang="ja-JP" altLang="en-US" sz="2000" b="1">
                <a:solidFill>
                  <a:srgbClr val="1E293B"/>
                </a:solidFill>
                <a:latin typeface="Meiryo UI" panose="020B0604030504040204" pitchFamily="50" charset="-128"/>
                <a:ea typeface="Meiryo UI" panose="020B0604030504040204" pitchFamily="50" charset="-128"/>
              </a:rPr>
              <a:t>万が一の際、当院を利用したいですか？（当院の評価）</a:t>
            </a:r>
          </a:p>
        </p:txBody>
      </p:sp>
      <p:sp>
        <p:nvSpPr>
          <p:cNvPr id="7" name="四角形: 角を丸くする 6">
            <a:extLst>
              <a:ext uri="{FF2B5EF4-FFF2-40B4-BE49-F238E27FC236}">
                <a16:creationId xmlns:a16="http://schemas.microsoft.com/office/drawing/2014/main" id="{95D97678-A555-8806-9EFD-ED04A3E810F3}"/>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89CCDE6-F692-35D2-AB8A-F0E704E5A975}"/>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7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A9FF815C-C1B9-2C9B-1A90-D17C2F1C8CF6}"/>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EFBCCA34-3976-AB69-D797-9B434AE0A314}"/>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「ぜひ利用したい（</a:t>
            </a:r>
            <a:r>
              <a:rPr kumimoji="1" lang="en-US" altLang="ja-JP" sz="1500" b="1">
                <a:solidFill>
                  <a:srgbClr val="10B981"/>
                </a:solidFill>
                <a:latin typeface="Meiryo UI" panose="020B0604030504040204" pitchFamily="50" charset="-128"/>
                <a:ea typeface="Meiryo UI" panose="020B0604030504040204" pitchFamily="50" charset="-128"/>
              </a:rPr>
              <a:t>25.4%</a:t>
            </a:r>
            <a:r>
              <a:rPr kumimoji="1" lang="ja-JP" altLang="en-US" sz="1500" b="1">
                <a:solidFill>
                  <a:srgbClr val="10B981"/>
                </a:solidFill>
                <a:latin typeface="Meiryo UI" panose="020B0604030504040204" pitchFamily="50" charset="-128"/>
                <a:ea typeface="Meiryo UI" panose="020B0604030504040204" pitchFamily="50" charset="-128"/>
              </a:rPr>
              <a:t>）」と「候補として検討したい（</a:t>
            </a:r>
            <a:r>
              <a:rPr kumimoji="1" lang="en-US" altLang="ja-JP" sz="1500" b="1">
                <a:solidFill>
                  <a:srgbClr val="10B981"/>
                </a:solidFill>
                <a:latin typeface="Meiryo UI" panose="020B0604030504040204" pitchFamily="50" charset="-128"/>
                <a:ea typeface="Meiryo UI" panose="020B0604030504040204" pitchFamily="50" charset="-128"/>
              </a:rPr>
              <a:t>64.8%</a:t>
            </a:r>
            <a:r>
              <a:rPr kumimoji="1" lang="ja-JP" altLang="en-US" sz="1500" b="1">
                <a:solidFill>
                  <a:srgbClr val="10B981"/>
                </a:solidFill>
                <a:latin typeface="Meiryo UI" panose="020B0604030504040204" pitchFamily="50" charset="-128"/>
                <a:ea typeface="Meiryo UI" panose="020B0604030504040204" pitchFamily="50" charset="-128"/>
              </a:rPr>
              <a:t>）」を合わせ、</a:t>
            </a:r>
            <a:r>
              <a:rPr kumimoji="1" lang="en-US" altLang="ja-JP" sz="1500" b="1">
                <a:solidFill>
                  <a:srgbClr val="10B981"/>
                </a:solidFill>
                <a:latin typeface="Meiryo UI" panose="020B0604030504040204" pitchFamily="50" charset="-128"/>
                <a:ea typeface="Meiryo UI" panose="020B0604030504040204" pitchFamily="50" charset="-128"/>
              </a:rPr>
              <a:t>90.3%</a:t>
            </a:r>
            <a:r>
              <a:rPr kumimoji="1" lang="ja-JP" altLang="en-US" sz="1500" b="1">
                <a:solidFill>
                  <a:srgbClr val="10B981"/>
                </a:solidFill>
                <a:latin typeface="Meiryo UI" panose="020B0604030504040204" pitchFamily="50" charset="-128"/>
                <a:ea typeface="Meiryo UI" panose="020B0604030504040204" pitchFamily="50" charset="-128"/>
              </a:rPr>
              <a:t>が好意的評価</a:t>
            </a:r>
          </a:p>
        </p:txBody>
      </p:sp>
      <p:sp>
        <p:nvSpPr>
          <p:cNvPr id="11" name="四角形: 角を丸くする 10">
            <a:extLst>
              <a:ext uri="{FF2B5EF4-FFF2-40B4-BE49-F238E27FC236}">
                <a16:creationId xmlns:a16="http://schemas.microsoft.com/office/drawing/2014/main" id="{A03BAFEF-AF3A-9D3A-7E80-497768E81C5E}"/>
              </a:ext>
            </a:extLst>
          </p:cNvPr>
          <p:cNvSpPr/>
          <p:nvPr/>
        </p:nvSpPr>
        <p:spPr>
          <a:xfrm>
            <a:off x="254000" y="1549400"/>
            <a:ext cx="11684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8B2B014D-8713-86BF-442A-D0AED5CD7AC3}"/>
              </a:ext>
            </a:extLst>
          </p:cNvPr>
          <p:cNvSpPr/>
          <p:nvPr/>
        </p:nvSpPr>
        <p:spPr>
          <a:xfrm>
            <a:off x="4826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EC3FE67-94D8-35A3-5C91-093B31C215EE}"/>
              </a:ext>
            </a:extLst>
          </p:cNvPr>
          <p:cNvSpPr txBox="1"/>
          <p:nvPr/>
        </p:nvSpPr>
        <p:spPr>
          <a:xfrm>
            <a:off x="685800" y="1739900"/>
            <a:ext cx="11049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Q3. </a:t>
            </a:r>
            <a:r>
              <a:rPr kumimoji="1" lang="ja-JP" altLang="en-US" sz="1750" b="1">
                <a:solidFill>
                  <a:srgbClr val="1E293B"/>
                </a:solidFill>
                <a:latin typeface="Meiryo UI" panose="020B0604030504040204" pitchFamily="50" charset="-128"/>
                <a:ea typeface="Meiryo UI" panose="020B0604030504040204" pitchFamily="50" charset="-128"/>
              </a:rPr>
              <a:t>万が一の際の利用意向（単一回答・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部分円 13">
            <a:extLst>
              <a:ext uri="{FF2B5EF4-FFF2-40B4-BE49-F238E27FC236}">
                <a16:creationId xmlns:a16="http://schemas.microsoft.com/office/drawing/2014/main" id="{E292AC16-A48B-335D-1A77-B6FCDCBF8630}"/>
              </a:ext>
            </a:extLst>
          </p:cNvPr>
          <p:cNvSpPr/>
          <p:nvPr/>
        </p:nvSpPr>
        <p:spPr>
          <a:xfrm>
            <a:off x="1016000" y="2603500"/>
            <a:ext cx="3302000" cy="3302000"/>
          </a:xfrm>
          <a:prstGeom prst="pie">
            <a:avLst>
              <a:gd name="adj1" fmla="val 16200000"/>
              <a:gd name="adj2" fmla="val 864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8433EEF-C8EA-1724-CFD6-9DDF9FC3AC15}"/>
              </a:ext>
            </a:extLst>
          </p:cNvPr>
          <p:cNvSpPr/>
          <p:nvPr/>
        </p:nvSpPr>
        <p:spPr>
          <a:xfrm>
            <a:off x="1016000" y="2603500"/>
            <a:ext cx="3302000" cy="3302000"/>
          </a:xfrm>
          <a:prstGeom prst="pie">
            <a:avLst>
              <a:gd name="adj1" fmla="val 86400"/>
              <a:gd name="adj2" fmla="val 140832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E99E6B40-302D-3E5B-203D-C4E0B9AC8003}"/>
              </a:ext>
            </a:extLst>
          </p:cNvPr>
          <p:cNvSpPr/>
          <p:nvPr/>
        </p:nvSpPr>
        <p:spPr>
          <a:xfrm>
            <a:off x="1016000" y="2603500"/>
            <a:ext cx="3302000" cy="3302000"/>
          </a:xfrm>
          <a:prstGeom prst="pie">
            <a:avLst>
              <a:gd name="adj1" fmla="val 14083200"/>
              <a:gd name="adj2" fmla="val 1563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F3D71BDC-4602-9A32-0807-82C8B00BEDB0}"/>
              </a:ext>
            </a:extLst>
          </p:cNvPr>
          <p:cNvSpPr/>
          <p:nvPr/>
        </p:nvSpPr>
        <p:spPr>
          <a:xfrm>
            <a:off x="1016000" y="2603500"/>
            <a:ext cx="3302000" cy="3302000"/>
          </a:xfrm>
          <a:prstGeom prst="pie">
            <a:avLst>
              <a:gd name="adj1" fmla="val 15638401"/>
              <a:gd name="adj2" fmla="val 16178401"/>
            </a:avLst>
          </a:prstGeom>
          <a:solidFill>
            <a:srgbClr val="E2E8F0"/>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14D2AF64-E555-8DF4-739C-00710E40FDCA}"/>
              </a:ext>
            </a:extLst>
          </p:cNvPr>
          <p:cNvSpPr/>
          <p:nvPr/>
        </p:nvSpPr>
        <p:spPr>
          <a:xfrm>
            <a:off x="1709420" y="3296920"/>
            <a:ext cx="1915160" cy="191516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5F68A46-E279-FE2A-03B7-78F52C28F4D2}"/>
              </a:ext>
            </a:extLst>
          </p:cNvPr>
          <p:cNvSpPr txBox="1"/>
          <p:nvPr/>
        </p:nvSpPr>
        <p:spPr>
          <a:xfrm>
            <a:off x="1714500" y="39751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好意的評価</a:t>
            </a:r>
          </a:p>
        </p:txBody>
      </p:sp>
      <p:sp>
        <p:nvSpPr>
          <p:cNvPr id="20" name="テキスト ボックス 19">
            <a:extLst>
              <a:ext uri="{FF2B5EF4-FFF2-40B4-BE49-F238E27FC236}">
                <a16:creationId xmlns:a16="http://schemas.microsoft.com/office/drawing/2014/main" id="{526DFEA0-68A4-43AD-E615-BA9D67A02A4E}"/>
              </a:ext>
            </a:extLst>
          </p:cNvPr>
          <p:cNvSpPr txBox="1"/>
          <p:nvPr/>
        </p:nvSpPr>
        <p:spPr>
          <a:xfrm>
            <a:off x="1714500" y="42799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90.3% (213</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a16:creationId xmlns:a16="http://schemas.microsoft.com/office/drawing/2014/main" id="{57BD8433-048F-68F4-79FE-71E5BFAFD54D}"/>
              </a:ext>
            </a:extLst>
          </p:cNvPr>
          <p:cNvSpPr/>
          <p:nvPr/>
        </p:nvSpPr>
        <p:spPr>
          <a:xfrm>
            <a:off x="5130800" y="23622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4ECC78CD-A0C3-9751-8BFE-A2245B31C907}"/>
              </a:ext>
            </a:extLst>
          </p:cNvPr>
          <p:cNvSpPr/>
          <p:nvPr/>
        </p:nvSpPr>
        <p:spPr>
          <a:xfrm>
            <a:off x="5207000" y="24765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8622F5C-7E1C-0073-0368-31131234E4CE}"/>
              </a:ext>
            </a:extLst>
          </p:cNvPr>
          <p:cNvSpPr txBox="1"/>
          <p:nvPr/>
        </p:nvSpPr>
        <p:spPr>
          <a:xfrm>
            <a:off x="5486400" y="2413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ぜひ利用したい</a:t>
            </a:r>
          </a:p>
        </p:txBody>
      </p:sp>
      <p:sp>
        <p:nvSpPr>
          <p:cNvPr id="24" name="テキスト ボックス 23">
            <a:extLst>
              <a:ext uri="{FF2B5EF4-FFF2-40B4-BE49-F238E27FC236}">
                <a16:creationId xmlns:a16="http://schemas.microsoft.com/office/drawing/2014/main" id="{16490AF0-D2B5-7CAA-3D55-FFF23FDB2BDE}"/>
              </a:ext>
            </a:extLst>
          </p:cNvPr>
          <p:cNvSpPr txBox="1"/>
          <p:nvPr/>
        </p:nvSpPr>
        <p:spPr>
          <a:xfrm>
            <a:off x="9461500" y="2413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60</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(25.4%)</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5" name="楕円 24">
            <a:extLst>
              <a:ext uri="{FF2B5EF4-FFF2-40B4-BE49-F238E27FC236}">
                <a16:creationId xmlns:a16="http://schemas.microsoft.com/office/drawing/2014/main" id="{5F2C13EA-8939-1ADF-07E6-92F1FA2E71C4}"/>
              </a:ext>
            </a:extLst>
          </p:cNvPr>
          <p:cNvSpPr/>
          <p:nvPr/>
        </p:nvSpPr>
        <p:spPr>
          <a:xfrm>
            <a:off x="5207000" y="31369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571077A3-51F9-FC23-F921-E213CFCCE49F}"/>
              </a:ext>
            </a:extLst>
          </p:cNvPr>
          <p:cNvSpPr txBox="1"/>
          <p:nvPr/>
        </p:nvSpPr>
        <p:spPr>
          <a:xfrm>
            <a:off x="5486400" y="307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候補の一つとして検討したい</a:t>
            </a:r>
          </a:p>
        </p:txBody>
      </p:sp>
      <p:sp>
        <p:nvSpPr>
          <p:cNvPr id="27" name="テキスト ボックス 26">
            <a:extLst>
              <a:ext uri="{FF2B5EF4-FFF2-40B4-BE49-F238E27FC236}">
                <a16:creationId xmlns:a16="http://schemas.microsoft.com/office/drawing/2014/main" id="{BF77420B-823F-86B1-B676-DEBB628C6B75}"/>
              </a:ext>
            </a:extLst>
          </p:cNvPr>
          <p:cNvSpPr txBox="1"/>
          <p:nvPr/>
        </p:nvSpPr>
        <p:spPr>
          <a:xfrm>
            <a:off x="9461500" y="307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153</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(64.8%)</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8" name="楕円 27">
            <a:extLst>
              <a:ext uri="{FF2B5EF4-FFF2-40B4-BE49-F238E27FC236}">
                <a16:creationId xmlns:a16="http://schemas.microsoft.com/office/drawing/2014/main" id="{3ED4D533-8151-A37E-B269-93FBCDCCA7AD}"/>
              </a:ext>
            </a:extLst>
          </p:cNvPr>
          <p:cNvSpPr/>
          <p:nvPr/>
        </p:nvSpPr>
        <p:spPr>
          <a:xfrm>
            <a:off x="5207000" y="37973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C4E920C3-3EA2-ED80-AFD8-762C03474D95}"/>
              </a:ext>
            </a:extLst>
          </p:cNvPr>
          <p:cNvSpPr txBox="1"/>
          <p:nvPr/>
        </p:nvSpPr>
        <p:spPr>
          <a:xfrm>
            <a:off x="5486400" y="37338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他の病院を選ぶ・わからない</a:t>
            </a:r>
          </a:p>
        </p:txBody>
      </p:sp>
      <p:sp>
        <p:nvSpPr>
          <p:cNvPr id="30" name="テキスト ボックス 29">
            <a:extLst>
              <a:ext uri="{FF2B5EF4-FFF2-40B4-BE49-F238E27FC236}">
                <a16:creationId xmlns:a16="http://schemas.microsoft.com/office/drawing/2014/main" id="{E7FA1895-FBCC-CCD9-97AA-DA189CC47404}"/>
              </a:ext>
            </a:extLst>
          </p:cNvPr>
          <p:cNvSpPr txBox="1"/>
          <p:nvPr/>
        </p:nvSpPr>
        <p:spPr>
          <a:xfrm>
            <a:off x="9461500" y="37338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17</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(7.2%)</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31" name="楕円 30">
            <a:extLst>
              <a:ext uri="{FF2B5EF4-FFF2-40B4-BE49-F238E27FC236}">
                <a16:creationId xmlns:a16="http://schemas.microsoft.com/office/drawing/2014/main" id="{0F041E3F-2416-2637-8A9E-36ACCE08DDE4}"/>
              </a:ext>
            </a:extLst>
          </p:cNvPr>
          <p:cNvSpPr/>
          <p:nvPr/>
        </p:nvSpPr>
        <p:spPr>
          <a:xfrm>
            <a:off x="5207000" y="4406900"/>
            <a:ext cx="203200" cy="203200"/>
          </a:xfrm>
          <a:prstGeom prst="ellipse">
            <a:avLst/>
          </a:prstGeom>
          <a:solidFill>
            <a:srgbClr val="00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DA72FA71-9AE1-D37B-67C8-F93FFAA54BD7}"/>
              </a:ext>
            </a:extLst>
          </p:cNvPr>
          <p:cNvSpPr txBox="1"/>
          <p:nvPr/>
        </p:nvSpPr>
        <p:spPr>
          <a:xfrm>
            <a:off x="5486400" y="434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33" name="テキスト ボックス 32">
            <a:extLst>
              <a:ext uri="{FF2B5EF4-FFF2-40B4-BE49-F238E27FC236}">
                <a16:creationId xmlns:a16="http://schemas.microsoft.com/office/drawing/2014/main" id="{AB090269-50CB-E958-603C-607866E44150}"/>
              </a:ext>
            </a:extLst>
          </p:cNvPr>
          <p:cNvSpPr txBox="1"/>
          <p:nvPr/>
        </p:nvSpPr>
        <p:spPr>
          <a:xfrm>
            <a:off x="9461500" y="434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000000"/>
                </a:solidFill>
                <a:latin typeface="Meiryo UI" panose="020B0604030504040204" pitchFamily="50" charset="-128"/>
                <a:ea typeface="Meiryo UI" panose="020B0604030504040204" pitchFamily="50" charset="-128"/>
              </a:rPr>
              <a:t>6</a:t>
            </a:r>
            <a:r>
              <a:rPr kumimoji="1" lang="ja-JP" altLang="en-US" sz="1450" b="1">
                <a:solidFill>
                  <a:srgbClr val="000000"/>
                </a:solidFill>
                <a:latin typeface="Meiryo UI" panose="020B0604030504040204" pitchFamily="50" charset="-128"/>
                <a:ea typeface="Meiryo UI" panose="020B0604030504040204" pitchFamily="50" charset="-128"/>
              </a:rPr>
              <a:t>名 </a:t>
            </a:r>
            <a:r>
              <a:rPr kumimoji="1" lang="en-US" altLang="ja-JP" sz="1450" b="1">
                <a:solidFill>
                  <a:srgbClr val="000000"/>
                </a:solidFill>
                <a:latin typeface="Meiryo UI" panose="020B0604030504040204" pitchFamily="50" charset="-128"/>
                <a:ea typeface="Meiryo UI" panose="020B0604030504040204" pitchFamily="50" charset="-128"/>
              </a:rPr>
              <a:t>(2.5%)</a:t>
            </a:r>
            <a:endParaRPr kumimoji="1" lang="ja-JP" altLang="en-US" sz="1450" b="1">
              <a:solidFill>
                <a:srgbClr val="000000"/>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81000153-C079-2625-9B4F-2DD0F411B9EE}"/>
              </a:ext>
            </a:extLst>
          </p:cNvPr>
          <p:cNvSpPr/>
          <p:nvPr/>
        </p:nvSpPr>
        <p:spPr>
          <a:xfrm>
            <a:off x="5130800" y="5003800"/>
            <a:ext cx="6426200" cy="1295400"/>
          </a:xfrm>
          <a:prstGeom prst="roundRect">
            <a:avLst>
              <a:gd name="adj" fmla="val 12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FBAD5BF2-BCCA-C195-34DE-E59642D63CC2}"/>
              </a:ext>
            </a:extLst>
          </p:cNvPr>
          <p:cNvSpPr txBox="1"/>
          <p:nvPr/>
        </p:nvSpPr>
        <p:spPr>
          <a:xfrm>
            <a:off x="5334000" y="5130800"/>
            <a:ext cx="6045200" cy="841256"/>
          </a:xfrm>
          <a:prstGeom prst="rect">
            <a:avLst/>
          </a:prstGeom>
          <a:noFill/>
        </p:spPr>
        <p:txBody>
          <a:bodyPr vert="horz" wrap="square" lIns="76200" tIns="50800" rIns="76200" bIns="50800" rtlCol="0">
            <a:spAutoFit/>
          </a:bodyPr>
          <a:lstStyle/>
          <a:p>
            <a:r>
              <a:rPr kumimoji="1" lang="ja-JP" altLang="en-US" sz="1600" b="1">
                <a:solidFill>
                  <a:srgbClr val="1E293B"/>
                </a:solidFill>
                <a:latin typeface="Meiryo UI" panose="020B0604030504040204" pitchFamily="50" charset="-128"/>
                <a:ea typeface="Meiryo UI" panose="020B0604030504040204" pitchFamily="50" charset="-128"/>
              </a:rPr>
              <a:t>・「候補として検討したい」</a:t>
            </a:r>
            <a:r>
              <a:rPr kumimoji="1" lang="en-US" altLang="ja-JP" sz="1600" b="1">
                <a:solidFill>
                  <a:srgbClr val="1E293B"/>
                </a:solidFill>
                <a:latin typeface="Meiryo UI" panose="020B0604030504040204" pitchFamily="50" charset="-128"/>
                <a:ea typeface="Meiryo UI" panose="020B0604030504040204" pitchFamily="50" charset="-128"/>
              </a:rPr>
              <a:t>153</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64.8%</a:t>
            </a:r>
            <a:r>
              <a:rPr kumimoji="1" lang="ja-JP" altLang="en-US" sz="1600" b="1">
                <a:solidFill>
                  <a:srgbClr val="1E293B"/>
                </a:solidFill>
                <a:latin typeface="Meiryo UI" panose="020B0604030504040204" pitchFamily="50" charset="-128"/>
                <a:ea typeface="Meiryo UI" panose="020B0604030504040204" pitchFamily="50" charset="-128"/>
              </a:rPr>
              <a:t>）と「ぜひ利用したい」</a:t>
            </a:r>
            <a:r>
              <a:rPr kumimoji="1" lang="en-US" altLang="ja-JP" sz="1600" b="1">
                <a:solidFill>
                  <a:srgbClr val="1E293B"/>
                </a:solidFill>
                <a:latin typeface="Meiryo UI" panose="020B0604030504040204" pitchFamily="50" charset="-128"/>
                <a:ea typeface="Meiryo UI" panose="020B0604030504040204" pitchFamily="50" charset="-128"/>
              </a:rPr>
              <a:t>60</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25.4%</a:t>
            </a:r>
            <a:r>
              <a:rPr kumimoji="1" lang="ja-JP" altLang="en-US" sz="1600" b="1">
                <a:solidFill>
                  <a:srgbClr val="1E293B"/>
                </a:solidFill>
                <a:latin typeface="Meiryo UI" panose="020B0604030504040204" pitchFamily="50" charset="-128"/>
                <a:ea typeface="Meiryo UI" panose="020B0604030504040204" pitchFamily="50" charset="-128"/>
              </a:rPr>
              <a:t>）を合わせ、計</a:t>
            </a:r>
            <a:r>
              <a:rPr kumimoji="1" lang="en-US" altLang="ja-JP" sz="1600" b="1">
                <a:solidFill>
                  <a:srgbClr val="1E293B"/>
                </a:solidFill>
                <a:latin typeface="Meiryo UI" panose="020B0604030504040204" pitchFamily="50" charset="-128"/>
                <a:ea typeface="Meiryo UI" panose="020B0604030504040204" pitchFamily="50" charset="-128"/>
              </a:rPr>
              <a:t>213</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90.3%</a:t>
            </a:r>
            <a:r>
              <a:rPr kumimoji="1" lang="ja-JP" altLang="en-US" sz="1600" b="1">
                <a:solidFill>
                  <a:srgbClr val="1E293B"/>
                </a:solidFill>
                <a:latin typeface="Meiryo UI" panose="020B0604030504040204" pitchFamily="50" charset="-128"/>
                <a:ea typeface="Meiryo UI" panose="020B0604030504040204" pitchFamily="50" charset="-128"/>
              </a:rPr>
              <a:t>）が前向きな利用意向を示した。</a:t>
            </a:r>
          </a:p>
        </p:txBody>
      </p:sp>
    </p:spTree>
    <p:extLst>
      <p:ext uri="{BB962C8B-B14F-4D97-AF65-F5344CB8AC3E}">
        <p14:creationId xmlns:p14="http://schemas.microsoft.com/office/powerpoint/2010/main" val="10490442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EF4F5D8-FA06-575E-B372-72E4476AFB5B}"/>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3AC7EAB0-B0FA-97CC-12CF-F6F346ECFB44}"/>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6EDDF08-7F83-93C1-E0D8-3FFC3352739C}"/>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DB56E79-92EA-C4BC-345E-4991BBA8A0BC}"/>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部：来場者結果⑥</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6DD97FFE-1312-7848-80FB-E52DF76C394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Q4. </a:t>
            </a:r>
            <a:r>
              <a:rPr kumimoji="1" lang="ja-JP" altLang="en-US" sz="2000" b="1">
                <a:solidFill>
                  <a:srgbClr val="1E293B"/>
                </a:solidFill>
                <a:latin typeface="Meiryo UI" panose="020B0604030504040204" pitchFamily="50" charset="-128"/>
                <a:ea typeface="Meiryo UI" panose="020B0604030504040204" pitchFamily="50" charset="-128"/>
              </a:rPr>
              <a:t>現在健康について気になること（課題・関心のチェック）</a:t>
            </a:r>
          </a:p>
        </p:txBody>
      </p:sp>
      <p:sp>
        <p:nvSpPr>
          <p:cNvPr id="7" name="四角形: 角を丸くする 6">
            <a:extLst>
              <a:ext uri="{FF2B5EF4-FFF2-40B4-BE49-F238E27FC236}">
                <a16:creationId xmlns:a16="http://schemas.microsoft.com/office/drawing/2014/main" id="{BA8812BC-73FC-E118-D24E-8765E15BE205}"/>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AD94D91-36F8-3EDB-7437-37EEAC664CBD}"/>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8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CFD95F4B-05B3-B94A-30FC-F72FD6B7CE55}"/>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37932ED8-3BC9-2541-3E5C-6CA6904F73C3}"/>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「転倒（</a:t>
            </a:r>
            <a:r>
              <a:rPr kumimoji="1" lang="en-US" altLang="ja-JP" sz="1500" b="1">
                <a:solidFill>
                  <a:srgbClr val="2563EB"/>
                </a:solidFill>
                <a:latin typeface="Meiryo UI" panose="020B0604030504040204" pitchFamily="50" charset="-128"/>
                <a:ea typeface="Meiryo UI" panose="020B0604030504040204" pitchFamily="50" charset="-128"/>
              </a:rPr>
              <a:t>39.4%</a:t>
            </a:r>
            <a:r>
              <a:rPr kumimoji="1" lang="ja-JP" altLang="en-US" sz="1500" b="1">
                <a:solidFill>
                  <a:srgbClr val="2563EB"/>
                </a:solidFill>
                <a:latin typeface="Meiryo UI" panose="020B0604030504040204" pitchFamily="50" charset="-128"/>
                <a:ea typeface="Meiryo UI" panose="020B0604030504040204" pitchFamily="50" charset="-128"/>
              </a:rPr>
              <a:t>）」「栄養（</a:t>
            </a:r>
            <a:r>
              <a:rPr kumimoji="1" lang="en-US" altLang="ja-JP" sz="1500" b="1">
                <a:solidFill>
                  <a:srgbClr val="2563EB"/>
                </a:solidFill>
                <a:latin typeface="Meiryo UI" panose="020B0604030504040204" pitchFamily="50" charset="-128"/>
                <a:ea typeface="Meiryo UI" panose="020B0604030504040204" pitchFamily="50" charset="-128"/>
              </a:rPr>
              <a:t>33.5%</a:t>
            </a:r>
            <a:r>
              <a:rPr kumimoji="1" lang="ja-JP" altLang="en-US" sz="1500" b="1">
                <a:solidFill>
                  <a:srgbClr val="2563EB"/>
                </a:solidFill>
                <a:latin typeface="Meiryo UI" panose="020B0604030504040204" pitchFamily="50" charset="-128"/>
                <a:ea typeface="Meiryo UI" panose="020B0604030504040204" pitchFamily="50" charset="-128"/>
              </a:rPr>
              <a:t>）」「認知機能（</a:t>
            </a:r>
            <a:r>
              <a:rPr kumimoji="1" lang="en-US" altLang="ja-JP" sz="1500" b="1">
                <a:solidFill>
                  <a:srgbClr val="2563EB"/>
                </a:solidFill>
                <a:latin typeface="Meiryo UI" panose="020B0604030504040204" pitchFamily="50" charset="-128"/>
                <a:ea typeface="Meiryo UI" panose="020B0604030504040204" pitchFamily="50" charset="-128"/>
              </a:rPr>
              <a:t>33.1%</a:t>
            </a:r>
            <a:r>
              <a:rPr kumimoji="1" lang="ja-JP" altLang="en-US" sz="1500" b="1">
                <a:solidFill>
                  <a:srgbClr val="2563EB"/>
                </a:solidFill>
                <a:latin typeface="Meiryo UI" panose="020B0604030504040204" pitchFamily="50" charset="-128"/>
                <a:ea typeface="Meiryo UI" panose="020B0604030504040204" pitchFamily="50" charset="-128"/>
              </a:rPr>
              <a:t>）」「介護・終活（</a:t>
            </a:r>
            <a:r>
              <a:rPr kumimoji="1" lang="en-US" altLang="ja-JP" sz="1500" b="1">
                <a:solidFill>
                  <a:srgbClr val="2563EB"/>
                </a:solidFill>
                <a:latin typeface="Meiryo UI" panose="020B0604030504040204" pitchFamily="50" charset="-128"/>
                <a:ea typeface="Meiryo UI" panose="020B0604030504040204" pitchFamily="50" charset="-128"/>
              </a:rPr>
              <a:t>30.1%</a:t>
            </a:r>
            <a:r>
              <a:rPr kumimoji="1" lang="ja-JP" altLang="en-US" sz="1500" b="1">
                <a:solidFill>
                  <a:srgbClr val="2563EB"/>
                </a:solidFill>
                <a:latin typeface="Meiryo UI" panose="020B0604030504040204" pitchFamily="50" charset="-128"/>
                <a:ea typeface="Meiryo UI" panose="020B0604030504040204" pitchFamily="50" charset="-128"/>
              </a:rPr>
              <a:t>）」の</a:t>
            </a:r>
            <a:r>
              <a:rPr kumimoji="1" lang="en-US" altLang="ja-JP" sz="1500" b="1">
                <a:solidFill>
                  <a:srgbClr val="2563EB"/>
                </a:solidFill>
                <a:latin typeface="Meiryo UI" panose="020B0604030504040204" pitchFamily="50" charset="-128"/>
                <a:ea typeface="Meiryo UI" panose="020B0604030504040204" pitchFamily="50" charset="-128"/>
              </a:rPr>
              <a:t>4</a:t>
            </a:r>
            <a:r>
              <a:rPr kumimoji="1" lang="ja-JP" altLang="en-US" sz="1500" b="1">
                <a:solidFill>
                  <a:srgbClr val="2563EB"/>
                </a:solidFill>
                <a:latin typeface="Meiryo UI" panose="020B0604030504040204" pitchFamily="50" charset="-128"/>
                <a:ea typeface="Meiryo UI" panose="020B0604030504040204" pitchFamily="50" charset="-128"/>
              </a:rPr>
              <a:t>項目が</a:t>
            </a:r>
            <a:r>
              <a:rPr kumimoji="1" lang="en-US" altLang="ja-JP" sz="1500" b="1">
                <a:solidFill>
                  <a:srgbClr val="2563EB"/>
                </a:solidFill>
                <a:latin typeface="Meiryo UI" panose="020B0604030504040204" pitchFamily="50" charset="-128"/>
                <a:ea typeface="Meiryo UI" panose="020B0604030504040204" pitchFamily="50" charset="-128"/>
              </a:rPr>
              <a:t>3</a:t>
            </a:r>
            <a:r>
              <a:rPr kumimoji="1" lang="ja-JP" altLang="en-US" sz="1500" b="1">
                <a:solidFill>
                  <a:srgbClr val="2563EB"/>
                </a:solidFill>
                <a:latin typeface="Meiryo UI" panose="020B0604030504040204" pitchFamily="50" charset="-128"/>
                <a:ea typeface="Meiryo UI" panose="020B0604030504040204" pitchFamily="50" charset="-128"/>
              </a:rPr>
              <a:t>割超</a:t>
            </a:r>
          </a:p>
        </p:txBody>
      </p:sp>
      <p:sp>
        <p:nvSpPr>
          <p:cNvPr id="11" name="四角形: 角を丸くする 10">
            <a:extLst>
              <a:ext uri="{FF2B5EF4-FFF2-40B4-BE49-F238E27FC236}">
                <a16:creationId xmlns:a16="http://schemas.microsoft.com/office/drawing/2014/main" id="{7A90CBDF-8EBF-1B87-A123-B2563AAC2903}"/>
              </a:ext>
            </a:extLst>
          </p:cNvPr>
          <p:cNvSpPr/>
          <p:nvPr/>
        </p:nvSpPr>
        <p:spPr>
          <a:xfrm>
            <a:off x="254000" y="1549400"/>
            <a:ext cx="7239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9A014178-7288-7CE9-B95F-7140892FBB55}"/>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1552A9E-E28B-D0D5-911F-32376FA0DC48}"/>
              </a:ext>
            </a:extLst>
          </p:cNvPr>
          <p:cNvSpPr txBox="1"/>
          <p:nvPr/>
        </p:nvSpPr>
        <p:spPr>
          <a:xfrm>
            <a:off x="685800" y="1739900"/>
            <a:ext cx="6604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Q4. </a:t>
            </a:r>
            <a:r>
              <a:rPr kumimoji="1" lang="ja-JP" altLang="en-US" sz="1750" b="1">
                <a:solidFill>
                  <a:srgbClr val="1E293B"/>
                </a:solidFill>
                <a:latin typeface="Meiryo UI" panose="020B0604030504040204" pitchFamily="50" charset="-128"/>
                <a:ea typeface="Meiryo UI" panose="020B0604030504040204" pitchFamily="50" charset="-128"/>
              </a:rPr>
              <a:t>健康について気になること（複数回答・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テキスト ボックス 13">
            <a:extLst>
              <a:ext uri="{FF2B5EF4-FFF2-40B4-BE49-F238E27FC236}">
                <a16:creationId xmlns:a16="http://schemas.microsoft.com/office/drawing/2014/main" id="{866414CD-617F-5AEC-1F84-F91E53058C57}"/>
              </a:ext>
            </a:extLst>
          </p:cNvPr>
          <p:cNvSpPr txBox="1"/>
          <p:nvPr/>
        </p:nvSpPr>
        <p:spPr>
          <a:xfrm>
            <a:off x="508000" y="2286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足腰の衰え・転倒</a:t>
            </a:r>
          </a:p>
        </p:txBody>
      </p:sp>
      <p:sp>
        <p:nvSpPr>
          <p:cNvPr id="15" name="四角形: 角を丸くする 14">
            <a:extLst>
              <a:ext uri="{FF2B5EF4-FFF2-40B4-BE49-F238E27FC236}">
                <a16:creationId xmlns:a16="http://schemas.microsoft.com/office/drawing/2014/main" id="{44B35A4E-0FC1-5AA0-AF62-C52622A50C29}"/>
              </a:ext>
            </a:extLst>
          </p:cNvPr>
          <p:cNvSpPr/>
          <p:nvPr/>
        </p:nvSpPr>
        <p:spPr>
          <a:xfrm>
            <a:off x="2832100" y="2349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28F872FA-634D-937A-17D6-9417D7002D85}"/>
              </a:ext>
            </a:extLst>
          </p:cNvPr>
          <p:cNvSpPr/>
          <p:nvPr/>
        </p:nvSpPr>
        <p:spPr>
          <a:xfrm>
            <a:off x="2832100" y="2349500"/>
            <a:ext cx="11049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E4ECEC4-F686-3519-12EB-653073124358}"/>
              </a:ext>
            </a:extLst>
          </p:cNvPr>
          <p:cNvSpPr txBox="1"/>
          <p:nvPr/>
        </p:nvSpPr>
        <p:spPr>
          <a:xfrm>
            <a:off x="5753100" y="2286000"/>
            <a:ext cx="18415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93</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(39.4%)</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A7A556E7-2F25-4AEA-FCA5-5038BD775359}"/>
              </a:ext>
            </a:extLst>
          </p:cNvPr>
          <p:cNvSpPr txBox="1"/>
          <p:nvPr/>
        </p:nvSpPr>
        <p:spPr>
          <a:xfrm>
            <a:off x="508000" y="2921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食事・栄養バランス</a:t>
            </a:r>
          </a:p>
        </p:txBody>
      </p:sp>
      <p:sp>
        <p:nvSpPr>
          <p:cNvPr id="19" name="四角形: 角を丸くする 18">
            <a:extLst>
              <a:ext uri="{FF2B5EF4-FFF2-40B4-BE49-F238E27FC236}">
                <a16:creationId xmlns:a16="http://schemas.microsoft.com/office/drawing/2014/main" id="{E4514C27-2032-CA8A-0916-6E131BC3AC68}"/>
              </a:ext>
            </a:extLst>
          </p:cNvPr>
          <p:cNvSpPr/>
          <p:nvPr/>
        </p:nvSpPr>
        <p:spPr>
          <a:xfrm>
            <a:off x="2832100" y="2984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0F3D656-8F2C-9A09-13E7-FD5B0C3C437B}"/>
              </a:ext>
            </a:extLst>
          </p:cNvPr>
          <p:cNvSpPr/>
          <p:nvPr/>
        </p:nvSpPr>
        <p:spPr>
          <a:xfrm>
            <a:off x="2832100" y="2984500"/>
            <a:ext cx="939800" cy="2540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15C6B2EE-A4F4-E673-F92F-5E35E1BA946B}"/>
              </a:ext>
            </a:extLst>
          </p:cNvPr>
          <p:cNvSpPr txBox="1"/>
          <p:nvPr/>
        </p:nvSpPr>
        <p:spPr>
          <a:xfrm>
            <a:off x="5753100" y="2921000"/>
            <a:ext cx="18415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79</a:t>
            </a:r>
            <a:r>
              <a:rPr kumimoji="1" lang="ja-JP" altLang="en-US" sz="1500" b="1">
                <a:solidFill>
                  <a:srgbClr val="10B981"/>
                </a:solidFill>
                <a:latin typeface="Meiryo UI" panose="020B0604030504040204" pitchFamily="50" charset="-128"/>
                <a:ea typeface="Meiryo UI" panose="020B0604030504040204" pitchFamily="50" charset="-128"/>
              </a:rPr>
              <a:t>名 </a:t>
            </a:r>
            <a:r>
              <a:rPr kumimoji="1" lang="en-US" altLang="ja-JP" sz="1500" b="1">
                <a:solidFill>
                  <a:srgbClr val="10B981"/>
                </a:solidFill>
                <a:latin typeface="Meiryo UI" panose="020B0604030504040204" pitchFamily="50" charset="-128"/>
                <a:ea typeface="Meiryo UI" panose="020B0604030504040204" pitchFamily="50" charset="-128"/>
              </a:rPr>
              <a:t>(33.5%)</a:t>
            </a:r>
            <a:endParaRPr kumimoji="1" lang="ja-JP" altLang="en-US" sz="1500" b="1">
              <a:solidFill>
                <a:srgbClr val="10B981"/>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3466F5B1-6B61-EE8C-9E6B-D8981F437350}"/>
              </a:ext>
            </a:extLst>
          </p:cNvPr>
          <p:cNvSpPr txBox="1"/>
          <p:nvPr/>
        </p:nvSpPr>
        <p:spPr>
          <a:xfrm>
            <a:off x="508000" y="3556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物忘れ・認知機能</a:t>
            </a:r>
          </a:p>
        </p:txBody>
      </p:sp>
      <p:sp>
        <p:nvSpPr>
          <p:cNvPr id="23" name="四角形: 角を丸くする 22">
            <a:extLst>
              <a:ext uri="{FF2B5EF4-FFF2-40B4-BE49-F238E27FC236}">
                <a16:creationId xmlns:a16="http://schemas.microsoft.com/office/drawing/2014/main" id="{AED55C13-F7DB-6F61-24EF-DD2C3CCC83C5}"/>
              </a:ext>
            </a:extLst>
          </p:cNvPr>
          <p:cNvSpPr/>
          <p:nvPr/>
        </p:nvSpPr>
        <p:spPr>
          <a:xfrm>
            <a:off x="2832100" y="3619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4785B0C1-57AF-F90F-D447-2459DDE41ECD}"/>
              </a:ext>
            </a:extLst>
          </p:cNvPr>
          <p:cNvSpPr/>
          <p:nvPr/>
        </p:nvSpPr>
        <p:spPr>
          <a:xfrm>
            <a:off x="2832100" y="3619500"/>
            <a:ext cx="9271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C0E2476D-3684-7869-FD13-422924AC08B1}"/>
              </a:ext>
            </a:extLst>
          </p:cNvPr>
          <p:cNvSpPr txBox="1"/>
          <p:nvPr/>
        </p:nvSpPr>
        <p:spPr>
          <a:xfrm>
            <a:off x="5753100" y="3556000"/>
            <a:ext cx="1841500" cy="333425"/>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78</a:t>
            </a:r>
            <a:r>
              <a:rPr kumimoji="1" lang="ja-JP" altLang="en-US" sz="1500" b="1">
                <a:solidFill>
                  <a:srgbClr val="F59E0B"/>
                </a:solidFill>
                <a:latin typeface="Meiryo UI" panose="020B0604030504040204" pitchFamily="50" charset="-128"/>
                <a:ea typeface="Meiryo UI" panose="020B0604030504040204" pitchFamily="50" charset="-128"/>
              </a:rPr>
              <a:t>名 </a:t>
            </a:r>
            <a:r>
              <a:rPr kumimoji="1" lang="en-US" altLang="ja-JP" sz="1500" b="1">
                <a:solidFill>
                  <a:srgbClr val="F59E0B"/>
                </a:solidFill>
                <a:latin typeface="Meiryo UI" panose="020B0604030504040204" pitchFamily="50" charset="-128"/>
                <a:ea typeface="Meiryo UI" panose="020B0604030504040204" pitchFamily="50" charset="-128"/>
              </a:rPr>
              <a:t>(33.1%)</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CDB83AE3-4767-52D8-19C9-EFC1D6B7BF73}"/>
              </a:ext>
            </a:extLst>
          </p:cNvPr>
          <p:cNvSpPr txBox="1"/>
          <p:nvPr/>
        </p:nvSpPr>
        <p:spPr>
          <a:xfrm>
            <a:off x="508000" y="4191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将来の介護や終活</a:t>
            </a:r>
          </a:p>
        </p:txBody>
      </p:sp>
      <p:sp>
        <p:nvSpPr>
          <p:cNvPr id="27" name="四角形: 角を丸くする 26">
            <a:extLst>
              <a:ext uri="{FF2B5EF4-FFF2-40B4-BE49-F238E27FC236}">
                <a16:creationId xmlns:a16="http://schemas.microsoft.com/office/drawing/2014/main" id="{57687F6C-96C6-F8A5-0D10-E708752046E3}"/>
              </a:ext>
            </a:extLst>
          </p:cNvPr>
          <p:cNvSpPr/>
          <p:nvPr/>
        </p:nvSpPr>
        <p:spPr>
          <a:xfrm>
            <a:off x="2832100" y="4254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9D75B3EE-FEA4-5DEA-A72B-BE905560D3A1}"/>
              </a:ext>
            </a:extLst>
          </p:cNvPr>
          <p:cNvSpPr/>
          <p:nvPr/>
        </p:nvSpPr>
        <p:spPr>
          <a:xfrm>
            <a:off x="2832100" y="4254500"/>
            <a:ext cx="838200" cy="2540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5FAFD083-2523-8608-4BB8-31559D272DB0}"/>
              </a:ext>
            </a:extLst>
          </p:cNvPr>
          <p:cNvSpPr txBox="1"/>
          <p:nvPr/>
        </p:nvSpPr>
        <p:spPr>
          <a:xfrm>
            <a:off x="5753100" y="4191000"/>
            <a:ext cx="1841500" cy="333425"/>
          </a:xfrm>
          <a:prstGeom prst="rect">
            <a:avLst/>
          </a:prstGeom>
          <a:noFill/>
        </p:spPr>
        <p:txBody>
          <a:bodyPr vert="horz" wrap="square" lIns="76200" tIns="50800" rIns="76200" bIns="50800" rtlCol="0">
            <a:spAutoFit/>
          </a:bodyPr>
          <a:lstStyle/>
          <a:p>
            <a:r>
              <a:rPr kumimoji="1" lang="en-US" altLang="ja-JP" sz="1500" b="1">
                <a:solidFill>
                  <a:srgbClr val="8B5CF6"/>
                </a:solidFill>
                <a:latin typeface="Meiryo UI" panose="020B0604030504040204" pitchFamily="50" charset="-128"/>
                <a:ea typeface="Meiryo UI" panose="020B0604030504040204" pitchFamily="50" charset="-128"/>
              </a:rPr>
              <a:t>71</a:t>
            </a:r>
            <a:r>
              <a:rPr kumimoji="1" lang="ja-JP" altLang="en-US" sz="1500" b="1">
                <a:solidFill>
                  <a:srgbClr val="8B5CF6"/>
                </a:solidFill>
                <a:latin typeface="Meiryo UI" panose="020B0604030504040204" pitchFamily="50" charset="-128"/>
                <a:ea typeface="Meiryo UI" panose="020B0604030504040204" pitchFamily="50" charset="-128"/>
              </a:rPr>
              <a:t>名 </a:t>
            </a:r>
            <a:r>
              <a:rPr kumimoji="1" lang="en-US" altLang="ja-JP" sz="1500" b="1">
                <a:solidFill>
                  <a:srgbClr val="8B5CF6"/>
                </a:solidFill>
                <a:latin typeface="Meiryo UI" panose="020B0604030504040204" pitchFamily="50" charset="-128"/>
                <a:ea typeface="Meiryo UI" panose="020B0604030504040204" pitchFamily="50" charset="-128"/>
              </a:rPr>
              <a:t>(30.1%)</a:t>
            </a:r>
            <a:endParaRPr kumimoji="1" lang="ja-JP" altLang="en-US" sz="1500" b="1">
              <a:solidFill>
                <a:srgbClr val="8B5CF6"/>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D65EA9A0-469D-893A-1A49-46A19946B549}"/>
              </a:ext>
            </a:extLst>
          </p:cNvPr>
          <p:cNvSpPr txBox="1"/>
          <p:nvPr/>
        </p:nvSpPr>
        <p:spPr>
          <a:xfrm>
            <a:off x="508000" y="4826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とくにない</a:t>
            </a:r>
          </a:p>
        </p:txBody>
      </p:sp>
      <p:sp>
        <p:nvSpPr>
          <p:cNvPr id="31" name="四角形: 角を丸くする 30">
            <a:extLst>
              <a:ext uri="{FF2B5EF4-FFF2-40B4-BE49-F238E27FC236}">
                <a16:creationId xmlns:a16="http://schemas.microsoft.com/office/drawing/2014/main" id="{BDFBD1ED-DB5F-4A6F-EC1F-65F782477647}"/>
              </a:ext>
            </a:extLst>
          </p:cNvPr>
          <p:cNvSpPr/>
          <p:nvPr/>
        </p:nvSpPr>
        <p:spPr>
          <a:xfrm>
            <a:off x="2832100" y="4889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BAA3B52E-DDD3-181F-E49B-8C1F4E7CF319}"/>
              </a:ext>
            </a:extLst>
          </p:cNvPr>
          <p:cNvSpPr/>
          <p:nvPr/>
        </p:nvSpPr>
        <p:spPr>
          <a:xfrm>
            <a:off x="2832100" y="4889500"/>
            <a:ext cx="406400" cy="2540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DA79DB9C-D116-DA25-98AD-038C3CAEE422}"/>
              </a:ext>
            </a:extLst>
          </p:cNvPr>
          <p:cNvSpPr txBox="1"/>
          <p:nvPr/>
        </p:nvSpPr>
        <p:spPr>
          <a:xfrm>
            <a:off x="5753100" y="4826000"/>
            <a:ext cx="1841500" cy="333425"/>
          </a:xfrm>
          <a:prstGeom prst="rect">
            <a:avLst/>
          </a:prstGeom>
          <a:noFill/>
        </p:spPr>
        <p:txBody>
          <a:bodyPr vert="horz" wrap="square" lIns="76200" tIns="50800" rIns="76200" bIns="50800" rtlCol="0">
            <a:spAutoFit/>
          </a:bodyPr>
          <a:lstStyle/>
          <a:p>
            <a:r>
              <a:rPr kumimoji="1" lang="en-US" altLang="ja-JP" sz="1500" b="1">
                <a:solidFill>
                  <a:srgbClr val="94A3B8"/>
                </a:solidFill>
                <a:latin typeface="Meiryo UI" panose="020B0604030504040204" pitchFamily="50" charset="-128"/>
                <a:ea typeface="Meiryo UI" panose="020B0604030504040204" pitchFamily="50" charset="-128"/>
              </a:rPr>
              <a:t>34</a:t>
            </a:r>
            <a:r>
              <a:rPr kumimoji="1" lang="ja-JP" altLang="en-US" sz="1500" b="1">
                <a:solidFill>
                  <a:srgbClr val="94A3B8"/>
                </a:solidFill>
                <a:latin typeface="Meiryo UI" panose="020B0604030504040204" pitchFamily="50" charset="-128"/>
                <a:ea typeface="Meiryo UI" panose="020B0604030504040204" pitchFamily="50" charset="-128"/>
              </a:rPr>
              <a:t>名 </a:t>
            </a:r>
            <a:r>
              <a:rPr kumimoji="1" lang="en-US" altLang="ja-JP" sz="1500" b="1">
                <a:solidFill>
                  <a:srgbClr val="94A3B8"/>
                </a:solidFill>
                <a:latin typeface="Meiryo UI" panose="020B0604030504040204" pitchFamily="50" charset="-128"/>
                <a:ea typeface="Meiryo UI" panose="020B0604030504040204" pitchFamily="50" charset="-128"/>
              </a:rPr>
              <a:t>(14.4%)</a:t>
            </a:r>
            <a:endParaRPr kumimoji="1" lang="ja-JP" altLang="en-US" sz="1500" b="1">
              <a:solidFill>
                <a:srgbClr val="94A3B8"/>
              </a:solidFill>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B3EAA26-9741-4B4A-FAB3-C73A05EC459E}"/>
              </a:ext>
            </a:extLst>
          </p:cNvPr>
          <p:cNvSpPr txBox="1"/>
          <p:nvPr/>
        </p:nvSpPr>
        <p:spPr>
          <a:xfrm>
            <a:off x="508000" y="5461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薬の飲み方 ／ その他</a:t>
            </a:r>
          </a:p>
        </p:txBody>
      </p:sp>
      <p:sp>
        <p:nvSpPr>
          <p:cNvPr id="35" name="四角形: 角を丸くする 34">
            <a:extLst>
              <a:ext uri="{FF2B5EF4-FFF2-40B4-BE49-F238E27FC236}">
                <a16:creationId xmlns:a16="http://schemas.microsoft.com/office/drawing/2014/main" id="{0883DDDB-673D-2D03-95D8-2AA60B92D994}"/>
              </a:ext>
            </a:extLst>
          </p:cNvPr>
          <p:cNvSpPr/>
          <p:nvPr/>
        </p:nvSpPr>
        <p:spPr>
          <a:xfrm>
            <a:off x="2832100" y="5524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A77EB4EB-EF98-6BCD-999E-C6060622D9A9}"/>
              </a:ext>
            </a:extLst>
          </p:cNvPr>
          <p:cNvSpPr/>
          <p:nvPr/>
        </p:nvSpPr>
        <p:spPr>
          <a:xfrm>
            <a:off x="2832100" y="5524500"/>
            <a:ext cx="127000" cy="254000"/>
          </a:xfrm>
          <a:prstGeom prst="roundRect">
            <a:avLst>
              <a:gd name="adj" fmla="val 50000"/>
            </a:avLst>
          </a:prstGeom>
          <a:solidFill>
            <a:srgbClr val="00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46316109-FA2E-5DD5-A755-58F05874E6B9}"/>
              </a:ext>
            </a:extLst>
          </p:cNvPr>
          <p:cNvSpPr txBox="1"/>
          <p:nvPr/>
        </p:nvSpPr>
        <p:spPr>
          <a:xfrm>
            <a:off x="5753100" y="5461000"/>
            <a:ext cx="1841500" cy="333425"/>
          </a:xfrm>
          <a:prstGeom prst="rect">
            <a:avLst/>
          </a:prstGeom>
          <a:noFill/>
        </p:spPr>
        <p:txBody>
          <a:bodyPr vert="horz" wrap="square" lIns="76200" tIns="50800" rIns="76200" bIns="50800" rtlCol="0">
            <a:spAutoFit/>
          </a:bodyPr>
          <a:lstStyle/>
          <a:p>
            <a:r>
              <a:rPr kumimoji="1" lang="ja-JP" altLang="en-US" sz="1500" b="1">
                <a:solidFill>
                  <a:srgbClr val="000000"/>
                </a:solidFill>
                <a:latin typeface="Meiryo UI" panose="020B0604030504040204" pitchFamily="50" charset="-128"/>
                <a:ea typeface="Meiryo UI" panose="020B0604030504040204" pitchFamily="50" charset="-128"/>
              </a:rPr>
              <a:t>各</a:t>
            </a:r>
            <a:r>
              <a:rPr kumimoji="1" lang="en-US" altLang="ja-JP" sz="1500" b="1">
                <a:solidFill>
                  <a:srgbClr val="000000"/>
                </a:solidFill>
                <a:latin typeface="Meiryo UI" panose="020B0604030504040204" pitchFamily="50" charset="-128"/>
                <a:ea typeface="Meiryo UI" panose="020B0604030504040204" pitchFamily="50" charset="-128"/>
              </a:rPr>
              <a:t>11</a:t>
            </a:r>
            <a:r>
              <a:rPr kumimoji="1" lang="ja-JP" altLang="en-US" sz="1500" b="1">
                <a:solidFill>
                  <a:srgbClr val="000000"/>
                </a:solidFill>
                <a:latin typeface="Meiryo UI" panose="020B0604030504040204" pitchFamily="50" charset="-128"/>
                <a:ea typeface="Meiryo UI" panose="020B0604030504040204" pitchFamily="50" charset="-128"/>
              </a:rPr>
              <a:t>名 </a:t>
            </a:r>
            <a:r>
              <a:rPr kumimoji="1" lang="en-US" altLang="ja-JP" sz="1500" b="1">
                <a:solidFill>
                  <a:srgbClr val="000000"/>
                </a:solidFill>
                <a:latin typeface="Meiryo UI" panose="020B0604030504040204" pitchFamily="50" charset="-128"/>
                <a:ea typeface="Meiryo UI" panose="020B0604030504040204" pitchFamily="50" charset="-128"/>
              </a:rPr>
              <a:t>(4.7%)</a:t>
            </a:r>
            <a:endParaRPr kumimoji="1" lang="ja-JP" altLang="en-US" sz="1500" b="1">
              <a:solidFill>
                <a:srgbClr val="000000"/>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a16:creationId xmlns:a16="http://schemas.microsoft.com/office/drawing/2014/main" id="{1197A701-D44B-F464-EBCB-3FBC48CB2C5F}"/>
              </a:ext>
            </a:extLst>
          </p:cNvPr>
          <p:cNvSpPr/>
          <p:nvPr/>
        </p:nvSpPr>
        <p:spPr>
          <a:xfrm>
            <a:off x="7696200" y="1549400"/>
            <a:ext cx="4241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CDB9B5F0-72B0-29AE-AB3C-58DAAEB1A91A}"/>
              </a:ext>
            </a:extLst>
          </p:cNvPr>
          <p:cNvSpPr/>
          <p:nvPr/>
        </p:nvSpPr>
        <p:spPr>
          <a:xfrm>
            <a:off x="79248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29D13ECF-F7F3-2136-E2FC-91A1FAAF87F9}"/>
              </a:ext>
            </a:extLst>
          </p:cNvPr>
          <p:cNvSpPr txBox="1"/>
          <p:nvPr/>
        </p:nvSpPr>
        <p:spPr>
          <a:xfrm>
            <a:off x="8128000" y="1739900"/>
            <a:ext cx="3606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結果の説明</a:t>
            </a:r>
          </a:p>
        </p:txBody>
      </p:sp>
      <p:sp>
        <p:nvSpPr>
          <p:cNvPr id="41" name="テキスト ボックス 40">
            <a:extLst>
              <a:ext uri="{FF2B5EF4-FFF2-40B4-BE49-F238E27FC236}">
                <a16:creationId xmlns:a16="http://schemas.microsoft.com/office/drawing/2014/main" id="{5F389250-B63F-1D97-9ED8-4BA5F5B0533E}"/>
              </a:ext>
            </a:extLst>
          </p:cNvPr>
          <p:cNvSpPr txBox="1"/>
          <p:nvPr/>
        </p:nvSpPr>
        <p:spPr>
          <a:xfrm>
            <a:off x="7950200" y="2336800"/>
            <a:ext cx="3733800" cy="1626086"/>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・上位</a:t>
            </a:r>
            <a:r>
              <a:rPr kumimoji="1" lang="en-US" altLang="ja-JP" sz="1650">
                <a:solidFill>
                  <a:srgbClr val="1E293B"/>
                </a:solidFill>
                <a:latin typeface="Meiryo UI" panose="020B0604030504040204" pitchFamily="50" charset="-128"/>
                <a:ea typeface="Meiryo UI" panose="020B0604030504040204" pitchFamily="50" charset="-128"/>
              </a:rPr>
              <a:t>4</a:t>
            </a:r>
            <a:r>
              <a:rPr kumimoji="1" lang="ja-JP" altLang="en-US" sz="1650">
                <a:solidFill>
                  <a:srgbClr val="1E293B"/>
                </a:solidFill>
                <a:latin typeface="Meiryo UI" panose="020B0604030504040204" pitchFamily="50" charset="-128"/>
                <a:ea typeface="Meiryo UI" panose="020B0604030504040204" pitchFamily="50" charset="-128"/>
              </a:rPr>
              <a:t>項目（足腰の衰え・転倒、食事・栄養、物忘れ・認知機能、将来の介護や終活）がいずれも</a:t>
            </a:r>
            <a:r>
              <a:rPr kumimoji="1" lang="en-US" altLang="ja-JP" sz="1650">
                <a:solidFill>
                  <a:srgbClr val="1E293B"/>
                </a:solidFill>
                <a:latin typeface="Meiryo UI" panose="020B0604030504040204" pitchFamily="50" charset="-128"/>
                <a:ea typeface="Meiryo UI" panose="020B0604030504040204" pitchFamily="50" charset="-128"/>
              </a:rPr>
              <a:t>30%</a:t>
            </a:r>
            <a:r>
              <a:rPr kumimoji="1" lang="ja-JP" altLang="en-US" sz="1650">
                <a:solidFill>
                  <a:srgbClr val="1E293B"/>
                </a:solidFill>
                <a:latin typeface="Meiryo UI" panose="020B0604030504040204" pitchFamily="50" charset="-128"/>
                <a:ea typeface="Meiryo UI" panose="020B0604030504040204" pitchFamily="50" charset="-128"/>
              </a:rPr>
              <a:t>を超えた。
・「その他（</a:t>
            </a:r>
            <a:r>
              <a:rPr kumimoji="1" lang="en-US" altLang="ja-JP" sz="1650">
                <a:solidFill>
                  <a:srgbClr val="1E293B"/>
                </a:solidFill>
                <a:latin typeface="Meiryo UI" panose="020B0604030504040204" pitchFamily="50" charset="-128"/>
                <a:ea typeface="Meiryo UI" panose="020B0604030504040204" pitchFamily="50" charset="-128"/>
              </a:rPr>
              <a:t>11</a:t>
            </a:r>
            <a:r>
              <a:rPr kumimoji="1" lang="ja-JP" altLang="en-US" sz="1650">
                <a:solidFill>
                  <a:srgbClr val="1E293B"/>
                </a:solidFill>
                <a:latin typeface="Meiryo UI" panose="020B0604030504040204" pitchFamily="50" charset="-128"/>
                <a:ea typeface="Meiryo UI" panose="020B0604030504040204" pitchFamily="50" charset="-128"/>
              </a:rPr>
              <a:t>名）」には、高血圧、糖尿病、ひざの痛み、五十肩などが記載された。</a:t>
            </a:r>
          </a:p>
        </p:txBody>
      </p:sp>
    </p:spTree>
    <p:extLst>
      <p:ext uri="{BB962C8B-B14F-4D97-AF65-F5344CB8AC3E}">
        <p14:creationId xmlns:p14="http://schemas.microsoft.com/office/powerpoint/2010/main" val="1191846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FE6E1EA-BE79-ED64-9886-251AE3E86C8C}"/>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6653399-5364-AA5F-056A-17ADD207AE71}"/>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C4D510F-D07B-09D1-B311-2B619626C51F}"/>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C0E3BC6-24E8-80DF-A6D1-0059A6C5E1FB}"/>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部：来場者結果⑦</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C47CDC0E-4465-E9D0-EEF3-40B09211BD5B}"/>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Q5. </a:t>
            </a:r>
            <a:r>
              <a:rPr kumimoji="1" lang="ja-JP" altLang="en-US" sz="2000" b="1">
                <a:solidFill>
                  <a:srgbClr val="1E293B"/>
                </a:solidFill>
                <a:latin typeface="Meiryo UI" panose="020B0604030504040204" pitchFamily="50" charset="-128"/>
                <a:ea typeface="Meiryo UI" panose="020B0604030504040204" pitchFamily="50" charset="-128"/>
              </a:rPr>
              <a:t>来年に期待する内容（来年度出展内容のヒント）</a:t>
            </a:r>
          </a:p>
        </p:txBody>
      </p:sp>
      <p:sp>
        <p:nvSpPr>
          <p:cNvPr id="7" name="四角形: 角を丸くする 6">
            <a:extLst>
              <a:ext uri="{FF2B5EF4-FFF2-40B4-BE49-F238E27FC236}">
                <a16:creationId xmlns:a16="http://schemas.microsoft.com/office/drawing/2014/main" id="{25D8AA2D-9904-D70D-7427-3A06F33DA12B}"/>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C63D73A-64D1-61B5-E640-02ACD0DA1276}"/>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9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D06A15D-1331-2918-0563-31E63F45710F}"/>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65EE28D-CCA8-872B-F05A-C311A05041DF}"/>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「運動・転倒・骨密度チェック（</a:t>
            </a:r>
            <a:r>
              <a:rPr kumimoji="1" lang="en-US" altLang="ja-JP" sz="1500" b="1">
                <a:solidFill>
                  <a:srgbClr val="2563EB"/>
                </a:solidFill>
                <a:latin typeface="Meiryo UI" panose="020B0604030504040204" pitchFamily="50" charset="-128"/>
                <a:ea typeface="Meiryo UI" panose="020B0604030504040204" pitchFamily="50" charset="-128"/>
              </a:rPr>
              <a:t>12</a:t>
            </a:r>
            <a:r>
              <a:rPr kumimoji="1" lang="ja-JP" altLang="en-US" sz="1500" b="1">
                <a:solidFill>
                  <a:srgbClr val="2563EB"/>
                </a:solidFill>
                <a:latin typeface="Meiryo UI" panose="020B0604030504040204" pitchFamily="50" charset="-128"/>
                <a:ea typeface="Meiryo UI" panose="020B0604030504040204" pitchFamily="50" charset="-128"/>
              </a:rPr>
              <a:t>件）」「今年度と同様の測定継続（</a:t>
            </a:r>
            <a:r>
              <a:rPr kumimoji="1" lang="en-US" altLang="ja-JP" sz="1500" b="1">
                <a:solidFill>
                  <a:srgbClr val="2563EB"/>
                </a:solidFill>
                <a:latin typeface="Meiryo UI" panose="020B0604030504040204" pitchFamily="50" charset="-128"/>
                <a:ea typeface="Meiryo UI" panose="020B0604030504040204" pitchFamily="50" charset="-128"/>
              </a:rPr>
              <a:t>11</a:t>
            </a:r>
            <a:r>
              <a:rPr kumimoji="1" lang="ja-JP" altLang="en-US" sz="1500" b="1">
                <a:solidFill>
                  <a:srgbClr val="2563EB"/>
                </a:solidFill>
                <a:latin typeface="Meiryo UI" panose="020B0604030504040204" pitchFamily="50" charset="-128"/>
                <a:ea typeface="Meiryo UI" panose="020B0604030504040204" pitchFamily="50" charset="-128"/>
              </a:rPr>
              <a:t>件）」「認知機能チェック（</a:t>
            </a:r>
            <a:r>
              <a:rPr kumimoji="1" lang="en-US" altLang="ja-JP" sz="1500" b="1">
                <a:solidFill>
                  <a:srgbClr val="2563EB"/>
                </a:solidFill>
                <a:latin typeface="Meiryo UI" panose="020B0604030504040204" pitchFamily="50" charset="-128"/>
                <a:ea typeface="Meiryo UI" panose="020B0604030504040204" pitchFamily="50" charset="-128"/>
              </a:rPr>
              <a:t>6</a:t>
            </a:r>
            <a:r>
              <a:rPr kumimoji="1" lang="ja-JP" altLang="en-US" sz="1500" b="1">
                <a:solidFill>
                  <a:srgbClr val="2563EB"/>
                </a:solidFill>
                <a:latin typeface="Meiryo UI" panose="020B0604030504040204" pitchFamily="50" charset="-128"/>
                <a:ea typeface="Meiryo UI" panose="020B0604030504040204" pitchFamily="50" charset="-128"/>
              </a:rPr>
              <a:t>件）」が中心</a:t>
            </a:r>
          </a:p>
        </p:txBody>
      </p:sp>
      <p:sp>
        <p:nvSpPr>
          <p:cNvPr id="11" name="四角形: 角を丸くする 10">
            <a:extLst>
              <a:ext uri="{FF2B5EF4-FFF2-40B4-BE49-F238E27FC236}">
                <a16:creationId xmlns:a16="http://schemas.microsoft.com/office/drawing/2014/main" id="{F6AED16F-C3ED-3417-BF61-4C0E354CBB73}"/>
              </a:ext>
            </a:extLst>
          </p:cNvPr>
          <p:cNvSpPr/>
          <p:nvPr/>
        </p:nvSpPr>
        <p:spPr>
          <a:xfrm>
            <a:off x="254000" y="1574800"/>
            <a:ext cx="5715000" cy="2362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86B24E01-A121-245C-D584-638DED27FA26}"/>
              </a:ext>
            </a:extLst>
          </p:cNvPr>
          <p:cNvSpPr/>
          <p:nvPr/>
        </p:nvSpPr>
        <p:spPr>
          <a:xfrm>
            <a:off x="482600" y="18034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8C74AB7-02CB-6921-F8D9-314C2DDA2B5F}"/>
              </a:ext>
            </a:extLst>
          </p:cNvPr>
          <p:cNvSpPr txBox="1"/>
          <p:nvPr/>
        </p:nvSpPr>
        <p:spPr>
          <a:xfrm>
            <a:off x="685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① 運動・転倒・骨密度のチェック（</a:t>
            </a:r>
            <a:r>
              <a:rPr kumimoji="1" lang="en-US" altLang="ja-JP" sz="1750" b="1">
                <a:solidFill>
                  <a:srgbClr val="1E293B"/>
                </a:solidFill>
                <a:latin typeface="Meiryo UI" panose="020B0604030504040204" pitchFamily="50" charset="-128"/>
                <a:ea typeface="Meiryo UI" panose="020B0604030504040204" pitchFamily="50" charset="-128"/>
              </a:rPr>
              <a:t>12</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14" name="テキスト ボックス 13">
            <a:extLst>
              <a:ext uri="{FF2B5EF4-FFF2-40B4-BE49-F238E27FC236}">
                <a16:creationId xmlns:a16="http://schemas.microsoft.com/office/drawing/2014/main" id="{2C25A34D-ABBB-3C2E-74D5-2F0CC5880C07}"/>
              </a:ext>
            </a:extLst>
          </p:cNvPr>
          <p:cNvSpPr txBox="1"/>
          <p:nvPr/>
        </p:nvSpPr>
        <p:spPr>
          <a:xfrm>
            <a:off x="482600" y="2235200"/>
            <a:ext cx="5257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・「椅子に座ってできるストレッチや運動を知りたい」
・「骨粗しょう症・骨密度や転倒危険度のチェック」</a:t>
            </a:r>
          </a:p>
        </p:txBody>
      </p:sp>
      <p:sp>
        <p:nvSpPr>
          <p:cNvPr id="15" name="四角形: 角を丸くする 14">
            <a:extLst>
              <a:ext uri="{FF2B5EF4-FFF2-40B4-BE49-F238E27FC236}">
                <a16:creationId xmlns:a16="http://schemas.microsoft.com/office/drawing/2014/main" id="{14112646-9A40-C5DA-3D73-C645EC8F1986}"/>
              </a:ext>
            </a:extLst>
          </p:cNvPr>
          <p:cNvSpPr/>
          <p:nvPr/>
        </p:nvSpPr>
        <p:spPr>
          <a:xfrm>
            <a:off x="6223000" y="1574800"/>
            <a:ext cx="5715000" cy="2362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9E78953B-AAAF-BEFC-7A96-0CEE0738EF35}"/>
              </a:ext>
            </a:extLst>
          </p:cNvPr>
          <p:cNvSpPr/>
          <p:nvPr/>
        </p:nvSpPr>
        <p:spPr>
          <a:xfrm>
            <a:off x="6451600" y="18034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5A23DFA-1D53-584F-37B0-083AE70DA630}"/>
              </a:ext>
            </a:extLst>
          </p:cNvPr>
          <p:cNvSpPr txBox="1"/>
          <p:nvPr/>
        </p:nvSpPr>
        <p:spPr>
          <a:xfrm>
            <a:off x="6654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② 今年度と同様の測定継続・好評の声（</a:t>
            </a:r>
            <a:r>
              <a:rPr kumimoji="1" lang="en-US" altLang="ja-JP" sz="1750" b="1">
                <a:solidFill>
                  <a:srgbClr val="1E293B"/>
                </a:solidFill>
                <a:latin typeface="Meiryo UI" panose="020B0604030504040204" pitchFamily="50" charset="-128"/>
                <a:ea typeface="Meiryo UI" panose="020B0604030504040204" pitchFamily="50" charset="-128"/>
              </a:rPr>
              <a:t>11</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18" name="テキスト ボックス 17">
            <a:extLst>
              <a:ext uri="{FF2B5EF4-FFF2-40B4-BE49-F238E27FC236}">
                <a16:creationId xmlns:a16="http://schemas.microsoft.com/office/drawing/2014/main" id="{4287DB46-3BB0-1A0F-556D-E08344273A0E}"/>
              </a:ext>
            </a:extLst>
          </p:cNvPr>
          <p:cNvSpPr txBox="1"/>
          <p:nvPr/>
        </p:nvSpPr>
        <p:spPr>
          <a:xfrm>
            <a:off x="6451600" y="2235200"/>
            <a:ext cx="5257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・「筋肉量や血管年齢など今年と同じ測定を続けてほしい」
・「マンションの入院経験者</a:t>
            </a:r>
            <a:r>
              <a:rPr kumimoji="1" lang="en-US" altLang="ja-JP" sz="1550">
                <a:solidFill>
                  <a:srgbClr val="1E293B"/>
                </a:solidFill>
                <a:latin typeface="Meiryo UI" panose="020B0604030504040204" pitchFamily="50" charset="-128"/>
                <a:ea typeface="Meiryo UI" panose="020B0604030504040204" pitchFamily="50" charset="-128"/>
              </a:rPr>
              <a:t>5</a:t>
            </a:r>
            <a:r>
              <a:rPr kumimoji="1" lang="ja-JP" altLang="en-US" sz="1550">
                <a:solidFill>
                  <a:srgbClr val="1E293B"/>
                </a:solidFill>
                <a:latin typeface="Meiryo UI" panose="020B0604030504040204" pitchFamily="50" charset="-128"/>
                <a:ea typeface="Meiryo UI" panose="020B0604030504040204" pitchFamily="50" charset="-128"/>
              </a:rPr>
              <a:t>名からリハが良かったと聞いた」</a:t>
            </a:r>
          </a:p>
        </p:txBody>
      </p:sp>
      <p:sp>
        <p:nvSpPr>
          <p:cNvPr id="19" name="四角形: 角を丸くする 18">
            <a:extLst>
              <a:ext uri="{FF2B5EF4-FFF2-40B4-BE49-F238E27FC236}">
                <a16:creationId xmlns:a16="http://schemas.microsoft.com/office/drawing/2014/main" id="{2B8A2962-B640-C3BD-75F4-E2BEA153C7A1}"/>
              </a:ext>
            </a:extLst>
          </p:cNvPr>
          <p:cNvSpPr/>
          <p:nvPr/>
        </p:nvSpPr>
        <p:spPr>
          <a:xfrm>
            <a:off x="254000" y="4140200"/>
            <a:ext cx="3759200" cy="24130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CEA76D8-D590-77A0-1230-6F52215EE024}"/>
              </a:ext>
            </a:extLst>
          </p:cNvPr>
          <p:cNvSpPr/>
          <p:nvPr/>
        </p:nvSpPr>
        <p:spPr>
          <a:xfrm>
            <a:off x="482600" y="43688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17821FFF-2E51-7A41-F6D1-D24BD882D995}"/>
              </a:ext>
            </a:extLst>
          </p:cNvPr>
          <p:cNvSpPr txBox="1"/>
          <p:nvPr/>
        </p:nvSpPr>
        <p:spPr>
          <a:xfrm>
            <a:off x="685800" y="43307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③ 認知機能・フレイル（</a:t>
            </a:r>
            <a:r>
              <a:rPr kumimoji="1" lang="en-US" altLang="ja-JP" sz="1750" b="1">
                <a:solidFill>
                  <a:srgbClr val="1E293B"/>
                </a:solidFill>
                <a:latin typeface="Meiryo UI" panose="020B0604030504040204" pitchFamily="50" charset="-128"/>
                <a:ea typeface="Meiryo UI" panose="020B0604030504040204" pitchFamily="50" charset="-128"/>
              </a:rPr>
              <a:t>6</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22" name="テキスト ボックス 21">
            <a:extLst>
              <a:ext uri="{FF2B5EF4-FFF2-40B4-BE49-F238E27FC236}">
                <a16:creationId xmlns:a16="http://schemas.microsoft.com/office/drawing/2014/main" id="{4BEEDB93-C0F7-CE22-25B1-2762198BDC60}"/>
              </a:ext>
            </a:extLst>
          </p:cNvPr>
          <p:cNvSpPr txBox="1"/>
          <p:nvPr/>
        </p:nvSpPr>
        <p:spPr>
          <a:xfrm>
            <a:off x="457200" y="4800600"/>
            <a:ext cx="3352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・「認知機能の衰えチェックや体力測定、フレイル予防を知りたい」</a:t>
            </a:r>
          </a:p>
        </p:txBody>
      </p:sp>
      <p:sp>
        <p:nvSpPr>
          <p:cNvPr id="23" name="四角形: 角を丸くする 22">
            <a:extLst>
              <a:ext uri="{FF2B5EF4-FFF2-40B4-BE49-F238E27FC236}">
                <a16:creationId xmlns:a16="http://schemas.microsoft.com/office/drawing/2014/main" id="{6D8FF69E-C810-5ACD-E25F-B237B1164A59}"/>
              </a:ext>
            </a:extLst>
          </p:cNvPr>
          <p:cNvSpPr/>
          <p:nvPr/>
        </p:nvSpPr>
        <p:spPr>
          <a:xfrm>
            <a:off x="4216400" y="4140200"/>
            <a:ext cx="3759200" cy="24130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BFED27B-B3B3-36A9-B6F0-584467389690}"/>
              </a:ext>
            </a:extLst>
          </p:cNvPr>
          <p:cNvSpPr/>
          <p:nvPr/>
        </p:nvSpPr>
        <p:spPr>
          <a:xfrm>
            <a:off x="4445000" y="4368800"/>
            <a:ext cx="101600" cy="3302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9F3AD519-31A4-0DE9-D975-DD1672D059EA}"/>
              </a:ext>
            </a:extLst>
          </p:cNvPr>
          <p:cNvSpPr txBox="1"/>
          <p:nvPr/>
        </p:nvSpPr>
        <p:spPr>
          <a:xfrm>
            <a:off x="4648200" y="43307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④ 介護・薬・受診相談（</a:t>
            </a:r>
            <a:r>
              <a:rPr kumimoji="1" lang="en-US" altLang="ja-JP" sz="1750" b="1">
                <a:solidFill>
                  <a:srgbClr val="1E293B"/>
                </a:solidFill>
                <a:latin typeface="Meiryo UI" panose="020B0604030504040204" pitchFamily="50" charset="-128"/>
                <a:ea typeface="Meiryo UI" panose="020B0604030504040204" pitchFamily="50" charset="-128"/>
              </a:rPr>
              <a:t>4</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26" name="テキスト ボックス 25">
            <a:extLst>
              <a:ext uri="{FF2B5EF4-FFF2-40B4-BE49-F238E27FC236}">
                <a16:creationId xmlns:a16="http://schemas.microsoft.com/office/drawing/2014/main" id="{95B5CB1C-6DD5-37F8-673E-5E1741DA076A}"/>
              </a:ext>
            </a:extLst>
          </p:cNvPr>
          <p:cNvSpPr txBox="1"/>
          <p:nvPr/>
        </p:nvSpPr>
        <p:spPr>
          <a:xfrm>
            <a:off x="4419600" y="4800600"/>
            <a:ext cx="3352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・「介護生活の相談、家族が入院した際の薬、症状別の受診科」</a:t>
            </a:r>
          </a:p>
        </p:txBody>
      </p:sp>
      <p:sp>
        <p:nvSpPr>
          <p:cNvPr id="27" name="四角形: 角を丸くする 26">
            <a:extLst>
              <a:ext uri="{FF2B5EF4-FFF2-40B4-BE49-F238E27FC236}">
                <a16:creationId xmlns:a16="http://schemas.microsoft.com/office/drawing/2014/main" id="{09B83973-37FF-ACD6-4377-C3ADDECE6810}"/>
              </a:ext>
            </a:extLst>
          </p:cNvPr>
          <p:cNvSpPr/>
          <p:nvPr/>
        </p:nvSpPr>
        <p:spPr>
          <a:xfrm>
            <a:off x="8178800" y="4140200"/>
            <a:ext cx="3759200" cy="24130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8C61D7CC-7698-EFE3-9AA8-12E182EF33D2}"/>
              </a:ext>
            </a:extLst>
          </p:cNvPr>
          <p:cNvSpPr/>
          <p:nvPr/>
        </p:nvSpPr>
        <p:spPr>
          <a:xfrm>
            <a:off x="8407400" y="43688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62812DAB-708C-C800-A152-0F9874759421}"/>
              </a:ext>
            </a:extLst>
          </p:cNvPr>
          <p:cNvSpPr txBox="1"/>
          <p:nvPr/>
        </p:nvSpPr>
        <p:spPr>
          <a:xfrm>
            <a:off x="8610600" y="4330700"/>
            <a:ext cx="3124200" cy="656590"/>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⑤ 備品・案内順路の要望（</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30" name="テキスト ボックス 29">
            <a:extLst>
              <a:ext uri="{FF2B5EF4-FFF2-40B4-BE49-F238E27FC236}">
                <a16:creationId xmlns:a16="http://schemas.microsoft.com/office/drawing/2014/main" id="{8E79AAD7-718B-13CA-1BFE-A1FF1F03289A}"/>
              </a:ext>
            </a:extLst>
          </p:cNvPr>
          <p:cNvSpPr txBox="1"/>
          <p:nvPr/>
        </p:nvSpPr>
        <p:spPr>
          <a:xfrm>
            <a:off x="8382000" y="4800600"/>
            <a:ext cx="3352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・「記入用バインダー、</a:t>
            </a:r>
            <a:r>
              <a:rPr kumimoji="1" lang="en-US" altLang="ja-JP" sz="1500">
                <a:solidFill>
                  <a:srgbClr val="1E293B"/>
                </a:solidFill>
                <a:latin typeface="Meiryo UI" panose="020B0604030504040204" pitchFamily="50" charset="-128"/>
                <a:ea typeface="Meiryo UI" panose="020B0604030504040204" pitchFamily="50" charset="-128"/>
              </a:rPr>
              <a:t>InBody</a:t>
            </a:r>
            <a:r>
              <a:rPr kumimoji="1" lang="ja-JP" altLang="en-US" sz="1500">
                <a:solidFill>
                  <a:srgbClr val="1E293B"/>
                </a:solidFill>
                <a:latin typeface="Meiryo UI" panose="020B0604030504040204" pitchFamily="50" charset="-128"/>
                <a:ea typeface="Meiryo UI" panose="020B0604030504040204" pitchFamily="50" charset="-128"/>
              </a:rPr>
              <a:t>の靴入れ・靴ベラ、順路表示」</a:t>
            </a:r>
          </a:p>
        </p:txBody>
      </p:sp>
    </p:spTree>
    <p:extLst>
      <p:ext uri="{BB962C8B-B14F-4D97-AF65-F5344CB8AC3E}">
        <p14:creationId xmlns:p14="http://schemas.microsoft.com/office/powerpoint/2010/main" val="2263234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B539966-E7E3-9871-B0AD-1B045306CB39}"/>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1BB286D-A065-F891-6161-B96D1A5DA965}"/>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3F1F989-A877-2ADD-20AF-C63D034CCDB9}"/>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E1F4F1B4-99CA-A012-9D2F-E638B81A1E26}"/>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部：スタッフ調査</a:t>
            </a:r>
          </a:p>
        </p:txBody>
      </p:sp>
      <p:sp>
        <p:nvSpPr>
          <p:cNvPr id="6" name="テキスト ボックス 5">
            <a:extLst>
              <a:ext uri="{FF2B5EF4-FFF2-40B4-BE49-F238E27FC236}">
                <a16:creationId xmlns:a16="http://schemas.microsoft.com/office/drawing/2014/main" id="{11309277-CA34-9350-5AC9-B39BFD72E911}"/>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スタッフアンケートの質問事項とそこから見えること</a:t>
            </a:r>
          </a:p>
        </p:txBody>
      </p:sp>
      <p:sp>
        <p:nvSpPr>
          <p:cNvPr id="7" name="四角形: 角を丸くする 6">
            <a:extLst>
              <a:ext uri="{FF2B5EF4-FFF2-40B4-BE49-F238E27FC236}">
                <a16:creationId xmlns:a16="http://schemas.microsoft.com/office/drawing/2014/main" id="{DB855AF3-744E-EA3B-EEAD-B7FC18B215DA}"/>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1F0CA54-9A5A-DF3C-AA31-D37D4954D841}"/>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10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5D31AA2-69B3-44BD-23E5-E4D6103BBBE0}"/>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268F33A-4AAB-23B8-767C-612F8467B55E}"/>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参加した</a:t>
            </a:r>
            <a:r>
              <a:rPr kumimoji="1" lang="en-US" altLang="ja-JP" sz="1500" b="1">
                <a:solidFill>
                  <a:srgbClr val="10B981"/>
                </a:solidFill>
                <a:latin typeface="Meiryo UI" panose="020B0604030504040204" pitchFamily="50" charset="-128"/>
                <a:ea typeface="Meiryo UI" panose="020B0604030504040204" pitchFamily="50" charset="-128"/>
              </a:rPr>
              <a:t>6</a:t>
            </a:r>
            <a:r>
              <a:rPr kumimoji="1" lang="ja-JP" altLang="en-US" sz="1500" b="1">
                <a:solidFill>
                  <a:srgbClr val="10B981"/>
                </a:solidFill>
                <a:latin typeface="Meiryo UI" panose="020B0604030504040204" pitchFamily="50" charset="-128"/>
                <a:ea typeface="Meiryo UI" panose="020B0604030504040204" pitchFamily="50" charset="-128"/>
              </a:rPr>
              <a:t>部署・全</a:t>
            </a:r>
            <a:r>
              <a:rPr kumimoji="1" lang="en-US" altLang="ja-JP" sz="1500" b="1">
                <a:solidFill>
                  <a:srgbClr val="10B981"/>
                </a:solidFill>
                <a:latin typeface="Meiryo UI" panose="020B0604030504040204" pitchFamily="50" charset="-128"/>
                <a:ea typeface="Meiryo UI" panose="020B0604030504040204" pitchFamily="50" charset="-128"/>
              </a:rPr>
              <a:t>14</a:t>
            </a:r>
            <a:r>
              <a:rPr kumimoji="1" lang="ja-JP" altLang="en-US" sz="1500" b="1">
                <a:solidFill>
                  <a:srgbClr val="10B981"/>
                </a:solidFill>
                <a:latin typeface="Meiryo UI" panose="020B0604030504040204" pitchFamily="50" charset="-128"/>
                <a:ea typeface="Meiryo UI" panose="020B0604030504040204" pitchFamily="50" charset="-128"/>
              </a:rPr>
              <a:t>名（現在</a:t>
            </a:r>
            <a:r>
              <a:rPr kumimoji="1" lang="en-US" altLang="ja-JP" sz="1500" b="1">
                <a:solidFill>
                  <a:srgbClr val="10B981"/>
                </a:solidFill>
                <a:latin typeface="Meiryo UI" panose="020B0604030504040204" pitchFamily="50" charset="-128"/>
                <a:ea typeface="Meiryo UI" panose="020B0604030504040204" pitchFamily="50" charset="-128"/>
              </a:rPr>
              <a:t>13</a:t>
            </a:r>
            <a:r>
              <a:rPr kumimoji="1" lang="ja-JP" altLang="en-US" sz="1500" b="1">
                <a:solidFill>
                  <a:srgbClr val="10B981"/>
                </a:solidFill>
                <a:latin typeface="Meiryo UI" panose="020B0604030504040204" pitchFamily="50" charset="-128"/>
                <a:ea typeface="Meiryo UI" panose="020B0604030504040204" pitchFamily="50" charset="-128"/>
              </a:rPr>
              <a:t>名回答済）を対象に、出展意義・広さ・人員配置・改善点を調査</a:t>
            </a:r>
          </a:p>
        </p:txBody>
      </p:sp>
      <p:graphicFrame>
        <p:nvGraphicFramePr>
          <p:cNvPr id="11" name="表 10">
            <a:extLst>
              <a:ext uri="{FF2B5EF4-FFF2-40B4-BE49-F238E27FC236}">
                <a16:creationId xmlns:a16="http://schemas.microsoft.com/office/drawing/2014/main" id="{28DDDA71-E89F-75F3-07AD-3C34AA4E9CCE}"/>
              </a:ext>
            </a:extLst>
          </p:cNvPr>
          <p:cNvGraphicFramePr>
            <a:graphicFrameLocks noGrp="1"/>
          </p:cNvGraphicFramePr>
          <p:nvPr>
            <p:extLst>
              <p:ext uri="{D42A27DB-BD31-4B8C-83A1-F6EECF244321}">
                <p14:modId xmlns:p14="http://schemas.microsoft.com/office/powerpoint/2010/main" val="2543305737"/>
              </p:ext>
            </p:extLst>
          </p:nvPr>
        </p:nvGraphicFramePr>
        <p:xfrm>
          <a:off x="304800" y="1574800"/>
          <a:ext cx="11582400" cy="4978400"/>
        </p:xfrm>
        <a:graphic>
          <a:graphicData uri="http://schemas.openxmlformats.org/drawingml/2006/table">
            <a:tbl>
              <a:tblPr firstRow="1" bandRow="1">
                <a:tableStyleId>{5C22544A-7EE6-4342-B048-85BDC9FD1C3A}</a:tableStyleId>
              </a:tblPr>
              <a:tblGrid>
                <a:gridCol w="3683000">
                  <a:extLst>
                    <a:ext uri="{9D8B030D-6E8A-4147-A177-3AD203B41FA5}">
                      <a16:colId xmlns:a16="http://schemas.microsoft.com/office/drawing/2014/main" val="3848207223"/>
                    </a:ext>
                  </a:extLst>
                </a:gridCol>
                <a:gridCol w="2540000">
                  <a:extLst>
                    <a:ext uri="{9D8B030D-6E8A-4147-A177-3AD203B41FA5}">
                      <a16:colId xmlns:a16="http://schemas.microsoft.com/office/drawing/2014/main" val="173774621"/>
                    </a:ext>
                  </a:extLst>
                </a:gridCol>
                <a:gridCol w="5359400">
                  <a:extLst>
                    <a:ext uri="{9D8B030D-6E8A-4147-A177-3AD203B41FA5}">
                      <a16:colId xmlns:a16="http://schemas.microsoft.com/office/drawing/2014/main" val="2090649743"/>
                    </a:ext>
                  </a:extLst>
                </a:gridCol>
              </a:tblGrid>
              <a:tr h="711200">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質問項目</a:t>
                      </a:r>
                    </a:p>
                  </a:txBody>
                  <a:tcPr>
                    <a:solidFill>
                      <a:srgbClr val="10B981"/>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回答形式</a:t>
                      </a:r>
                    </a:p>
                  </a:txBody>
                  <a:tcPr>
                    <a:solidFill>
                      <a:srgbClr val="10B981"/>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この質問から何が見えるか</a:t>
                      </a:r>
                    </a:p>
                  </a:txBody>
                  <a:tcPr>
                    <a:solidFill>
                      <a:srgbClr val="10B981"/>
                    </a:solidFill>
                  </a:tcPr>
                </a:tc>
                <a:extLst>
                  <a:ext uri="{0D108BD9-81ED-4DB2-BD59-A6C34878D82A}">
                    <a16:rowId xmlns:a16="http://schemas.microsoft.com/office/drawing/2014/main" val="1633263561"/>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① 参加して良かったか（＋②理由）</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はい／いいえ＋記述</a:t>
                      </a:r>
                    </a:p>
                  </a:txBody>
                  <a:tcPr>
                    <a:solidFill>
                      <a:srgbClr val="FFFF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参加満足度と多職種連携・地域</a:t>
                      </a:r>
                      <a:r>
                        <a:rPr kumimoji="1" lang="en-US" altLang="ja-JP" sz="1500" b="1">
                          <a:solidFill>
                            <a:srgbClr val="10B981"/>
                          </a:solidFill>
                          <a:latin typeface="Meiryo UI" panose="020B0604030504040204" pitchFamily="50" charset="-128"/>
                          <a:ea typeface="Meiryo UI" panose="020B0604030504040204" pitchFamily="50" charset="-128"/>
                        </a:rPr>
                        <a:t>PR</a:t>
                      </a:r>
                      <a:r>
                        <a:rPr kumimoji="1" lang="ja-JP" altLang="en-US" sz="1500" b="1">
                          <a:solidFill>
                            <a:srgbClr val="10B981"/>
                          </a:solidFill>
                          <a:latin typeface="Meiryo UI" panose="020B0604030504040204" pitchFamily="50" charset="-128"/>
                          <a:ea typeface="Meiryo UI" panose="020B0604030504040204" pitchFamily="50" charset="-128"/>
                        </a:rPr>
                        <a:t>の実感</a:t>
                      </a:r>
                    </a:p>
                  </a:txBody>
                  <a:tcPr>
                    <a:solidFill>
                      <a:srgbClr val="FFFFFF"/>
                    </a:solidFill>
                  </a:tcPr>
                </a:tc>
                <a:extLst>
                  <a:ext uri="{0D108BD9-81ED-4DB2-BD59-A6C34878D82A}">
                    <a16:rowId xmlns:a16="http://schemas.microsoft.com/office/drawing/2014/main" val="3068982789"/>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③ 地域住民に貢献できたか（＋④理由）</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はい／いいえ＋記述</a:t>
                      </a:r>
                    </a:p>
                  </a:txBody>
                  <a:tcPr>
                    <a:solidFill>
                      <a:srgbClr val="EFF6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自部署の役割による地域貢献の達成度</a:t>
                      </a:r>
                    </a:p>
                  </a:txBody>
                  <a:tcPr>
                    <a:solidFill>
                      <a:srgbClr val="EFF6FF"/>
                    </a:solidFill>
                  </a:tcPr>
                </a:tc>
                <a:extLst>
                  <a:ext uri="{0D108BD9-81ED-4DB2-BD59-A6C34878D82A}">
                    <a16:rowId xmlns:a16="http://schemas.microsoft.com/office/drawing/2014/main" val="3939597991"/>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⑤ </a:t>
                      </a:r>
                      <a:r>
                        <a:rPr kumimoji="1" lang="en-US" altLang="ja-JP" sz="1500" b="1">
                          <a:solidFill>
                            <a:srgbClr val="1E293B"/>
                          </a:solidFill>
                          <a:latin typeface="Meiryo UI" panose="020B0604030504040204" pitchFamily="50" charset="-128"/>
                          <a:ea typeface="Meiryo UI" panose="020B0604030504040204" pitchFamily="50" charset="-128"/>
                        </a:rPr>
                        <a:t>3</a:t>
                      </a:r>
                      <a:r>
                        <a:rPr kumimoji="1" lang="ja-JP" altLang="en-US" sz="1500" b="1">
                          <a:solidFill>
                            <a:srgbClr val="1E293B"/>
                          </a:solidFill>
                          <a:latin typeface="Meiryo UI" panose="020B0604030504040204" pitchFamily="50" charset="-128"/>
                          <a:ea typeface="Meiryo UI" panose="020B0604030504040204" pitchFamily="50" charset="-128"/>
                        </a:rPr>
                        <a:t>区画の広さはどうだったか（＋⑥問題点）</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問題なし／あり＋記述</a:t>
                      </a:r>
                    </a:p>
                  </a:txBody>
                  <a:tcPr>
                    <a:solidFill>
                      <a:srgbClr val="FFFFFF"/>
                    </a:solidFill>
                  </a:tcPr>
                </a:tc>
                <a:tc>
                  <a:txBody>
                    <a:bodyPr/>
                    <a:lstStyle/>
                    <a:p>
                      <a:r>
                        <a:rPr kumimoji="1" lang="en-US" altLang="ja-JP" sz="1500" b="1">
                          <a:solidFill>
                            <a:srgbClr val="10B981"/>
                          </a:solidFill>
                          <a:latin typeface="Meiryo UI" panose="020B0604030504040204" pitchFamily="50" charset="-128"/>
                          <a:ea typeface="Meiryo UI" panose="020B0604030504040204" pitchFamily="50" charset="-128"/>
                        </a:rPr>
                        <a:t>3</a:t>
                      </a:r>
                      <a:r>
                        <a:rPr kumimoji="1" lang="ja-JP" altLang="en-US" sz="1500" b="1">
                          <a:solidFill>
                            <a:srgbClr val="10B981"/>
                          </a:solidFill>
                          <a:latin typeface="Meiryo UI" panose="020B0604030504040204" pitchFamily="50" charset="-128"/>
                          <a:ea typeface="Meiryo UI" panose="020B0604030504040204" pitchFamily="50" charset="-128"/>
                        </a:rPr>
                        <a:t>区画の広さの妥当性と現場での問題点</a:t>
                      </a:r>
                    </a:p>
                  </a:txBody>
                  <a:tcPr>
                    <a:solidFill>
                      <a:srgbClr val="FFFFFF"/>
                    </a:solidFill>
                  </a:tcPr>
                </a:tc>
                <a:extLst>
                  <a:ext uri="{0D108BD9-81ED-4DB2-BD59-A6C34878D82A}">
                    <a16:rowId xmlns:a16="http://schemas.microsoft.com/office/drawing/2014/main" val="36763971"/>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⑦ 人員配置は適切だったか（＋⑧問題点）</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問題なし／あり＋記述</a:t>
                      </a:r>
                    </a:p>
                  </a:txBody>
                  <a:tcPr>
                    <a:solidFill>
                      <a:srgbClr val="EFF6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参加人数・休憩確保・誘導体制の妥当性</a:t>
                      </a:r>
                    </a:p>
                  </a:txBody>
                  <a:tcPr>
                    <a:solidFill>
                      <a:srgbClr val="EFF6FF"/>
                    </a:solidFill>
                  </a:tcPr>
                </a:tc>
                <a:extLst>
                  <a:ext uri="{0D108BD9-81ED-4DB2-BD59-A6C34878D82A}">
                    <a16:rowId xmlns:a16="http://schemas.microsoft.com/office/drawing/2014/main" val="4173869699"/>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⑨ 来年も参加する必要はあるか（＋⑩理由）</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はい／いいえ＋記述</a:t>
                      </a:r>
                    </a:p>
                  </a:txBody>
                  <a:tcPr>
                    <a:solidFill>
                      <a:srgbClr val="FFFF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来年度の継続参加に対する意向と理由</a:t>
                      </a:r>
                    </a:p>
                  </a:txBody>
                  <a:tcPr>
                    <a:solidFill>
                      <a:srgbClr val="FFFFFF"/>
                    </a:solidFill>
                  </a:tcPr>
                </a:tc>
                <a:extLst>
                  <a:ext uri="{0D108BD9-81ED-4DB2-BD59-A6C34878D82A}">
                    <a16:rowId xmlns:a16="http://schemas.microsoft.com/office/drawing/2014/main" val="4290811615"/>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⑪ 来年に向けて改善・強化したいこと</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自由記述</a:t>
                      </a:r>
                    </a:p>
                  </a:txBody>
                  <a:tcPr>
                    <a:solidFill>
                      <a:srgbClr val="EFF6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来年度の運営・設備・広報の改善提案</a:t>
                      </a:r>
                    </a:p>
                  </a:txBody>
                  <a:tcPr>
                    <a:solidFill>
                      <a:srgbClr val="EFF6FF"/>
                    </a:solidFill>
                  </a:tcPr>
                </a:tc>
                <a:extLst>
                  <a:ext uri="{0D108BD9-81ED-4DB2-BD59-A6C34878D82A}">
                    <a16:rowId xmlns:a16="http://schemas.microsoft.com/office/drawing/2014/main" val="3669366363"/>
                  </a:ext>
                </a:extLst>
              </a:tr>
            </a:tbl>
          </a:graphicData>
        </a:graphic>
      </p:graphicFrame>
    </p:spTree>
    <p:extLst>
      <p:ext uri="{BB962C8B-B14F-4D97-AF65-F5344CB8AC3E}">
        <p14:creationId xmlns:p14="http://schemas.microsoft.com/office/powerpoint/2010/main" val="17820434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981336D-D589-BD44-EAB3-9D5495BD5C3F}"/>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57DA92D-F3F9-D7CD-6A4E-A609CB9DC3F0}"/>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22C95745-C7D0-0314-4DFB-A35719BC7FA4}"/>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792FACF-E6FF-102D-AA4E-0C350403FBEF}"/>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部：スタッフ結果①</a:t>
            </a:r>
          </a:p>
        </p:txBody>
      </p:sp>
      <p:sp>
        <p:nvSpPr>
          <p:cNvPr id="6" name="テキスト ボックス 5">
            <a:extLst>
              <a:ext uri="{FF2B5EF4-FFF2-40B4-BE49-F238E27FC236}">
                <a16:creationId xmlns:a16="http://schemas.microsoft.com/office/drawing/2014/main" id="{80C8D96F-4397-360B-E7F4-E89295BE7D8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スタッフ集計①：参加満足度（①）と 地域貢献度（③）</a:t>
            </a:r>
          </a:p>
        </p:txBody>
      </p:sp>
      <p:sp>
        <p:nvSpPr>
          <p:cNvPr id="7" name="四角形: 角を丸くする 6">
            <a:extLst>
              <a:ext uri="{FF2B5EF4-FFF2-40B4-BE49-F238E27FC236}">
                <a16:creationId xmlns:a16="http://schemas.microsoft.com/office/drawing/2014/main" id="{ED8A0DC8-7150-C7FD-22CF-C8AFDC1017DC}"/>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E1690A-B819-C663-7BFA-7E303ECAB81F}"/>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11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1B6BB6F9-F901-25E6-1C0B-77A9003182E7}"/>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EC29F48-44D5-6AE0-0699-B6992A82A926}"/>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回答</a:t>
            </a:r>
            <a:r>
              <a:rPr kumimoji="1" lang="en-US" altLang="ja-JP" sz="1500" b="1">
                <a:solidFill>
                  <a:srgbClr val="10B981"/>
                </a:solidFill>
                <a:latin typeface="Meiryo UI" panose="020B0604030504040204" pitchFamily="50" charset="-128"/>
                <a:ea typeface="Meiryo UI" panose="020B0604030504040204" pitchFamily="50" charset="-128"/>
              </a:rPr>
              <a:t>13</a:t>
            </a:r>
            <a:r>
              <a:rPr kumimoji="1" lang="ja-JP" altLang="en-US" sz="1500" b="1">
                <a:solidFill>
                  <a:srgbClr val="10B981"/>
                </a:solidFill>
                <a:latin typeface="Meiryo UI" panose="020B0604030504040204" pitchFamily="50" charset="-128"/>
                <a:ea typeface="Meiryo UI" panose="020B0604030504040204" pitchFamily="50" charset="-128"/>
              </a:rPr>
              <a:t>名全員（</a:t>
            </a:r>
            <a:r>
              <a:rPr kumimoji="1" lang="en-US" altLang="ja-JP" sz="1500" b="1">
                <a:solidFill>
                  <a:srgbClr val="10B981"/>
                </a:solidFill>
                <a:latin typeface="Meiryo UI" panose="020B0604030504040204" pitchFamily="50" charset="-128"/>
                <a:ea typeface="Meiryo UI" panose="020B0604030504040204" pitchFamily="50" charset="-128"/>
              </a:rPr>
              <a:t>100%</a:t>
            </a:r>
            <a:r>
              <a:rPr kumimoji="1" lang="ja-JP" altLang="en-US" sz="1500" b="1">
                <a:solidFill>
                  <a:srgbClr val="10B981"/>
                </a:solidFill>
                <a:latin typeface="Meiryo UI" panose="020B0604030504040204" pitchFamily="50" charset="-128"/>
                <a:ea typeface="Meiryo UI" panose="020B0604030504040204" pitchFamily="50" charset="-128"/>
              </a:rPr>
              <a:t>）が「参加して良かった」、</a:t>
            </a:r>
            <a:r>
              <a:rPr kumimoji="1" lang="en-US" altLang="ja-JP" sz="1500" b="1">
                <a:solidFill>
                  <a:srgbClr val="10B981"/>
                </a:solidFill>
                <a:latin typeface="Meiryo UI" panose="020B0604030504040204" pitchFamily="50" charset="-128"/>
                <a:ea typeface="Meiryo UI" panose="020B0604030504040204" pitchFamily="50" charset="-128"/>
              </a:rPr>
              <a:t>92.3%</a:t>
            </a:r>
            <a:r>
              <a:rPr kumimoji="1" lang="ja-JP" altLang="en-US" sz="1500" b="1">
                <a:solidFill>
                  <a:srgbClr val="10B981"/>
                </a:solidFill>
                <a:latin typeface="Meiryo UI" panose="020B0604030504040204" pitchFamily="50" charset="-128"/>
                <a:ea typeface="Meiryo UI" panose="020B0604030504040204" pitchFamily="50" charset="-128"/>
              </a:rPr>
              <a:t>（</a:t>
            </a:r>
            <a:r>
              <a:rPr kumimoji="1" lang="en-US" altLang="ja-JP" sz="1500" b="1">
                <a:solidFill>
                  <a:srgbClr val="10B981"/>
                </a:solidFill>
                <a:latin typeface="Meiryo UI" panose="020B0604030504040204" pitchFamily="50" charset="-128"/>
                <a:ea typeface="Meiryo UI" panose="020B0604030504040204" pitchFamily="50" charset="-128"/>
              </a:rPr>
              <a:t>12</a:t>
            </a:r>
            <a:r>
              <a:rPr kumimoji="1" lang="ja-JP" altLang="en-US" sz="1500" b="1">
                <a:solidFill>
                  <a:srgbClr val="10B981"/>
                </a:solidFill>
                <a:latin typeface="Meiryo UI" panose="020B0604030504040204" pitchFamily="50" charset="-128"/>
                <a:ea typeface="Meiryo UI" panose="020B0604030504040204" pitchFamily="50" charset="-128"/>
              </a:rPr>
              <a:t>名）が「地域貢献できた」と回答</a:t>
            </a:r>
          </a:p>
        </p:txBody>
      </p:sp>
      <p:sp>
        <p:nvSpPr>
          <p:cNvPr id="11" name="四角形: 角を丸くする 10">
            <a:extLst>
              <a:ext uri="{FF2B5EF4-FFF2-40B4-BE49-F238E27FC236}">
                <a16:creationId xmlns:a16="http://schemas.microsoft.com/office/drawing/2014/main" id="{D9B7147F-88A0-9C44-BAB5-1ED4A90A9893}"/>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3D26019C-E3FD-2644-33B1-F9093E86CE16}"/>
              </a:ext>
            </a:extLst>
          </p:cNvPr>
          <p:cNvSpPr/>
          <p:nvPr/>
        </p:nvSpPr>
        <p:spPr>
          <a:xfrm>
            <a:off x="4826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799C23-484C-9D7C-48AC-DD95CE9A6962}"/>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① 参加して良かったか（</a:t>
            </a:r>
            <a:r>
              <a:rPr kumimoji="1" lang="en-US" altLang="ja-JP" sz="1750" b="1">
                <a:solidFill>
                  <a:srgbClr val="1E293B"/>
                </a:solidFill>
                <a:latin typeface="Meiryo UI" panose="020B0604030504040204" pitchFamily="50" charset="-128"/>
                <a:ea typeface="Meiryo UI" panose="020B0604030504040204" pitchFamily="50" charset="-128"/>
              </a:rPr>
              <a:t>N=13</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楕円 13">
            <a:extLst>
              <a:ext uri="{FF2B5EF4-FFF2-40B4-BE49-F238E27FC236}">
                <a16:creationId xmlns:a16="http://schemas.microsoft.com/office/drawing/2014/main" id="{395307D1-E784-3D56-2660-E5B19142E826}"/>
              </a:ext>
            </a:extLst>
          </p:cNvPr>
          <p:cNvSpPr/>
          <p:nvPr/>
        </p:nvSpPr>
        <p:spPr>
          <a:xfrm>
            <a:off x="635000" y="2349500"/>
            <a:ext cx="2413000" cy="2413000"/>
          </a:xfrm>
          <a:prstGeom prst="ellipse">
            <a:avLst/>
          </a:prstGeom>
          <a:solidFill>
            <a:srgbClr val="10B98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F93F204-160E-73AA-D823-66531CE2A464}"/>
              </a:ext>
            </a:extLst>
          </p:cNvPr>
          <p:cNvSpPr/>
          <p:nvPr/>
        </p:nvSpPr>
        <p:spPr>
          <a:xfrm>
            <a:off x="1141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87BCB1CB-7B4D-1FE5-4AF9-42534E243249}"/>
              </a:ext>
            </a:extLst>
          </p:cNvPr>
          <p:cNvSpPr txBox="1"/>
          <p:nvPr/>
        </p:nvSpPr>
        <p:spPr>
          <a:xfrm>
            <a:off x="889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はい </a:t>
            </a:r>
            <a:r>
              <a:rPr kumimoji="1" lang="en-US" altLang="ja-JP" sz="1350" b="1">
                <a:solidFill>
                  <a:srgbClr val="1E293B"/>
                </a:solidFill>
                <a:latin typeface="Meiryo UI" panose="020B0604030504040204" pitchFamily="50" charset="-128"/>
                <a:ea typeface="Meiryo UI" panose="020B0604030504040204" pitchFamily="50" charset="-128"/>
              </a:rPr>
              <a:t>100%</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17" name="テキスト ボックス 16">
            <a:extLst>
              <a:ext uri="{FF2B5EF4-FFF2-40B4-BE49-F238E27FC236}">
                <a16:creationId xmlns:a16="http://schemas.microsoft.com/office/drawing/2014/main" id="{F49B1B79-9DD0-978C-AD41-DF832BEC54FB}"/>
              </a:ext>
            </a:extLst>
          </p:cNvPr>
          <p:cNvSpPr txBox="1"/>
          <p:nvPr/>
        </p:nvSpPr>
        <p:spPr>
          <a:xfrm>
            <a:off x="889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13</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13</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18" name="四角形: 角を丸くする 17">
            <a:extLst>
              <a:ext uri="{FF2B5EF4-FFF2-40B4-BE49-F238E27FC236}">
                <a16:creationId xmlns:a16="http://schemas.microsoft.com/office/drawing/2014/main" id="{75AA8712-CACF-3EF6-65C3-02509B706253}"/>
              </a:ext>
            </a:extLst>
          </p:cNvPr>
          <p:cNvSpPr/>
          <p:nvPr/>
        </p:nvSpPr>
        <p:spPr>
          <a:xfrm>
            <a:off x="3162300" y="28702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F50EB752-A831-C515-C939-0BECE625868D}"/>
              </a:ext>
            </a:extLst>
          </p:cNvPr>
          <p:cNvSpPr/>
          <p:nvPr/>
        </p:nvSpPr>
        <p:spPr>
          <a:xfrm>
            <a:off x="3238500" y="29845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64008C8-A159-1D02-055C-C92169F0B721}"/>
              </a:ext>
            </a:extLst>
          </p:cNvPr>
          <p:cNvSpPr txBox="1"/>
          <p:nvPr/>
        </p:nvSpPr>
        <p:spPr>
          <a:xfrm>
            <a:off x="3517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はい</a:t>
            </a:r>
          </a:p>
        </p:txBody>
      </p:sp>
      <p:sp>
        <p:nvSpPr>
          <p:cNvPr id="21" name="テキスト ボックス 20">
            <a:extLst>
              <a:ext uri="{FF2B5EF4-FFF2-40B4-BE49-F238E27FC236}">
                <a16:creationId xmlns:a16="http://schemas.microsoft.com/office/drawing/2014/main" id="{E78E103B-3FAE-2ED2-70CB-5E03E74F11B3}"/>
              </a:ext>
            </a:extLst>
          </p:cNvPr>
          <p:cNvSpPr txBox="1"/>
          <p:nvPr/>
        </p:nvSpPr>
        <p:spPr>
          <a:xfrm>
            <a:off x="3746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13</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(100%)</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2" name="楕円 21">
            <a:extLst>
              <a:ext uri="{FF2B5EF4-FFF2-40B4-BE49-F238E27FC236}">
                <a16:creationId xmlns:a16="http://schemas.microsoft.com/office/drawing/2014/main" id="{E7280623-D29C-23DD-7959-4A72C4C9F080}"/>
              </a:ext>
            </a:extLst>
          </p:cNvPr>
          <p:cNvSpPr/>
          <p:nvPr/>
        </p:nvSpPr>
        <p:spPr>
          <a:xfrm>
            <a:off x="3238500" y="36449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158A7DF-5D95-1C59-86EC-06D03B7711A3}"/>
              </a:ext>
            </a:extLst>
          </p:cNvPr>
          <p:cNvSpPr txBox="1"/>
          <p:nvPr/>
        </p:nvSpPr>
        <p:spPr>
          <a:xfrm>
            <a:off x="3517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いいえ</a:t>
            </a:r>
          </a:p>
        </p:txBody>
      </p:sp>
      <p:sp>
        <p:nvSpPr>
          <p:cNvPr id="24" name="テキスト ボックス 23">
            <a:extLst>
              <a:ext uri="{FF2B5EF4-FFF2-40B4-BE49-F238E27FC236}">
                <a16:creationId xmlns:a16="http://schemas.microsoft.com/office/drawing/2014/main" id="{B70E5FF5-DD08-6FE8-2377-458EEE9C1AAE}"/>
              </a:ext>
            </a:extLst>
          </p:cNvPr>
          <p:cNvSpPr txBox="1"/>
          <p:nvPr/>
        </p:nvSpPr>
        <p:spPr>
          <a:xfrm>
            <a:off x="3746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0</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(0.0%)</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D3CBBD64-001C-B1E1-D67A-F6FC3366E156}"/>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BADF9573-A506-ED57-A9D2-A31967B6FE2B}"/>
              </a:ext>
            </a:extLst>
          </p:cNvPr>
          <p:cNvSpPr/>
          <p:nvPr/>
        </p:nvSpPr>
        <p:spPr>
          <a:xfrm>
            <a:off x="6451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0B7EC01-EFCB-0786-ED77-88C370CE782D}"/>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③ 地域住民に貢献できたか（</a:t>
            </a:r>
            <a:r>
              <a:rPr kumimoji="1" lang="en-US" altLang="ja-JP" sz="1750" b="1">
                <a:solidFill>
                  <a:srgbClr val="1E293B"/>
                </a:solidFill>
                <a:latin typeface="Meiryo UI" panose="020B0604030504040204" pitchFamily="50" charset="-128"/>
                <a:ea typeface="Meiryo UI" panose="020B0604030504040204" pitchFamily="50" charset="-128"/>
              </a:rPr>
              <a:t>N=13</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28" name="部分円 27">
            <a:extLst>
              <a:ext uri="{FF2B5EF4-FFF2-40B4-BE49-F238E27FC236}">
                <a16:creationId xmlns:a16="http://schemas.microsoft.com/office/drawing/2014/main" id="{9316665A-71D3-2C18-2A3D-283324689B0D}"/>
              </a:ext>
            </a:extLst>
          </p:cNvPr>
          <p:cNvSpPr/>
          <p:nvPr/>
        </p:nvSpPr>
        <p:spPr>
          <a:xfrm>
            <a:off x="6604000" y="2349500"/>
            <a:ext cx="2413000" cy="2413000"/>
          </a:xfrm>
          <a:prstGeom prst="pie">
            <a:avLst>
              <a:gd name="adj1" fmla="val 16200000"/>
              <a:gd name="adj2" fmla="val 14536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9" name="部分円 28">
            <a:extLst>
              <a:ext uri="{FF2B5EF4-FFF2-40B4-BE49-F238E27FC236}">
                <a16:creationId xmlns:a16="http://schemas.microsoft.com/office/drawing/2014/main" id="{9843DF5E-C7C2-2634-90A4-0F4E225171C5}"/>
              </a:ext>
            </a:extLst>
          </p:cNvPr>
          <p:cNvSpPr/>
          <p:nvPr/>
        </p:nvSpPr>
        <p:spPr>
          <a:xfrm>
            <a:off x="6604000" y="2349500"/>
            <a:ext cx="2413000" cy="2413000"/>
          </a:xfrm>
          <a:prstGeom prst="pie">
            <a:avLst>
              <a:gd name="adj1" fmla="val 14536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0" name="楕円 29">
            <a:extLst>
              <a:ext uri="{FF2B5EF4-FFF2-40B4-BE49-F238E27FC236}">
                <a16:creationId xmlns:a16="http://schemas.microsoft.com/office/drawing/2014/main" id="{4E0D8701-630A-8612-0EFA-B47F1967C771}"/>
              </a:ext>
            </a:extLst>
          </p:cNvPr>
          <p:cNvSpPr/>
          <p:nvPr/>
        </p:nvSpPr>
        <p:spPr>
          <a:xfrm>
            <a:off x="7110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168D54AB-0E39-AC7B-D37B-3EE7B690D9F5}"/>
              </a:ext>
            </a:extLst>
          </p:cNvPr>
          <p:cNvSpPr txBox="1"/>
          <p:nvPr/>
        </p:nvSpPr>
        <p:spPr>
          <a:xfrm>
            <a:off x="6858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はい </a:t>
            </a:r>
            <a:r>
              <a:rPr kumimoji="1" lang="en-US" altLang="ja-JP" sz="1350" b="1">
                <a:solidFill>
                  <a:srgbClr val="1E293B"/>
                </a:solidFill>
                <a:latin typeface="Meiryo UI" panose="020B0604030504040204" pitchFamily="50" charset="-128"/>
                <a:ea typeface="Meiryo UI" panose="020B0604030504040204" pitchFamily="50" charset="-128"/>
              </a:rPr>
              <a:t>92.3%</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a16:creationId xmlns:a16="http://schemas.microsoft.com/office/drawing/2014/main" id="{42F2195B-3349-BBA4-ED75-A0396BE51794}"/>
              </a:ext>
            </a:extLst>
          </p:cNvPr>
          <p:cNvSpPr txBox="1"/>
          <p:nvPr/>
        </p:nvSpPr>
        <p:spPr>
          <a:xfrm>
            <a:off x="6858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12</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13</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33" name="四角形: 角を丸くする 32">
            <a:extLst>
              <a:ext uri="{FF2B5EF4-FFF2-40B4-BE49-F238E27FC236}">
                <a16:creationId xmlns:a16="http://schemas.microsoft.com/office/drawing/2014/main" id="{C1D0D186-800B-C660-FF68-268B38F87D13}"/>
              </a:ext>
            </a:extLst>
          </p:cNvPr>
          <p:cNvSpPr/>
          <p:nvPr/>
        </p:nvSpPr>
        <p:spPr>
          <a:xfrm>
            <a:off x="9131300" y="28702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楕円 33">
            <a:extLst>
              <a:ext uri="{FF2B5EF4-FFF2-40B4-BE49-F238E27FC236}">
                <a16:creationId xmlns:a16="http://schemas.microsoft.com/office/drawing/2014/main" id="{E1D94DAF-3F07-7135-1576-BDA26395EBAE}"/>
              </a:ext>
            </a:extLst>
          </p:cNvPr>
          <p:cNvSpPr/>
          <p:nvPr/>
        </p:nvSpPr>
        <p:spPr>
          <a:xfrm>
            <a:off x="9207500" y="2984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D6B40E05-7EB4-0DA7-5EC0-83717CBC06CE}"/>
              </a:ext>
            </a:extLst>
          </p:cNvPr>
          <p:cNvSpPr txBox="1"/>
          <p:nvPr/>
        </p:nvSpPr>
        <p:spPr>
          <a:xfrm>
            <a:off x="9486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はい</a:t>
            </a:r>
          </a:p>
        </p:txBody>
      </p:sp>
      <p:sp>
        <p:nvSpPr>
          <p:cNvPr id="36" name="テキスト ボックス 35">
            <a:extLst>
              <a:ext uri="{FF2B5EF4-FFF2-40B4-BE49-F238E27FC236}">
                <a16:creationId xmlns:a16="http://schemas.microsoft.com/office/drawing/2014/main" id="{C7942918-72D1-7AEB-0DB2-29D957A133C8}"/>
              </a:ext>
            </a:extLst>
          </p:cNvPr>
          <p:cNvSpPr txBox="1"/>
          <p:nvPr/>
        </p:nvSpPr>
        <p:spPr>
          <a:xfrm>
            <a:off x="9715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12</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(92.3%)</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37" name="楕円 36">
            <a:extLst>
              <a:ext uri="{FF2B5EF4-FFF2-40B4-BE49-F238E27FC236}">
                <a16:creationId xmlns:a16="http://schemas.microsoft.com/office/drawing/2014/main" id="{17B52066-F6C7-6D04-FE3C-7DB599EA7D37}"/>
              </a:ext>
            </a:extLst>
          </p:cNvPr>
          <p:cNvSpPr/>
          <p:nvPr/>
        </p:nvSpPr>
        <p:spPr>
          <a:xfrm>
            <a:off x="9207500" y="36449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A04F4F5-C130-7F8F-366E-05B676566241}"/>
              </a:ext>
            </a:extLst>
          </p:cNvPr>
          <p:cNvSpPr txBox="1"/>
          <p:nvPr/>
        </p:nvSpPr>
        <p:spPr>
          <a:xfrm>
            <a:off x="9486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いいえ</a:t>
            </a:r>
          </a:p>
        </p:txBody>
      </p:sp>
      <p:sp>
        <p:nvSpPr>
          <p:cNvPr id="39" name="テキスト ボックス 38">
            <a:extLst>
              <a:ext uri="{FF2B5EF4-FFF2-40B4-BE49-F238E27FC236}">
                <a16:creationId xmlns:a16="http://schemas.microsoft.com/office/drawing/2014/main" id="{A580F1FC-C8B6-A26E-6F7E-60E5D7066EED}"/>
              </a:ext>
            </a:extLst>
          </p:cNvPr>
          <p:cNvSpPr txBox="1"/>
          <p:nvPr/>
        </p:nvSpPr>
        <p:spPr>
          <a:xfrm>
            <a:off x="9715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1</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(7.7%)</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40" name="四角形: 角を丸くする 39">
            <a:extLst>
              <a:ext uri="{FF2B5EF4-FFF2-40B4-BE49-F238E27FC236}">
                <a16:creationId xmlns:a16="http://schemas.microsoft.com/office/drawing/2014/main" id="{EA08E0D4-523E-141F-B8D8-1F8F8BB61DA9}"/>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6E8E898A-EF01-191D-DE82-BBD428C99376}"/>
              </a:ext>
            </a:extLst>
          </p:cNvPr>
          <p:cNvSpPr txBox="1"/>
          <p:nvPr/>
        </p:nvSpPr>
        <p:spPr>
          <a:xfrm>
            <a:off x="508000" y="54864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・設問①は</a:t>
            </a:r>
            <a:r>
              <a:rPr kumimoji="1" lang="en-US" altLang="ja-JP" sz="1550" b="1">
                <a:solidFill>
                  <a:srgbClr val="1E293B"/>
                </a:solidFill>
                <a:latin typeface="Meiryo UI" panose="020B0604030504040204" pitchFamily="50" charset="-128"/>
                <a:ea typeface="Meiryo UI" panose="020B0604030504040204" pitchFamily="50" charset="-128"/>
              </a:rPr>
              <a:t>13</a:t>
            </a:r>
            <a:r>
              <a:rPr kumimoji="1" lang="ja-JP" altLang="en-US" sz="1550" b="1">
                <a:solidFill>
                  <a:srgbClr val="1E293B"/>
                </a:solidFill>
                <a:latin typeface="Meiryo UI" panose="020B0604030504040204" pitchFamily="50" charset="-128"/>
                <a:ea typeface="Meiryo UI" panose="020B0604030504040204" pitchFamily="50" charset="-128"/>
              </a:rPr>
              <a:t>名全員（</a:t>
            </a:r>
            <a:r>
              <a:rPr kumimoji="1" lang="en-US" altLang="ja-JP" sz="1550" b="1">
                <a:solidFill>
                  <a:srgbClr val="1E293B"/>
                </a:solidFill>
                <a:latin typeface="Meiryo UI" panose="020B0604030504040204" pitchFamily="50" charset="-128"/>
                <a:ea typeface="Meiryo UI" panose="020B0604030504040204" pitchFamily="50" charset="-128"/>
              </a:rPr>
              <a:t>100%</a:t>
            </a:r>
            <a:r>
              <a:rPr kumimoji="1" lang="ja-JP" altLang="en-US" sz="1550" b="1">
                <a:solidFill>
                  <a:srgbClr val="1E293B"/>
                </a:solidFill>
                <a:latin typeface="Meiryo UI" panose="020B0604030504040204" pitchFamily="50" charset="-128"/>
                <a:ea typeface="Meiryo UI" panose="020B0604030504040204" pitchFamily="50" charset="-128"/>
              </a:rPr>
              <a:t>）が「はい」と回答し、地域住民との直接交流や他部門との一致団結・結束力が理由に挙げられた。
・設問③は</a:t>
            </a:r>
            <a:r>
              <a:rPr kumimoji="1" lang="en-US" altLang="ja-JP" sz="1550" b="1">
                <a:solidFill>
                  <a:srgbClr val="1E293B"/>
                </a:solidFill>
                <a:latin typeface="Meiryo UI" panose="020B0604030504040204" pitchFamily="50" charset="-128"/>
                <a:ea typeface="Meiryo UI" panose="020B0604030504040204" pitchFamily="50" charset="-128"/>
              </a:rPr>
              <a:t>12</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92.3%</a:t>
            </a:r>
            <a:r>
              <a:rPr kumimoji="1" lang="ja-JP" altLang="en-US" sz="1550" b="1">
                <a:solidFill>
                  <a:srgbClr val="1E293B"/>
                </a:solidFill>
                <a:latin typeface="Meiryo UI" panose="020B0604030504040204" pitchFamily="50" charset="-128"/>
                <a:ea typeface="Meiryo UI" panose="020B0604030504040204" pitchFamily="50" charset="-128"/>
              </a:rPr>
              <a:t>）が「はい」と回答し、測定結果に基づく運動・栄養・生活指導やお薬カレンダー配布が評価された。</a:t>
            </a:r>
          </a:p>
        </p:txBody>
      </p:sp>
    </p:spTree>
    <p:extLst>
      <p:ext uri="{BB962C8B-B14F-4D97-AF65-F5344CB8AC3E}">
        <p14:creationId xmlns:p14="http://schemas.microsoft.com/office/powerpoint/2010/main" val="41467070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B857809-B341-0217-101A-60EA9E481123}"/>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8021421-327D-779B-8DBA-8FF25D7FB4F4}"/>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1289C74-22A6-2DFB-EDCB-D2E2452AB889}"/>
              </a:ext>
            </a:extLst>
          </p:cNvPr>
          <p:cNvSpPr/>
          <p:nvPr/>
        </p:nvSpPr>
        <p:spPr>
          <a:xfrm>
            <a:off x="457200" y="330200"/>
            <a:ext cx="2336800" cy="4064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E420A62-BAF0-5540-249C-B85EDB1F3EAD}"/>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部：スタッフ結果②</a:t>
            </a:r>
          </a:p>
        </p:txBody>
      </p:sp>
      <p:sp>
        <p:nvSpPr>
          <p:cNvPr id="6" name="テキスト ボックス 5">
            <a:extLst>
              <a:ext uri="{FF2B5EF4-FFF2-40B4-BE49-F238E27FC236}">
                <a16:creationId xmlns:a16="http://schemas.microsoft.com/office/drawing/2014/main" id="{14DFBCA7-FBD3-6CC5-58AA-2A605413A75A}"/>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スタッフ集計②：</a:t>
            </a:r>
            <a:r>
              <a:rPr kumimoji="1" lang="en-US" altLang="ja-JP" sz="2000" b="1">
                <a:solidFill>
                  <a:srgbClr val="1E293B"/>
                </a:solidFill>
                <a:latin typeface="Meiryo UI" panose="020B0604030504040204" pitchFamily="50" charset="-128"/>
                <a:ea typeface="Meiryo UI" panose="020B0604030504040204" pitchFamily="50" charset="-128"/>
              </a:rPr>
              <a:t>3</a:t>
            </a:r>
            <a:r>
              <a:rPr kumimoji="1" lang="ja-JP" altLang="en-US" sz="2000" b="1">
                <a:solidFill>
                  <a:srgbClr val="1E293B"/>
                </a:solidFill>
                <a:latin typeface="Meiryo UI" panose="020B0604030504040204" pitchFamily="50" charset="-128"/>
                <a:ea typeface="Meiryo UI" panose="020B0604030504040204" pitchFamily="50" charset="-128"/>
              </a:rPr>
              <a:t>区画の広さ（⑤）と 人員配置（⑦）</a:t>
            </a:r>
          </a:p>
        </p:txBody>
      </p:sp>
      <p:sp>
        <p:nvSpPr>
          <p:cNvPr id="7" name="四角形: 角を丸くする 6">
            <a:extLst>
              <a:ext uri="{FF2B5EF4-FFF2-40B4-BE49-F238E27FC236}">
                <a16:creationId xmlns:a16="http://schemas.microsoft.com/office/drawing/2014/main" id="{E7B639CA-384E-37AC-9C4C-ABB13B8B8F9C}"/>
              </a:ext>
            </a:extLst>
          </p:cNvPr>
          <p:cNvSpPr/>
          <p:nvPr/>
        </p:nvSpPr>
        <p:spPr>
          <a:xfrm>
            <a:off x="10871200" y="330200"/>
            <a:ext cx="863600" cy="381000"/>
          </a:xfrm>
          <a:prstGeom prst="roundRect">
            <a:avLst>
              <a:gd name="adj" fmla="val 5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E7395B0-1268-5D57-7102-F92F09D242BC}"/>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EF4444"/>
                </a:solidFill>
                <a:latin typeface="Meiryo UI" panose="020B0604030504040204" pitchFamily="50" charset="-128"/>
                <a:ea typeface="Meiryo UI" panose="020B0604030504040204" pitchFamily="50" charset="-128"/>
              </a:rPr>
              <a:t>12 / 22</a:t>
            </a:r>
            <a:endParaRPr kumimoji="1" lang="ja-JP" altLang="en-US" sz="1250" b="1">
              <a:solidFill>
                <a:srgbClr val="EF4444"/>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62376A63-9D49-325F-C88B-D7525A1EC190}"/>
              </a:ext>
            </a:extLst>
          </p:cNvPr>
          <p:cNvSpPr/>
          <p:nvPr/>
        </p:nvSpPr>
        <p:spPr>
          <a:xfrm>
            <a:off x="457200" y="838200"/>
            <a:ext cx="11277600" cy="4318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F7A4BFF-152B-B948-DCAF-690826DC171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3</a:t>
            </a:r>
            <a:r>
              <a:rPr kumimoji="1" lang="ja-JP" altLang="en-US" sz="1500" b="1">
                <a:solidFill>
                  <a:srgbClr val="EF4444"/>
                </a:solidFill>
                <a:latin typeface="Meiryo UI" panose="020B0604030504040204" pitchFamily="50" charset="-128"/>
                <a:ea typeface="Meiryo UI" panose="020B0604030504040204" pitchFamily="50" charset="-128"/>
              </a:rPr>
              <a:t>区画の広さは</a:t>
            </a:r>
            <a:r>
              <a:rPr kumimoji="1" lang="en-US" altLang="ja-JP" sz="1500" b="1">
                <a:solidFill>
                  <a:srgbClr val="EF4444"/>
                </a:solidFill>
                <a:latin typeface="Meiryo UI" panose="020B0604030504040204" pitchFamily="50" charset="-128"/>
                <a:ea typeface="Meiryo UI" panose="020B0604030504040204" pitchFamily="50" charset="-128"/>
              </a:rPr>
              <a:t>38.5%</a:t>
            </a:r>
            <a:r>
              <a:rPr kumimoji="1" lang="ja-JP" altLang="en-US" sz="1500" b="1">
                <a:solidFill>
                  <a:srgbClr val="EF4444"/>
                </a:solidFill>
                <a:latin typeface="Meiryo UI" panose="020B0604030504040204" pitchFamily="50" charset="-128"/>
                <a:ea typeface="Meiryo UI" panose="020B0604030504040204" pitchFamily="50" charset="-128"/>
              </a:rPr>
              <a:t>（</a:t>
            </a:r>
            <a:r>
              <a:rPr kumimoji="1" lang="en-US" altLang="ja-JP" sz="1500" b="1">
                <a:solidFill>
                  <a:srgbClr val="EF4444"/>
                </a:solidFill>
                <a:latin typeface="Meiryo UI" panose="020B0604030504040204" pitchFamily="50" charset="-128"/>
                <a:ea typeface="Meiryo UI" panose="020B0604030504040204" pitchFamily="50" charset="-128"/>
              </a:rPr>
              <a:t>5</a:t>
            </a:r>
            <a:r>
              <a:rPr kumimoji="1" lang="ja-JP" altLang="en-US" sz="1500" b="1">
                <a:solidFill>
                  <a:srgbClr val="EF4444"/>
                </a:solidFill>
                <a:latin typeface="Meiryo UI" panose="020B0604030504040204" pitchFamily="50" charset="-128"/>
                <a:ea typeface="Meiryo UI" panose="020B0604030504040204" pitchFamily="50" charset="-128"/>
              </a:rPr>
              <a:t>名）、人員配置は</a:t>
            </a:r>
            <a:r>
              <a:rPr kumimoji="1" lang="en-US" altLang="ja-JP" sz="1500" b="1">
                <a:solidFill>
                  <a:srgbClr val="EF4444"/>
                </a:solidFill>
                <a:latin typeface="Meiryo UI" panose="020B0604030504040204" pitchFamily="50" charset="-128"/>
                <a:ea typeface="Meiryo UI" panose="020B0604030504040204" pitchFamily="50" charset="-128"/>
              </a:rPr>
              <a:t>76.9%</a:t>
            </a:r>
            <a:r>
              <a:rPr kumimoji="1" lang="ja-JP" altLang="en-US" sz="1500" b="1">
                <a:solidFill>
                  <a:srgbClr val="EF4444"/>
                </a:solidFill>
                <a:latin typeface="Meiryo UI" panose="020B0604030504040204" pitchFamily="50" charset="-128"/>
                <a:ea typeface="Meiryo UI" panose="020B0604030504040204" pitchFamily="50" charset="-128"/>
              </a:rPr>
              <a:t>（</a:t>
            </a:r>
            <a:r>
              <a:rPr kumimoji="1" lang="en-US" altLang="ja-JP" sz="1500" b="1">
                <a:solidFill>
                  <a:srgbClr val="EF4444"/>
                </a:solidFill>
                <a:latin typeface="Meiryo UI" panose="020B0604030504040204" pitchFamily="50" charset="-128"/>
                <a:ea typeface="Meiryo UI" panose="020B0604030504040204" pitchFamily="50" charset="-128"/>
              </a:rPr>
              <a:t>10</a:t>
            </a:r>
            <a:r>
              <a:rPr kumimoji="1" lang="ja-JP" altLang="en-US" sz="1500" b="1">
                <a:solidFill>
                  <a:srgbClr val="EF4444"/>
                </a:solidFill>
                <a:latin typeface="Meiryo UI" panose="020B0604030504040204" pitchFamily="50" charset="-128"/>
                <a:ea typeface="Meiryo UI" panose="020B0604030504040204" pitchFamily="50" charset="-128"/>
              </a:rPr>
              <a:t>名）が「問題あり」と回答</a:t>
            </a:r>
          </a:p>
        </p:txBody>
      </p:sp>
      <p:sp>
        <p:nvSpPr>
          <p:cNvPr id="11" name="四角形: 角を丸くする 10">
            <a:extLst>
              <a:ext uri="{FF2B5EF4-FFF2-40B4-BE49-F238E27FC236}">
                <a16:creationId xmlns:a16="http://schemas.microsoft.com/office/drawing/2014/main" id="{36E284E9-A8D0-3939-B259-EDB9EFB48268}"/>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A4524E5A-BDC9-D958-0F66-99A2B94469DD}"/>
              </a:ext>
            </a:extLst>
          </p:cNvPr>
          <p:cNvSpPr/>
          <p:nvPr/>
        </p:nvSpPr>
        <p:spPr>
          <a:xfrm>
            <a:off x="482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92CDF3B4-13A4-EF6E-B3FC-8B3ED8A20D11}"/>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⑤ </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区画の広さは適切だったか</a:t>
            </a:r>
          </a:p>
        </p:txBody>
      </p:sp>
      <p:sp>
        <p:nvSpPr>
          <p:cNvPr id="14" name="部分円 13">
            <a:extLst>
              <a:ext uri="{FF2B5EF4-FFF2-40B4-BE49-F238E27FC236}">
                <a16:creationId xmlns:a16="http://schemas.microsoft.com/office/drawing/2014/main" id="{F9F5C8A7-239D-80B3-D309-A49FE7D16A7D}"/>
              </a:ext>
            </a:extLst>
          </p:cNvPr>
          <p:cNvSpPr/>
          <p:nvPr/>
        </p:nvSpPr>
        <p:spPr>
          <a:xfrm>
            <a:off x="635000" y="2349500"/>
            <a:ext cx="2413000" cy="2413000"/>
          </a:xfrm>
          <a:prstGeom prst="pie">
            <a:avLst>
              <a:gd name="adj1" fmla="val 16200000"/>
              <a:gd name="adj2" fmla="val 7884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CC4B890E-FEE1-19D7-45FF-24BC128C260B}"/>
              </a:ext>
            </a:extLst>
          </p:cNvPr>
          <p:cNvSpPr/>
          <p:nvPr/>
        </p:nvSpPr>
        <p:spPr>
          <a:xfrm>
            <a:off x="635000" y="2349500"/>
            <a:ext cx="2413000" cy="2413000"/>
          </a:xfrm>
          <a:prstGeom prst="pie">
            <a:avLst>
              <a:gd name="adj1" fmla="val 7884000"/>
              <a:gd name="adj2" fmla="val 16200000"/>
            </a:avLst>
          </a:prstGeom>
          <a:solidFill>
            <a:srgbClr val="EF4444"/>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楕円 15">
            <a:extLst>
              <a:ext uri="{FF2B5EF4-FFF2-40B4-BE49-F238E27FC236}">
                <a16:creationId xmlns:a16="http://schemas.microsoft.com/office/drawing/2014/main" id="{961C6AFA-E5C4-1C3E-2EE1-9241C15A2DE9}"/>
              </a:ext>
            </a:extLst>
          </p:cNvPr>
          <p:cNvSpPr/>
          <p:nvPr/>
        </p:nvSpPr>
        <p:spPr>
          <a:xfrm>
            <a:off x="1141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E802CD5-3572-B5AF-F49F-3B7C09B18559}"/>
              </a:ext>
            </a:extLst>
          </p:cNvPr>
          <p:cNvSpPr txBox="1"/>
          <p:nvPr/>
        </p:nvSpPr>
        <p:spPr>
          <a:xfrm>
            <a:off x="889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問題あり</a:t>
            </a:r>
          </a:p>
        </p:txBody>
      </p:sp>
      <p:sp>
        <p:nvSpPr>
          <p:cNvPr id="18" name="テキスト ボックス 17">
            <a:extLst>
              <a:ext uri="{FF2B5EF4-FFF2-40B4-BE49-F238E27FC236}">
                <a16:creationId xmlns:a16="http://schemas.microsoft.com/office/drawing/2014/main" id="{97040C07-C583-3FDD-CF88-18D70D9A944E}"/>
              </a:ext>
            </a:extLst>
          </p:cNvPr>
          <p:cNvSpPr txBox="1"/>
          <p:nvPr/>
        </p:nvSpPr>
        <p:spPr>
          <a:xfrm>
            <a:off x="889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38.5% (5</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19" name="楕円 18">
            <a:extLst>
              <a:ext uri="{FF2B5EF4-FFF2-40B4-BE49-F238E27FC236}">
                <a16:creationId xmlns:a16="http://schemas.microsoft.com/office/drawing/2014/main" id="{58BA383E-37B8-F8A1-F972-1200B8944F0C}"/>
              </a:ext>
            </a:extLst>
          </p:cNvPr>
          <p:cNvSpPr/>
          <p:nvPr/>
        </p:nvSpPr>
        <p:spPr>
          <a:xfrm>
            <a:off x="3238500" y="2984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F9AE86D0-81B7-39C4-F5DC-42262FAE4527}"/>
              </a:ext>
            </a:extLst>
          </p:cNvPr>
          <p:cNvSpPr txBox="1"/>
          <p:nvPr/>
        </p:nvSpPr>
        <p:spPr>
          <a:xfrm>
            <a:off x="3517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問題なし</a:t>
            </a:r>
          </a:p>
        </p:txBody>
      </p:sp>
      <p:sp>
        <p:nvSpPr>
          <p:cNvPr id="21" name="テキスト ボックス 20">
            <a:extLst>
              <a:ext uri="{FF2B5EF4-FFF2-40B4-BE49-F238E27FC236}">
                <a16:creationId xmlns:a16="http://schemas.microsoft.com/office/drawing/2014/main" id="{0A9656FB-4F3C-09FD-03C6-85FC745E9937}"/>
              </a:ext>
            </a:extLst>
          </p:cNvPr>
          <p:cNvSpPr txBox="1"/>
          <p:nvPr/>
        </p:nvSpPr>
        <p:spPr>
          <a:xfrm>
            <a:off x="3746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8</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(61.5%)</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a16:creationId xmlns:a16="http://schemas.microsoft.com/office/drawing/2014/main" id="{A4C7A272-5276-A6A9-2B67-2D76E7652319}"/>
              </a:ext>
            </a:extLst>
          </p:cNvPr>
          <p:cNvSpPr/>
          <p:nvPr/>
        </p:nvSpPr>
        <p:spPr>
          <a:xfrm>
            <a:off x="3162300" y="35306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楕円 22">
            <a:extLst>
              <a:ext uri="{FF2B5EF4-FFF2-40B4-BE49-F238E27FC236}">
                <a16:creationId xmlns:a16="http://schemas.microsoft.com/office/drawing/2014/main" id="{9BFDE8B2-2FA5-7018-BEED-0C3C64D423E6}"/>
              </a:ext>
            </a:extLst>
          </p:cNvPr>
          <p:cNvSpPr/>
          <p:nvPr/>
        </p:nvSpPr>
        <p:spPr>
          <a:xfrm>
            <a:off x="3238500" y="3644900"/>
            <a:ext cx="203200" cy="203200"/>
          </a:xfrm>
          <a:prstGeom prst="ellipse">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7502B741-22C8-46D4-AC65-C1B035DF5D38}"/>
              </a:ext>
            </a:extLst>
          </p:cNvPr>
          <p:cNvSpPr txBox="1"/>
          <p:nvPr/>
        </p:nvSpPr>
        <p:spPr>
          <a:xfrm>
            <a:off x="3517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25" name="テキスト ボックス 24">
            <a:extLst>
              <a:ext uri="{FF2B5EF4-FFF2-40B4-BE49-F238E27FC236}">
                <a16:creationId xmlns:a16="http://schemas.microsoft.com/office/drawing/2014/main" id="{A63498D3-5BB2-1FC5-FA0A-162C9AB1BFDE}"/>
              </a:ext>
            </a:extLst>
          </p:cNvPr>
          <p:cNvSpPr txBox="1"/>
          <p:nvPr/>
        </p:nvSpPr>
        <p:spPr>
          <a:xfrm>
            <a:off x="3746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EF4444"/>
                </a:solidFill>
                <a:latin typeface="Meiryo UI" panose="020B0604030504040204" pitchFamily="50" charset="-128"/>
                <a:ea typeface="Meiryo UI" panose="020B0604030504040204" pitchFamily="50" charset="-128"/>
              </a:rPr>
              <a:t>5</a:t>
            </a:r>
            <a:r>
              <a:rPr kumimoji="1" lang="ja-JP" altLang="en-US" sz="1450" b="1">
                <a:solidFill>
                  <a:srgbClr val="EF4444"/>
                </a:solidFill>
                <a:latin typeface="Meiryo UI" panose="020B0604030504040204" pitchFamily="50" charset="-128"/>
                <a:ea typeface="Meiryo UI" panose="020B0604030504040204" pitchFamily="50" charset="-128"/>
              </a:rPr>
              <a:t>名 </a:t>
            </a:r>
            <a:r>
              <a:rPr kumimoji="1" lang="en-US" altLang="ja-JP" sz="1450" b="1">
                <a:solidFill>
                  <a:srgbClr val="EF4444"/>
                </a:solidFill>
                <a:latin typeface="Meiryo UI" panose="020B0604030504040204" pitchFamily="50" charset="-128"/>
                <a:ea typeface="Meiryo UI" panose="020B0604030504040204" pitchFamily="50" charset="-128"/>
              </a:rPr>
              <a:t>(38.5%)</a:t>
            </a:r>
            <a:endParaRPr kumimoji="1" lang="ja-JP" altLang="en-US" sz="1450" b="1">
              <a:solidFill>
                <a:srgbClr val="EF4444"/>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a16:creationId xmlns:a16="http://schemas.microsoft.com/office/drawing/2014/main" id="{77386D1A-9253-5FB0-6EA1-2D0FFC84AB48}"/>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EB977195-FEBC-D02F-C738-D5C7CC9ECE9C}"/>
              </a:ext>
            </a:extLst>
          </p:cNvPr>
          <p:cNvSpPr/>
          <p:nvPr/>
        </p:nvSpPr>
        <p:spPr>
          <a:xfrm>
            <a:off x="64516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6A9A9FE-7CC4-71DF-66A1-8239DCF9FE00}"/>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⑦ 人員配置（参加人数）は適切だったか</a:t>
            </a:r>
          </a:p>
        </p:txBody>
      </p:sp>
      <p:sp>
        <p:nvSpPr>
          <p:cNvPr id="29" name="部分円 28">
            <a:extLst>
              <a:ext uri="{FF2B5EF4-FFF2-40B4-BE49-F238E27FC236}">
                <a16:creationId xmlns:a16="http://schemas.microsoft.com/office/drawing/2014/main" id="{D67776B8-AA2E-9696-CAC9-081EDD2794F4}"/>
              </a:ext>
            </a:extLst>
          </p:cNvPr>
          <p:cNvSpPr/>
          <p:nvPr/>
        </p:nvSpPr>
        <p:spPr>
          <a:xfrm>
            <a:off x="6604000" y="2349500"/>
            <a:ext cx="2413000" cy="2413000"/>
          </a:xfrm>
          <a:prstGeom prst="pie">
            <a:avLst>
              <a:gd name="adj1" fmla="val 16200000"/>
              <a:gd name="adj2" fmla="val 11210400"/>
            </a:avLst>
          </a:prstGeom>
          <a:solidFill>
            <a:srgbClr val="EF4444"/>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0" name="部分円 29">
            <a:extLst>
              <a:ext uri="{FF2B5EF4-FFF2-40B4-BE49-F238E27FC236}">
                <a16:creationId xmlns:a16="http://schemas.microsoft.com/office/drawing/2014/main" id="{65812BD4-A749-B748-996E-94FB85D9BC5A}"/>
              </a:ext>
            </a:extLst>
          </p:cNvPr>
          <p:cNvSpPr/>
          <p:nvPr/>
        </p:nvSpPr>
        <p:spPr>
          <a:xfrm>
            <a:off x="6604000" y="2349500"/>
            <a:ext cx="2413000" cy="2413000"/>
          </a:xfrm>
          <a:prstGeom prst="pie">
            <a:avLst>
              <a:gd name="adj1" fmla="val 11210400"/>
              <a:gd name="adj2" fmla="val 16200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1" name="楕円 30">
            <a:extLst>
              <a:ext uri="{FF2B5EF4-FFF2-40B4-BE49-F238E27FC236}">
                <a16:creationId xmlns:a16="http://schemas.microsoft.com/office/drawing/2014/main" id="{76B8844E-85D0-753D-C0C2-A8ED95513C03}"/>
              </a:ext>
            </a:extLst>
          </p:cNvPr>
          <p:cNvSpPr/>
          <p:nvPr/>
        </p:nvSpPr>
        <p:spPr>
          <a:xfrm>
            <a:off x="7110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9F439283-E653-19C8-35FC-D2F4DF40D339}"/>
              </a:ext>
            </a:extLst>
          </p:cNvPr>
          <p:cNvSpPr txBox="1"/>
          <p:nvPr/>
        </p:nvSpPr>
        <p:spPr>
          <a:xfrm>
            <a:off x="6858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問題あり</a:t>
            </a:r>
          </a:p>
        </p:txBody>
      </p:sp>
      <p:sp>
        <p:nvSpPr>
          <p:cNvPr id="33" name="テキスト ボックス 32">
            <a:extLst>
              <a:ext uri="{FF2B5EF4-FFF2-40B4-BE49-F238E27FC236}">
                <a16:creationId xmlns:a16="http://schemas.microsoft.com/office/drawing/2014/main" id="{30CECD52-D243-257F-BE1B-DC049AD393F8}"/>
              </a:ext>
            </a:extLst>
          </p:cNvPr>
          <p:cNvSpPr txBox="1"/>
          <p:nvPr/>
        </p:nvSpPr>
        <p:spPr>
          <a:xfrm>
            <a:off x="6858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76.9% (10</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3971B8DD-7744-B2F1-CD18-58DACDEFB28E}"/>
              </a:ext>
            </a:extLst>
          </p:cNvPr>
          <p:cNvSpPr/>
          <p:nvPr/>
        </p:nvSpPr>
        <p:spPr>
          <a:xfrm>
            <a:off x="9131300" y="28702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楕円 34">
            <a:extLst>
              <a:ext uri="{FF2B5EF4-FFF2-40B4-BE49-F238E27FC236}">
                <a16:creationId xmlns:a16="http://schemas.microsoft.com/office/drawing/2014/main" id="{7514022B-E308-1112-AB1E-8A919834CE1D}"/>
              </a:ext>
            </a:extLst>
          </p:cNvPr>
          <p:cNvSpPr/>
          <p:nvPr/>
        </p:nvSpPr>
        <p:spPr>
          <a:xfrm>
            <a:off x="9207500" y="2984500"/>
            <a:ext cx="203200" cy="203200"/>
          </a:xfrm>
          <a:prstGeom prst="ellipse">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134A3A1-BAF6-C447-691B-AF1D40490B9B}"/>
              </a:ext>
            </a:extLst>
          </p:cNvPr>
          <p:cNvSpPr txBox="1"/>
          <p:nvPr/>
        </p:nvSpPr>
        <p:spPr>
          <a:xfrm>
            <a:off x="9486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37" name="テキスト ボックス 36">
            <a:extLst>
              <a:ext uri="{FF2B5EF4-FFF2-40B4-BE49-F238E27FC236}">
                <a16:creationId xmlns:a16="http://schemas.microsoft.com/office/drawing/2014/main" id="{B36C5ED6-9BAE-1DEE-B4DA-CD95878043FF}"/>
              </a:ext>
            </a:extLst>
          </p:cNvPr>
          <p:cNvSpPr txBox="1"/>
          <p:nvPr/>
        </p:nvSpPr>
        <p:spPr>
          <a:xfrm>
            <a:off x="9715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EF4444"/>
                </a:solidFill>
                <a:latin typeface="Meiryo UI" panose="020B0604030504040204" pitchFamily="50" charset="-128"/>
                <a:ea typeface="Meiryo UI" panose="020B0604030504040204" pitchFamily="50" charset="-128"/>
              </a:rPr>
              <a:t>10</a:t>
            </a:r>
            <a:r>
              <a:rPr kumimoji="1" lang="ja-JP" altLang="en-US" sz="1450" b="1">
                <a:solidFill>
                  <a:srgbClr val="EF4444"/>
                </a:solidFill>
                <a:latin typeface="Meiryo UI" panose="020B0604030504040204" pitchFamily="50" charset="-128"/>
                <a:ea typeface="Meiryo UI" panose="020B0604030504040204" pitchFamily="50" charset="-128"/>
              </a:rPr>
              <a:t>名 </a:t>
            </a:r>
            <a:r>
              <a:rPr kumimoji="1" lang="en-US" altLang="ja-JP" sz="1450" b="1">
                <a:solidFill>
                  <a:srgbClr val="EF4444"/>
                </a:solidFill>
                <a:latin typeface="Meiryo UI" panose="020B0604030504040204" pitchFamily="50" charset="-128"/>
                <a:ea typeface="Meiryo UI" panose="020B0604030504040204" pitchFamily="50" charset="-128"/>
              </a:rPr>
              <a:t>(76.9%)</a:t>
            </a:r>
            <a:endParaRPr kumimoji="1" lang="ja-JP" altLang="en-US" sz="1450" b="1">
              <a:solidFill>
                <a:srgbClr val="EF4444"/>
              </a:solidFill>
              <a:latin typeface="Meiryo UI" panose="020B0604030504040204" pitchFamily="50" charset="-128"/>
              <a:ea typeface="Meiryo UI" panose="020B0604030504040204" pitchFamily="50" charset="-128"/>
            </a:endParaRPr>
          </a:p>
        </p:txBody>
      </p:sp>
      <p:sp>
        <p:nvSpPr>
          <p:cNvPr id="38" name="楕円 37">
            <a:extLst>
              <a:ext uri="{FF2B5EF4-FFF2-40B4-BE49-F238E27FC236}">
                <a16:creationId xmlns:a16="http://schemas.microsoft.com/office/drawing/2014/main" id="{0EF18E6E-1C77-B2AC-73E9-FF4BCBC286A8}"/>
              </a:ext>
            </a:extLst>
          </p:cNvPr>
          <p:cNvSpPr/>
          <p:nvPr/>
        </p:nvSpPr>
        <p:spPr>
          <a:xfrm>
            <a:off x="9207500" y="36449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641246BE-9E76-3E4B-6468-2033024AE5E0}"/>
              </a:ext>
            </a:extLst>
          </p:cNvPr>
          <p:cNvSpPr txBox="1"/>
          <p:nvPr/>
        </p:nvSpPr>
        <p:spPr>
          <a:xfrm>
            <a:off x="9486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問題なし</a:t>
            </a:r>
          </a:p>
        </p:txBody>
      </p:sp>
      <p:sp>
        <p:nvSpPr>
          <p:cNvPr id="40" name="テキスト ボックス 39">
            <a:extLst>
              <a:ext uri="{FF2B5EF4-FFF2-40B4-BE49-F238E27FC236}">
                <a16:creationId xmlns:a16="http://schemas.microsoft.com/office/drawing/2014/main" id="{6C01B59B-EB6E-5127-4C7F-1C7C48C6EB20}"/>
              </a:ext>
            </a:extLst>
          </p:cNvPr>
          <p:cNvSpPr txBox="1"/>
          <p:nvPr/>
        </p:nvSpPr>
        <p:spPr>
          <a:xfrm>
            <a:off x="9715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3</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(23.1%)</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a16:creationId xmlns:a16="http://schemas.microsoft.com/office/drawing/2014/main" id="{90913C60-98B9-16ED-4062-87C0FD56FF6F}"/>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DFDCE896-BB2F-1092-B0D5-B122FDFCE2C7}"/>
              </a:ext>
            </a:extLst>
          </p:cNvPr>
          <p:cNvSpPr txBox="1"/>
          <p:nvPr/>
        </p:nvSpPr>
        <p:spPr>
          <a:xfrm>
            <a:off x="508000" y="5486400"/>
            <a:ext cx="11176000" cy="795089"/>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・設問⑤（広さ）は</a:t>
            </a:r>
            <a:r>
              <a:rPr kumimoji="1" lang="en-US" altLang="ja-JP" sz="1500" b="1">
                <a:solidFill>
                  <a:srgbClr val="1E293B"/>
                </a:solidFill>
                <a:latin typeface="Meiryo UI" panose="020B0604030504040204" pitchFamily="50" charset="-128"/>
                <a:ea typeface="Meiryo UI" panose="020B0604030504040204" pitchFamily="50" charset="-128"/>
              </a:rPr>
              <a:t>5</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38.5%</a:t>
            </a:r>
            <a:r>
              <a:rPr kumimoji="1" lang="ja-JP" altLang="en-US" sz="1500" b="1">
                <a:solidFill>
                  <a:srgbClr val="1E293B"/>
                </a:solidFill>
                <a:latin typeface="Meiryo UI" panose="020B0604030504040204" pitchFamily="50" charset="-128"/>
                <a:ea typeface="Meiryo UI" panose="020B0604030504040204" pitchFamily="50" charset="-128"/>
              </a:rPr>
              <a:t>）が「問題あり（常時混雑・待合椅子不足で外出案内・</a:t>
            </a:r>
            <a:r>
              <a:rPr kumimoji="1" lang="en-US" altLang="ja-JP" sz="1500" b="1">
                <a:solidFill>
                  <a:srgbClr val="1E293B"/>
                </a:solidFill>
                <a:latin typeface="Meiryo UI" panose="020B0604030504040204" pitchFamily="50" charset="-128"/>
                <a:ea typeface="Meiryo UI" panose="020B0604030504040204" pitchFamily="50" charset="-128"/>
              </a:rPr>
              <a:t>InBody</a:t>
            </a:r>
            <a:r>
              <a:rPr kumimoji="1" lang="ja-JP" altLang="en-US" sz="1500" b="1">
                <a:solidFill>
                  <a:srgbClr val="1E293B"/>
                </a:solidFill>
                <a:latin typeface="Meiryo UI" panose="020B0604030504040204" pitchFamily="50" charset="-128"/>
                <a:ea typeface="Meiryo UI" panose="020B0604030504040204" pitchFamily="50" charset="-128"/>
              </a:rPr>
              <a:t>が狭い）」と回答した。
・設問⑦（人員配置）は</a:t>
            </a:r>
            <a:r>
              <a:rPr kumimoji="1" lang="en-US" altLang="ja-JP" sz="1500" b="1">
                <a:solidFill>
                  <a:srgbClr val="1E293B"/>
                </a:solidFill>
                <a:latin typeface="Meiryo UI" panose="020B0604030504040204" pitchFamily="50" charset="-128"/>
                <a:ea typeface="Meiryo UI" panose="020B0604030504040204" pitchFamily="50" charset="-128"/>
              </a:rPr>
              <a:t>10</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76.9%</a:t>
            </a:r>
            <a:r>
              <a:rPr kumimoji="1" lang="ja-JP" altLang="en-US" sz="1500" b="1">
                <a:solidFill>
                  <a:srgbClr val="1E293B"/>
                </a:solidFill>
                <a:latin typeface="Meiryo UI" panose="020B0604030504040204" pitchFamily="50" charset="-128"/>
                <a:ea typeface="Meiryo UI" panose="020B0604030504040204" pitchFamily="50" charset="-128"/>
              </a:rPr>
              <a:t>）が「問題あり（休憩が取れない・誘導係や測定補助が必要）」と回答した（⑨来年参加必要性は</a:t>
            </a:r>
            <a:r>
              <a:rPr kumimoji="1" lang="en-US" altLang="ja-JP" sz="1500" b="1">
                <a:solidFill>
                  <a:srgbClr val="1E293B"/>
                </a:solidFill>
                <a:latin typeface="Meiryo UI" panose="020B0604030504040204" pitchFamily="50" charset="-128"/>
                <a:ea typeface="Meiryo UI" panose="020B0604030504040204" pitchFamily="50" charset="-128"/>
              </a:rPr>
              <a:t>84.6%</a:t>
            </a:r>
            <a:r>
              <a:rPr kumimoji="1" lang="ja-JP" altLang="en-US" sz="1500" b="1">
                <a:solidFill>
                  <a:srgbClr val="1E293B"/>
                </a:solidFill>
                <a:latin typeface="Meiryo UI" panose="020B0604030504040204" pitchFamily="50" charset="-128"/>
                <a:ea typeface="Meiryo UI" panose="020B0604030504040204" pitchFamily="50" charset="-128"/>
              </a:rPr>
              <a:t>が「はい」）。</a:t>
            </a:r>
          </a:p>
        </p:txBody>
      </p:sp>
    </p:spTree>
    <p:extLst>
      <p:ext uri="{BB962C8B-B14F-4D97-AF65-F5344CB8AC3E}">
        <p14:creationId xmlns:p14="http://schemas.microsoft.com/office/powerpoint/2010/main" val="34198076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F33BC35-2095-0431-F111-C71C2A5FA216}"/>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38DEB8F-B641-C5F3-CCD6-BCDF5B007512}"/>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F27A792B-FE81-E78F-D206-B9A0A34E86D8}"/>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05E1C12-B0D3-A7A4-EA90-0673C39C8C7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部：スタッフ結果③</a:t>
            </a:r>
          </a:p>
        </p:txBody>
      </p:sp>
      <p:sp>
        <p:nvSpPr>
          <p:cNvPr id="6" name="テキスト ボックス 5">
            <a:extLst>
              <a:ext uri="{FF2B5EF4-FFF2-40B4-BE49-F238E27FC236}">
                <a16:creationId xmlns:a16="http://schemas.microsoft.com/office/drawing/2014/main" id="{ABF42F89-811F-5442-9B77-5443DCF267ED}"/>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スタッフ自由記述の要点（良かった点 と 現場の問題点）</a:t>
            </a:r>
          </a:p>
        </p:txBody>
      </p:sp>
      <p:sp>
        <p:nvSpPr>
          <p:cNvPr id="7" name="四角形: 角を丸くする 6">
            <a:extLst>
              <a:ext uri="{FF2B5EF4-FFF2-40B4-BE49-F238E27FC236}">
                <a16:creationId xmlns:a16="http://schemas.microsoft.com/office/drawing/2014/main" id="{C33138CF-A6E3-BE27-EAE7-7DD2695DB472}"/>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960004E-D1B1-055C-4234-8647467B2E2B}"/>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13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3EDFF57-D38A-728A-05DC-AD80D3518294}"/>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B3C7CECB-D5EF-1448-952B-465191CFA9E6}"/>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「多職種の一致団結・連携」が高く評価された一方、「狭さ・</a:t>
            </a:r>
            <a:r>
              <a:rPr kumimoji="1" lang="en-US" altLang="ja-JP" sz="1500" b="1">
                <a:solidFill>
                  <a:srgbClr val="10B981"/>
                </a:solidFill>
                <a:latin typeface="Meiryo UI" panose="020B0604030504040204" pitchFamily="50" charset="-128"/>
                <a:ea typeface="Meiryo UI" panose="020B0604030504040204" pitchFamily="50" charset="-128"/>
              </a:rPr>
              <a:t>InBody</a:t>
            </a:r>
            <a:r>
              <a:rPr kumimoji="1" lang="ja-JP" altLang="en-US" sz="1500" b="1">
                <a:solidFill>
                  <a:srgbClr val="10B981"/>
                </a:solidFill>
                <a:latin typeface="Meiryo UI" panose="020B0604030504040204" pitchFamily="50" charset="-128"/>
                <a:ea typeface="Meiryo UI" panose="020B0604030504040204" pitchFamily="50" charset="-128"/>
              </a:rPr>
              <a:t>待ち・休憩不足」が課題に</a:t>
            </a:r>
          </a:p>
        </p:txBody>
      </p:sp>
      <p:sp>
        <p:nvSpPr>
          <p:cNvPr id="11" name="四角形: 角を丸くする 10">
            <a:extLst>
              <a:ext uri="{FF2B5EF4-FFF2-40B4-BE49-F238E27FC236}">
                <a16:creationId xmlns:a16="http://schemas.microsoft.com/office/drawing/2014/main" id="{305BED14-5C6C-08C1-6FB3-EF332EA62BEE}"/>
              </a:ext>
            </a:extLst>
          </p:cNvPr>
          <p:cNvSpPr/>
          <p:nvPr/>
        </p:nvSpPr>
        <p:spPr>
          <a:xfrm>
            <a:off x="254000" y="1574800"/>
            <a:ext cx="5715000" cy="49784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2905C6F7-4EDC-EBD5-251A-30249BC44A0C}"/>
              </a:ext>
            </a:extLst>
          </p:cNvPr>
          <p:cNvSpPr/>
          <p:nvPr/>
        </p:nvSpPr>
        <p:spPr>
          <a:xfrm>
            <a:off x="482600" y="18034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ABC38FB0-D953-3124-9055-421E982C2814}"/>
              </a:ext>
            </a:extLst>
          </p:cNvPr>
          <p:cNvSpPr txBox="1"/>
          <p:nvPr/>
        </p:nvSpPr>
        <p:spPr>
          <a:xfrm>
            <a:off x="685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良かった点（多職種連携・地域貢献）</a:t>
            </a:r>
          </a:p>
        </p:txBody>
      </p:sp>
      <p:sp>
        <p:nvSpPr>
          <p:cNvPr id="14" name="テキスト ボックス 13">
            <a:extLst>
              <a:ext uri="{FF2B5EF4-FFF2-40B4-BE49-F238E27FC236}">
                <a16:creationId xmlns:a16="http://schemas.microsoft.com/office/drawing/2014/main" id="{BAB39F3E-001A-F580-6724-E86595B95FD5}"/>
              </a:ext>
            </a:extLst>
          </p:cNvPr>
          <p:cNvSpPr txBox="1"/>
          <p:nvPr/>
        </p:nvSpPr>
        <p:spPr>
          <a:xfrm>
            <a:off x="508000" y="2286000"/>
            <a:ext cx="5207000" cy="2487861"/>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・他部門と同じ目標に向かって一致団結し、普段できないコミュニケーションが取れた。
・多職種と楽しく関われ、当院の結束力を感じた。
・</a:t>
            </a:r>
            <a:r>
              <a:rPr kumimoji="1" lang="en-US" altLang="ja-JP" sz="1550">
                <a:solidFill>
                  <a:srgbClr val="1E293B"/>
                </a:solidFill>
                <a:latin typeface="Meiryo UI" panose="020B0604030504040204" pitchFamily="50" charset="-128"/>
                <a:ea typeface="Meiryo UI" panose="020B0604030504040204" pitchFamily="50" charset="-128"/>
              </a:rPr>
              <a:t>InBody</a:t>
            </a:r>
            <a:r>
              <a:rPr kumimoji="1" lang="ja-JP" altLang="en-US" sz="1550">
                <a:solidFill>
                  <a:srgbClr val="1E293B"/>
                </a:solidFill>
                <a:latin typeface="Meiryo UI" panose="020B0604030504040204" pitchFamily="50" charset="-128"/>
                <a:ea typeface="Meiryo UI" panose="020B0604030504040204" pitchFamily="50" charset="-128"/>
              </a:rPr>
              <a:t>（リハ）の結果をもとに栄養相談や看護指導を行うなど、専門職間の連携がしやすかった。
・当院の認知度の低さ（医療センターと誤認される等）を現場で肌で知る機会になった。</a:t>
            </a:r>
          </a:p>
        </p:txBody>
      </p:sp>
      <p:sp>
        <p:nvSpPr>
          <p:cNvPr id="15" name="四角形: 角を丸くする 14">
            <a:extLst>
              <a:ext uri="{FF2B5EF4-FFF2-40B4-BE49-F238E27FC236}">
                <a16:creationId xmlns:a16="http://schemas.microsoft.com/office/drawing/2014/main" id="{65F3E47A-B302-0216-1AD5-28B4F25473CE}"/>
              </a:ext>
            </a:extLst>
          </p:cNvPr>
          <p:cNvSpPr/>
          <p:nvPr/>
        </p:nvSpPr>
        <p:spPr>
          <a:xfrm>
            <a:off x="6223000" y="1574800"/>
            <a:ext cx="5715000" cy="49784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DB9792E-43A3-76D6-6F6B-21A3AFAA07B4}"/>
              </a:ext>
            </a:extLst>
          </p:cNvPr>
          <p:cNvSpPr/>
          <p:nvPr/>
        </p:nvSpPr>
        <p:spPr>
          <a:xfrm>
            <a:off x="6451600" y="18034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8833BE0-4B53-E4D6-890B-09B8FD37CCD0}"/>
              </a:ext>
            </a:extLst>
          </p:cNvPr>
          <p:cNvSpPr txBox="1"/>
          <p:nvPr/>
        </p:nvSpPr>
        <p:spPr>
          <a:xfrm>
            <a:off x="6654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問題点（広さ・人員・機器・</a:t>
            </a:r>
            <a:r>
              <a:rPr kumimoji="1" lang="en-US" altLang="ja-JP" sz="1750" b="1">
                <a:solidFill>
                  <a:srgbClr val="1E293B"/>
                </a:solidFill>
                <a:latin typeface="Meiryo UI" panose="020B0604030504040204" pitchFamily="50" charset="-128"/>
                <a:ea typeface="Meiryo UI" panose="020B0604030504040204" pitchFamily="50" charset="-128"/>
              </a:rPr>
              <a:t>PR</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8" name="テキスト ボックス 17">
            <a:extLst>
              <a:ext uri="{FF2B5EF4-FFF2-40B4-BE49-F238E27FC236}">
                <a16:creationId xmlns:a16="http://schemas.microsoft.com/office/drawing/2014/main" id="{21F5377B-0BC0-F6B6-F9E5-65244D476C21}"/>
              </a:ext>
            </a:extLst>
          </p:cNvPr>
          <p:cNvSpPr txBox="1"/>
          <p:nvPr/>
        </p:nvSpPr>
        <p:spPr>
          <a:xfrm>
            <a:off x="6477000" y="2286000"/>
            <a:ext cx="5207000" cy="2726387"/>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a:t>
            </a:r>
            <a:r>
              <a:rPr kumimoji="1" lang="en-US" altLang="ja-JP" sz="1550">
                <a:solidFill>
                  <a:srgbClr val="1E293B"/>
                </a:solidFill>
                <a:latin typeface="Meiryo UI" panose="020B0604030504040204" pitchFamily="50" charset="-128"/>
                <a:ea typeface="Meiryo UI" panose="020B0604030504040204" pitchFamily="50" charset="-128"/>
              </a:rPr>
              <a:t>3</a:t>
            </a:r>
            <a:r>
              <a:rPr kumimoji="1" lang="ja-JP" altLang="en-US" sz="1550">
                <a:solidFill>
                  <a:srgbClr val="1E293B"/>
                </a:solidFill>
                <a:latin typeface="Meiryo UI" panose="020B0604030504040204" pitchFamily="50" charset="-128"/>
                <a:ea typeface="Meiryo UI" panose="020B0604030504040204" pitchFamily="50" charset="-128"/>
              </a:rPr>
              <a:t>区画では狭く満席が続き、座れない方に外出を勧めた。規模を広げるなら</a:t>
            </a:r>
            <a:r>
              <a:rPr kumimoji="1" lang="en-US" altLang="ja-JP" sz="1550">
                <a:solidFill>
                  <a:srgbClr val="1E293B"/>
                </a:solidFill>
                <a:latin typeface="Meiryo UI" panose="020B0604030504040204" pitchFamily="50" charset="-128"/>
                <a:ea typeface="Meiryo UI" panose="020B0604030504040204" pitchFamily="50" charset="-128"/>
              </a:rPr>
              <a:t>4</a:t>
            </a:r>
            <a:r>
              <a:rPr kumimoji="1" lang="ja-JP" altLang="en-US" sz="1550">
                <a:solidFill>
                  <a:srgbClr val="1E293B"/>
                </a:solidFill>
                <a:latin typeface="Meiryo UI" panose="020B0604030504040204" pitchFamily="50" charset="-128"/>
                <a:ea typeface="Meiryo UI" panose="020B0604030504040204" pitchFamily="50" charset="-128"/>
              </a:rPr>
              <a:t>区画が必要。
・</a:t>
            </a:r>
            <a:r>
              <a:rPr kumimoji="1" lang="en-US" altLang="ja-JP" sz="1550">
                <a:solidFill>
                  <a:srgbClr val="1E293B"/>
                </a:solidFill>
                <a:latin typeface="Meiryo UI" panose="020B0604030504040204" pitchFamily="50" charset="-128"/>
                <a:ea typeface="Meiryo UI" panose="020B0604030504040204" pitchFamily="50" charset="-128"/>
              </a:rPr>
              <a:t>InBody</a:t>
            </a:r>
            <a:r>
              <a:rPr kumimoji="1" lang="ja-JP" altLang="en-US" sz="1550">
                <a:solidFill>
                  <a:srgbClr val="1E293B"/>
                </a:solidFill>
                <a:latin typeface="Meiryo UI" panose="020B0604030504040204" pitchFamily="50" charset="-128"/>
                <a:ea typeface="Meiryo UI" panose="020B0604030504040204" pitchFamily="50" charset="-128"/>
              </a:rPr>
              <a:t>の待ち時間が</a:t>
            </a:r>
            <a:r>
              <a:rPr kumimoji="1" lang="en-US" altLang="ja-JP" sz="1550">
                <a:solidFill>
                  <a:srgbClr val="1E293B"/>
                </a:solidFill>
                <a:latin typeface="Meiryo UI" panose="020B0604030504040204" pitchFamily="50" charset="-128"/>
                <a:ea typeface="Meiryo UI" panose="020B0604030504040204" pitchFamily="50" charset="-128"/>
              </a:rPr>
              <a:t>30</a:t>
            </a:r>
            <a:r>
              <a:rPr kumimoji="1" lang="ja-JP" altLang="en-US" sz="1550">
                <a:solidFill>
                  <a:srgbClr val="1E293B"/>
                </a:solidFill>
                <a:latin typeface="Meiryo UI" panose="020B0604030504040204" pitchFamily="50" charset="-128"/>
                <a:ea typeface="Meiryo UI" panose="020B0604030504040204" pitchFamily="50" charset="-128"/>
              </a:rPr>
              <a:t>分以上となり、最後は並ぶのを中止（お断り）した。</a:t>
            </a:r>
            <a:r>
              <a:rPr kumimoji="1" lang="en-US" altLang="ja-JP" sz="1550">
                <a:solidFill>
                  <a:srgbClr val="1E293B"/>
                </a:solidFill>
                <a:latin typeface="Meiryo UI" panose="020B0604030504040204" pitchFamily="50" charset="-128"/>
                <a:ea typeface="Meiryo UI" panose="020B0604030504040204" pitchFamily="50" charset="-128"/>
              </a:rPr>
              <a:t>2</a:t>
            </a:r>
            <a:r>
              <a:rPr kumimoji="1" lang="ja-JP" altLang="en-US" sz="1550">
                <a:solidFill>
                  <a:srgbClr val="1E293B"/>
                </a:solidFill>
                <a:latin typeface="Meiryo UI" panose="020B0604030504040204" pitchFamily="50" charset="-128"/>
                <a:ea typeface="Meiryo UI" panose="020B0604030504040204" pitchFamily="50" charset="-128"/>
              </a:rPr>
              <a:t>台体制が必要。
・休憩時間がほとんど取れなかった（</a:t>
            </a:r>
            <a:r>
              <a:rPr kumimoji="1" lang="en-US" altLang="ja-JP" sz="1550">
                <a:solidFill>
                  <a:srgbClr val="1E293B"/>
                </a:solidFill>
                <a:latin typeface="Meiryo UI" panose="020B0604030504040204" pitchFamily="50" charset="-128"/>
                <a:ea typeface="Meiryo UI" panose="020B0604030504040204" pitchFamily="50" charset="-128"/>
              </a:rPr>
              <a:t>10〜15</a:t>
            </a:r>
            <a:r>
              <a:rPr kumimoji="1" lang="ja-JP" altLang="en-US" sz="1550">
                <a:solidFill>
                  <a:srgbClr val="1E293B"/>
                </a:solidFill>
                <a:latin typeface="Meiryo UI" panose="020B0604030504040204" pitchFamily="50" charset="-128"/>
                <a:ea typeface="Meiryo UI" panose="020B0604030504040204" pitchFamily="50" charset="-128"/>
              </a:rPr>
              <a:t>分</a:t>
            </a:r>
            <a:r>
              <a:rPr kumimoji="1" lang="en-US" altLang="ja-JP" sz="1550">
                <a:solidFill>
                  <a:srgbClr val="1E293B"/>
                </a:solidFill>
                <a:latin typeface="Meiryo UI" panose="020B0604030504040204" pitchFamily="50" charset="-128"/>
                <a:ea typeface="Meiryo UI" panose="020B0604030504040204" pitchFamily="50" charset="-128"/>
              </a:rPr>
              <a:t>×2</a:t>
            </a:r>
            <a:r>
              <a:rPr kumimoji="1" lang="ja-JP" altLang="en-US" sz="1550">
                <a:solidFill>
                  <a:srgbClr val="1E293B"/>
                </a:solidFill>
                <a:latin typeface="Meiryo UI" panose="020B0604030504040204" pitchFamily="50" charset="-128"/>
                <a:ea typeface="Meiryo UI" panose="020B0604030504040204" pitchFamily="50" charset="-128"/>
              </a:rPr>
              <a:t>回程度）。誘導係・統括・測定の増員が必要。
・広報誌や病院案内パネルを持参せず、リハ病院の役割を十分に伝えきれなかった。</a:t>
            </a:r>
          </a:p>
        </p:txBody>
      </p:sp>
    </p:spTree>
    <p:extLst>
      <p:ext uri="{BB962C8B-B14F-4D97-AF65-F5344CB8AC3E}">
        <p14:creationId xmlns:p14="http://schemas.microsoft.com/office/powerpoint/2010/main" val="33093969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59CCD45-4081-AE09-08EC-EB84FFC6B312}"/>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4F6359F5-DA30-E64B-6C53-FE5332BF774E}"/>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6FFD53D-428D-0327-FFFE-311DBE0D4B76}"/>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C6E28B5-CE37-8074-2369-953DF53E2E6E}"/>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3</a:t>
            </a:r>
            <a:r>
              <a:rPr kumimoji="1" lang="zh-TW" altLang="en-US" sz="1250" b="1">
                <a:solidFill>
                  <a:srgbClr val="FFFFFF"/>
                </a:solidFill>
                <a:latin typeface="Meiryo UI" panose="020B0604030504040204" pitchFamily="50" charset="-128"/>
                <a:ea typeface="Meiryo UI" panose="020B0604030504040204" pitchFamily="50" charset="-128"/>
              </a:rPr>
              <a:t>部：達成報告</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26D87B21-2C77-8C7F-B473-29DC5E771B89}"/>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起案書の</a:t>
            </a:r>
            <a:r>
              <a:rPr kumimoji="1" lang="en-US" altLang="ja-JP" sz="2000" b="1">
                <a:solidFill>
                  <a:srgbClr val="1E293B"/>
                </a:solidFill>
                <a:latin typeface="Meiryo UI" panose="020B0604030504040204" pitchFamily="50" charset="-128"/>
                <a:ea typeface="Meiryo UI" panose="020B0604030504040204" pitchFamily="50" charset="-128"/>
              </a:rPr>
              <a:t>KPI</a:t>
            </a:r>
            <a:r>
              <a:rPr kumimoji="1" lang="ja-JP" altLang="en-US" sz="2000" b="1">
                <a:solidFill>
                  <a:srgbClr val="1E293B"/>
                </a:solidFill>
                <a:latin typeface="Meiryo UI" panose="020B0604030504040204" pitchFamily="50" charset="-128"/>
                <a:ea typeface="Meiryo UI" panose="020B0604030504040204" pitchFamily="50" charset="-128"/>
              </a:rPr>
              <a:t>（目標数値）と </a:t>
            </a:r>
            <a:r>
              <a:rPr kumimoji="1" lang="en-US" altLang="ja-JP" sz="2000" b="1">
                <a:solidFill>
                  <a:srgbClr val="1E293B"/>
                </a:solidFill>
                <a:latin typeface="Meiryo UI" panose="020B0604030504040204" pitchFamily="50" charset="-128"/>
                <a:ea typeface="Meiryo UI" panose="020B0604030504040204" pitchFamily="50" charset="-128"/>
              </a:rPr>
              <a:t>3</a:t>
            </a:r>
            <a:r>
              <a:rPr kumimoji="1" lang="ja-JP" altLang="en-US" sz="2000" b="1">
                <a:solidFill>
                  <a:srgbClr val="1E293B"/>
                </a:solidFill>
                <a:latin typeface="Meiryo UI" panose="020B0604030504040204" pitchFamily="50" charset="-128"/>
                <a:ea typeface="Meiryo UI" panose="020B0604030504040204" pitchFamily="50" charset="-128"/>
              </a:rPr>
              <a:t>つの目的の達成報告</a:t>
            </a:r>
          </a:p>
        </p:txBody>
      </p:sp>
      <p:sp>
        <p:nvSpPr>
          <p:cNvPr id="7" name="四角形: 角を丸くする 6">
            <a:extLst>
              <a:ext uri="{FF2B5EF4-FFF2-40B4-BE49-F238E27FC236}">
                <a16:creationId xmlns:a16="http://schemas.microsoft.com/office/drawing/2014/main" id="{19F6299B-8CEC-C490-3252-069234A98B18}"/>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F800B0D-E324-E6E9-ADE0-7FFFF25CE79A}"/>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14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3F272030-22D8-46EF-813F-A730212EED8E}"/>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2B88897-FBA1-7B3C-30F5-820E5AB8D15D}"/>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ブース来場</a:t>
            </a:r>
            <a:r>
              <a:rPr kumimoji="1" lang="en-US" altLang="ja-JP" sz="1500" b="1">
                <a:solidFill>
                  <a:srgbClr val="2563EB"/>
                </a:solidFill>
                <a:latin typeface="Meiryo UI" panose="020B0604030504040204" pitchFamily="50" charset="-128"/>
                <a:ea typeface="Meiryo UI" panose="020B0604030504040204" pitchFamily="50" charset="-128"/>
              </a:rPr>
              <a:t>268</a:t>
            </a:r>
            <a:r>
              <a:rPr kumimoji="1" lang="ja-JP" altLang="en-US" sz="1500" b="1">
                <a:solidFill>
                  <a:srgbClr val="2563EB"/>
                </a:solidFill>
                <a:latin typeface="Meiryo UI" panose="020B0604030504040204" pitchFamily="50" charset="-128"/>
                <a:ea typeface="Meiryo UI" panose="020B0604030504040204" pitchFamily="50" charset="-128"/>
              </a:rPr>
              <a:t>名（目標比</a:t>
            </a:r>
            <a:r>
              <a:rPr kumimoji="1" lang="en-US" altLang="ja-JP" sz="1500" b="1">
                <a:solidFill>
                  <a:srgbClr val="2563EB"/>
                </a:solidFill>
                <a:latin typeface="Meiryo UI" panose="020B0604030504040204" pitchFamily="50" charset="-128"/>
                <a:ea typeface="Meiryo UI" panose="020B0604030504040204" pitchFamily="50" charset="-128"/>
              </a:rPr>
              <a:t>134%</a:t>
            </a:r>
            <a:r>
              <a:rPr kumimoji="1" lang="ja-JP" altLang="en-US" sz="1500" b="1">
                <a:solidFill>
                  <a:srgbClr val="2563EB"/>
                </a:solidFill>
                <a:latin typeface="Meiryo UI" panose="020B0604030504040204" pitchFamily="50" charset="-128"/>
                <a:ea typeface="Meiryo UI" panose="020B0604030504040204" pitchFamily="50" charset="-128"/>
              </a:rPr>
              <a:t>）・アンケート</a:t>
            </a:r>
            <a:r>
              <a:rPr kumimoji="1" lang="en-US" altLang="ja-JP" sz="1500" b="1">
                <a:solidFill>
                  <a:srgbClr val="2563EB"/>
                </a:solidFill>
                <a:latin typeface="Meiryo UI" panose="020B0604030504040204" pitchFamily="50" charset="-128"/>
                <a:ea typeface="Meiryo UI" panose="020B0604030504040204" pitchFamily="50" charset="-128"/>
              </a:rPr>
              <a:t>236</a:t>
            </a:r>
            <a:r>
              <a:rPr kumimoji="1" lang="ja-JP" altLang="en-US" sz="1500" b="1">
                <a:solidFill>
                  <a:srgbClr val="2563EB"/>
                </a:solidFill>
                <a:latin typeface="Meiryo UI" panose="020B0604030504040204" pitchFamily="50" charset="-128"/>
                <a:ea typeface="Meiryo UI" panose="020B0604030504040204" pitchFamily="50" charset="-128"/>
              </a:rPr>
              <a:t>名（目標比</a:t>
            </a:r>
            <a:r>
              <a:rPr kumimoji="1" lang="en-US" altLang="ja-JP" sz="1500" b="1">
                <a:solidFill>
                  <a:srgbClr val="2563EB"/>
                </a:solidFill>
                <a:latin typeface="Meiryo UI" panose="020B0604030504040204" pitchFamily="50" charset="-128"/>
                <a:ea typeface="Meiryo UI" panose="020B0604030504040204" pitchFamily="50" charset="-128"/>
              </a:rPr>
              <a:t>472%</a:t>
            </a:r>
            <a:r>
              <a:rPr kumimoji="1" lang="ja-JP" altLang="en-US" sz="1500" b="1">
                <a:solidFill>
                  <a:srgbClr val="2563EB"/>
                </a:solidFill>
                <a:latin typeface="Meiryo UI" panose="020B0604030504040204" pitchFamily="50" charset="-128"/>
                <a:ea typeface="Meiryo UI" panose="020B0604030504040204" pitchFamily="50" charset="-128"/>
              </a:rPr>
              <a:t>）を達成し、</a:t>
            </a:r>
            <a:r>
              <a:rPr kumimoji="1" lang="en-US" altLang="ja-JP" sz="1500" b="1">
                <a:solidFill>
                  <a:srgbClr val="2563EB"/>
                </a:solidFill>
                <a:latin typeface="Meiryo UI" panose="020B0604030504040204" pitchFamily="50" charset="-128"/>
                <a:ea typeface="Meiryo UI" panose="020B0604030504040204" pitchFamily="50" charset="-128"/>
              </a:rPr>
              <a:t>3</a:t>
            </a:r>
            <a:r>
              <a:rPr kumimoji="1" lang="ja-JP" altLang="en-US" sz="1500" b="1">
                <a:solidFill>
                  <a:srgbClr val="2563EB"/>
                </a:solidFill>
                <a:latin typeface="Meiryo UI" panose="020B0604030504040204" pitchFamily="50" charset="-128"/>
                <a:ea typeface="Meiryo UI" panose="020B0604030504040204" pitchFamily="50" charset="-128"/>
              </a:rPr>
              <a:t>目的すべてを達成</a:t>
            </a:r>
          </a:p>
        </p:txBody>
      </p:sp>
      <p:sp>
        <p:nvSpPr>
          <p:cNvPr id="11" name="四角形: 角を丸くする 10">
            <a:extLst>
              <a:ext uri="{FF2B5EF4-FFF2-40B4-BE49-F238E27FC236}">
                <a16:creationId xmlns:a16="http://schemas.microsoft.com/office/drawing/2014/main" id="{8E46E1DD-2ECF-4FB8-5BD9-D9A1C8B6E44C}"/>
              </a:ext>
            </a:extLst>
          </p:cNvPr>
          <p:cNvSpPr/>
          <p:nvPr/>
        </p:nvSpPr>
        <p:spPr>
          <a:xfrm>
            <a:off x="254000" y="1574800"/>
            <a:ext cx="5715000" cy="19812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0AF6788-CDEA-9883-C285-E61B32BE2332}"/>
              </a:ext>
            </a:extLst>
          </p:cNvPr>
          <p:cNvSpPr/>
          <p:nvPr/>
        </p:nvSpPr>
        <p:spPr>
          <a:xfrm>
            <a:off x="457200" y="1778000"/>
            <a:ext cx="2032000" cy="4064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A4E2B13-3B0B-64ED-57A6-597AF310B769}"/>
              </a:ext>
            </a:extLst>
          </p:cNvPr>
          <p:cNvSpPr txBox="1"/>
          <p:nvPr/>
        </p:nvSpPr>
        <p:spPr>
          <a:xfrm>
            <a:off x="457200" y="1816100"/>
            <a:ext cx="2032000" cy="318036"/>
          </a:xfrm>
          <a:prstGeom prst="rect">
            <a:avLst/>
          </a:prstGeom>
          <a:noFill/>
        </p:spPr>
        <p:txBody>
          <a:bodyPr vert="horz" wrap="square" lIns="76200" tIns="50800" rIns="76200" bIns="50800" rtlCol="0">
            <a:spAutoFit/>
          </a:bodyPr>
          <a:lstStyle/>
          <a:p>
            <a:pPr algn="ctr"/>
            <a:r>
              <a:rPr kumimoji="1" lang="en-US" altLang="ja-JP" sz="1400" b="1">
                <a:solidFill>
                  <a:srgbClr val="2563EB"/>
                </a:solidFill>
                <a:latin typeface="Meiryo UI" panose="020B0604030504040204" pitchFamily="50" charset="-128"/>
                <a:ea typeface="Meiryo UI" panose="020B0604030504040204" pitchFamily="50" charset="-128"/>
              </a:rPr>
              <a:t>KPI① </a:t>
            </a:r>
            <a:r>
              <a:rPr kumimoji="1" lang="ja-JP" altLang="en-US" sz="1400" b="1">
                <a:solidFill>
                  <a:srgbClr val="2563EB"/>
                </a:solidFill>
                <a:latin typeface="Meiryo UI" panose="020B0604030504040204" pitchFamily="50" charset="-128"/>
                <a:ea typeface="Meiryo UI" panose="020B0604030504040204" pitchFamily="50" charset="-128"/>
              </a:rPr>
              <a:t>ブース来場者数</a:t>
            </a:r>
          </a:p>
        </p:txBody>
      </p:sp>
      <p:sp>
        <p:nvSpPr>
          <p:cNvPr id="14" name="テキスト ボックス 13">
            <a:extLst>
              <a:ext uri="{FF2B5EF4-FFF2-40B4-BE49-F238E27FC236}">
                <a16:creationId xmlns:a16="http://schemas.microsoft.com/office/drawing/2014/main" id="{B8ECB847-A2D1-45DB-E248-267C79F8B107}"/>
              </a:ext>
            </a:extLst>
          </p:cNvPr>
          <p:cNvSpPr txBox="1"/>
          <p:nvPr/>
        </p:nvSpPr>
        <p:spPr>
          <a:xfrm>
            <a:off x="457200" y="2286000"/>
            <a:ext cx="5334000" cy="533479"/>
          </a:xfrm>
          <a:prstGeom prst="rect">
            <a:avLst/>
          </a:prstGeom>
          <a:noFill/>
        </p:spPr>
        <p:txBody>
          <a:bodyPr vert="horz" wrap="square" lIns="76200" tIns="50800" rIns="76200" bIns="50800" rtlCol="0">
            <a:spAutoFit/>
          </a:bodyPr>
          <a:lstStyle/>
          <a:p>
            <a:r>
              <a:rPr kumimoji="1" lang="en-US" altLang="zh-TW" sz="2800" b="1">
                <a:solidFill>
                  <a:srgbClr val="2563EB"/>
                </a:solidFill>
                <a:latin typeface="Meiryo UI" panose="020B0604030504040204" pitchFamily="50" charset="-128"/>
                <a:ea typeface="Meiryo UI" panose="020B0604030504040204" pitchFamily="50" charset="-128"/>
              </a:rPr>
              <a:t>268 </a:t>
            </a:r>
            <a:r>
              <a:rPr kumimoji="1" lang="zh-TW" altLang="en-US" sz="2800" b="1">
                <a:solidFill>
                  <a:srgbClr val="2563EB"/>
                </a:solidFill>
                <a:latin typeface="Meiryo UI" panose="020B0604030504040204" pitchFamily="50" charset="-128"/>
                <a:ea typeface="Meiryo UI" panose="020B0604030504040204" pitchFamily="50" charset="-128"/>
              </a:rPr>
              <a:t>名 （達成率 </a:t>
            </a:r>
            <a:r>
              <a:rPr kumimoji="1" lang="en-US" altLang="zh-TW" sz="2800" b="1">
                <a:solidFill>
                  <a:srgbClr val="2563EB"/>
                </a:solidFill>
                <a:latin typeface="Meiryo UI" panose="020B0604030504040204" pitchFamily="50" charset="-128"/>
                <a:ea typeface="Meiryo UI" panose="020B0604030504040204" pitchFamily="50" charset="-128"/>
              </a:rPr>
              <a:t>134%</a:t>
            </a:r>
            <a:r>
              <a:rPr kumimoji="1" lang="zh-TW" altLang="en-US" sz="2800" b="1">
                <a:solidFill>
                  <a:srgbClr val="2563EB"/>
                </a:solidFill>
                <a:latin typeface="Meiryo UI" panose="020B0604030504040204" pitchFamily="50" charset="-128"/>
                <a:ea typeface="Meiryo UI" panose="020B0604030504040204" pitchFamily="50" charset="-128"/>
              </a:rPr>
              <a:t>）</a:t>
            </a:r>
            <a:endParaRPr kumimoji="1" lang="ja-JP" altLang="en-US" sz="2800" b="1">
              <a:solidFill>
                <a:srgbClr val="2563EB"/>
              </a:solidFill>
              <a:latin typeface="Meiryo UI" panose="020B0604030504040204" pitchFamily="50" charset="-128"/>
              <a:ea typeface="Meiryo UI" panose="020B0604030504040204" pitchFamily="50" charset="-128"/>
            </a:endParaRPr>
          </a:p>
        </p:txBody>
      </p:sp>
      <p:sp>
        <p:nvSpPr>
          <p:cNvPr id="15" name="テキスト ボックス 14">
            <a:extLst>
              <a:ext uri="{FF2B5EF4-FFF2-40B4-BE49-F238E27FC236}">
                <a16:creationId xmlns:a16="http://schemas.microsoft.com/office/drawing/2014/main" id="{13D42DBC-7BE6-CB46-049A-7A062BF39DDC}"/>
              </a:ext>
            </a:extLst>
          </p:cNvPr>
          <p:cNvSpPr txBox="1"/>
          <p:nvPr/>
        </p:nvSpPr>
        <p:spPr>
          <a:xfrm>
            <a:off x="457200" y="2971800"/>
            <a:ext cx="5334000" cy="325730"/>
          </a:xfrm>
          <a:prstGeom prst="rect">
            <a:avLst/>
          </a:prstGeom>
          <a:noFill/>
        </p:spPr>
        <p:txBody>
          <a:bodyPr vert="horz" wrap="square" lIns="76200" tIns="50800" rIns="76200" bIns="50800" rtlCol="0">
            <a:spAutoFit/>
          </a:bodyPr>
          <a:lstStyle/>
          <a:p>
            <a:r>
              <a:rPr kumimoji="1" lang="ja-JP" altLang="en-US" sz="1450" b="1">
                <a:solidFill>
                  <a:srgbClr val="64748B"/>
                </a:solidFill>
                <a:latin typeface="Meiryo UI" panose="020B0604030504040204" pitchFamily="50" charset="-128"/>
                <a:ea typeface="Meiryo UI" panose="020B0604030504040204" pitchFamily="50" charset="-128"/>
              </a:rPr>
              <a:t>起案目標 </a:t>
            </a:r>
            <a:r>
              <a:rPr kumimoji="1" lang="en-US" altLang="ja-JP" sz="1450" b="1">
                <a:solidFill>
                  <a:srgbClr val="64748B"/>
                </a:solidFill>
                <a:latin typeface="Meiryo UI" panose="020B0604030504040204" pitchFamily="50" charset="-128"/>
                <a:ea typeface="Meiryo UI" panose="020B0604030504040204" pitchFamily="50" charset="-128"/>
              </a:rPr>
              <a:t>200</a:t>
            </a:r>
            <a:r>
              <a:rPr kumimoji="1" lang="ja-JP" altLang="en-US" sz="1450" b="1">
                <a:solidFill>
                  <a:srgbClr val="64748B"/>
                </a:solidFill>
                <a:latin typeface="Meiryo UI" panose="020B0604030504040204" pitchFamily="50" charset="-128"/>
                <a:ea typeface="Meiryo UI" panose="020B0604030504040204" pitchFamily="50" charset="-128"/>
              </a:rPr>
              <a:t>名 ／ 内訳：</a:t>
            </a:r>
            <a:r>
              <a:rPr kumimoji="1" lang="en-US" altLang="ja-JP" sz="1450" b="1">
                <a:solidFill>
                  <a:srgbClr val="64748B"/>
                </a:solidFill>
                <a:latin typeface="Meiryo UI" panose="020B0604030504040204" pitchFamily="50" charset="-128"/>
                <a:ea typeface="Meiryo UI" panose="020B0604030504040204" pitchFamily="50" charset="-128"/>
              </a:rPr>
              <a:t>1</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120</a:t>
            </a:r>
            <a:r>
              <a:rPr kumimoji="1" lang="ja-JP" altLang="en-US" sz="1450" b="1">
                <a:solidFill>
                  <a:srgbClr val="64748B"/>
                </a:solidFill>
                <a:latin typeface="Meiryo UI" panose="020B0604030504040204" pitchFamily="50" charset="-128"/>
                <a:ea typeface="Meiryo UI" panose="020B0604030504040204" pitchFamily="50" charset="-128"/>
              </a:rPr>
              <a:t>名・</a:t>
            </a:r>
            <a:r>
              <a:rPr kumimoji="1" lang="en-US" altLang="ja-JP" sz="1450" b="1">
                <a:solidFill>
                  <a:srgbClr val="64748B"/>
                </a:solidFill>
                <a:latin typeface="Meiryo UI" panose="020B0604030504040204" pitchFamily="50" charset="-128"/>
                <a:ea typeface="Meiryo UI" panose="020B0604030504040204" pitchFamily="50" charset="-128"/>
              </a:rPr>
              <a:t>2</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148</a:t>
            </a:r>
            <a:r>
              <a:rPr kumimoji="1" lang="ja-JP" altLang="en-US" sz="1450" b="1">
                <a:solidFill>
                  <a:srgbClr val="64748B"/>
                </a:solidFill>
                <a:latin typeface="Meiryo UI" panose="020B0604030504040204" pitchFamily="50" charset="-128"/>
                <a:ea typeface="Meiryo UI" panose="020B0604030504040204" pitchFamily="50" charset="-128"/>
              </a:rPr>
              <a:t>名</a:t>
            </a:r>
          </a:p>
        </p:txBody>
      </p:sp>
      <p:sp>
        <p:nvSpPr>
          <p:cNvPr id="16" name="四角形: 角を丸くする 15">
            <a:extLst>
              <a:ext uri="{FF2B5EF4-FFF2-40B4-BE49-F238E27FC236}">
                <a16:creationId xmlns:a16="http://schemas.microsoft.com/office/drawing/2014/main" id="{68E40C9C-6B4D-209E-6788-335DE3A24F61}"/>
              </a:ext>
            </a:extLst>
          </p:cNvPr>
          <p:cNvSpPr/>
          <p:nvPr/>
        </p:nvSpPr>
        <p:spPr>
          <a:xfrm>
            <a:off x="6223000" y="1574800"/>
            <a:ext cx="5715000" cy="19812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BD50B330-F471-99AC-8496-5D79D8DC4A1D}"/>
              </a:ext>
            </a:extLst>
          </p:cNvPr>
          <p:cNvSpPr/>
          <p:nvPr/>
        </p:nvSpPr>
        <p:spPr>
          <a:xfrm>
            <a:off x="6426200" y="1778000"/>
            <a:ext cx="2286000" cy="4064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944F33AD-5E4A-8E8B-6536-FD9DE627C647}"/>
              </a:ext>
            </a:extLst>
          </p:cNvPr>
          <p:cNvSpPr txBox="1"/>
          <p:nvPr/>
        </p:nvSpPr>
        <p:spPr>
          <a:xfrm>
            <a:off x="6426200" y="1816100"/>
            <a:ext cx="2286000" cy="318036"/>
          </a:xfrm>
          <a:prstGeom prst="rect">
            <a:avLst/>
          </a:prstGeom>
          <a:noFill/>
        </p:spPr>
        <p:txBody>
          <a:bodyPr vert="horz" wrap="square" lIns="76200" tIns="50800" rIns="76200" bIns="50800" rtlCol="0">
            <a:spAutoFit/>
          </a:bodyPr>
          <a:lstStyle/>
          <a:p>
            <a:pPr algn="ctr"/>
            <a:r>
              <a:rPr kumimoji="1" lang="en-US" altLang="ja-JP" sz="1400" b="1">
                <a:solidFill>
                  <a:srgbClr val="10B981"/>
                </a:solidFill>
                <a:latin typeface="Meiryo UI" panose="020B0604030504040204" pitchFamily="50" charset="-128"/>
                <a:ea typeface="Meiryo UI" panose="020B0604030504040204" pitchFamily="50" charset="-128"/>
              </a:rPr>
              <a:t>KPI② </a:t>
            </a:r>
            <a:r>
              <a:rPr kumimoji="1" lang="ja-JP" altLang="en-US" sz="1400" b="1">
                <a:solidFill>
                  <a:srgbClr val="10B981"/>
                </a:solidFill>
                <a:latin typeface="Meiryo UI" panose="020B0604030504040204" pitchFamily="50" charset="-128"/>
                <a:ea typeface="Meiryo UI" panose="020B0604030504040204" pitchFamily="50" charset="-128"/>
              </a:rPr>
              <a:t>アンケート回答数</a:t>
            </a:r>
          </a:p>
        </p:txBody>
      </p:sp>
      <p:sp>
        <p:nvSpPr>
          <p:cNvPr id="19" name="テキスト ボックス 18">
            <a:extLst>
              <a:ext uri="{FF2B5EF4-FFF2-40B4-BE49-F238E27FC236}">
                <a16:creationId xmlns:a16="http://schemas.microsoft.com/office/drawing/2014/main" id="{468E67BD-6726-3D3D-9D8B-2A9EDEACD50A}"/>
              </a:ext>
            </a:extLst>
          </p:cNvPr>
          <p:cNvSpPr txBox="1"/>
          <p:nvPr/>
        </p:nvSpPr>
        <p:spPr>
          <a:xfrm>
            <a:off x="6426200" y="2286000"/>
            <a:ext cx="5334000" cy="533479"/>
          </a:xfrm>
          <a:prstGeom prst="rect">
            <a:avLst/>
          </a:prstGeom>
          <a:noFill/>
        </p:spPr>
        <p:txBody>
          <a:bodyPr vert="horz" wrap="square" lIns="76200" tIns="50800" rIns="76200" bIns="50800" rtlCol="0">
            <a:spAutoFit/>
          </a:bodyPr>
          <a:lstStyle/>
          <a:p>
            <a:r>
              <a:rPr kumimoji="1" lang="en-US" altLang="zh-TW" sz="2800" b="1">
                <a:solidFill>
                  <a:srgbClr val="10B981"/>
                </a:solidFill>
                <a:latin typeface="Meiryo UI" panose="020B0604030504040204" pitchFamily="50" charset="-128"/>
                <a:ea typeface="Meiryo UI" panose="020B0604030504040204" pitchFamily="50" charset="-128"/>
              </a:rPr>
              <a:t>236 </a:t>
            </a:r>
            <a:r>
              <a:rPr kumimoji="1" lang="zh-TW" altLang="en-US" sz="2800" b="1">
                <a:solidFill>
                  <a:srgbClr val="10B981"/>
                </a:solidFill>
                <a:latin typeface="Meiryo UI" panose="020B0604030504040204" pitchFamily="50" charset="-128"/>
                <a:ea typeface="Meiryo UI" panose="020B0604030504040204" pitchFamily="50" charset="-128"/>
              </a:rPr>
              <a:t>名 （達成率 </a:t>
            </a:r>
            <a:r>
              <a:rPr kumimoji="1" lang="en-US" altLang="zh-TW" sz="2800" b="1">
                <a:solidFill>
                  <a:srgbClr val="10B981"/>
                </a:solidFill>
                <a:latin typeface="Meiryo UI" panose="020B0604030504040204" pitchFamily="50" charset="-128"/>
                <a:ea typeface="Meiryo UI" panose="020B0604030504040204" pitchFamily="50" charset="-128"/>
              </a:rPr>
              <a:t>472%</a:t>
            </a:r>
            <a:r>
              <a:rPr kumimoji="1" lang="zh-TW" altLang="en-US" sz="2800" b="1">
                <a:solidFill>
                  <a:srgbClr val="10B981"/>
                </a:solidFill>
                <a:latin typeface="Meiryo UI" panose="020B0604030504040204" pitchFamily="50" charset="-128"/>
                <a:ea typeface="Meiryo UI" panose="020B0604030504040204" pitchFamily="50" charset="-128"/>
              </a:rPr>
              <a:t>）</a:t>
            </a:r>
            <a:endParaRPr kumimoji="1" lang="ja-JP" altLang="en-US" sz="2800" b="1">
              <a:solidFill>
                <a:srgbClr val="10B981"/>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9AEED6AE-5A92-E876-1CB0-2338A63DF9B3}"/>
              </a:ext>
            </a:extLst>
          </p:cNvPr>
          <p:cNvSpPr txBox="1"/>
          <p:nvPr/>
        </p:nvSpPr>
        <p:spPr>
          <a:xfrm>
            <a:off x="6426200" y="2971800"/>
            <a:ext cx="5334000" cy="548868"/>
          </a:xfrm>
          <a:prstGeom prst="rect">
            <a:avLst/>
          </a:prstGeom>
          <a:noFill/>
        </p:spPr>
        <p:txBody>
          <a:bodyPr vert="horz" wrap="square" lIns="76200" tIns="50800" rIns="76200" bIns="50800" rtlCol="0">
            <a:spAutoFit/>
          </a:bodyPr>
          <a:lstStyle/>
          <a:p>
            <a:r>
              <a:rPr kumimoji="1" lang="ja-JP" altLang="en-US" sz="1450" b="1">
                <a:solidFill>
                  <a:srgbClr val="64748B"/>
                </a:solidFill>
                <a:latin typeface="Meiryo UI" panose="020B0604030504040204" pitchFamily="50" charset="-128"/>
                <a:ea typeface="Meiryo UI" panose="020B0604030504040204" pitchFamily="50" charset="-128"/>
              </a:rPr>
              <a:t>起案目標 </a:t>
            </a:r>
            <a:r>
              <a:rPr kumimoji="1" lang="en-US" altLang="ja-JP" sz="1450" b="1">
                <a:solidFill>
                  <a:srgbClr val="64748B"/>
                </a:solidFill>
                <a:latin typeface="Meiryo UI" panose="020B0604030504040204" pitchFamily="50" charset="-128"/>
                <a:ea typeface="Meiryo UI" panose="020B0604030504040204" pitchFamily="50" charset="-128"/>
              </a:rPr>
              <a:t>50</a:t>
            </a:r>
            <a:r>
              <a:rPr kumimoji="1" lang="ja-JP" altLang="en-US" sz="1450" b="1">
                <a:solidFill>
                  <a:srgbClr val="64748B"/>
                </a:solidFill>
                <a:latin typeface="Meiryo UI" panose="020B0604030504040204" pitchFamily="50" charset="-128"/>
                <a:ea typeface="Meiryo UI" panose="020B0604030504040204" pitchFamily="50" charset="-128"/>
              </a:rPr>
              <a:t>名の約</a:t>
            </a:r>
            <a:r>
              <a:rPr kumimoji="1" lang="en-US" altLang="ja-JP" sz="1450" b="1">
                <a:solidFill>
                  <a:srgbClr val="64748B"/>
                </a:solidFill>
                <a:latin typeface="Meiryo UI" panose="020B0604030504040204" pitchFamily="50" charset="-128"/>
                <a:ea typeface="Meiryo UI" panose="020B0604030504040204" pitchFamily="50" charset="-128"/>
              </a:rPr>
              <a:t>4.7</a:t>
            </a:r>
            <a:r>
              <a:rPr kumimoji="1" lang="ja-JP" altLang="en-US" sz="1450" b="1">
                <a:solidFill>
                  <a:srgbClr val="64748B"/>
                </a:solidFill>
                <a:latin typeface="Meiryo UI" panose="020B0604030504040204" pitchFamily="50" charset="-128"/>
                <a:ea typeface="Meiryo UI" panose="020B0604030504040204" pitchFamily="50" charset="-128"/>
              </a:rPr>
              <a:t>倍 ／ 内訳：</a:t>
            </a:r>
            <a:r>
              <a:rPr kumimoji="1" lang="en-US" altLang="ja-JP" sz="1450" b="1">
                <a:solidFill>
                  <a:srgbClr val="64748B"/>
                </a:solidFill>
                <a:latin typeface="Meiryo UI" panose="020B0604030504040204" pitchFamily="50" charset="-128"/>
                <a:ea typeface="Meiryo UI" panose="020B0604030504040204" pitchFamily="50" charset="-128"/>
              </a:rPr>
              <a:t>1</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106</a:t>
            </a:r>
            <a:r>
              <a:rPr kumimoji="1" lang="ja-JP" altLang="en-US" sz="1450" b="1">
                <a:solidFill>
                  <a:srgbClr val="64748B"/>
                </a:solidFill>
                <a:latin typeface="Meiryo UI" panose="020B0604030504040204" pitchFamily="50" charset="-128"/>
                <a:ea typeface="Meiryo UI" panose="020B0604030504040204" pitchFamily="50" charset="-128"/>
              </a:rPr>
              <a:t>名・</a:t>
            </a:r>
            <a:r>
              <a:rPr kumimoji="1" lang="en-US" altLang="ja-JP" sz="1450" b="1">
                <a:solidFill>
                  <a:srgbClr val="64748B"/>
                </a:solidFill>
                <a:latin typeface="Meiryo UI" panose="020B0604030504040204" pitchFamily="50" charset="-128"/>
                <a:ea typeface="Meiryo UI" panose="020B0604030504040204" pitchFamily="50" charset="-128"/>
              </a:rPr>
              <a:t>2</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130</a:t>
            </a:r>
            <a:r>
              <a:rPr kumimoji="1" lang="ja-JP" altLang="en-US" sz="1450" b="1">
                <a:solidFill>
                  <a:srgbClr val="64748B"/>
                </a:solidFill>
                <a:latin typeface="Meiryo UI" panose="020B0604030504040204" pitchFamily="50" charset="-128"/>
                <a:ea typeface="Meiryo UI" panose="020B0604030504040204" pitchFamily="50" charset="-128"/>
              </a:rPr>
              <a:t>名</a:t>
            </a:r>
          </a:p>
        </p:txBody>
      </p:sp>
      <p:sp>
        <p:nvSpPr>
          <p:cNvPr id="21" name="四角形: 角を丸くする 20">
            <a:extLst>
              <a:ext uri="{FF2B5EF4-FFF2-40B4-BE49-F238E27FC236}">
                <a16:creationId xmlns:a16="http://schemas.microsoft.com/office/drawing/2014/main" id="{A2E592A0-0D17-AF4A-4B98-1391E3A52A3C}"/>
              </a:ext>
            </a:extLst>
          </p:cNvPr>
          <p:cNvSpPr/>
          <p:nvPr/>
        </p:nvSpPr>
        <p:spPr>
          <a:xfrm>
            <a:off x="254000" y="3733800"/>
            <a:ext cx="11684000" cy="28194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71AC2CE0-ED93-D4B8-13D7-AE6E532D0B3D}"/>
              </a:ext>
            </a:extLst>
          </p:cNvPr>
          <p:cNvSpPr/>
          <p:nvPr/>
        </p:nvSpPr>
        <p:spPr>
          <a:xfrm>
            <a:off x="482600" y="39624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A5CE2CE-0349-8718-EA5D-72B0B3F87F80}"/>
              </a:ext>
            </a:extLst>
          </p:cNvPr>
          <p:cNvSpPr txBox="1"/>
          <p:nvPr/>
        </p:nvSpPr>
        <p:spPr>
          <a:xfrm>
            <a:off x="685800" y="3924300"/>
            <a:ext cx="11049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起案書における</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つの目的の達成状況</a:t>
            </a:r>
          </a:p>
        </p:txBody>
      </p:sp>
      <p:sp>
        <p:nvSpPr>
          <p:cNvPr id="24" name="テキスト ボックス 23">
            <a:extLst>
              <a:ext uri="{FF2B5EF4-FFF2-40B4-BE49-F238E27FC236}">
                <a16:creationId xmlns:a16="http://schemas.microsoft.com/office/drawing/2014/main" id="{BEAE9AA7-F825-B7E9-2009-9FB0CC24E50B}"/>
              </a:ext>
            </a:extLst>
          </p:cNvPr>
          <p:cNvSpPr txBox="1"/>
          <p:nvPr/>
        </p:nvSpPr>
        <p:spPr>
          <a:xfrm>
            <a:off x="508000" y="4419600"/>
            <a:ext cx="11176000" cy="1533753"/>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① 地域貢献（達成）：</a:t>
            </a:r>
            <a:r>
              <a:rPr kumimoji="1" lang="en-US" altLang="ja-JP" sz="1550" b="1">
                <a:solidFill>
                  <a:srgbClr val="1E293B"/>
                </a:solidFill>
                <a:latin typeface="Meiryo UI" panose="020B0604030504040204" pitchFamily="50" charset="-128"/>
                <a:ea typeface="Meiryo UI" panose="020B0604030504040204" pitchFamily="50" charset="-128"/>
              </a:rPr>
              <a:t>268</a:t>
            </a:r>
            <a:r>
              <a:rPr kumimoji="1" lang="ja-JP" altLang="en-US" sz="1550" b="1">
                <a:solidFill>
                  <a:srgbClr val="1E293B"/>
                </a:solidFill>
                <a:latin typeface="Meiryo UI" panose="020B0604030504040204" pitchFamily="50" charset="-128"/>
                <a:ea typeface="Meiryo UI" panose="020B0604030504040204" pitchFamily="50" charset="-128"/>
              </a:rPr>
              <a:t>名に測定・健康相談を提供し、スタッフの</a:t>
            </a:r>
            <a:r>
              <a:rPr kumimoji="1" lang="en-US" altLang="ja-JP" sz="1550" b="1">
                <a:solidFill>
                  <a:srgbClr val="1E293B"/>
                </a:solidFill>
                <a:latin typeface="Meiryo UI" panose="020B0604030504040204" pitchFamily="50" charset="-128"/>
                <a:ea typeface="Meiryo UI" panose="020B0604030504040204" pitchFamily="50" charset="-128"/>
              </a:rPr>
              <a:t>92.3%</a:t>
            </a:r>
            <a:r>
              <a:rPr kumimoji="1" lang="ja-JP" altLang="en-US" sz="1550" b="1">
                <a:solidFill>
                  <a:srgbClr val="1E293B"/>
                </a:solidFill>
                <a:latin typeface="Meiryo UI" panose="020B0604030504040204" pitchFamily="50" charset="-128"/>
                <a:ea typeface="Meiryo UI" panose="020B0604030504040204" pitchFamily="50" charset="-128"/>
              </a:rPr>
              <a:t>が地域貢献を実感した。
② 認知・集患（達成）：初認知</a:t>
            </a:r>
            <a:r>
              <a:rPr kumimoji="1" lang="en-US" altLang="ja-JP" sz="1550" b="1">
                <a:solidFill>
                  <a:srgbClr val="1E293B"/>
                </a:solidFill>
                <a:latin typeface="Meiryo UI" panose="020B0604030504040204" pitchFamily="50" charset="-128"/>
                <a:ea typeface="Meiryo UI" panose="020B0604030504040204" pitchFamily="50" charset="-128"/>
              </a:rPr>
              <a:t>67</a:t>
            </a:r>
            <a:r>
              <a:rPr kumimoji="1" lang="ja-JP" altLang="en-US" sz="1550" b="1">
                <a:solidFill>
                  <a:srgbClr val="1E293B"/>
                </a:solidFill>
                <a:latin typeface="Meiryo UI" panose="020B0604030504040204" pitchFamily="50" charset="-128"/>
                <a:ea typeface="Meiryo UI" panose="020B0604030504040204" pitchFamily="50" charset="-128"/>
              </a:rPr>
              <a:t>名・名前のみ</a:t>
            </a:r>
            <a:r>
              <a:rPr kumimoji="1" lang="en-US" altLang="ja-JP" sz="1550" b="1">
                <a:solidFill>
                  <a:srgbClr val="1E293B"/>
                </a:solidFill>
                <a:latin typeface="Meiryo UI" panose="020B0604030504040204" pitchFamily="50" charset="-128"/>
                <a:ea typeface="Meiryo UI" panose="020B0604030504040204" pitchFamily="50" charset="-128"/>
              </a:rPr>
              <a:t>126</a:t>
            </a:r>
            <a:r>
              <a:rPr kumimoji="1" lang="ja-JP" altLang="en-US" sz="1550" b="1">
                <a:solidFill>
                  <a:srgbClr val="1E293B"/>
                </a:solidFill>
                <a:latin typeface="Meiryo UI" panose="020B0604030504040204" pitchFamily="50" charset="-128"/>
                <a:ea typeface="Meiryo UI" panose="020B0604030504040204" pitchFamily="50" charset="-128"/>
              </a:rPr>
              <a:t>名と接点を持ち、</a:t>
            </a:r>
            <a:r>
              <a:rPr kumimoji="1" lang="en-US" altLang="ja-JP" sz="1550" b="1">
                <a:solidFill>
                  <a:srgbClr val="1E293B"/>
                </a:solidFill>
                <a:latin typeface="Meiryo UI" panose="020B0604030504040204" pitchFamily="50" charset="-128"/>
                <a:ea typeface="Meiryo UI" panose="020B0604030504040204" pitchFamily="50" charset="-128"/>
              </a:rPr>
              <a:t>90.3%</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213</a:t>
            </a:r>
            <a:r>
              <a:rPr kumimoji="1" lang="ja-JP" altLang="en-US" sz="1550" b="1">
                <a:solidFill>
                  <a:srgbClr val="1E293B"/>
                </a:solidFill>
                <a:latin typeface="Meiryo UI" panose="020B0604030504040204" pitchFamily="50" charset="-128"/>
                <a:ea typeface="Meiryo UI" panose="020B0604030504040204" pitchFamily="50" charset="-128"/>
              </a:rPr>
              <a:t>名）から「利用・検討したい」との評価を獲得した。
③ 多職種連携の強化（達成）：</a:t>
            </a:r>
            <a:r>
              <a:rPr kumimoji="1" lang="en-US" altLang="ja-JP" sz="1550" b="1">
                <a:solidFill>
                  <a:srgbClr val="1E293B"/>
                </a:solidFill>
                <a:latin typeface="Meiryo UI" panose="020B0604030504040204" pitchFamily="50" charset="-128"/>
                <a:ea typeface="Meiryo UI" panose="020B0604030504040204" pitchFamily="50" charset="-128"/>
              </a:rPr>
              <a:t>6</a:t>
            </a:r>
            <a:r>
              <a:rPr kumimoji="1" lang="ja-JP" altLang="en-US" sz="1550" b="1">
                <a:solidFill>
                  <a:srgbClr val="1E293B"/>
                </a:solidFill>
                <a:latin typeface="Meiryo UI" panose="020B0604030504040204" pitchFamily="50" charset="-128"/>
                <a:ea typeface="Meiryo UI" panose="020B0604030504040204" pitchFamily="50" charset="-128"/>
              </a:rPr>
              <a:t>部署</a:t>
            </a:r>
            <a:r>
              <a:rPr kumimoji="1" lang="en-US" altLang="ja-JP" sz="1550" b="1">
                <a:solidFill>
                  <a:srgbClr val="1E293B"/>
                </a:solidFill>
                <a:latin typeface="Meiryo UI" panose="020B0604030504040204" pitchFamily="50" charset="-128"/>
                <a:ea typeface="Meiryo UI" panose="020B0604030504040204" pitchFamily="50" charset="-128"/>
              </a:rPr>
              <a:t>14</a:t>
            </a:r>
            <a:r>
              <a:rPr kumimoji="1" lang="ja-JP" altLang="en-US" sz="1550" b="1">
                <a:solidFill>
                  <a:srgbClr val="1E293B"/>
                </a:solidFill>
                <a:latin typeface="Meiryo UI" panose="020B0604030504040204" pitchFamily="50" charset="-128"/>
                <a:ea typeface="Meiryo UI" panose="020B0604030504040204" pitchFamily="50" charset="-128"/>
              </a:rPr>
              <a:t>名が協働して満足度</a:t>
            </a:r>
            <a:r>
              <a:rPr kumimoji="1" lang="en-US" altLang="ja-JP" sz="1550" b="1">
                <a:solidFill>
                  <a:srgbClr val="1E293B"/>
                </a:solidFill>
                <a:latin typeface="Meiryo UI" panose="020B0604030504040204" pitchFamily="50" charset="-128"/>
                <a:ea typeface="Meiryo UI" panose="020B0604030504040204" pitchFamily="50" charset="-128"/>
              </a:rPr>
              <a:t>100%</a:t>
            </a:r>
            <a:r>
              <a:rPr kumimoji="1" lang="ja-JP" altLang="en-US" sz="1550" b="1">
                <a:solidFill>
                  <a:srgbClr val="1E293B"/>
                </a:solidFill>
                <a:latin typeface="Meiryo UI" panose="020B0604030504040204" pitchFamily="50" charset="-128"/>
                <a:ea typeface="Meiryo UI" panose="020B0604030504040204" pitchFamily="50" charset="-128"/>
              </a:rPr>
              <a:t>を達成し、測定から栄養・看護・相談へつなぐ多職種連携と院内の結束力を強化できた。</a:t>
            </a:r>
          </a:p>
        </p:txBody>
      </p:sp>
    </p:spTree>
    <p:extLst>
      <p:ext uri="{BB962C8B-B14F-4D97-AF65-F5344CB8AC3E}">
        <p14:creationId xmlns:p14="http://schemas.microsoft.com/office/powerpoint/2010/main" val="23511870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AD36C18-8C64-99C4-BAF8-186EB00F003D}"/>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3DE22DF-0D28-BBFC-BEDA-7516A823BC89}"/>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13E41BE6-E860-6E0E-CB85-ED560BB2BA8B}"/>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C4B8952-459D-77DB-C862-124E937DCCC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部：得られたこと</a:t>
            </a:r>
          </a:p>
        </p:txBody>
      </p:sp>
      <p:sp>
        <p:nvSpPr>
          <p:cNvPr id="6" name="テキスト ボックス 5">
            <a:extLst>
              <a:ext uri="{FF2B5EF4-FFF2-40B4-BE49-F238E27FC236}">
                <a16:creationId xmlns:a16="http://schemas.microsoft.com/office/drawing/2014/main" id="{430CA382-BAD1-C3CA-2D90-BE43E4AD615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今回の出展で得られたこと（事実の整理）</a:t>
            </a:r>
          </a:p>
        </p:txBody>
      </p:sp>
      <p:sp>
        <p:nvSpPr>
          <p:cNvPr id="7" name="四角形: 角を丸くする 6">
            <a:extLst>
              <a:ext uri="{FF2B5EF4-FFF2-40B4-BE49-F238E27FC236}">
                <a16:creationId xmlns:a16="http://schemas.microsoft.com/office/drawing/2014/main" id="{0DD490E3-6F69-94A5-F800-9279E6B6E799}"/>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BCFEC19-823F-C62D-7CBF-3BA2C40DA3E7}"/>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15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4F3E1A25-3E21-4E22-4F5D-87C1C49213B1}"/>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F947AD5-8292-60E7-2F6A-B7ED341A9BA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2</a:t>
            </a:r>
            <a:r>
              <a:rPr kumimoji="1" lang="ja-JP" altLang="en-US" sz="1500" b="1">
                <a:solidFill>
                  <a:srgbClr val="10B981"/>
                </a:solidFill>
                <a:latin typeface="Meiryo UI" panose="020B0604030504040204" pitchFamily="50" charset="-128"/>
                <a:ea typeface="Meiryo UI" panose="020B0604030504040204" pitchFamily="50" charset="-128"/>
              </a:rPr>
              <a:t>日間の出展を通じて得られた</a:t>
            </a:r>
            <a:r>
              <a:rPr kumimoji="1" lang="en-US" altLang="ja-JP" sz="1500" b="1">
                <a:solidFill>
                  <a:srgbClr val="10B981"/>
                </a:solidFill>
                <a:latin typeface="Meiryo UI" panose="020B0604030504040204" pitchFamily="50" charset="-128"/>
                <a:ea typeface="Meiryo UI" panose="020B0604030504040204" pitchFamily="50" charset="-128"/>
              </a:rPr>
              <a:t>6</a:t>
            </a:r>
            <a:r>
              <a:rPr kumimoji="1" lang="ja-JP" altLang="en-US" sz="1500" b="1">
                <a:solidFill>
                  <a:srgbClr val="10B981"/>
                </a:solidFill>
                <a:latin typeface="Meiryo UI" panose="020B0604030504040204" pitchFamily="50" charset="-128"/>
                <a:ea typeface="Meiryo UI" panose="020B0604030504040204" pitchFamily="50" charset="-128"/>
              </a:rPr>
              <a:t>つの客観的ファクト</a:t>
            </a:r>
          </a:p>
        </p:txBody>
      </p:sp>
      <p:sp>
        <p:nvSpPr>
          <p:cNvPr id="11" name="四角形: 角を丸くする 10">
            <a:extLst>
              <a:ext uri="{FF2B5EF4-FFF2-40B4-BE49-F238E27FC236}">
                <a16:creationId xmlns:a16="http://schemas.microsoft.com/office/drawing/2014/main" id="{7379BB65-8313-46BA-F9BF-8A335A8C2EA4}"/>
              </a:ext>
            </a:extLst>
          </p:cNvPr>
          <p:cNvSpPr/>
          <p:nvPr/>
        </p:nvSpPr>
        <p:spPr>
          <a:xfrm>
            <a:off x="254000" y="16002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CE0847E4-F39D-2DF3-2874-AD451A0FF9AE}"/>
              </a:ext>
            </a:extLst>
          </p:cNvPr>
          <p:cNvSpPr/>
          <p:nvPr/>
        </p:nvSpPr>
        <p:spPr>
          <a:xfrm>
            <a:off x="457200" y="1803400"/>
            <a:ext cx="3352800" cy="4572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85CE400-EEC2-586B-B3E9-1860E12DB29A}"/>
              </a:ext>
            </a:extLst>
          </p:cNvPr>
          <p:cNvSpPr txBox="1"/>
          <p:nvPr/>
        </p:nvSpPr>
        <p:spPr>
          <a:xfrm>
            <a:off x="457200" y="18542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2563EB"/>
                </a:solidFill>
                <a:latin typeface="Meiryo UI" panose="020B0604030504040204" pitchFamily="50" charset="-128"/>
                <a:ea typeface="Meiryo UI" panose="020B0604030504040204" pitchFamily="50" charset="-128"/>
              </a:rPr>
              <a:t>① 目標を大きく上回る集客</a:t>
            </a:r>
          </a:p>
        </p:txBody>
      </p:sp>
      <p:sp>
        <p:nvSpPr>
          <p:cNvPr id="14" name="テキスト ボックス 13">
            <a:extLst>
              <a:ext uri="{FF2B5EF4-FFF2-40B4-BE49-F238E27FC236}">
                <a16:creationId xmlns:a16="http://schemas.microsoft.com/office/drawing/2014/main" id="{363940EF-20F1-646C-E877-8A15D82174C2}"/>
              </a:ext>
            </a:extLst>
          </p:cNvPr>
          <p:cNvSpPr txBox="1"/>
          <p:nvPr/>
        </p:nvSpPr>
        <p:spPr>
          <a:xfrm>
            <a:off x="482600" y="2413000"/>
            <a:ext cx="3302000" cy="564257"/>
          </a:xfrm>
          <a:prstGeom prst="rect">
            <a:avLst/>
          </a:prstGeom>
          <a:noFill/>
        </p:spPr>
        <p:txBody>
          <a:bodyPr vert="horz" wrap="square" lIns="76200" tIns="50800" rIns="76200" bIns="50800" rtlCol="0">
            <a:spAutoFit/>
          </a:bodyPr>
          <a:lstStyle/>
          <a:p>
            <a:r>
              <a:rPr kumimoji="1" lang="en-US" altLang="ja-JP" sz="1500">
                <a:solidFill>
                  <a:srgbClr val="1E293B"/>
                </a:solidFill>
                <a:latin typeface="Meiryo UI" panose="020B0604030504040204" pitchFamily="50" charset="-128"/>
                <a:ea typeface="Meiryo UI" panose="020B0604030504040204" pitchFamily="50" charset="-128"/>
              </a:rPr>
              <a:t>2</a:t>
            </a:r>
            <a:r>
              <a:rPr kumimoji="1" lang="ja-JP" altLang="en-US" sz="1500">
                <a:solidFill>
                  <a:srgbClr val="1E293B"/>
                </a:solidFill>
                <a:latin typeface="Meiryo UI" panose="020B0604030504040204" pitchFamily="50" charset="-128"/>
                <a:ea typeface="Meiryo UI" panose="020B0604030504040204" pitchFamily="50" charset="-128"/>
              </a:rPr>
              <a:t>日間で</a:t>
            </a:r>
            <a:r>
              <a:rPr kumimoji="1" lang="en-US" altLang="ja-JP" sz="1500">
                <a:solidFill>
                  <a:srgbClr val="1E293B"/>
                </a:solidFill>
                <a:latin typeface="Meiryo UI" panose="020B0604030504040204" pitchFamily="50" charset="-128"/>
                <a:ea typeface="Meiryo UI" panose="020B0604030504040204" pitchFamily="50" charset="-128"/>
              </a:rPr>
              <a:t>268</a:t>
            </a:r>
            <a:r>
              <a:rPr kumimoji="1" lang="ja-JP" altLang="en-US" sz="1500">
                <a:solidFill>
                  <a:srgbClr val="1E293B"/>
                </a:solidFill>
                <a:latin typeface="Meiryo UI" panose="020B0604030504040204" pitchFamily="50" charset="-128"/>
                <a:ea typeface="Meiryo UI" panose="020B0604030504040204" pitchFamily="50" charset="-128"/>
              </a:rPr>
              <a:t>名が来場し、目標</a:t>
            </a:r>
            <a:r>
              <a:rPr kumimoji="1" lang="en-US" altLang="ja-JP" sz="1500">
                <a:solidFill>
                  <a:srgbClr val="1E293B"/>
                </a:solidFill>
                <a:latin typeface="Meiryo UI" panose="020B0604030504040204" pitchFamily="50" charset="-128"/>
                <a:ea typeface="Meiryo UI" panose="020B0604030504040204" pitchFamily="50" charset="-128"/>
              </a:rPr>
              <a:t>50</a:t>
            </a:r>
            <a:r>
              <a:rPr kumimoji="1" lang="ja-JP" altLang="en-US" sz="1500">
                <a:solidFill>
                  <a:srgbClr val="1E293B"/>
                </a:solidFill>
                <a:latin typeface="Meiryo UI" panose="020B0604030504040204" pitchFamily="50" charset="-128"/>
                <a:ea typeface="Meiryo UI" panose="020B0604030504040204" pitchFamily="50" charset="-128"/>
              </a:rPr>
              <a:t>名の</a:t>
            </a:r>
            <a:r>
              <a:rPr kumimoji="1" lang="en-US" altLang="ja-JP" sz="1500">
                <a:solidFill>
                  <a:srgbClr val="1E293B"/>
                </a:solidFill>
                <a:latin typeface="Meiryo UI" panose="020B0604030504040204" pitchFamily="50" charset="-128"/>
                <a:ea typeface="Meiryo UI" panose="020B0604030504040204" pitchFamily="50" charset="-128"/>
              </a:rPr>
              <a:t>4.7</a:t>
            </a:r>
            <a:r>
              <a:rPr kumimoji="1" lang="ja-JP" altLang="en-US" sz="1500">
                <a:solidFill>
                  <a:srgbClr val="1E293B"/>
                </a:solidFill>
                <a:latin typeface="Meiryo UI" panose="020B0604030504040204" pitchFamily="50" charset="-128"/>
                <a:ea typeface="Meiryo UI" panose="020B0604030504040204" pitchFamily="50" charset="-128"/>
              </a:rPr>
              <a:t>倍となる</a:t>
            </a:r>
            <a:r>
              <a:rPr kumimoji="1" lang="en-US" altLang="ja-JP" sz="1500">
                <a:solidFill>
                  <a:srgbClr val="1E293B"/>
                </a:solidFill>
                <a:latin typeface="Meiryo UI" panose="020B0604030504040204" pitchFamily="50" charset="-128"/>
                <a:ea typeface="Meiryo UI" panose="020B0604030504040204" pitchFamily="50" charset="-128"/>
              </a:rPr>
              <a:t>236</a:t>
            </a:r>
            <a:r>
              <a:rPr kumimoji="1" lang="ja-JP" altLang="en-US" sz="1500">
                <a:solidFill>
                  <a:srgbClr val="1E293B"/>
                </a:solidFill>
                <a:latin typeface="Meiryo UI" panose="020B0604030504040204" pitchFamily="50" charset="-128"/>
                <a:ea typeface="Meiryo UI" panose="020B0604030504040204" pitchFamily="50" charset="-128"/>
              </a:rPr>
              <a:t>名の回答を取得できた。</a:t>
            </a:r>
          </a:p>
        </p:txBody>
      </p:sp>
      <p:sp>
        <p:nvSpPr>
          <p:cNvPr id="15" name="四角形: 角を丸くする 14">
            <a:extLst>
              <a:ext uri="{FF2B5EF4-FFF2-40B4-BE49-F238E27FC236}">
                <a16:creationId xmlns:a16="http://schemas.microsoft.com/office/drawing/2014/main" id="{816E1191-2ED2-2BD6-8F6A-1C8C44F54C5D}"/>
              </a:ext>
            </a:extLst>
          </p:cNvPr>
          <p:cNvSpPr/>
          <p:nvPr/>
        </p:nvSpPr>
        <p:spPr>
          <a:xfrm>
            <a:off x="4191000" y="16002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64A32F72-4124-9F27-5AF3-D0EF4C77F173}"/>
              </a:ext>
            </a:extLst>
          </p:cNvPr>
          <p:cNvSpPr/>
          <p:nvPr/>
        </p:nvSpPr>
        <p:spPr>
          <a:xfrm>
            <a:off x="4394200" y="1803400"/>
            <a:ext cx="3352800" cy="4572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53E3E13-4BFD-45C8-F18E-C4701B4051D5}"/>
              </a:ext>
            </a:extLst>
          </p:cNvPr>
          <p:cNvSpPr txBox="1"/>
          <p:nvPr/>
        </p:nvSpPr>
        <p:spPr>
          <a:xfrm>
            <a:off x="4394200" y="18542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10B981"/>
                </a:solidFill>
                <a:latin typeface="Meiryo UI" panose="020B0604030504040204" pitchFamily="50" charset="-128"/>
                <a:ea typeface="Meiryo UI" panose="020B0604030504040204" pitchFamily="50" charset="-128"/>
              </a:rPr>
              <a:t>② 土日で異なる世代との接点</a:t>
            </a:r>
          </a:p>
        </p:txBody>
      </p:sp>
      <p:sp>
        <p:nvSpPr>
          <p:cNvPr id="18" name="テキスト ボックス 17">
            <a:extLst>
              <a:ext uri="{FF2B5EF4-FFF2-40B4-BE49-F238E27FC236}">
                <a16:creationId xmlns:a16="http://schemas.microsoft.com/office/drawing/2014/main" id="{28A7BB3F-2A56-C91F-48D0-23F53B4E534B}"/>
              </a:ext>
            </a:extLst>
          </p:cNvPr>
          <p:cNvSpPr txBox="1"/>
          <p:nvPr/>
        </p:nvSpPr>
        <p:spPr>
          <a:xfrm>
            <a:off x="4419600" y="24130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土曜は</a:t>
            </a:r>
            <a:r>
              <a:rPr kumimoji="1" lang="en-US" altLang="ja-JP" sz="1500">
                <a:solidFill>
                  <a:srgbClr val="1E293B"/>
                </a:solidFill>
                <a:latin typeface="Meiryo UI" panose="020B0604030504040204" pitchFamily="50" charset="-128"/>
                <a:ea typeface="Meiryo UI" panose="020B0604030504040204" pitchFamily="50" charset="-128"/>
              </a:rPr>
              <a:t>60</a:t>
            </a:r>
            <a:r>
              <a:rPr kumimoji="1" lang="ja-JP" altLang="en-US" sz="1500">
                <a:solidFill>
                  <a:srgbClr val="1E293B"/>
                </a:solidFill>
                <a:latin typeface="Meiryo UI" panose="020B0604030504040204" pitchFamily="50" charset="-128"/>
                <a:ea typeface="Meiryo UI" panose="020B0604030504040204" pitchFamily="50" charset="-128"/>
              </a:rPr>
              <a:t>代以上（</a:t>
            </a:r>
            <a:r>
              <a:rPr kumimoji="1" lang="en-US" altLang="ja-JP" sz="1500">
                <a:solidFill>
                  <a:srgbClr val="1E293B"/>
                </a:solidFill>
                <a:latin typeface="Meiryo UI" panose="020B0604030504040204" pitchFamily="50" charset="-128"/>
                <a:ea typeface="Meiryo UI" panose="020B0604030504040204" pitchFamily="50" charset="-128"/>
              </a:rPr>
              <a:t>52.8%</a:t>
            </a:r>
            <a:r>
              <a:rPr kumimoji="1" lang="ja-JP" altLang="en-US" sz="1500">
                <a:solidFill>
                  <a:srgbClr val="1E293B"/>
                </a:solidFill>
                <a:latin typeface="Meiryo UI" panose="020B0604030504040204" pitchFamily="50" charset="-128"/>
                <a:ea typeface="Meiryo UI" panose="020B0604030504040204" pitchFamily="50" charset="-128"/>
              </a:rPr>
              <a:t>）、日曜は</a:t>
            </a:r>
            <a:r>
              <a:rPr kumimoji="1" lang="en-US" altLang="ja-JP" sz="1500">
                <a:solidFill>
                  <a:srgbClr val="1E293B"/>
                </a:solidFill>
                <a:latin typeface="Meiryo UI" panose="020B0604030504040204" pitchFamily="50" charset="-128"/>
                <a:ea typeface="Meiryo UI" panose="020B0604030504040204" pitchFamily="50" charset="-128"/>
              </a:rPr>
              <a:t>40</a:t>
            </a:r>
            <a:r>
              <a:rPr kumimoji="1" lang="ja-JP" altLang="en-US" sz="1500">
                <a:solidFill>
                  <a:srgbClr val="1E293B"/>
                </a:solidFill>
                <a:latin typeface="Meiryo UI" panose="020B0604030504040204" pitchFamily="50" charset="-128"/>
                <a:ea typeface="Meiryo UI" panose="020B0604030504040204" pitchFamily="50" charset="-128"/>
              </a:rPr>
              <a:t>代以下が倍増（</a:t>
            </a:r>
            <a:r>
              <a:rPr kumimoji="1" lang="en-US" altLang="ja-JP" sz="1500">
                <a:solidFill>
                  <a:srgbClr val="1E293B"/>
                </a:solidFill>
                <a:latin typeface="Meiryo UI" panose="020B0604030504040204" pitchFamily="50" charset="-128"/>
                <a:ea typeface="Meiryo UI" panose="020B0604030504040204" pitchFamily="50" charset="-128"/>
              </a:rPr>
              <a:t>32.3%</a:t>
            </a:r>
            <a:r>
              <a:rPr kumimoji="1" lang="ja-JP" altLang="en-US" sz="1500">
                <a:solidFill>
                  <a:srgbClr val="1E293B"/>
                </a:solidFill>
                <a:latin typeface="Meiryo UI" panose="020B0604030504040204" pitchFamily="50" charset="-128"/>
                <a:ea typeface="Meiryo UI" panose="020B0604030504040204" pitchFamily="50" charset="-128"/>
              </a:rPr>
              <a:t>）し幅広い層と接した。</a:t>
            </a:r>
          </a:p>
        </p:txBody>
      </p:sp>
      <p:sp>
        <p:nvSpPr>
          <p:cNvPr id="19" name="四角形: 角を丸くする 18">
            <a:extLst>
              <a:ext uri="{FF2B5EF4-FFF2-40B4-BE49-F238E27FC236}">
                <a16:creationId xmlns:a16="http://schemas.microsoft.com/office/drawing/2014/main" id="{062E814C-C619-907B-C99E-36FAA32EA450}"/>
              </a:ext>
            </a:extLst>
          </p:cNvPr>
          <p:cNvSpPr/>
          <p:nvPr/>
        </p:nvSpPr>
        <p:spPr>
          <a:xfrm>
            <a:off x="8128000" y="16002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DAC311D8-8DAC-237C-8788-6AF62EED46B9}"/>
              </a:ext>
            </a:extLst>
          </p:cNvPr>
          <p:cNvSpPr/>
          <p:nvPr/>
        </p:nvSpPr>
        <p:spPr>
          <a:xfrm>
            <a:off x="8331200" y="1803400"/>
            <a:ext cx="3352800" cy="4572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822586BF-5E23-0551-E31B-203E38BFC75B}"/>
              </a:ext>
            </a:extLst>
          </p:cNvPr>
          <p:cNvSpPr txBox="1"/>
          <p:nvPr/>
        </p:nvSpPr>
        <p:spPr>
          <a:xfrm>
            <a:off x="8331200" y="18542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F59E0B"/>
                </a:solidFill>
                <a:latin typeface="Meiryo UI" panose="020B0604030504040204" pitchFamily="50" charset="-128"/>
                <a:ea typeface="Meiryo UI" panose="020B0604030504040204" pitchFamily="50" charset="-128"/>
              </a:rPr>
              <a:t>③ 市内＋市外へのアプローチ</a:t>
            </a:r>
          </a:p>
        </p:txBody>
      </p:sp>
      <p:sp>
        <p:nvSpPr>
          <p:cNvPr id="22" name="テキスト ボックス 21">
            <a:extLst>
              <a:ext uri="{FF2B5EF4-FFF2-40B4-BE49-F238E27FC236}">
                <a16:creationId xmlns:a16="http://schemas.microsoft.com/office/drawing/2014/main" id="{74AC9ECA-D8A2-8533-3B34-73A37A9E02C9}"/>
              </a:ext>
            </a:extLst>
          </p:cNvPr>
          <p:cNvSpPr txBox="1"/>
          <p:nvPr/>
        </p:nvSpPr>
        <p:spPr>
          <a:xfrm>
            <a:off x="8356600" y="24130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八千代市内（</a:t>
            </a:r>
            <a:r>
              <a:rPr kumimoji="1" lang="en-US" altLang="ja-JP" sz="1500">
                <a:solidFill>
                  <a:srgbClr val="1E293B"/>
                </a:solidFill>
                <a:latin typeface="Meiryo UI" panose="020B0604030504040204" pitchFamily="50" charset="-128"/>
                <a:ea typeface="Meiryo UI" panose="020B0604030504040204" pitchFamily="50" charset="-128"/>
              </a:rPr>
              <a:t>72.5%</a:t>
            </a:r>
            <a:r>
              <a:rPr kumimoji="1" lang="ja-JP" altLang="en-US" sz="1500">
                <a:solidFill>
                  <a:srgbClr val="1E293B"/>
                </a:solidFill>
                <a:latin typeface="Meiryo UI" panose="020B0604030504040204" pitchFamily="50" charset="-128"/>
                <a:ea typeface="Meiryo UI" panose="020B0604030504040204" pitchFamily="50" charset="-128"/>
              </a:rPr>
              <a:t>）に加え、市外（</a:t>
            </a:r>
            <a:r>
              <a:rPr kumimoji="1" lang="en-US" altLang="ja-JP" sz="1500">
                <a:solidFill>
                  <a:srgbClr val="1E293B"/>
                </a:solidFill>
                <a:latin typeface="Meiryo UI" panose="020B0604030504040204" pitchFamily="50" charset="-128"/>
                <a:ea typeface="Meiryo UI" panose="020B0604030504040204" pitchFamily="50" charset="-128"/>
              </a:rPr>
              <a:t>26.3%</a:t>
            </a:r>
            <a:r>
              <a:rPr kumimoji="1" lang="ja-JP" altLang="en-US" sz="1500">
                <a:solidFill>
                  <a:srgbClr val="1E293B"/>
                </a:solidFill>
                <a:latin typeface="Meiryo UI" panose="020B0604030504040204" pitchFamily="50" charset="-128"/>
                <a:ea typeface="Meiryo UI" panose="020B0604030504040204" pitchFamily="50" charset="-128"/>
              </a:rPr>
              <a:t>・</a:t>
            </a:r>
            <a:r>
              <a:rPr kumimoji="1" lang="en-US" altLang="ja-JP" sz="1500">
                <a:solidFill>
                  <a:srgbClr val="1E293B"/>
                </a:solidFill>
                <a:latin typeface="Meiryo UI" panose="020B0604030504040204" pitchFamily="50" charset="-128"/>
                <a:ea typeface="Meiryo UI" panose="020B0604030504040204" pitchFamily="50" charset="-128"/>
              </a:rPr>
              <a:t>62</a:t>
            </a:r>
            <a:r>
              <a:rPr kumimoji="1" lang="ja-JP" altLang="en-US" sz="1500">
                <a:solidFill>
                  <a:srgbClr val="1E293B"/>
                </a:solidFill>
                <a:latin typeface="Meiryo UI" panose="020B0604030504040204" pitchFamily="50" charset="-128"/>
                <a:ea typeface="Meiryo UI" panose="020B0604030504040204" pitchFamily="50" charset="-128"/>
              </a:rPr>
              <a:t>名）の住民とも接点を持てた。</a:t>
            </a:r>
          </a:p>
        </p:txBody>
      </p:sp>
      <p:sp>
        <p:nvSpPr>
          <p:cNvPr id="23" name="四角形: 角を丸くする 22">
            <a:extLst>
              <a:ext uri="{FF2B5EF4-FFF2-40B4-BE49-F238E27FC236}">
                <a16:creationId xmlns:a16="http://schemas.microsoft.com/office/drawing/2014/main" id="{936D8403-BFFA-989F-4559-621E6C413109}"/>
              </a:ext>
            </a:extLst>
          </p:cNvPr>
          <p:cNvSpPr/>
          <p:nvPr/>
        </p:nvSpPr>
        <p:spPr>
          <a:xfrm>
            <a:off x="254000" y="40894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A13CADB3-2AE5-8538-34A4-2D5F40C07AE7}"/>
              </a:ext>
            </a:extLst>
          </p:cNvPr>
          <p:cNvSpPr/>
          <p:nvPr/>
        </p:nvSpPr>
        <p:spPr>
          <a:xfrm>
            <a:off x="457200" y="4292600"/>
            <a:ext cx="3352800" cy="457200"/>
          </a:xfrm>
          <a:prstGeom prst="roundRect">
            <a:avLst>
              <a:gd name="adj" fmla="val 40000"/>
            </a:avLst>
          </a:prstGeom>
          <a:solidFill>
            <a:srgbClr val="F5F3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6D08C47A-8E54-0F3D-5E69-97FDFE1174A1}"/>
              </a:ext>
            </a:extLst>
          </p:cNvPr>
          <p:cNvSpPr txBox="1"/>
          <p:nvPr/>
        </p:nvSpPr>
        <p:spPr>
          <a:xfrm>
            <a:off x="457200" y="43434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8B5CF6"/>
                </a:solidFill>
                <a:latin typeface="Meiryo UI" panose="020B0604030504040204" pitchFamily="50" charset="-128"/>
                <a:ea typeface="Meiryo UI" panose="020B0604030504040204" pitchFamily="50" charset="-128"/>
              </a:rPr>
              <a:t>④ 人気コンテンツの明確化</a:t>
            </a:r>
          </a:p>
        </p:txBody>
      </p:sp>
      <p:sp>
        <p:nvSpPr>
          <p:cNvPr id="26" name="テキスト ボックス 25">
            <a:extLst>
              <a:ext uri="{FF2B5EF4-FFF2-40B4-BE49-F238E27FC236}">
                <a16:creationId xmlns:a16="http://schemas.microsoft.com/office/drawing/2014/main" id="{90870F86-C61E-F348-2F6F-EC822C0D18DB}"/>
              </a:ext>
            </a:extLst>
          </p:cNvPr>
          <p:cNvSpPr txBox="1"/>
          <p:nvPr/>
        </p:nvSpPr>
        <p:spPr>
          <a:xfrm>
            <a:off x="482600" y="49022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血管年齢（</a:t>
            </a:r>
            <a:r>
              <a:rPr kumimoji="1" lang="en-US" altLang="ja-JP" sz="1500">
                <a:solidFill>
                  <a:srgbClr val="1E293B"/>
                </a:solidFill>
                <a:latin typeface="Meiryo UI" panose="020B0604030504040204" pitchFamily="50" charset="-128"/>
                <a:ea typeface="Meiryo UI" panose="020B0604030504040204" pitchFamily="50" charset="-128"/>
              </a:rPr>
              <a:t>72.9%</a:t>
            </a:r>
            <a:r>
              <a:rPr kumimoji="1" lang="ja-JP" altLang="en-US" sz="1500">
                <a:solidFill>
                  <a:srgbClr val="1E293B"/>
                </a:solidFill>
                <a:latin typeface="Meiryo UI" panose="020B0604030504040204" pitchFamily="50" charset="-128"/>
                <a:ea typeface="Meiryo UI" panose="020B0604030504040204" pitchFamily="50" charset="-128"/>
              </a:rPr>
              <a:t>）と筋肉量測定（</a:t>
            </a:r>
            <a:r>
              <a:rPr kumimoji="1" lang="en-US" altLang="ja-JP" sz="1500">
                <a:solidFill>
                  <a:srgbClr val="1E293B"/>
                </a:solidFill>
                <a:latin typeface="Meiryo UI" panose="020B0604030504040204" pitchFamily="50" charset="-128"/>
                <a:ea typeface="Meiryo UI" panose="020B0604030504040204" pitchFamily="50" charset="-128"/>
              </a:rPr>
              <a:t>66.5%</a:t>
            </a:r>
            <a:r>
              <a:rPr kumimoji="1" lang="ja-JP" altLang="en-US" sz="1500">
                <a:solidFill>
                  <a:srgbClr val="1E293B"/>
                </a:solidFill>
                <a:latin typeface="Meiryo UI" panose="020B0604030504040204" pitchFamily="50" charset="-128"/>
                <a:ea typeface="Meiryo UI" panose="020B0604030504040204" pitchFamily="50" charset="-128"/>
              </a:rPr>
              <a:t>）が強い集客力を持つと確認できた。</a:t>
            </a:r>
          </a:p>
        </p:txBody>
      </p:sp>
      <p:sp>
        <p:nvSpPr>
          <p:cNvPr id="27" name="四角形: 角を丸くする 26">
            <a:extLst>
              <a:ext uri="{FF2B5EF4-FFF2-40B4-BE49-F238E27FC236}">
                <a16:creationId xmlns:a16="http://schemas.microsoft.com/office/drawing/2014/main" id="{CDDEDDD6-7EF4-68A0-DBE3-0EDB52891062}"/>
              </a:ext>
            </a:extLst>
          </p:cNvPr>
          <p:cNvSpPr/>
          <p:nvPr/>
        </p:nvSpPr>
        <p:spPr>
          <a:xfrm>
            <a:off x="4191000" y="40894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70817FFE-95FD-644E-AFC4-90BFB63EE9D1}"/>
              </a:ext>
            </a:extLst>
          </p:cNvPr>
          <p:cNvSpPr/>
          <p:nvPr/>
        </p:nvSpPr>
        <p:spPr>
          <a:xfrm>
            <a:off x="4394200" y="4292600"/>
            <a:ext cx="3352800" cy="4572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5AC980A4-B660-9A58-F612-B0B3F78AF0EB}"/>
              </a:ext>
            </a:extLst>
          </p:cNvPr>
          <p:cNvSpPr txBox="1"/>
          <p:nvPr/>
        </p:nvSpPr>
        <p:spPr>
          <a:xfrm>
            <a:off x="4394200" y="43434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10B981"/>
                </a:solidFill>
                <a:latin typeface="Meiryo UI" panose="020B0604030504040204" pitchFamily="50" charset="-128"/>
                <a:ea typeface="Meiryo UI" panose="020B0604030504040204" pitchFamily="50" charset="-128"/>
              </a:rPr>
              <a:t>⑤ </a:t>
            </a:r>
            <a:r>
              <a:rPr kumimoji="1" lang="en-US" altLang="ja-JP" sz="1550" b="1">
                <a:solidFill>
                  <a:srgbClr val="10B981"/>
                </a:solidFill>
                <a:latin typeface="Meiryo UI" panose="020B0604030504040204" pitchFamily="50" charset="-128"/>
                <a:ea typeface="Meiryo UI" panose="020B0604030504040204" pitchFamily="50" charset="-128"/>
              </a:rPr>
              <a:t>9</a:t>
            </a:r>
            <a:r>
              <a:rPr kumimoji="1" lang="ja-JP" altLang="en-US" sz="1550" b="1">
                <a:solidFill>
                  <a:srgbClr val="10B981"/>
                </a:solidFill>
                <a:latin typeface="Meiryo UI" panose="020B0604030504040204" pitchFamily="50" charset="-128"/>
                <a:ea typeface="Meiryo UI" panose="020B0604030504040204" pitchFamily="50" charset="-128"/>
              </a:rPr>
              <a:t>割超の好意的な利用意向</a:t>
            </a:r>
          </a:p>
        </p:txBody>
      </p:sp>
      <p:sp>
        <p:nvSpPr>
          <p:cNvPr id="30" name="テキスト ボックス 29">
            <a:extLst>
              <a:ext uri="{FF2B5EF4-FFF2-40B4-BE49-F238E27FC236}">
                <a16:creationId xmlns:a16="http://schemas.microsoft.com/office/drawing/2014/main" id="{5B766006-FAE9-8107-0F95-0CFC0B521E43}"/>
              </a:ext>
            </a:extLst>
          </p:cNvPr>
          <p:cNvSpPr txBox="1"/>
          <p:nvPr/>
        </p:nvSpPr>
        <p:spPr>
          <a:xfrm>
            <a:off x="4419600" y="49022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体験者の</a:t>
            </a:r>
            <a:r>
              <a:rPr kumimoji="1" lang="en-US" altLang="ja-JP" sz="1500">
                <a:solidFill>
                  <a:srgbClr val="1E293B"/>
                </a:solidFill>
                <a:latin typeface="Meiryo UI" panose="020B0604030504040204" pitchFamily="50" charset="-128"/>
                <a:ea typeface="Meiryo UI" panose="020B0604030504040204" pitchFamily="50" charset="-128"/>
              </a:rPr>
              <a:t>90.3%</a:t>
            </a:r>
            <a:r>
              <a:rPr kumimoji="1" lang="ja-JP" altLang="en-US" sz="1500">
                <a:solidFill>
                  <a:srgbClr val="1E293B"/>
                </a:solidFill>
                <a:latin typeface="Meiryo UI" panose="020B0604030504040204" pitchFamily="50" charset="-128"/>
                <a:ea typeface="Meiryo UI" panose="020B0604030504040204" pitchFamily="50" charset="-128"/>
              </a:rPr>
              <a:t>（</a:t>
            </a:r>
            <a:r>
              <a:rPr kumimoji="1" lang="en-US" altLang="ja-JP" sz="1500">
                <a:solidFill>
                  <a:srgbClr val="1E293B"/>
                </a:solidFill>
                <a:latin typeface="Meiryo UI" panose="020B0604030504040204" pitchFamily="50" charset="-128"/>
                <a:ea typeface="Meiryo UI" panose="020B0604030504040204" pitchFamily="50" charset="-128"/>
              </a:rPr>
              <a:t>213</a:t>
            </a:r>
            <a:r>
              <a:rPr kumimoji="1" lang="ja-JP" altLang="en-US" sz="1500">
                <a:solidFill>
                  <a:srgbClr val="1E293B"/>
                </a:solidFill>
                <a:latin typeface="Meiryo UI" panose="020B0604030504040204" pitchFamily="50" charset="-128"/>
                <a:ea typeface="Meiryo UI" panose="020B0604030504040204" pitchFamily="50" charset="-128"/>
              </a:rPr>
              <a:t>名）が、万が一の際に当院を「利用・検討したい」と回答した。</a:t>
            </a:r>
          </a:p>
        </p:txBody>
      </p:sp>
      <p:sp>
        <p:nvSpPr>
          <p:cNvPr id="31" name="四角形: 角を丸くする 30">
            <a:extLst>
              <a:ext uri="{FF2B5EF4-FFF2-40B4-BE49-F238E27FC236}">
                <a16:creationId xmlns:a16="http://schemas.microsoft.com/office/drawing/2014/main" id="{7356AC08-540B-3E5C-9108-217753F3385F}"/>
              </a:ext>
            </a:extLst>
          </p:cNvPr>
          <p:cNvSpPr/>
          <p:nvPr/>
        </p:nvSpPr>
        <p:spPr>
          <a:xfrm>
            <a:off x="8128000" y="40894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EFFDA3EA-C79D-A083-2F7E-870C0492691F}"/>
              </a:ext>
            </a:extLst>
          </p:cNvPr>
          <p:cNvSpPr/>
          <p:nvPr/>
        </p:nvSpPr>
        <p:spPr>
          <a:xfrm>
            <a:off x="8331200" y="4292600"/>
            <a:ext cx="3352800" cy="4572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CF5D827A-3948-2764-BDE7-EBDCA3853C88}"/>
              </a:ext>
            </a:extLst>
          </p:cNvPr>
          <p:cNvSpPr txBox="1"/>
          <p:nvPr/>
        </p:nvSpPr>
        <p:spPr>
          <a:xfrm>
            <a:off x="8331200" y="43434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2563EB"/>
                </a:solidFill>
                <a:latin typeface="Meiryo UI" panose="020B0604030504040204" pitchFamily="50" charset="-128"/>
                <a:ea typeface="Meiryo UI" panose="020B0604030504040204" pitchFamily="50" charset="-128"/>
              </a:rPr>
              <a:t>⑥ 健康教室の</a:t>
            </a:r>
            <a:r>
              <a:rPr kumimoji="1" lang="en-US" altLang="ja-JP" sz="1550" b="1">
                <a:solidFill>
                  <a:srgbClr val="2563EB"/>
                </a:solidFill>
                <a:latin typeface="Meiryo UI" panose="020B0604030504040204" pitchFamily="50" charset="-128"/>
                <a:ea typeface="Meiryo UI" panose="020B0604030504040204" pitchFamily="50" charset="-128"/>
              </a:rPr>
              <a:t>4</a:t>
            </a:r>
            <a:r>
              <a:rPr kumimoji="1" lang="ja-JP" altLang="en-US" sz="1550" b="1">
                <a:solidFill>
                  <a:srgbClr val="2563EB"/>
                </a:solidFill>
                <a:latin typeface="Meiryo UI" panose="020B0604030504040204" pitchFamily="50" charset="-128"/>
                <a:ea typeface="Meiryo UI" panose="020B0604030504040204" pitchFamily="50" charset="-128"/>
              </a:rPr>
              <a:t>大テーマ把握</a:t>
            </a:r>
          </a:p>
        </p:txBody>
      </p:sp>
      <p:sp>
        <p:nvSpPr>
          <p:cNvPr id="34" name="テキスト ボックス 33">
            <a:extLst>
              <a:ext uri="{FF2B5EF4-FFF2-40B4-BE49-F238E27FC236}">
                <a16:creationId xmlns:a16="http://schemas.microsoft.com/office/drawing/2014/main" id="{44A6FDA9-5DD6-A155-29BC-B6F1FCC07A9E}"/>
              </a:ext>
            </a:extLst>
          </p:cNvPr>
          <p:cNvSpPr txBox="1"/>
          <p:nvPr/>
        </p:nvSpPr>
        <p:spPr>
          <a:xfrm>
            <a:off x="8356600" y="49022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今後の知名度向上に向けた健康教室の</a:t>
            </a:r>
            <a:r>
              <a:rPr kumimoji="1" lang="en-US" altLang="ja-JP" sz="1500">
                <a:solidFill>
                  <a:srgbClr val="1E293B"/>
                </a:solidFill>
                <a:latin typeface="Meiryo UI" panose="020B0604030504040204" pitchFamily="50" charset="-128"/>
                <a:ea typeface="Meiryo UI" panose="020B0604030504040204" pitchFamily="50" charset="-128"/>
              </a:rPr>
              <a:t>4</a:t>
            </a:r>
            <a:r>
              <a:rPr kumimoji="1" lang="ja-JP" altLang="en-US" sz="1500">
                <a:solidFill>
                  <a:srgbClr val="1E293B"/>
                </a:solidFill>
                <a:latin typeface="Meiryo UI" panose="020B0604030504040204" pitchFamily="50" charset="-128"/>
                <a:ea typeface="Meiryo UI" panose="020B0604030504040204" pitchFamily="50" charset="-128"/>
              </a:rPr>
              <a:t>大関心テーマ（転倒・栄養・認知・終活）が判明した。</a:t>
            </a:r>
          </a:p>
        </p:txBody>
      </p:sp>
    </p:spTree>
    <p:extLst>
      <p:ext uri="{BB962C8B-B14F-4D97-AF65-F5344CB8AC3E}">
        <p14:creationId xmlns:p14="http://schemas.microsoft.com/office/powerpoint/2010/main" val="849495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8EFF86-C40F-4F61-EAEC-AF73E0CFA431}"/>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D040AADE-2C90-4049-3919-A01342599D61}"/>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C3ED3ECC-F6F6-0C2A-4B26-124E92E14247}"/>
              </a:ext>
            </a:extLst>
          </p:cNvPr>
          <p:cNvSpPr/>
          <p:nvPr/>
        </p:nvSpPr>
        <p:spPr>
          <a:xfrm>
            <a:off x="457200" y="330200"/>
            <a:ext cx="2336800" cy="4064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FB6AC62-9F8A-09F0-B012-4FA1A14A0C53}"/>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3</a:t>
            </a:r>
            <a:r>
              <a:rPr kumimoji="1" lang="zh-TW" altLang="en-US" sz="1250" b="1">
                <a:solidFill>
                  <a:srgbClr val="FFFFFF"/>
                </a:solidFill>
                <a:latin typeface="Meiryo UI" panose="020B0604030504040204" pitchFamily="50" charset="-128"/>
                <a:ea typeface="Meiryo UI" panose="020B0604030504040204" pitchFamily="50" charset="-128"/>
              </a:rPr>
              <a:t>部：考察① 日別比較</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F8F4F183-7DD7-FAC3-D568-78D14F9BC911}"/>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1</a:t>
            </a:r>
            <a:r>
              <a:rPr kumimoji="1" lang="ja-JP" altLang="en-US" sz="2000" b="1">
                <a:solidFill>
                  <a:srgbClr val="1E293B"/>
                </a:solidFill>
                <a:latin typeface="Meiryo UI" panose="020B0604030504040204" pitchFamily="50" charset="-128"/>
                <a:ea typeface="Meiryo UI" panose="020B0604030504040204" pitchFamily="50" charset="-128"/>
              </a:rPr>
              <a:t>日目（</a:t>
            </a:r>
            <a:r>
              <a:rPr kumimoji="1" lang="en-US" altLang="ja-JP" sz="2000" b="1">
                <a:solidFill>
                  <a:srgbClr val="1E293B"/>
                </a:solidFill>
                <a:latin typeface="Meiryo UI" panose="020B0604030504040204" pitchFamily="50" charset="-128"/>
                <a:ea typeface="Meiryo UI" panose="020B0604030504040204" pitchFamily="50" charset="-128"/>
              </a:rPr>
              <a:t>106</a:t>
            </a:r>
            <a:r>
              <a:rPr kumimoji="1" lang="ja-JP" altLang="en-US" sz="2000" b="1">
                <a:solidFill>
                  <a:srgbClr val="1E293B"/>
                </a:solidFill>
                <a:latin typeface="Meiryo UI" panose="020B0604030504040204" pitchFamily="50" charset="-128"/>
                <a:ea typeface="Meiryo UI" panose="020B0604030504040204" pitchFamily="50" charset="-128"/>
              </a:rPr>
              <a:t>名）と </a:t>
            </a:r>
            <a:r>
              <a:rPr kumimoji="1" lang="en-US" altLang="ja-JP" sz="2000" b="1">
                <a:solidFill>
                  <a:srgbClr val="1E293B"/>
                </a:solidFill>
                <a:latin typeface="Meiryo UI" panose="020B0604030504040204" pitchFamily="50" charset="-128"/>
                <a:ea typeface="Meiryo UI" panose="020B0604030504040204" pitchFamily="50" charset="-128"/>
              </a:rPr>
              <a:t>2</a:t>
            </a:r>
            <a:r>
              <a:rPr kumimoji="1" lang="ja-JP" altLang="en-US" sz="2000" b="1">
                <a:solidFill>
                  <a:srgbClr val="1E293B"/>
                </a:solidFill>
                <a:latin typeface="Meiryo UI" panose="020B0604030504040204" pitchFamily="50" charset="-128"/>
                <a:ea typeface="Meiryo UI" panose="020B0604030504040204" pitchFamily="50" charset="-128"/>
              </a:rPr>
              <a:t>日目（</a:t>
            </a:r>
            <a:r>
              <a:rPr kumimoji="1" lang="en-US" altLang="ja-JP" sz="2000" b="1">
                <a:solidFill>
                  <a:srgbClr val="1E293B"/>
                </a:solidFill>
                <a:latin typeface="Meiryo UI" panose="020B0604030504040204" pitchFamily="50" charset="-128"/>
                <a:ea typeface="Meiryo UI" panose="020B0604030504040204" pitchFamily="50" charset="-128"/>
              </a:rPr>
              <a:t>130</a:t>
            </a:r>
            <a:r>
              <a:rPr kumimoji="1" lang="ja-JP" altLang="en-US" sz="2000" b="1">
                <a:solidFill>
                  <a:srgbClr val="1E293B"/>
                </a:solidFill>
                <a:latin typeface="Meiryo UI" panose="020B0604030504040204" pitchFamily="50" charset="-128"/>
                <a:ea typeface="Meiryo UI" panose="020B0604030504040204" pitchFamily="50" charset="-128"/>
              </a:rPr>
              <a:t>名）の来場者層の違い</a:t>
            </a:r>
          </a:p>
        </p:txBody>
      </p:sp>
      <p:sp>
        <p:nvSpPr>
          <p:cNvPr id="7" name="四角形: 角を丸くする 6">
            <a:extLst>
              <a:ext uri="{FF2B5EF4-FFF2-40B4-BE49-F238E27FC236}">
                <a16:creationId xmlns:a16="http://schemas.microsoft.com/office/drawing/2014/main" id="{9F3AADFF-5BAC-742F-2AD3-6DA098F06F34}"/>
              </a:ext>
            </a:extLst>
          </p:cNvPr>
          <p:cNvSpPr/>
          <p:nvPr/>
        </p:nvSpPr>
        <p:spPr>
          <a:xfrm>
            <a:off x="10871200" y="330200"/>
            <a:ext cx="863600" cy="381000"/>
          </a:xfrm>
          <a:prstGeom prst="roundRect">
            <a:avLst>
              <a:gd name="adj" fmla="val 5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A7EF5C3-5A0D-F682-0BF0-CA93D2346AF0}"/>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F59E0B"/>
                </a:solidFill>
                <a:latin typeface="Meiryo UI" panose="020B0604030504040204" pitchFamily="50" charset="-128"/>
                <a:ea typeface="Meiryo UI" panose="020B0604030504040204" pitchFamily="50" charset="-128"/>
              </a:rPr>
              <a:t>16 / 22</a:t>
            </a:r>
            <a:endParaRPr kumimoji="1" lang="ja-JP" altLang="en-US" sz="1250" b="1">
              <a:solidFill>
                <a:srgbClr val="F59E0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E75A093-5AFE-4B19-F3B9-0CF61C174150}"/>
              </a:ext>
            </a:extLst>
          </p:cNvPr>
          <p:cNvSpPr/>
          <p:nvPr/>
        </p:nvSpPr>
        <p:spPr>
          <a:xfrm>
            <a:off x="457200" y="838200"/>
            <a:ext cx="11277600" cy="431800"/>
          </a:xfrm>
          <a:prstGeom prst="roundRect">
            <a:avLst>
              <a:gd name="adj" fmla="val 3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636F72A-B327-40E2-0D0E-994CD760C36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1</a:t>
            </a:r>
            <a:r>
              <a:rPr kumimoji="1" lang="ja-JP" altLang="en-US" sz="1500" b="1">
                <a:solidFill>
                  <a:srgbClr val="F59E0B"/>
                </a:solidFill>
                <a:latin typeface="Meiryo UI" panose="020B0604030504040204" pitchFamily="50" charset="-128"/>
                <a:ea typeface="Meiryo UI" panose="020B0604030504040204" pitchFamily="50" charset="-128"/>
              </a:rPr>
              <a:t>日目は</a:t>
            </a:r>
            <a:r>
              <a:rPr kumimoji="1" lang="en-US" altLang="ja-JP" sz="1500" b="1">
                <a:solidFill>
                  <a:srgbClr val="F59E0B"/>
                </a:solidFill>
                <a:latin typeface="Meiryo UI" panose="020B0604030504040204" pitchFamily="50" charset="-128"/>
                <a:ea typeface="Meiryo UI" panose="020B0604030504040204" pitchFamily="50" charset="-128"/>
              </a:rPr>
              <a:t>60</a:t>
            </a:r>
            <a:r>
              <a:rPr kumimoji="1" lang="ja-JP" altLang="en-US" sz="1500" b="1">
                <a:solidFill>
                  <a:srgbClr val="F59E0B"/>
                </a:solidFill>
                <a:latin typeface="Meiryo UI" panose="020B0604030504040204" pitchFamily="50" charset="-128"/>
                <a:ea typeface="Meiryo UI" panose="020B0604030504040204" pitchFamily="50" charset="-128"/>
              </a:rPr>
              <a:t>代以上のシニア層が過半数（</a:t>
            </a:r>
            <a:r>
              <a:rPr kumimoji="1" lang="en-US" altLang="ja-JP" sz="1500" b="1">
                <a:solidFill>
                  <a:srgbClr val="F59E0B"/>
                </a:solidFill>
                <a:latin typeface="Meiryo UI" panose="020B0604030504040204" pitchFamily="50" charset="-128"/>
                <a:ea typeface="Meiryo UI" panose="020B0604030504040204" pitchFamily="50" charset="-128"/>
              </a:rPr>
              <a:t>52.8%</a:t>
            </a:r>
            <a:r>
              <a:rPr kumimoji="1" lang="ja-JP" altLang="en-US" sz="1500" b="1">
                <a:solidFill>
                  <a:srgbClr val="F59E0B"/>
                </a:solidFill>
                <a:latin typeface="Meiryo UI" panose="020B0604030504040204" pitchFamily="50" charset="-128"/>
                <a:ea typeface="Meiryo UI" panose="020B0604030504040204" pitchFamily="50" charset="-128"/>
              </a:rPr>
              <a:t>）。</a:t>
            </a:r>
            <a:r>
              <a:rPr kumimoji="1" lang="en-US" altLang="ja-JP" sz="1500" b="1">
                <a:solidFill>
                  <a:srgbClr val="F59E0B"/>
                </a:solidFill>
                <a:latin typeface="Meiryo UI" panose="020B0604030504040204" pitchFamily="50" charset="-128"/>
                <a:ea typeface="Meiryo UI" panose="020B0604030504040204" pitchFamily="50" charset="-128"/>
              </a:rPr>
              <a:t>2</a:t>
            </a:r>
            <a:r>
              <a:rPr kumimoji="1" lang="ja-JP" altLang="en-US" sz="1500" b="1">
                <a:solidFill>
                  <a:srgbClr val="F59E0B"/>
                </a:solidFill>
                <a:latin typeface="Meiryo UI" panose="020B0604030504040204" pitchFamily="50" charset="-128"/>
                <a:ea typeface="Meiryo UI" panose="020B0604030504040204" pitchFamily="50" charset="-128"/>
              </a:rPr>
              <a:t>日目は</a:t>
            </a:r>
            <a:r>
              <a:rPr kumimoji="1" lang="en-US" altLang="ja-JP" sz="1500" b="1">
                <a:solidFill>
                  <a:srgbClr val="F59E0B"/>
                </a:solidFill>
                <a:latin typeface="Meiryo UI" panose="020B0604030504040204" pitchFamily="50" charset="-128"/>
                <a:ea typeface="Meiryo UI" panose="020B0604030504040204" pitchFamily="50" charset="-128"/>
              </a:rPr>
              <a:t>40</a:t>
            </a:r>
            <a:r>
              <a:rPr kumimoji="1" lang="ja-JP" altLang="en-US" sz="1500" b="1">
                <a:solidFill>
                  <a:srgbClr val="F59E0B"/>
                </a:solidFill>
                <a:latin typeface="Meiryo UI" panose="020B0604030504040204" pitchFamily="50" charset="-128"/>
                <a:ea typeface="Meiryo UI" panose="020B0604030504040204" pitchFamily="50" charset="-128"/>
              </a:rPr>
              <a:t>代以下の若年・子育て層が倍増（</a:t>
            </a:r>
            <a:r>
              <a:rPr kumimoji="1" lang="en-US" altLang="ja-JP" sz="1500" b="1">
                <a:solidFill>
                  <a:srgbClr val="F59E0B"/>
                </a:solidFill>
                <a:latin typeface="Meiryo UI" panose="020B0604030504040204" pitchFamily="50" charset="-128"/>
                <a:ea typeface="Meiryo UI" panose="020B0604030504040204" pitchFamily="50" charset="-128"/>
              </a:rPr>
              <a:t>32.3%</a:t>
            </a:r>
            <a:r>
              <a:rPr kumimoji="1" lang="ja-JP" altLang="en-US" sz="1500" b="1">
                <a:solidFill>
                  <a:srgbClr val="F59E0B"/>
                </a:solidFill>
                <a:latin typeface="Meiryo UI" panose="020B0604030504040204" pitchFamily="50" charset="-128"/>
                <a:ea typeface="Meiryo UI" panose="020B0604030504040204" pitchFamily="50" charset="-128"/>
              </a:rPr>
              <a:t>）</a:t>
            </a:r>
          </a:p>
        </p:txBody>
      </p:sp>
      <p:sp>
        <p:nvSpPr>
          <p:cNvPr id="11" name="四角形: 角を丸くする 10">
            <a:extLst>
              <a:ext uri="{FF2B5EF4-FFF2-40B4-BE49-F238E27FC236}">
                <a16:creationId xmlns:a16="http://schemas.microsoft.com/office/drawing/2014/main" id="{B96C58BE-43DC-9FB9-9E8B-C2097630664E}"/>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B23ED20-4C08-D480-804E-0A441C80197E}"/>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D09FC2A-2608-BA22-C4EE-5C9A143D644A}"/>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1</a:t>
            </a:r>
            <a:r>
              <a:rPr kumimoji="1" lang="ja-JP" altLang="en-US" sz="1750" b="1">
                <a:solidFill>
                  <a:srgbClr val="1E293B"/>
                </a:solidFill>
                <a:latin typeface="Meiryo UI" panose="020B0604030504040204" pitchFamily="50" charset="-128"/>
                <a:ea typeface="Meiryo UI" panose="020B0604030504040204" pitchFamily="50" charset="-128"/>
              </a:rPr>
              <a:t>日目（土曜・</a:t>
            </a:r>
            <a:r>
              <a:rPr kumimoji="1" lang="en-US" altLang="ja-JP" sz="1750" b="1">
                <a:solidFill>
                  <a:srgbClr val="1E293B"/>
                </a:solidFill>
                <a:latin typeface="Meiryo UI" panose="020B0604030504040204" pitchFamily="50" charset="-128"/>
                <a:ea typeface="Meiryo UI" panose="020B0604030504040204" pitchFamily="50" charset="-128"/>
              </a:rPr>
              <a:t>106</a:t>
            </a:r>
            <a:r>
              <a:rPr kumimoji="1" lang="ja-JP" altLang="en-US" sz="1750" b="1">
                <a:solidFill>
                  <a:srgbClr val="1E293B"/>
                </a:solidFill>
                <a:latin typeface="Meiryo UI" panose="020B0604030504040204" pitchFamily="50" charset="-128"/>
                <a:ea typeface="Meiryo UI" panose="020B0604030504040204" pitchFamily="50" charset="-128"/>
              </a:rPr>
              <a:t>名）：シニア中心</a:t>
            </a:r>
          </a:p>
        </p:txBody>
      </p:sp>
      <p:sp>
        <p:nvSpPr>
          <p:cNvPr id="14" name="部分円 13">
            <a:extLst>
              <a:ext uri="{FF2B5EF4-FFF2-40B4-BE49-F238E27FC236}">
                <a16:creationId xmlns:a16="http://schemas.microsoft.com/office/drawing/2014/main" id="{81D57335-2A6C-124C-56CA-107562F2E8F0}"/>
              </a:ext>
            </a:extLst>
          </p:cNvPr>
          <p:cNvSpPr/>
          <p:nvPr/>
        </p:nvSpPr>
        <p:spPr>
          <a:xfrm>
            <a:off x="596900" y="2374900"/>
            <a:ext cx="2362200" cy="2362200"/>
          </a:xfrm>
          <a:prstGeom prst="pie">
            <a:avLst>
              <a:gd name="adj1" fmla="val 16200000"/>
              <a:gd name="adj2" fmla="val 20476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B75F54CE-BBC2-F797-8B2D-7782FEA676F2}"/>
              </a:ext>
            </a:extLst>
          </p:cNvPr>
          <p:cNvSpPr/>
          <p:nvPr/>
        </p:nvSpPr>
        <p:spPr>
          <a:xfrm>
            <a:off x="596900" y="2374900"/>
            <a:ext cx="2362200" cy="2362200"/>
          </a:xfrm>
          <a:prstGeom prst="pie">
            <a:avLst>
              <a:gd name="adj1" fmla="val 20476800"/>
              <a:gd name="adj2" fmla="val 45792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F89F4144-7E37-02EF-944C-ED9DE903AD11}"/>
              </a:ext>
            </a:extLst>
          </p:cNvPr>
          <p:cNvSpPr/>
          <p:nvPr/>
        </p:nvSpPr>
        <p:spPr>
          <a:xfrm>
            <a:off x="596900" y="2374900"/>
            <a:ext cx="2362200" cy="2362200"/>
          </a:xfrm>
          <a:prstGeom prst="pie">
            <a:avLst>
              <a:gd name="adj1" fmla="val 4579200"/>
              <a:gd name="adj2" fmla="val 15984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EA28A814-1453-764F-5E82-57EA101579FD}"/>
              </a:ext>
            </a:extLst>
          </p:cNvPr>
          <p:cNvSpPr/>
          <p:nvPr/>
        </p:nvSpPr>
        <p:spPr>
          <a:xfrm>
            <a:off x="596900" y="2374900"/>
            <a:ext cx="2362200" cy="2362200"/>
          </a:xfrm>
          <a:prstGeom prst="pie">
            <a:avLst>
              <a:gd name="adj1" fmla="val 159840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25E44088-6091-5E21-F5F0-4BA3A751353E}"/>
              </a:ext>
            </a:extLst>
          </p:cNvPr>
          <p:cNvSpPr/>
          <p:nvPr/>
        </p:nvSpPr>
        <p:spPr>
          <a:xfrm>
            <a:off x="1092962" y="2870962"/>
            <a:ext cx="1370076" cy="137007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9014BF-9E88-31DD-6F2A-F8507911AC41}"/>
              </a:ext>
            </a:extLst>
          </p:cNvPr>
          <p:cNvSpPr txBox="1"/>
          <p:nvPr/>
        </p:nvSpPr>
        <p:spPr>
          <a:xfrm>
            <a:off x="825500" y="3276600"/>
            <a:ext cx="1905000" cy="310341"/>
          </a:xfrm>
          <a:prstGeom prst="rect">
            <a:avLst/>
          </a:prstGeom>
          <a:noFill/>
        </p:spPr>
        <p:txBody>
          <a:bodyPr vert="horz" wrap="square" lIns="76200" tIns="50800" rIns="76200" bIns="50800" rtlCol="0">
            <a:spAutoFit/>
          </a:bodyPr>
          <a:lstStyle/>
          <a:p>
            <a:pPr algn="ctr"/>
            <a:r>
              <a:rPr kumimoji="1" lang="en-US" altLang="ja-JP" sz="1350" b="1">
                <a:solidFill>
                  <a:srgbClr val="1E293B"/>
                </a:solidFill>
                <a:latin typeface="Meiryo UI" panose="020B0604030504040204" pitchFamily="50" charset="-128"/>
                <a:ea typeface="Meiryo UI" panose="020B0604030504040204" pitchFamily="50" charset="-128"/>
              </a:rPr>
              <a:t>60</a:t>
            </a:r>
            <a:r>
              <a:rPr kumimoji="1" lang="ja-JP" altLang="en-US" sz="1350" b="1">
                <a:solidFill>
                  <a:srgbClr val="1E293B"/>
                </a:solidFill>
                <a:latin typeface="Meiryo UI" panose="020B0604030504040204" pitchFamily="50" charset="-128"/>
                <a:ea typeface="Meiryo UI" panose="020B0604030504040204" pitchFamily="50" charset="-128"/>
              </a:rPr>
              <a:t>代以上</a:t>
            </a:r>
          </a:p>
        </p:txBody>
      </p:sp>
      <p:sp>
        <p:nvSpPr>
          <p:cNvPr id="20" name="テキスト ボックス 19">
            <a:extLst>
              <a:ext uri="{FF2B5EF4-FFF2-40B4-BE49-F238E27FC236}">
                <a16:creationId xmlns:a16="http://schemas.microsoft.com/office/drawing/2014/main" id="{BAF10F58-D69C-06E9-599B-1BBB4CF04E89}"/>
              </a:ext>
            </a:extLst>
          </p:cNvPr>
          <p:cNvSpPr txBox="1"/>
          <p:nvPr/>
        </p:nvSpPr>
        <p:spPr>
          <a:xfrm>
            <a:off x="8255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52.8% (56</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楕円 20">
            <a:extLst>
              <a:ext uri="{FF2B5EF4-FFF2-40B4-BE49-F238E27FC236}">
                <a16:creationId xmlns:a16="http://schemas.microsoft.com/office/drawing/2014/main" id="{0A16EE9D-BAF4-0BCA-AEF6-F7B5C42651CD}"/>
              </a:ext>
            </a:extLst>
          </p:cNvPr>
          <p:cNvSpPr/>
          <p:nvPr/>
        </p:nvSpPr>
        <p:spPr>
          <a:xfrm>
            <a:off x="3111500" y="26670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9ED1AAA-424E-5B6C-35B8-71DB6B7D5572}"/>
              </a:ext>
            </a:extLst>
          </p:cNvPr>
          <p:cNvSpPr txBox="1"/>
          <p:nvPr/>
        </p:nvSpPr>
        <p:spPr>
          <a:xfrm>
            <a:off x="3390900" y="26035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10〜40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23" name="テキスト ボックス 22">
            <a:extLst>
              <a:ext uri="{FF2B5EF4-FFF2-40B4-BE49-F238E27FC236}">
                <a16:creationId xmlns:a16="http://schemas.microsoft.com/office/drawing/2014/main" id="{0050B6BA-70DB-C1A8-33E2-E425AAED0ED8}"/>
              </a:ext>
            </a:extLst>
          </p:cNvPr>
          <p:cNvSpPr txBox="1"/>
          <p:nvPr/>
        </p:nvSpPr>
        <p:spPr>
          <a:xfrm>
            <a:off x="3746500" y="26035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21</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(19.8%)</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4" name="楕円 23">
            <a:extLst>
              <a:ext uri="{FF2B5EF4-FFF2-40B4-BE49-F238E27FC236}">
                <a16:creationId xmlns:a16="http://schemas.microsoft.com/office/drawing/2014/main" id="{7E307456-EB64-ED93-BAE4-7EB26BC6DF15}"/>
              </a:ext>
            </a:extLst>
          </p:cNvPr>
          <p:cNvSpPr/>
          <p:nvPr/>
        </p:nvSpPr>
        <p:spPr>
          <a:xfrm>
            <a:off x="3111500" y="32766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36F4F1E-4CB9-7C7D-760C-92F72F5C1288}"/>
              </a:ext>
            </a:extLst>
          </p:cNvPr>
          <p:cNvSpPr txBox="1"/>
          <p:nvPr/>
        </p:nvSpPr>
        <p:spPr>
          <a:xfrm>
            <a:off x="3390900" y="32131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50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26" name="テキスト ボックス 25">
            <a:extLst>
              <a:ext uri="{FF2B5EF4-FFF2-40B4-BE49-F238E27FC236}">
                <a16:creationId xmlns:a16="http://schemas.microsoft.com/office/drawing/2014/main" id="{1B9299E8-31B4-A289-4F1C-104028C9575B}"/>
              </a:ext>
            </a:extLst>
          </p:cNvPr>
          <p:cNvSpPr txBox="1"/>
          <p:nvPr/>
        </p:nvSpPr>
        <p:spPr>
          <a:xfrm>
            <a:off x="3746500" y="32131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28</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(26.4%)</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a16:creationId xmlns:a16="http://schemas.microsoft.com/office/drawing/2014/main" id="{6CCBEB37-3B51-04BB-6986-87C827DFAC01}"/>
              </a:ext>
            </a:extLst>
          </p:cNvPr>
          <p:cNvSpPr/>
          <p:nvPr/>
        </p:nvSpPr>
        <p:spPr>
          <a:xfrm>
            <a:off x="3035300" y="3771900"/>
            <a:ext cx="2755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CD2CD5F3-2D36-5F13-1723-7481B1E2B203}"/>
              </a:ext>
            </a:extLst>
          </p:cNvPr>
          <p:cNvSpPr/>
          <p:nvPr/>
        </p:nvSpPr>
        <p:spPr>
          <a:xfrm>
            <a:off x="3111500" y="38862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FFADCE65-AF9E-BE13-32E5-58C41EECF625}"/>
              </a:ext>
            </a:extLst>
          </p:cNvPr>
          <p:cNvSpPr txBox="1"/>
          <p:nvPr/>
        </p:nvSpPr>
        <p:spPr>
          <a:xfrm>
            <a:off x="3390900" y="38227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60〜90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30" name="テキスト ボックス 29">
            <a:extLst>
              <a:ext uri="{FF2B5EF4-FFF2-40B4-BE49-F238E27FC236}">
                <a16:creationId xmlns:a16="http://schemas.microsoft.com/office/drawing/2014/main" id="{7E8D90C5-4136-C520-6AF0-76CF6F83FB62}"/>
              </a:ext>
            </a:extLst>
          </p:cNvPr>
          <p:cNvSpPr txBox="1"/>
          <p:nvPr/>
        </p:nvSpPr>
        <p:spPr>
          <a:xfrm>
            <a:off x="3746500" y="38227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56</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(52.8%)</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a16:creationId xmlns:a16="http://schemas.microsoft.com/office/drawing/2014/main" id="{D1143ABC-91AA-50E1-DA80-308D200BD157}"/>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78FB004E-E940-6C1B-F02E-60E21E55B2AE}"/>
              </a:ext>
            </a:extLst>
          </p:cNvPr>
          <p:cNvSpPr/>
          <p:nvPr/>
        </p:nvSpPr>
        <p:spPr>
          <a:xfrm>
            <a:off x="64516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25E26B8E-189B-6C7A-B77D-4A972775250F}"/>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2</a:t>
            </a:r>
            <a:r>
              <a:rPr kumimoji="1" lang="ja-JP" altLang="en-US" sz="1750" b="1">
                <a:solidFill>
                  <a:srgbClr val="1E293B"/>
                </a:solidFill>
                <a:latin typeface="Meiryo UI" panose="020B0604030504040204" pitchFamily="50" charset="-128"/>
                <a:ea typeface="Meiryo UI" panose="020B0604030504040204" pitchFamily="50" charset="-128"/>
              </a:rPr>
              <a:t>日目（日曜・</a:t>
            </a:r>
            <a:r>
              <a:rPr kumimoji="1" lang="en-US" altLang="ja-JP" sz="1750" b="1">
                <a:solidFill>
                  <a:srgbClr val="1E293B"/>
                </a:solidFill>
                <a:latin typeface="Meiryo UI" panose="020B0604030504040204" pitchFamily="50" charset="-128"/>
                <a:ea typeface="Meiryo UI" panose="020B0604030504040204" pitchFamily="50" charset="-128"/>
              </a:rPr>
              <a:t>130</a:t>
            </a:r>
            <a:r>
              <a:rPr kumimoji="1" lang="ja-JP" altLang="en-US" sz="1750" b="1">
                <a:solidFill>
                  <a:srgbClr val="1E293B"/>
                </a:solidFill>
                <a:latin typeface="Meiryo UI" panose="020B0604030504040204" pitchFamily="50" charset="-128"/>
                <a:ea typeface="Meiryo UI" panose="020B0604030504040204" pitchFamily="50" charset="-128"/>
              </a:rPr>
              <a:t>名）：</a:t>
            </a:r>
            <a:r>
              <a:rPr kumimoji="1" lang="en-US" altLang="ja-JP" sz="1750" b="1">
                <a:solidFill>
                  <a:srgbClr val="1E293B"/>
                </a:solidFill>
                <a:latin typeface="Meiryo UI" panose="020B0604030504040204" pitchFamily="50" charset="-128"/>
                <a:ea typeface="Meiryo UI" panose="020B0604030504040204" pitchFamily="50" charset="-128"/>
              </a:rPr>
              <a:t>40</a:t>
            </a:r>
            <a:r>
              <a:rPr kumimoji="1" lang="ja-JP" altLang="en-US" sz="1750" b="1">
                <a:solidFill>
                  <a:srgbClr val="1E293B"/>
                </a:solidFill>
                <a:latin typeface="Meiryo UI" panose="020B0604030504040204" pitchFamily="50" charset="-128"/>
                <a:ea typeface="Meiryo UI" panose="020B0604030504040204" pitchFamily="50" charset="-128"/>
              </a:rPr>
              <a:t>代以下が倍増</a:t>
            </a:r>
          </a:p>
        </p:txBody>
      </p:sp>
      <p:sp>
        <p:nvSpPr>
          <p:cNvPr id="34" name="部分円 33">
            <a:extLst>
              <a:ext uri="{FF2B5EF4-FFF2-40B4-BE49-F238E27FC236}">
                <a16:creationId xmlns:a16="http://schemas.microsoft.com/office/drawing/2014/main" id="{3B6888CC-B2CA-CF35-077A-6565C57736A4}"/>
              </a:ext>
            </a:extLst>
          </p:cNvPr>
          <p:cNvSpPr/>
          <p:nvPr/>
        </p:nvSpPr>
        <p:spPr>
          <a:xfrm>
            <a:off x="6565900" y="2374900"/>
            <a:ext cx="2362200" cy="2362200"/>
          </a:xfrm>
          <a:prstGeom prst="pie">
            <a:avLst>
              <a:gd name="adj1" fmla="val 16200000"/>
              <a:gd name="adj2" fmla="val 1576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部分円 34">
            <a:extLst>
              <a:ext uri="{FF2B5EF4-FFF2-40B4-BE49-F238E27FC236}">
                <a16:creationId xmlns:a16="http://schemas.microsoft.com/office/drawing/2014/main" id="{5B4A3BCA-1378-819C-4281-336A39B6AD2B}"/>
              </a:ext>
            </a:extLst>
          </p:cNvPr>
          <p:cNvSpPr/>
          <p:nvPr/>
        </p:nvSpPr>
        <p:spPr>
          <a:xfrm>
            <a:off x="6565900" y="2374900"/>
            <a:ext cx="2362200" cy="2362200"/>
          </a:xfrm>
          <a:prstGeom prst="pie">
            <a:avLst>
              <a:gd name="adj1" fmla="val 1576800"/>
              <a:gd name="adj2" fmla="val 72360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6" name="部分円 35">
            <a:extLst>
              <a:ext uri="{FF2B5EF4-FFF2-40B4-BE49-F238E27FC236}">
                <a16:creationId xmlns:a16="http://schemas.microsoft.com/office/drawing/2014/main" id="{9FAB337B-55C9-0DF8-EA9B-7E604BD2BF77}"/>
              </a:ext>
            </a:extLst>
          </p:cNvPr>
          <p:cNvSpPr/>
          <p:nvPr/>
        </p:nvSpPr>
        <p:spPr>
          <a:xfrm>
            <a:off x="6565900" y="2374900"/>
            <a:ext cx="2362200" cy="2362200"/>
          </a:xfrm>
          <a:prstGeom prst="pie">
            <a:avLst>
              <a:gd name="adj1" fmla="val 7236000"/>
              <a:gd name="adj2" fmla="val 15876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部分円 36">
            <a:extLst>
              <a:ext uri="{FF2B5EF4-FFF2-40B4-BE49-F238E27FC236}">
                <a16:creationId xmlns:a16="http://schemas.microsoft.com/office/drawing/2014/main" id="{D9BA39B8-9EC9-F613-4855-6214D1653ED7}"/>
              </a:ext>
            </a:extLst>
          </p:cNvPr>
          <p:cNvSpPr/>
          <p:nvPr/>
        </p:nvSpPr>
        <p:spPr>
          <a:xfrm>
            <a:off x="6565900" y="2374900"/>
            <a:ext cx="2362200" cy="2362200"/>
          </a:xfrm>
          <a:prstGeom prst="pie">
            <a:avLst>
              <a:gd name="adj1" fmla="val 158760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8" name="楕円 37">
            <a:extLst>
              <a:ext uri="{FF2B5EF4-FFF2-40B4-BE49-F238E27FC236}">
                <a16:creationId xmlns:a16="http://schemas.microsoft.com/office/drawing/2014/main" id="{58D117A1-57E7-4B43-0E33-AED9DDCD163C}"/>
              </a:ext>
            </a:extLst>
          </p:cNvPr>
          <p:cNvSpPr/>
          <p:nvPr/>
        </p:nvSpPr>
        <p:spPr>
          <a:xfrm>
            <a:off x="7061962" y="2870962"/>
            <a:ext cx="1370076" cy="137007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7E79B20F-8E89-8B3A-876A-B6A67DE68EF0}"/>
              </a:ext>
            </a:extLst>
          </p:cNvPr>
          <p:cNvSpPr txBox="1"/>
          <p:nvPr/>
        </p:nvSpPr>
        <p:spPr>
          <a:xfrm>
            <a:off x="6794500" y="3276600"/>
            <a:ext cx="1905000" cy="310341"/>
          </a:xfrm>
          <a:prstGeom prst="rect">
            <a:avLst/>
          </a:prstGeom>
          <a:noFill/>
        </p:spPr>
        <p:txBody>
          <a:bodyPr vert="horz" wrap="square" lIns="76200" tIns="50800" rIns="76200" bIns="50800" rtlCol="0">
            <a:spAutoFit/>
          </a:bodyPr>
          <a:lstStyle/>
          <a:p>
            <a:pPr algn="ctr"/>
            <a:r>
              <a:rPr kumimoji="1" lang="en-US" altLang="ja-JP" sz="1350" b="1">
                <a:solidFill>
                  <a:srgbClr val="1E293B"/>
                </a:solidFill>
                <a:latin typeface="Meiryo UI" panose="020B0604030504040204" pitchFamily="50" charset="-128"/>
                <a:ea typeface="Meiryo UI" panose="020B0604030504040204" pitchFamily="50" charset="-128"/>
              </a:rPr>
              <a:t>40</a:t>
            </a:r>
            <a:r>
              <a:rPr kumimoji="1" lang="ja-JP" altLang="en-US" sz="1350" b="1">
                <a:solidFill>
                  <a:srgbClr val="1E293B"/>
                </a:solidFill>
                <a:latin typeface="Meiryo UI" panose="020B0604030504040204" pitchFamily="50" charset="-128"/>
                <a:ea typeface="Meiryo UI" panose="020B0604030504040204" pitchFamily="50" charset="-128"/>
              </a:rPr>
              <a:t>代以下</a:t>
            </a:r>
          </a:p>
        </p:txBody>
      </p:sp>
      <p:sp>
        <p:nvSpPr>
          <p:cNvPr id="40" name="テキスト ボックス 39">
            <a:extLst>
              <a:ext uri="{FF2B5EF4-FFF2-40B4-BE49-F238E27FC236}">
                <a16:creationId xmlns:a16="http://schemas.microsoft.com/office/drawing/2014/main" id="{24748F4E-5FC7-E9CC-949E-5AF181133C39}"/>
              </a:ext>
            </a:extLst>
          </p:cNvPr>
          <p:cNvSpPr txBox="1"/>
          <p:nvPr/>
        </p:nvSpPr>
        <p:spPr>
          <a:xfrm>
            <a:off x="67945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32.3% (42</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a16:creationId xmlns:a16="http://schemas.microsoft.com/office/drawing/2014/main" id="{849A114B-A89C-8EB1-1820-330F312BC87D}"/>
              </a:ext>
            </a:extLst>
          </p:cNvPr>
          <p:cNvSpPr/>
          <p:nvPr/>
        </p:nvSpPr>
        <p:spPr>
          <a:xfrm>
            <a:off x="9004300" y="2552700"/>
            <a:ext cx="2755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楕円 41">
            <a:extLst>
              <a:ext uri="{FF2B5EF4-FFF2-40B4-BE49-F238E27FC236}">
                <a16:creationId xmlns:a16="http://schemas.microsoft.com/office/drawing/2014/main" id="{D33854A9-7F2A-8F7F-D655-60EB5A0CA56E}"/>
              </a:ext>
            </a:extLst>
          </p:cNvPr>
          <p:cNvSpPr/>
          <p:nvPr/>
        </p:nvSpPr>
        <p:spPr>
          <a:xfrm>
            <a:off x="9080500" y="26670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D997F8F6-D2A8-540E-1FA6-BA8E456E494A}"/>
              </a:ext>
            </a:extLst>
          </p:cNvPr>
          <p:cNvSpPr txBox="1"/>
          <p:nvPr/>
        </p:nvSpPr>
        <p:spPr>
          <a:xfrm>
            <a:off x="9359900" y="26035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10〜40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44" name="テキスト ボックス 43">
            <a:extLst>
              <a:ext uri="{FF2B5EF4-FFF2-40B4-BE49-F238E27FC236}">
                <a16:creationId xmlns:a16="http://schemas.microsoft.com/office/drawing/2014/main" id="{A890B1CA-966C-5D13-3AC1-DE7297CE58C8}"/>
              </a:ext>
            </a:extLst>
          </p:cNvPr>
          <p:cNvSpPr txBox="1"/>
          <p:nvPr/>
        </p:nvSpPr>
        <p:spPr>
          <a:xfrm>
            <a:off x="9715500" y="26035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42</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(32.3%)</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45" name="楕円 44">
            <a:extLst>
              <a:ext uri="{FF2B5EF4-FFF2-40B4-BE49-F238E27FC236}">
                <a16:creationId xmlns:a16="http://schemas.microsoft.com/office/drawing/2014/main" id="{95442862-29D7-3405-11FE-981758295565}"/>
              </a:ext>
            </a:extLst>
          </p:cNvPr>
          <p:cNvSpPr/>
          <p:nvPr/>
        </p:nvSpPr>
        <p:spPr>
          <a:xfrm>
            <a:off x="9080500" y="32766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74103D25-B854-9DE4-1A3C-DA6B7A79F225}"/>
              </a:ext>
            </a:extLst>
          </p:cNvPr>
          <p:cNvSpPr txBox="1"/>
          <p:nvPr/>
        </p:nvSpPr>
        <p:spPr>
          <a:xfrm>
            <a:off x="9359900" y="32131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50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47" name="テキスト ボックス 46">
            <a:extLst>
              <a:ext uri="{FF2B5EF4-FFF2-40B4-BE49-F238E27FC236}">
                <a16:creationId xmlns:a16="http://schemas.microsoft.com/office/drawing/2014/main" id="{48958FF9-5432-E167-52BF-DFB40E7762BF}"/>
              </a:ext>
            </a:extLst>
          </p:cNvPr>
          <p:cNvSpPr txBox="1"/>
          <p:nvPr/>
        </p:nvSpPr>
        <p:spPr>
          <a:xfrm>
            <a:off x="9715500" y="32131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34</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(26.2%)</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48" name="楕円 47">
            <a:extLst>
              <a:ext uri="{FF2B5EF4-FFF2-40B4-BE49-F238E27FC236}">
                <a16:creationId xmlns:a16="http://schemas.microsoft.com/office/drawing/2014/main" id="{B7424D1E-A7FF-F070-423C-EFD567E00A50}"/>
              </a:ext>
            </a:extLst>
          </p:cNvPr>
          <p:cNvSpPr/>
          <p:nvPr/>
        </p:nvSpPr>
        <p:spPr>
          <a:xfrm>
            <a:off x="9080500" y="38862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46694FDB-1213-28DF-F488-166035F29A66}"/>
              </a:ext>
            </a:extLst>
          </p:cNvPr>
          <p:cNvSpPr txBox="1"/>
          <p:nvPr/>
        </p:nvSpPr>
        <p:spPr>
          <a:xfrm>
            <a:off x="9359900" y="38227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60〜90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50" name="テキスト ボックス 49">
            <a:extLst>
              <a:ext uri="{FF2B5EF4-FFF2-40B4-BE49-F238E27FC236}">
                <a16:creationId xmlns:a16="http://schemas.microsoft.com/office/drawing/2014/main" id="{060509F5-247B-0305-82AE-D539F0E37432}"/>
              </a:ext>
            </a:extLst>
          </p:cNvPr>
          <p:cNvSpPr txBox="1"/>
          <p:nvPr/>
        </p:nvSpPr>
        <p:spPr>
          <a:xfrm>
            <a:off x="9715500" y="38227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52</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(40.0%)</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51" name="四角形: 角を丸くする 50">
            <a:extLst>
              <a:ext uri="{FF2B5EF4-FFF2-40B4-BE49-F238E27FC236}">
                <a16:creationId xmlns:a16="http://schemas.microsoft.com/office/drawing/2014/main" id="{F4B4A16D-99B9-D114-9391-2A4097D21A6A}"/>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3B668E3E-3E2F-5309-E7CA-CB0E9B9FE473}"/>
              </a:ext>
            </a:extLst>
          </p:cNvPr>
          <p:cNvSpPr txBox="1"/>
          <p:nvPr/>
        </p:nvSpPr>
        <p:spPr>
          <a:xfrm>
            <a:off x="508000" y="54864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2</a:t>
            </a:r>
            <a:r>
              <a:rPr kumimoji="1" lang="ja-JP" altLang="en-US" sz="1550" b="1">
                <a:solidFill>
                  <a:srgbClr val="1E293B"/>
                </a:solidFill>
                <a:latin typeface="Meiryo UI" panose="020B0604030504040204" pitchFamily="50" charset="-128"/>
                <a:ea typeface="Meiryo UI" panose="020B0604030504040204" pitchFamily="50" charset="-128"/>
              </a:rPr>
              <a:t>日目は</a:t>
            </a:r>
            <a:r>
              <a:rPr kumimoji="1" lang="en-US" altLang="ja-JP" sz="1550" b="1">
                <a:solidFill>
                  <a:srgbClr val="1E293B"/>
                </a:solidFill>
                <a:latin typeface="Meiryo UI" panose="020B0604030504040204" pitchFamily="50" charset="-128"/>
                <a:ea typeface="Meiryo UI" panose="020B0604030504040204" pitchFamily="50" charset="-128"/>
              </a:rPr>
              <a:t>40</a:t>
            </a:r>
            <a:r>
              <a:rPr kumimoji="1" lang="ja-JP" altLang="en-US" sz="1550" b="1">
                <a:solidFill>
                  <a:srgbClr val="1E293B"/>
                </a:solidFill>
                <a:latin typeface="Meiryo UI" panose="020B0604030504040204" pitchFamily="50" charset="-128"/>
                <a:ea typeface="Meiryo UI" panose="020B0604030504040204" pitchFamily="50" charset="-128"/>
              </a:rPr>
              <a:t>歳代以下が</a:t>
            </a:r>
            <a:r>
              <a:rPr kumimoji="1" lang="en-US" altLang="ja-JP" sz="1550" b="1">
                <a:solidFill>
                  <a:srgbClr val="1E293B"/>
                </a:solidFill>
                <a:latin typeface="Meiryo UI" panose="020B0604030504040204" pitchFamily="50" charset="-128"/>
                <a:ea typeface="Meiryo UI" panose="020B0604030504040204" pitchFamily="50" charset="-128"/>
              </a:rPr>
              <a:t>21</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19.8%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42</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32.3%</a:t>
            </a:r>
            <a:r>
              <a:rPr kumimoji="1" lang="ja-JP" altLang="en-US" sz="1550" b="1">
                <a:solidFill>
                  <a:srgbClr val="1E293B"/>
                </a:solidFill>
                <a:latin typeface="Meiryo UI" panose="020B0604030504040204" pitchFamily="50" charset="-128"/>
                <a:ea typeface="Meiryo UI" panose="020B0604030504040204" pitchFamily="50" charset="-128"/>
              </a:rPr>
              <a:t>）へ倍増した（特に</a:t>
            </a:r>
            <a:r>
              <a:rPr kumimoji="1" lang="en-US" altLang="ja-JP" sz="1550" b="1">
                <a:solidFill>
                  <a:srgbClr val="1E293B"/>
                </a:solidFill>
                <a:latin typeface="Meiryo UI" panose="020B0604030504040204" pitchFamily="50" charset="-128"/>
                <a:ea typeface="Meiryo UI" panose="020B0604030504040204" pitchFamily="50" charset="-128"/>
              </a:rPr>
              <a:t>40</a:t>
            </a:r>
            <a:r>
              <a:rPr kumimoji="1" lang="ja-JP" altLang="en-US" sz="1550" b="1">
                <a:solidFill>
                  <a:srgbClr val="1E293B"/>
                </a:solidFill>
                <a:latin typeface="Meiryo UI" panose="020B0604030504040204" pitchFamily="50" charset="-128"/>
                <a:ea typeface="Meiryo UI" panose="020B0604030504040204" pitchFamily="50" charset="-128"/>
              </a:rPr>
              <a:t>歳代は</a:t>
            </a:r>
            <a:r>
              <a:rPr kumimoji="1" lang="en-US" altLang="ja-JP" sz="1550" b="1">
                <a:solidFill>
                  <a:srgbClr val="1E293B"/>
                </a:solidFill>
                <a:latin typeface="Meiryo UI" panose="020B0604030504040204" pitchFamily="50" charset="-128"/>
                <a:ea typeface="Meiryo UI" panose="020B0604030504040204" pitchFamily="50" charset="-128"/>
              </a:rPr>
              <a:t>9</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24</a:t>
            </a:r>
            <a:r>
              <a:rPr kumimoji="1" lang="ja-JP" altLang="en-US" sz="1550" b="1">
                <a:solidFill>
                  <a:srgbClr val="1E293B"/>
                </a:solidFill>
                <a:latin typeface="Meiryo UI" panose="020B0604030504040204" pitchFamily="50" charset="-128"/>
                <a:ea typeface="Meiryo UI" panose="020B0604030504040204" pitchFamily="50" charset="-128"/>
              </a:rPr>
              <a:t>名へ</a:t>
            </a:r>
            <a:r>
              <a:rPr kumimoji="1" lang="en-US" altLang="ja-JP" sz="1550" b="1">
                <a:solidFill>
                  <a:srgbClr val="1E293B"/>
                </a:solidFill>
                <a:latin typeface="Meiryo UI" panose="020B0604030504040204" pitchFamily="50" charset="-128"/>
                <a:ea typeface="Meiryo UI" panose="020B0604030504040204" pitchFamily="50" charset="-128"/>
              </a:rPr>
              <a:t>2.7</a:t>
            </a:r>
            <a:r>
              <a:rPr kumimoji="1" lang="ja-JP" altLang="en-US" sz="1550" b="1">
                <a:solidFill>
                  <a:srgbClr val="1E293B"/>
                </a:solidFill>
                <a:latin typeface="Meiryo UI" panose="020B0604030504040204" pitchFamily="50" charset="-128"/>
                <a:ea typeface="Meiryo UI" panose="020B0604030504040204" pitchFamily="50" charset="-128"/>
              </a:rPr>
              <a:t>倍）。
・お住まいも</a:t>
            </a:r>
            <a:r>
              <a:rPr kumimoji="1" lang="en-US" altLang="ja-JP" sz="1550" b="1">
                <a:solidFill>
                  <a:srgbClr val="1E293B"/>
                </a:solidFill>
                <a:latin typeface="Meiryo UI" panose="020B0604030504040204" pitchFamily="50" charset="-128"/>
                <a:ea typeface="Meiryo UI" panose="020B0604030504040204" pitchFamily="50" charset="-128"/>
              </a:rPr>
              <a:t>2</a:t>
            </a:r>
            <a:r>
              <a:rPr kumimoji="1" lang="ja-JP" altLang="en-US" sz="1550" b="1">
                <a:solidFill>
                  <a:srgbClr val="1E293B"/>
                </a:solidFill>
                <a:latin typeface="Meiryo UI" panose="020B0604030504040204" pitchFamily="50" charset="-128"/>
                <a:ea typeface="Meiryo UI" panose="020B0604030504040204" pitchFamily="50" charset="-128"/>
              </a:rPr>
              <a:t>日目は八千代市内が</a:t>
            </a:r>
            <a:r>
              <a:rPr kumimoji="1" lang="en-US" altLang="ja-JP" sz="1550" b="1">
                <a:solidFill>
                  <a:srgbClr val="1E293B"/>
                </a:solidFill>
                <a:latin typeface="Meiryo UI" panose="020B0604030504040204" pitchFamily="50" charset="-128"/>
                <a:ea typeface="Meiryo UI" panose="020B0604030504040204" pitchFamily="50" charset="-128"/>
              </a:rPr>
              <a:t>70.8%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75</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73.8%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96</a:t>
            </a:r>
            <a:r>
              <a:rPr kumimoji="1" lang="ja-JP" altLang="en-US" sz="1550" b="1">
                <a:solidFill>
                  <a:srgbClr val="1E293B"/>
                </a:solidFill>
                <a:latin typeface="Meiryo UI" panose="020B0604030504040204" pitchFamily="50" charset="-128"/>
                <a:ea typeface="Meiryo UI" panose="020B0604030504040204" pitchFamily="50" charset="-128"/>
              </a:rPr>
              <a:t>名）へ増加し、地元の家族連れや若年層にリーチできた。</a:t>
            </a:r>
          </a:p>
        </p:txBody>
      </p:sp>
    </p:spTree>
    <p:extLst>
      <p:ext uri="{BB962C8B-B14F-4D97-AF65-F5344CB8AC3E}">
        <p14:creationId xmlns:p14="http://schemas.microsoft.com/office/powerpoint/2010/main" val="34500587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33E3E7D-E57A-5C30-436A-D20C3655626E}"/>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3364062C-B8B8-F410-7828-79E69637B2C6}"/>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0DDB3F7-60DA-B8CA-036B-4EDE72BBE722}"/>
              </a:ext>
            </a:extLst>
          </p:cNvPr>
          <p:cNvSpPr/>
          <p:nvPr/>
        </p:nvSpPr>
        <p:spPr>
          <a:xfrm>
            <a:off x="457200" y="330200"/>
            <a:ext cx="2336800" cy="4064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2AD872B-6B75-1202-0FA2-0EB2E3338453}"/>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部：考察② 当院の弱点</a:t>
            </a:r>
          </a:p>
        </p:txBody>
      </p:sp>
      <p:sp>
        <p:nvSpPr>
          <p:cNvPr id="6" name="テキスト ボックス 5">
            <a:extLst>
              <a:ext uri="{FF2B5EF4-FFF2-40B4-BE49-F238E27FC236}">
                <a16:creationId xmlns:a16="http://schemas.microsoft.com/office/drawing/2014/main" id="{93934700-F053-B5C9-955B-C1990EA450A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アンケートからわかる当院の弱点①：八千代市民の認知度</a:t>
            </a:r>
          </a:p>
        </p:txBody>
      </p:sp>
      <p:sp>
        <p:nvSpPr>
          <p:cNvPr id="7" name="四角形: 角を丸くする 6">
            <a:extLst>
              <a:ext uri="{FF2B5EF4-FFF2-40B4-BE49-F238E27FC236}">
                <a16:creationId xmlns:a16="http://schemas.microsoft.com/office/drawing/2014/main" id="{4D009359-AB75-60AD-EAD7-A0FF27777A04}"/>
              </a:ext>
            </a:extLst>
          </p:cNvPr>
          <p:cNvSpPr/>
          <p:nvPr/>
        </p:nvSpPr>
        <p:spPr>
          <a:xfrm>
            <a:off x="10871200" y="330200"/>
            <a:ext cx="863600" cy="381000"/>
          </a:xfrm>
          <a:prstGeom prst="roundRect">
            <a:avLst>
              <a:gd name="adj" fmla="val 5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BC04862-6A04-7655-4BDD-E018A6DEC0C3}"/>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EF4444"/>
                </a:solidFill>
                <a:latin typeface="Meiryo UI" panose="020B0604030504040204" pitchFamily="50" charset="-128"/>
                <a:ea typeface="Meiryo UI" panose="020B0604030504040204" pitchFamily="50" charset="-128"/>
              </a:rPr>
              <a:t>17 / 22</a:t>
            </a:r>
            <a:endParaRPr kumimoji="1" lang="ja-JP" altLang="en-US" sz="1250" b="1">
              <a:solidFill>
                <a:srgbClr val="EF4444"/>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8AC7E5E9-80EB-9AAA-98EF-8C76AFFC9B44}"/>
              </a:ext>
            </a:extLst>
          </p:cNvPr>
          <p:cNvSpPr/>
          <p:nvPr/>
        </p:nvSpPr>
        <p:spPr>
          <a:xfrm>
            <a:off x="457200" y="838200"/>
            <a:ext cx="11277600" cy="4318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2B2ACF0-3FA4-6033-6C3C-2C33664EC637}"/>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EF4444"/>
                </a:solidFill>
                <a:latin typeface="Meiryo UI" panose="020B0604030504040204" pitchFamily="50" charset="-128"/>
                <a:ea typeface="Meiryo UI" panose="020B0604030504040204" pitchFamily="50" charset="-128"/>
              </a:rPr>
              <a:t>地元・八千代市民（</a:t>
            </a:r>
            <a:r>
              <a:rPr kumimoji="1" lang="en-US" altLang="ja-JP" sz="1500" b="1">
                <a:solidFill>
                  <a:srgbClr val="EF4444"/>
                </a:solidFill>
                <a:latin typeface="Meiryo UI" panose="020B0604030504040204" pitchFamily="50" charset="-128"/>
                <a:ea typeface="Meiryo UI" panose="020B0604030504040204" pitchFamily="50" charset="-128"/>
              </a:rPr>
              <a:t>171</a:t>
            </a:r>
            <a:r>
              <a:rPr kumimoji="1" lang="ja-JP" altLang="en-US" sz="1500" b="1">
                <a:solidFill>
                  <a:srgbClr val="EF4444"/>
                </a:solidFill>
                <a:latin typeface="Meiryo UI" panose="020B0604030504040204" pitchFamily="50" charset="-128"/>
                <a:ea typeface="Meiryo UI" panose="020B0604030504040204" pitchFamily="50" charset="-128"/>
              </a:rPr>
              <a:t>名）でも「よく知っている」は</a:t>
            </a:r>
            <a:r>
              <a:rPr kumimoji="1" lang="en-US" altLang="ja-JP" sz="1500" b="1">
                <a:solidFill>
                  <a:srgbClr val="EF4444"/>
                </a:solidFill>
                <a:latin typeface="Meiryo UI" panose="020B0604030504040204" pitchFamily="50" charset="-128"/>
                <a:ea typeface="Meiryo UI" panose="020B0604030504040204" pitchFamily="50" charset="-128"/>
              </a:rPr>
              <a:t>18.1%</a:t>
            </a:r>
            <a:r>
              <a:rPr kumimoji="1" lang="ja-JP" altLang="en-US" sz="1500" b="1">
                <a:solidFill>
                  <a:srgbClr val="EF4444"/>
                </a:solidFill>
                <a:latin typeface="Meiryo UI" panose="020B0604030504040204" pitchFamily="50" charset="-128"/>
                <a:ea typeface="Meiryo UI" panose="020B0604030504040204" pitchFamily="50" charset="-128"/>
              </a:rPr>
              <a:t>のみ。</a:t>
            </a:r>
            <a:r>
              <a:rPr kumimoji="1" lang="en-US" altLang="ja-JP" sz="1500" b="1">
                <a:solidFill>
                  <a:srgbClr val="EF4444"/>
                </a:solidFill>
                <a:latin typeface="Meiryo UI" panose="020B0604030504040204" pitchFamily="50" charset="-128"/>
                <a:ea typeface="Meiryo UI" panose="020B0604030504040204" pitchFamily="50" charset="-128"/>
              </a:rPr>
              <a:t>80.7%</a:t>
            </a:r>
            <a:r>
              <a:rPr kumimoji="1" lang="ja-JP" altLang="en-US" sz="1500" b="1">
                <a:solidFill>
                  <a:srgbClr val="EF4444"/>
                </a:solidFill>
                <a:latin typeface="Meiryo UI" panose="020B0604030504040204" pitchFamily="50" charset="-128"/>
                <a:ea typeface="Meiryo UI" panose="020B0604030504040204" pitchFamily="50" charset="-128"/>
              </a:rPr>
              <a:t>が当院の中身を知らない</a:t>
            </a:r>
          </a:p>
        </p:txBody>
      </p:sp>
      <p:sp>
        <p:nvSpPr>
          <p:cNvPr id="11" name="四角形: 角を丸くする 10">
            <a:extLst>
              <a:ext uri="{FF2B5EF4-FFF2-40B4-BE49-F238E27FC236}">
                <a16:creationId xmlns:a16="http://schemas.microsoft.com/office/drawing/2014/main" id="{D48224F6-3EEE-D837-C741-48ED03D2ABE3}"/>
              </a:ext>
            </a:extLst>
          </p:cNvPr>
          <p:cNvSpPr/>
          <p:nvPr/>
        </p:nvSpPr>
        <p:spPr>
          <a:xfrm>
            <a:off x="254000" y="1549400"/>
            <a:ext cx="11684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DB77CBEE-684D-4552-902E-CCB91CA001B2}"/>
              </a:ext>
            </a:extLst>
          </p:cNvPr>
          <p:cNvSpPr/>
          <p:nvPr/>
        </p:nvSpPr>
        <p:spPr>
          <a:xfrm>
            <a:off x="4826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A5571092-9864-2237-0592-E965F071524D}"/>
              </a:ext>
            </a:extLst>
          </p:cNvPr>
          <p:cNvSpPr txBox="1"/>
          <p:nvPr/>
        </p:nvSpPr>
        <p:spPr>
          <a:xfrm>
            <a:off x="685800" y="1739900"/>
            <a:ext cx="11049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八千代市内在住者（</a:t>
            </a:r>
            <a:r>
              <a:rPr kumimoji="1" lang="en-US" altLang="ja-JP" sz="1750" b="1">
                <a:solidFill>
                  <a:srgbClr val="1E293B"/>
                </a:solidFill>
                <a:latin typeface="Meiryo UI" panose="020B0604030504040204" pitchFamily="50" charset="-128"/>
                <a:ea typeface="Meiryo UI" panose="020B0604030504040204" pitchFamily="50" charset="-128"/>
              </a:rPr>
              <a:t>171</a:t>
            </a:r>
            <a:r>
              <a:rPr kumimoji="1" lang="ja-JP" altLang="en-US" sz="1750" b="1">
                <a:solidFill>
                  <a:srgbClr val="1E293B"/>
                </a:solidFill>
                <a:latin typeface="Meiryo UI" panose="020B0604030504040204" pitchFamily="50" charset="-128"/>
                <a:ea typeface="Meiryo UI" panose="020B0604030504040204" pitchFamily="50" charset="-128"/>
              </a:rPr>
              <a:t>名）における当院の認知度（</a:t>
            </a:r>
            <a:r>
              <a:rPr kumimoji="1" lang="en-US" altLang="ja-JP" sz="1750" b="1">
                <a:solidFill>
                  <a:srgbClr val="1E293B"/>
                </a:solidFill>
                <a:latin typeface="Meiryo UI" panose="020B0604030504040204" pitchFamily="50" charset="-128"/>
                <a:ea typeface="Meiryo UI" panose="020B0604030504040204" pitchFamily="50" charset="-128"/>
              </a:rPr>
              <a:t>Q2</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部分円 13">
            <a:extLst>
              <a:ext uri="{FF2B5EF4-FFF2-40B4-BE49-F238E27FC236}">
                <a16:creationId xmlns:a16="http://schemas.microsoft.com/office/drawing/2014/main" id="{63510525-81E9-8166-8BC9-5B09C0BF0E9B}"/>
              </a:ext>
            </a:extLst>
          </p:cNvPr>
          <p:cNvSpPr/>
          <p:nvPr/>
        </p:nvSpPr>
        <p:spPr>
          <a:xfrm>
            <a:off x="1016000" y="2603500"/>
            <a:ext cx="3302000" cy="3302000"/>
          </a:xfrm>
          <a:prstGeom prst="pie">
            <a:avLst>
              <a:gd name="adj1" fmla="val 16200000"/>
              <a:gd name="adj2" fmla="val 20757600"/>
            </a:avLst>
          </a:prstGeom>
          <a:solidFill>
            <a:srgbClr val="EF4444"/>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AC29584D-1AFE-59E8-2BF1-B6ED727330DE}"/>
              </a:ext>
            </a:extLst>
          </p:cNvPr>
          <p:cNvSpPr/>
          <p:nvPr/>
        </p:nvSpPr>
        <p:spPr>
          <a:xfrm>
            <a:off x="1016000" y="2603500"/>
            <a:ext cx="3302000" cy="3302000"/>
          </a:xfrm>
          <a:prstGeom prst="pie">
            <a:avLst>
              <a:gd name="adj1" fmla="val 20757600"/>
              <a:gd name="adj2" fmla="val 120312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0FD6438C-DBD3-96EE-880C-D66B6A132D38}"/>
              </a:ext>
            </a:extLst>
          </p:cNvPr>
          <p:cNvSpPr/>
          <p:nvPr/>
        </p:nvSpPr>
        <p:spPr>
          <a:xfrm>
            <a:off x="1016000" y="2603500"/>
            <a:ext cx="3302000" cy="3302000"/>
          </a:xfrm>
          <a:prstGeom prst="pie">
            <a:avLst>
              <a:gd name="adj1" fmla="val 12031200"/>
              <a:gd name="adj2" fmla="val 15940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08805DC1-0F3D-16B6-927C-41F1A29506D1}"/>
              </a:ext>
            </a:extLst>
          </p:cNvPr>
          <p:cNvSpPr/>
          <p:nvPr/>
        </p:nvSpPr>
        <p:spPr>
          <a:xfrm>
            <a:off x="1016000" y="2603500"/>
            <a:ext cx="3302000" cy="3302000"/>
          </a:xfrm>
          <a:prstGeom prst="pie">
            <a:avLst>
              <a:gd name="adj1" fmla="val 15940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8C30F766-D9F7-F785-C696-9F54C52DAB14}"/>
              </a:ext>
            </a:extLst>
          </p:cNvPr>
          <p:cNvSpPr/>
          <p:nvPr/>
        </p:nvSpPr>
        <p:spPr>
          <a:xfrm>
            <a:off x="1709420" y="3296920"/>
            <a:ext cx="1915160" cy="191516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08B5DBC5-89B9-709B-8066-20249DA3B7A6}"/>
              </a:ext>
            </a:extLst>
          </p:cNvPr>
          <p:cNvSpPr txBox="1"/>
          <p:nvPr/>
        </p:nvSpPr>
        <p:spPr>
          <a:xfrm>
            <a:off x="1714500" y="39751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詳細不明・未認知</a:t>
            </a:r>
          </a:p>
        </p:txBody>
      </p:sp>
      <p:sp>
        <p:nvSpPr>
          <p:cNvPr id="20" name="テキスト ボックス 19">
            <a:extLst>
              <a:ext uri="{FF2B5EF4-FFF2-40B4-BE49-F238E27FC236}">
                <a16:creationId xmlns:a16="http://schemas.microsoft.com/office/drawing/2014/main" id="{5AF745C7-5082-79CC-6236-1B2F05339064}"/>
              </a:ext>
            </a:extLst>
          </p:cNvPr>
          <p:cNvSpPr txBox="1"/>
          <p:nvPr/>
        </p:nvSpPr>
        <p:spPr>
          <a:xfrm>
            <a:off x="1714500" y="42799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80.7% (138</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a16:creationId xmlns:a16="http://schemas.microsoft.com/office/drawing/2014/main" id="{914AA8A0-FA3E-96B6-D6C9-1A42B0ACFE26}"/>
              </a:ext>
            </a:extLst>
          </p:cNvPr>
          <p:cNvSpPr/>
          <p:nvPr/>
        </p:nvSpPr>
        <p:spPr>
          <a:xfrm>
            <a:off x="5130800" y="23114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A470A414-3EA0-743D-22E9-1E534F4868D7}"/>
              </a:ext>
            </a:extLst>
          </p:cNvPr>
          <p:cNvSpPr/>
          <p:nvPr/>
        </p:nvSpPr>
        <p:spPr>
          <a:xfrm>
            <a:off x="5207000" y="2425700"/>
            <a:ext cx="203200" cy="203200"/>
          </a:xfrm>
          <a:prstGeom prst="ellipse">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952B1AF-C87A-72EF-621E-25E735DC53C6}"/>
              </a:ext>
            </a:extLst>
          </p:cNvPr>
          <p:cNvSpPr txBox="1"/>
          <p:nvPr/>
        </p:nvSpPr>
        <p:spPr>
          <a:xfrm>
            <a:off x="5486400" y="23622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今日初めて知った（未認知）</a:t>
            </a:r>
          </a:p>
        </p:txBody>
      </p:sp>
      <p:sp>
        <p:nvSpPr>
          <p:cNvPr id="24" name="テキスト ボックス 23">
            <a:extLst>
              <a:ext uri="{FF2B5EF4-FFF2-40B4-BE49-F238E27FC236}">
                <a16:creationId xmlns:a16="http://schemas.microsoft.com/office/drawing/2014/main" id="{5EDDA7DB-273D-1109-30E1-7399C1A83B23}"/>
              </a:ext>
            </a:extLst>
          </p:cNvPr>
          <p:cNvSpPr txBox="1"/>
          <p:nvPr/>
        </p:nvSpPr>
        <p:spPr>
          <a:xfrm>
            <a:off x="9461500" y="23622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EF4444"/>
                </a:solidFill>
                <a:latin typeface="Meiryo UI" panose="020B0604030504040204" pitchFamily="50" charset="-128"/>
                <a:ea typeface="Meiryo UI" panose="020B0604030504040204" pitchFamily="50" charset="-128"/>
              </a:rPr>
              <a:t>36</a:t>
            </a:r>
            <a:r>
              <a:rPr kumimoji="1" lang="ja-JP" altLang="en-US" sz="1450" b="1">
                <a:solidFill>
                  <a:srgbClr val="EF4444"/>
                </a:solidFill>
                <a:latin typeface="Meiryo UI" panose="020B0604030504040204" pitchFamily="50" charset="-128"/>
                <a:ea typeface="Meiryo UI" panose="020B0604030504040204" pitchFamily="50" charset="-128"/>
              </a:rPr>
              <a:t>名 </a:t>
            </a:r>
            <a:r>
              <a:rPr kumimoji="1" lang="en-US" altLang="ja-JP" sz="1450" b="1">
                <a:solidFill>
                  <a:srgbClr val="EF4444"/>
                </a:solidFill>
                <a:latin typeface="Meiryo UI" panose="020B0604030504040204" pitchFamily="50" charset="-128"/>
                <a:ea typeface="Meiryo UI" panose="020B0604030504040204" pitchFamily="50" charset="-128"/>
              </a:rPr>
              <a:t>(21.1%)</a:t>
            </a:r>
            <a:endParaRPr kumimoji="1" lang="ja-JP" altLang="en-US" sz="1450" b="1">
              <a:solidFill>
                <a:srgbClr val="EF4444"/>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090E2554-5340-F4BC-EB25-1E88AC5A59C6}"/>
              </a:ext>
            </a:extLst>
          </p:cNvPr>
          <p:cNvSpPr/>
          <p:nvPr/>
        </p:nvSpPr>
        <p:spPr>
          <a:xfrm>
            <a:off x="5130800" y="29718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楕円 25">
            <a:extLst>
              <a:ext uri="{FF2B5EF4-FFF2-40B4-BE49-F238E27FC236}">
                <a16:creationId xmlns:a16="http://schemas.microsoft.com/office/drawing/2014/main" id="{735DF335-662A-1FDC-47D9-7D4BE1CD5ACD}"/>
              </a:ext>
            </a:extLst>
          </p:cNvPr>
          <p:cNvSpPr/>
          <p:nvPr/>
        </p:nvSpPr>
        <p:spPr>
          <a:xfrm>
            <a:off x="5207000" y="30861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27A19419-38AD-A562-4CAA-220B8A98A1A5}"/>
              </a:ext>
            </a:extLst>
          </p:cNvPr>
          <p:cNvSpPr txBox="1"/>
          <p:nvPr/>
        </p:nvSpPr>
        <p:spPr>
          <a:xfrm>
            <a:off x="5486400" y="3022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名前や場所は知っている</a:t>
            </a:r>
          </a:p>
        </p:txBody>
      </p:sp>
      <p:sp>
        <p:nvSpPr>
          <p:cNvPr id="28" name="テキスト ボックス 27">
            <a:extLst>
              <a:ext uri="{FF2B5EF4-FFF2-40B4-BE49-F238E27FC236}">
                <a16:creationId xmlns:a16="http://schemas.microsoft.com/office/drawing/2014/main" id="{3F90D427-7A2B-0B6E-D270-8DBFE1276744}"/>
              </a:ext>
            </a:extLst>
          </p:cNvPr>
          <p:cNvSpPr txBox="1"/>
          <p:nvPr/>
        </p:nvSpPr>
        <p:spPr>
          <a:xfrm>
            <a:off x="9461500" y="3022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102</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(59.6%)</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29" name="楕円 28">
            <a:extLst>
              <a:ext uri="{FF2B5EF4-FFF2-40B4-BE49-F238E27FC236}">
                <a16:creationId xmlns:a16="http://schemas.microsoft.com/office/drawing/2014/main" id="{B50E300D-AD57-CCFE-5898-DF02B40758D9}"/>
              </a:ext>
            </a:extLst>
          </p:cNvPr>
          <p:cNvSpPr/>
          <p:nvPr/>
        </p:nvSpPr>
        <p:spPr>
          <a:xfrm>
            <a:off x="5207000" y="37465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7476BC7A-DB95-B584-7273-5BBD82A31B23}"/>
              </a:ext>
            </a:extLst>
          </p:cNvPr>
          <p:cNvSpPr txBox="1"/>
          <p:nvPr/>
        </p:nvSpPr>
        <p:spPr>
          <a:xfrm>
            <a:off x="5486400" y="3683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よく知っている（利用経験有）</a:t>
            </a:r>
          </a:p>
        </p:txBody>
      </p:sp>
      <p:sp>
        <p:nvSpPr>
          <p:cNvPr id="31" name="テキスト ボックス 30">
            <a:extLst>
              <a:ext uri="{FF2B5EF4-FFF2-40B4-BE49-F238E27FC236}">
                <a16:creationId xmlns:a16="http://schemas.microsoft.com/office/drawing/2014/main" id="{20FF9427-F861-78D5-4AC5-2F117447E14F}"/>
              </a:ext>
            </a:extLst>
          </p:cNvPr>
          <p:cNvSpPr txBox="1"/>
          <p:nvPr/>
        </p:nvSpPr>
        <p:spPr>
          <a:xfrm>
            <a:off x="9461500" y="3683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31</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(18.1%)</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32" name="楕円 31">
            <a:extLst>
              <a:ext uri="{FF2B5EF4-FFF2-40B4-BE49-F238E27FC236}">
                <a16:creationId xmlns:a16="http://schemas.microsoft.com/office/drawing/2014/main" id="{20DD0BE2-F98C-BFBC-2799-301D6F3CE15C}"/>
              </a:ext>
            </a:extLst>
          </p:cNvPr>
          <p:cNvSpPr/>
          <p:nvPr/>
        </p:nvSpPr>
        <p:spPr>
          <a:xfrm>
            <a:off x="5207000" y="43561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40C0F30D-ABDB-5F30-C0F1-40AFD913C0FE}"/>
              </a:ext>
            </a:extLst>
          </p:cNvPr>
          <p:cNvSpPr txBox="1"/>
          <p:nvPr/>
        </p:nvSpPr>
        <p:spPr>
          <a:xfrm>
            <a:off x="5486400" y="4292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34" name="テキスト ボックス 33">
            <a:extLst>
              <a:ext uri="{FF2B5EF4-FFF2-40B4-BE49-F238E27FC236}">
                <a16:creationId xmlns:a16="http://schemas.microsoft.com/office/drawing/2014/main" id="{0ED694B2-7DE5-C0D7-F252-9CF12FCF282F}"/>
              </a:ext>
            </a:extLst>
          </p:cNvPr>
          <p:cNvSpPr txBox="1"/>
          <p:nvPr/>
        </p:nvSpPr>
        <p:spPr>
          <a:xfrm>
            <a:off x="9461500" y="4292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2</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(1.2%)</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a16:creationId xmlns:a16="http://schemas.microsoft.com/office/drawing/2014/main" id="{73977B91-BF75-B18F-EF44-EADCF7CB5CD8}"/>
              </a:ext>
            </a:extLst>
          </p:cNvPr>
          <p:cNvSpPr/>
          <p:nvPr/>
        </p:nvSpPr>
        <p:spPr>
          <a:xfrm>
            <a:off x="5130800" y="4876800"/>
            <a:ext cx="6426200" cy="1473200"/>
          </a:xfrm>
          <a:prstGeom prst="roundRect">
            <a:avLst>
              <a:gd name="adj" fmla="val 12000"/>
            </a:avLst>
          </a:prstGeom>
          <a:solidFill>
            <a:srgbClr val="FEF2F2"/>
          </a:solidFill>
          <a:ln w="19050">
            <a:solidFill>
              <a:srgbClr val="EF4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3E34FB9B-5762-4D95-414D-B2B2C60ED417}"/>
              </a:ext>
            </a:extLst>
          </p:cNvPr>
          <p:cNvSpPr txBox="1"/>
          <p:nvPr/>
        </p:nvSpPr>
        <p:spPr>
          <a:xfrm>
            <a:off x="5334000" y="4978400"/>
            <a:ext cx="60452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・当院は入院専門のリハ病院（外来は退院フォローのみ、介護は訪問・通所）のため、日常で住民が接する機会が少ない。
・地元市民でも</a:t>
            </a:r>
            <a:r>
              <a:rPr kumimoji="1" lang="en-US" altLang="ja-JP" sz="1500" b="1">
                <a:solidFill>
                  <a:srgbClr val="1E293B"/>
                </a:solidFill>
                <a:latin typeface="Meiryo UI" panose="020B0604030504040204" pitchFamily="50" charset="-128"/>
                <a:ea typeface="Meiryo UI" panose="020B0604030504040204" pitchFamily="50" charset="-128"/>
              </a:rPr>
              <a:t>5</a:t>
            </a:r>
            <a:r>
              <a:rPr kumimoji="1" lang="ja-JP" altLang="en-US" sz="1500" b="1">
                <a:solidFill>
                  <a:srgbClr val="1E293B"/>
                </a:solidFill>
                <a:latin typeface="Meiryo UI" panose="020B0604030504040204" pitchFamily="50" charset="-128"/>
                <a:ea typeface="Meiryo UI" panose="020B0604030504040204" pitchFamily="50" charset="-128"/>
              </a:rPr>
              <a:t>人に</a:t>
            </a:r>
            <a:r>
              <a:rPr kumimoji="1" lang="en-US" altLang="ja-JP" sz="1500" b="1">
                <a:solidFill>
                  <a:srgbClr val="1E293B"/>
                </a:solidFill>
                <a:latin typeface="Meiryo UI" panose="020B0604030504040204" pitchFamily="50" charset="-128"/>
                <a:ea typeface="Meiryo UI" panose="020B0604030504040204" pitchFamily="50" charset="-128"/>
              </a:rPr>
              <a:t>1</a:t>
            </a:r>
            <a:r>
              <a:rPr kumimoji="1" lang="ja-JP" altLang="en-US" sz="1500" b="1">
                <a:solidFill>
                  <a:srgbClr val="1E293B"/>
                </a:solidFill>
                <a:latin typeface="Meiryo UI" panose="020B0604030504040204" pitchFamily="50" charset="-128"/>
                <a:ea typeface="Meiryo UI" panose="020B0604030504040204" pitchFamily="50" charset="-128"/>
              </a:rPr>
              <a:t>人（</a:t>
            </a:r>
            <a:r>
              <a:rPr kumimoji="1" lang="en-US" altLang="ja-JP" sz="1500" b="1">
                <a:solidFill>
                  <a:srgbClr val="1E293B"/>
                </a:solidFill>
                <a:latin typeface="Meiryo UI" panose="020B0604030504040204" pitchFamily="50" charset="-128"/>
                <a:ea typeface="Meiryo UI" panose="020B0604030504040204" pitchFamily="50" charset="-128"/>
              </a:rPr>
              <a:t>21.1%</a:t>
            </a:r>
            <a:r>
              <a:rPr kumimoji="1" lang="ja-JP" altLang="en-US" sz="1500" b="1">
                <a:solidFill>
                  <a:srgbClr val="1E293B"/>
                </a:solidFill>
                <a:latin typeface="Meiryo UI" panose="020B0604030504040204" pitchFamily="50" charset="-128"/>
                <a:ea typeface="Meiryo UI" panose="020B0604030504040204" pitchFamily="50" charset="-128"/>
              </a:rPr>
              <a:t>）が「今日初めて知った」と答え、「名前のみ（</a:t>
            </a:r>
            <a:r>
              <a:rPr kumimoji="1" lang="en-US" altLang="ja-JP" sz="1500" b="1">
                <a:solidFill>
                  <a:srgbClr val="1E293B"/>
                </a:solidFill>
                <a:latin typeface="Meiryo UI" panose="020B0604030504040204" pitchFamily="50" charset="-128"/>
                <a:ea typeface="Meiryo UI" panose="020B0604030504040204" pitchFamily="50" charset="-128"/>
              </a:rPr>
              <a:t>59.6%</a:t>
            </a:r>
            <a:r>
              <a:rPr kumimoji="1" lang="ja-JP" altLang="en-US" sz="1500" b="1">
                <a:solidFill>
                  <a:srgbClr val="1E293B"/>
                </a:solidFill>
                <a:latin typeface="Meiryo UI" panose="020B0604030504040204" pitchFamily="50" charset="-128"/>
                <a:ea typeface="Meiryo UI" panose="020B0604030504040204" pitchFamily="50" charset="-128"/>
              </a:rPr>
              <a:t>）」と合わせ</a:t>
            </a:r>
            <a:r>
              <a:rPr kumimoji="1" lang="en-US" altLang="ja-JP" sz="1500" b="1">
                <a:solidFill>
                  <a:srgbClr val="1E293B"/>
                </a:solidFill>
                <a:latin typeface="Meiryo UI" panose="020B0604030504040204" pitchFamily="50" charset="-128"/>
                <a:ea typeface="Meiryo UI" panose="020B0604030504040204" pitchFamily="50" charset="-128"/>
              </a:rPr>
              <a:t>80.7%</a:t>
            </a:r>
            <a:r>
              <a:rPr kumimoji="1" lang="ja-JP" altLang="en-US" sz="1500" b="1">
                <a:solidFill>
                  <a:srgbClr val="1E293B"/>
                </a:solidFill>
                <a:latin typeface="Meiryo UI" panose="020B0604030504040204" pitchFamily="50" charset="-128"/>
                <a:ea typeface="Meiryo UI" panose="020B0604030504040204" pitchFamily="50" charset="-128"/>
              </a:rPr>
              <a:t>が詳細を知らない点が弱点である。</a:t>
            </a:r>
          </a:p>
        </p:txBody>
      </p:sp>
    </p:spTree>
    <p:extLst>
      <p:ext uri="{BB962C8B-B14F-4D97-AF65-F5344CB8AC3E}">
        <p14:creationId xmlns:p14="http://schemas.microsoft.com/office/powerpoint/2010/main" val="6813606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6B807A7-03AE-6103-7318-77F2B3429B1A}"/>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0176141A-58D9-C2EC-9800-5E7BE54161F3}"/>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F988F1E3-8F09-6D8A-F039-DBC6C67287BE}"/>
              </a:ext>
            </a:extLst>
          </p:cNvPr>
          <p:cNvSpPr/>
          <p:nvPr/>
        </p:nvSpPr>
        <p:spPr>
          <a:xfrm>
            <a:off x="457200" y="330200"/>
            <a:ext cx="2336800" cy="4064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36932908-5A8F-B716-96F0-FFECFB31B9E9}"/>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部：考察③ 世代別の弱点</a:t>
            </a:r>
          </a:p>
        </p:txBody>
      </p:sp>
      <p:sp>
        <p:nvSpPr>
          <p:cNvPr id="6" name="テキスト ボックス 5">
            <a:extLst>
              <a:ext uri="{FF2B5EF4-FFF2-40B4-BE49-F238E27FC236}">
                <a16:creationId xmlns:a16="http://schemas.microsoft.com/office/drawing/2014/main" id="{4C60DE12-867C-0B54-DCFB-C82FB6B1171B}"/>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アンケートからわかる当院の弱点②：八千代市内の年代別認知度</a:t>
            </a:r>
          </a:p>
        </p:txBody>
      </p:sp>
      <p:sp>
        <p:nvSpPr>
          <p:cNvPr id="7" name="四角形: 角を丸くする 6">
            <a:extLst>
              <a:ext uri="{FF2B5EF4-FFF2-40B4-BE49-F238E27FC236}">
                <a16:creationId xmlns:a16="http://schemas.microsoft.com/office/drawing/2014/main" id="{8713EFDA-3FAA-9EF1-0DE7-C049607F85A6}"/>
              </a:ext>
            </a:extLst>
          </p:cNvPr>
          <p:cNvSpPr/>
          <p:nvPr/>
        </p:nvSpPr>
        <p:spPr>
          <a:xfrm>
            <a:off x="10871200" y="330200"/>
            <a:ext cx="863600" cy="381000"/>
          </a:xfrm>
          <a:prstGeom prst="roundRect">
            <a:avLst>
              <a:gd name="adj" fmla="val 5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6F66242-262A-7941-8E08-31E4E20AA70A}"/>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EF4444"/>
                </a:solidFill>
                <a:latin typeface="Meiryo UI" panose="020B0604030504040204" pitchFamily="50" charset="-128"/>
                <a:ea typeface="Meiryo UI" panose="020B0604030504040204" pitchFamily="50" charset="-128"/>
              </a:rPr>
              <a:t>18 / 22</a:t>
            </a:r>
            <a:endParaRPr kumimoji="1" lang="ja-JP" altLang="en-US" sz="1250" b="1">
              <a:solidFill>
                <a:srgbClr val="EF4444"/>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A0E760B-4AAA-4170-C3B0-09D44BB4331B}"/>
              </a:ext>
            </a:extLst>
          </p:cNvPr>
          <p:cNvSpPr/>
          <p:nvPr/>
        </p:nvSpPr>
        <p:spPr>
          <a:xfrm>
            <a:off x="457200" y="838200"/>
            <a:ext cx="11277600" cy="4318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8590EC2-631C-FB8F-CA43-DC747BE32B54}"/>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EF4444"/>
                </a:solidFill>
                <a:latin typeface="Meiryo UI" panose="020B0604030504040204" pitchFamily="50" charset="-128"/>
                <a:ea typeface="Meiryo UI" panose="020B0604030504040204" pitchFamily="50" charset="-128"/>
              </a:rPr>
              <a:t>家族の入院先を選ぶ市内</a:t>
            </a:r>
            <a:r>
              <a:rPr kumimoji="1" lang="en-US" altLang="ja-JP" sz="1500" b="1">
                <a:solidFill>
                  <a:srgbClr val="EF4444"/>
                </a:solidFill>
                <a:latin typeface="Meiryo UI" panose="020B0604030504040204" pitchFamily="50" charset="-128"/>
                <a:ea typeface="Meiryo UI" panose="020B0604030504040204" pitchFamily="50" charset="-128"/>
              </a:rPr>
              <a:t>40〜60</a:t>
            </a:r>
            <a:r>
              <a:rPr kumimoji="1" lang="ja-JP" altLang="en-US" sz="1500" b="1">
                <a:solidFill>
                  <a:srgbClr val="EF4444"/>
                </a:solidFill>
                <a:latin typeface="Meiryo UI" panose="020B0604030504040204" pitchFamily="50" charset="-128"/>
                <a:ea typeface="Meiryo UI" panose="020B0604030504040204" pitchFamily="50" charset="-128"/>
              </a:rPr>
              <a:t>代や、当事者の市内</a:t>
            </a:r>
            <a:r>
              <a:rPr kumimoji="1" lang="en-US" altLang="ja-JP" sz="1500" b="1">
                <a:solidFill>
                  <a:srgbClr val="EF4444"/>
                </a:solidFill>
                <a:latin typeface="Meiryo UI" panose="020B0604030504040204" pitchFamily="50" charset="-128"/>
                <a:ea typeface="Meiryo UI" panose="020B0604030504040204" pitchFamily="50" charset="-128"/>
              </a:rPr>
              <a:t>80</a:t>
            </a:r>
            <a:r>
              <a:rPr kumimoji="1" lang="ja-JP" altLang="en-US" sz="1500" b="1">
                <a:solidFill>
                  <a:srgbClr val="EF4444"/>
                </a:solidFill>
                <a:latin typeface="Meiryo UI" panose="020B0604030504040204" pitchFamily="50" charset="-128"/>
                <a:ea typeface="Meiryo UI" panose="020B0604030504040204" pitchFamily="50" charset="-128"/>
              </a:rPr>
              <a:t>代でも「初認知・名前のみ」が</a:t>
            </a:r>
            <a:r>
              <a:rPr kumimoji="1" lang="en-US" altLang="ja-JP" sz="1500" b="1">
                <a:solidFill>
                  <a:srgbClr val="EF4444"/>
                </a:solidFill>
                <a:latin typeface="Meiryo UI" panose="020B0604030504040204" pitchFamily="50" charset="-128"/>
                <a:ea typeface="Meiryo UI" panose="020B0604030504040204" pitchFamily="50" charset="-128"/>
              </a:rPr>
              <a:t>8〜9</a:t>
            </a:r>
            <a:r>
              <a:rPr kumimoji="1" lang="ja-JP" altLang="en-US" sz="1500" b="1">
                <a:solidFill>
                  <a:srgbClr val="EF4444"/>
                </a:solidFill>
                <a:latin typeface="Meiryo UI" panose="020B0604030504040204" pitchFamily="50" charset="-128"/>
                <a:ea typeface="Meiryo UI" panose="020B0604030504040204" pitchFamily="50" charset="-128"/>
              </a:rPr>
              <a:t>割を占める</a:t>
            </a:r>
          </a:p>
        </p:txBody>
      </p:sp>
      <p:sp>
        <p:nvSpPr>
          <p:cNvPr id="11" name="四角形: 角を丸くする 10">
            <a:extLst>
              <a:ext uri="{FF2B5EF4-FFF2-40B4-BE49-F238E27FC236}">
                <a16:creationId xmlns:a16="http://schemas.microsoft.com/office/drawing/2014/main" id="{74E00645-C510-B547-3664-655D59BDF4EA}"/>
              </a:ext>
            </a:extLst>
          </p:cNvPr>
          <p:cNvSpPr/>
          <p:nvPr/>
        </p:nvSpPr>
        <p:spPr>
          <a:xfrm>
            <a:off x="254000" y="1549400"/>
            <a:ext cx="7239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D344122D-6C0A-6A60-2CE8-5D361DF19489}"/>
              </a:ext>
            </a:extLst>
          </p:cNvPr>
          <p:cNvSpPr/>
          <p:nvPr/>
        </p:nvSpPr>
        <p:spPr>
          <a:xfrm>
            <a:off x="4826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26EBE64-BF29-DEC7-18E8-F021F46445B9}"/>
              </a:ext>
            </a:extLst>
          </p:cNvPr>
          <p:cNvSpPr txBox="1"/>
          <p:nvPr/>
        </p:nvSpPr>
        <p:spPr>
          <a:xfrm>
            <a:off x="685800" y="1739900"/>
            <a:ext cx="6604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八千代市内の主要年代における「初認知＋名前のみ」割合</a:t>
            </a:r>
          </a:p>
        </p:txBody>
      </p:sp>
      <p:sp>
        <p:nvSpPr>
          <p:cNvPr id="14" name="テキスト ボックス 13">
            <a:extLst>
              <a:ext uri="{FF2B5EF4-FFF2-40B4-BE49-F238E27FC236}">
                <a16:creationId xmlns:a16="http://schemas.microsoft.com/office/drawing/2014/main" id="{19A5BDD6-6052-6F06-10E6-D9C5D07C5FE5}"/>
              </a:ext>
            </a:extLst>
          </p:cNvPr>
          <p:cNvSpPr txBox="1"/>
          <p:nvPr/>
        </p:nvSpPr>
        <p:spPr>
          <a:xfrm>
            <a:off x="508000" y="24130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40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(21</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a16:creationId xmlns:a16="http://schemas.microsoft.com/office/drawing/2014/main" id="{666204D4-A211-013D-132E-A5F01441A83C}"/>
              </a:ext>
            </a:extLst>
          </p:cNvPr>
          <p:cNvSpPr/>
          <p:nvPr/>
        </p:nvSpPr>
        <p:spPr>
          <a:xfrm>
            <a:off x="2832100" y="24765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6363ECAD-BF9A-495A-809E-38D06B589314}"/>
              </a:ext>
            </a:extLst>
          </p:cNvPr>
          <p:cNvSpPr/>
          <p:nvPr/>
        </p:nvSpPr>
        <p:spPr>
          <a:xfrm>
            <a:off x="2832100" y="2476500"/>
            <a:ext cx="2286000" cy="2540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B77D3BC-3279-002D-50AD-917830FD5FCD}"/>
              </a:ext>
            </a:extLst>
          </p:cNvPr>
          <p:cNvSpPr txBox="1"/>
          <p:nvPr/>
        </p:nvSpPr>
        <p:spPr>
          <a:xfrm>
            <a:off x="5626100" y="2413000"/>
            <a:ext cx="1841500" cy="564257"/>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85.7% (</a:t>
            </a:r>
            <a:r>
              <a:rPr kumimoji="1" lang="ja-JP" altLang="en-US" sz="1500" b="1">
                <a:solidFill>
                  <a:srgbClr val="EF4444"/>
                </a:solidFill>
                <a:latin typeface="Meiryo UI" panose="020B0604030504040204" pitchFamily="50" charset="-128"/>
                <a:ea typeface="Meiryo UI" panose="020B0604030504040204" pitchFamily="50" charset="-128"/>
              </a:rPr>
              <a:t>初認知</a:t>
            </a:r>
            <a:r>
              <a:rPr kumimoji="1" lang="en-US" altLang="ja-JP" sz="1500" b="1">
                <a:solidFill>
                  <a:srgbClr val="EF4444"/>
                </a:solidFill>
                <a:latin typeface="Meiryo UI" panose="020B0604030504040204" pitchFamily="50" charset="-128"/>
                <a:ea typeface="Meiryo UI" panose="020B0604030504040204" pitchFamily="50" charset="-128"/>
              </a:rPr>
              <a:t>33%)</a:t>
            </a:r>
            <a:endParaRPr kumimoji="1" lang="ja-JP" altLang="en-US" sz="1500" b="1">
              <a:solidFill>
                <a:srgbClr val="EF4444"/>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8322AE9D-F939-F3D7-C6DF-45AC8388034A}"/>
              </a:ext>
            </a:extLst>
          </p:cNvPr>
          <p:cNvSpPr txBox="1"/>
          <p:nvPr/>
        </p:nvSpPr>
        <p:spPr>
          <a:xfrm>
            <a:off x="508000" y="32385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50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(47</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a16:creationId xmlns:a16="http://schemas.microsoft.com/office/drawing/2014/main" id="{C1392ACB-F07D-1439-32AE-1DF5395035EB}"/>
              </a:ext>
            </a:extLst>
          </p:cNvPr>
          <p:cNvSpPr/>
          <p:nvPr/>
        </p:nvSpPr>
        <p:spPr>
          <a:xfrm>
            <a:off x="2832100" y="33020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B115F1AB-A4DA-49B2-EE55-E58D02607E6F}"/>
              </a:ext>
            </a:extLst>
          </p:cNvPr>
          <p:cNvSpPr/>
          <p:nvPr/>
        </p:nvSpPr>
        <p:spPr>
          <a:xfrm>
            <a:off x="2832100" y="3302000"/>
            <a:ext cx="2438400" cy="2540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000D57D0-395D-695F-F56E-6285366A9B5A}"/>
              </a:ext>
            </a:extLst>
          </p:cNvPr>
          <p:cNvSpPr txBox="1"/>
          <p:nvPr/>
        </p:nvSpPr>
        <p:spPr>
          <a:xfrm>
            <a:off x="5626100" y="3238500"/>
            <a:ext cx="1841500" cy="564257"/>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91.5% (</a:t>
            </a:r>
            <a:r>
              <a:rPr kumimoji="1" lang="ja-JP" altLang="en-US" sz="1500" b="1">
                <a:solidFill>
                  <a:srgbClr val="EF4444"/>
                </a:solidFill>
                <a:latin typeface="Meiryo UI" panose="020B0604030504040204" pitchFamily="50" charset="-128"/>
                <a:ea typeface="Meiryo UI" panose="020B0604030504040204" pitchFamily="50" charset="-128"/>
              </a:rPr>
              <a:t>名前のみ</a:t>
            </a:r>
            <a:r>
              <a:rPr kumimoji="1" lang="en-US" altLang="ja-JP" sz="1500" b="1">
                <a:solidFill>
                  <a:srgbClr val="EF4444"/>
                </a:solidFill>
                <a:latin typeface="Meiryo UI" panose="020B0604030504040204" pitchFamily="50" charset="-128"/>
                <a:ea typeface="Meiryo UI" panose="020B0604030504040204" pitchFamily="50" charset="-128"/>
              </a:rPr>
              <a:t>79%)</a:t>
            </a:r>
            <a:endParaRPr kumimoji="1" lang="ja-JP" altLang="en-US" sz="1500" b="1">
              <a:solidFill>
                <a:srgbClr val="EF4444"/>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978A92DE-703C-F0AE-D8AF-A4EE7F74C3BE}"/>
              </a:ext>
            </a:extLst>
          </p:cNvPr>
          <p:cNvSpPr txBox="1"/>
          <p:nvPr/>
        </p:nvSpPr>
        <p:spPr>
          <a:xfrm>
            <a:off x="508000" y="40640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60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(30</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a16:creationId xmlns:a16="http://schemas.microsoft.com/office/drawing/2014/main" id="{FB5EBC91-B630-5C84-0C89-EDCEFE4F2074}"/>
              </a:ext>
            </a:extLst>
          </p:cNvPr>
          <p:cNvSpPr/>
          <p:nvPr/>
        </p:nvSpPr>
        <p:spPr>
          <a:xfrm>
            <a:off x="2832100" y="41275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E9A8DBD-1C82-2388-5A91-931F8DB74D16}"/>
              </a:ext>
            </a:extLst>
          </p:cNvPr>
          <p:cNvSpPr/>
          <p:nvPr/>
        </p:nvSpPr>
        <p:spPr>
          <a:xfrm>
            <a:off x="2832100" y="4127500"/>
            <a:ext cx="23114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69471F0F-E67B-179E-52E5-898127C6679E}"/>
              </a:ext>
            </a:extLst>
          </p:cNvPr>
          <p:cNvSpPr txBox="1"/>
          <p:nvPr/>
        </p:nvSpPr>
        <p:spPr>
          <a:xfrm>
            <a:off x="5626100" y="4064000"/>
            <a:ext cx="1841500" cy="564257"/>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86.7% (</a:t>
            </a:r>
            <a:r>
              <a:rPr kumimoji="1" lang="ja-JP" altLang="en-US" sz="1500" b="1">
                <a:solidFill>
                  <a:srgbClr val="F59E0B"/>
                </a:solidFill>
                <a:latin typeface="Meiryo UI" panose="020B0604030504040204" pitchFamily="50" charset="-128"/>
                <a:ea typeface="Meiryo UI" panose="020B0604030504040204" pitchFamily="50" charset="-128"/>
              </a:rPr>
              <a:t>初認知</a:t>
            </a:r>
            <a:r>
              <a:rPr kumimoji="1" lang="en-US" altLang="ja-JP" sz="1500" b="1">
                <a:solidFill>
                  <a:srgbClr val="F59E0B"/>
                </a:solidFill>
                <a:latin typeface="Meiryo UI" panose="020B0604030504040204" pitchFamily="50" charset="-128"/>
                <a:ea typeface="Meiryo UI" panose="020B0604030504040204" pitchFamily="50" charset="-128"/>
              </a:rPr>
              <a:t>20%)</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2EB1A578-9CC5-681D-1078-DE79E559B8BA}"/>
              </a:ext>
            </a:extLst>
          </p:cNvPr>
          <p:cNvSpPr txBox="1"/>
          <p:nvPr/>
        </p:nvSpPr>
        <p:spPr>
          <a:xfrm>
            <a:off x="508000" y="48895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80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(19</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a16:creationId xmlns:a16="http://schemas.microsoft.com/office/drawing/2014/main" id="{7353DFC9-2CE0-34DF-17BE-78293C718979}"/>
              </a:ext>
            </a:extLst>
          </p:cNvPr>
          <p:cNvSpPr/>
          <p:nvPr/>
        </p:nvSpPr>
        <p:spPr>
          <a:xfrm>
            <a:off x="2832100" y="49530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11ADDBB-F0AF-5150-CD30-9F49E1C17D0B}"/>
              </a:ext>
            </a:extLst>
          </p:cNvPr>
          <p:cNvSpPr/>
          <p:nvPr/>
        </p:nvSpPr>
        <p:spPr>
          <a:xfrm>
            <a:off x="2832100" y="4953000"/>
            <a:ext cx="2247900" cy="2540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86AB745C-F463-73B0-2DA6-B9237D25DD2A}"/>
              </a:ext>
            </a:extLst>
          </p:cNvPr>
          <p:cNvSpPr txBox="1"/>
          <p:nvPr/>
        </p:nvSpPr>
        <p:spPr>
          <a:xfrm>
            <a:off x="5626100" y="4889500"/>
            <a:ext cx="1841500" cy="564257"/>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84.2% (</a:t>
            </a:r>
            <a:r>
              <a:rPr kumimoji="1" lang="ja-JP" altLang="en-US" sz="1500" b="1">
                <a:solidFill>
                  <a:srgbClr val="EF4444"/>
                </a:solidFill>
                <a:latin typeface="Meiryo UI" panose="020B0604030504040204" pitchFamily="50" charset="-128"/>
                <a:ea typeface="Meiryo UI" panose="020B0604030504040204" pitchFamily="50" charset="-128"/>
              </a:rPr>
              <a:t>初認知</a:t>
            </a:r>
            <a:r>
              <a:rPr kumimoji="1" lang="en-US" altLang="ja-JP" sz="1500" b="1">
                <a:solidFill>
                  <a:srgbClr val="EF4444"/>
                </a:solidFill>
                <a:latin typeface="Meiryo UI" panose="020B0604030504040204" pitchFamily="50" charset="-128"/>
                <a:ea typeface="Meiryo UI" panose="020B0604030504040204" pitchFamily="50" charset="-128"/>
              </a:rPr>
              <a:t>32%)</a:t>
            </a:r>
            <a:endParaRPr kumimoji="1" lang="ja-JP" altLang="en-US" sz="1500" b="1">
              <a:solidFill>
                <a:srgbClr val="EF4444"/>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0BA0D20D-445F-F921-20DD-921964237D77}"/>
              </a:ext>
            </a:extLst>
          </p:cNvPr>
          <p:cNvSpPr txBox="1"/>
          <p:nvPr/>
        </p:nvSpPr>
        <p:spPr>
          <a:xfrm>
            <a:off x="508000" y="5689600"/>
            <a:ext cx="6731000" cy="518091"/>
          </a:xfrm>
          <a:prstGeom prst="rect">
            <a:avLst/>
          </a:prstGeom>
          <a:noFill/>
        </p:spPr>
        <p:txBody>
          <a:bodyPr vert="horz" wrap="square" lIns="76200" tIns="50800" rIns="76200" bIns="50800" rtlCol="0">
            <a:spAutoFit/>
          </a:bodyPr>
          <a:lstStyle/>
          <a:p>
            <a:r>
              <a:rPr kumimoji="1" lang="en-US" altLang="ja-JP" sz="1350" b="1">
                <a:solidFill>
                  <a:srgbClr val="64748B"/>
                </a:solidFill>
                <a:latin typeface="Meiryo UI" panose="020B0604030504040204" pitchFamily="50" charset="-128"/>
                <a:ea typeface="Meiryo UI" panose="020B0604030504040204" pitchFamily="50" charset="-128"/>
              </a:rPr>
              <a:t>※</a:t>
            </a:r>
            <a:r>
              <a:rPr kumimoji="1" lang="ja-JP" altLang="en-US" sz="1350" b="1">
                <a:solidFill>
                  <a:srgbClr val="64748B"/>
                </a:solidFill>
                <a:latin typeface="Meiryo UI" panose="020B0604030504040204" pitchFamily="50" charset="-128"/>
                <a:ea typeface="Meiryo UI" panose="020B0604030504040204" pitchFamily="50" charset="-128"/>
              </a:rPr>
              <a:t>数値は「今日初めて知った」＋「名前や場所のみ知っている」の合計割合（＝当院を詳しく知らない層の割合）</a:t>
            </a:r>
          </a:p>
        </p:txBody>
      </p:sp>
      <p:sp>
        <p:nvSpPr>
          <p:cNvPr id="31" name="四角形: 角を丸くする 30">
            <a:extLst>
              <a:ext uri="{FF2B5EF4-FFF2-40B4-BE49-F238E27FC236}">
                <a16:creationId xmlns:a16="http://schemas.microsoft.com/office/drawing/2014/main" id="{F7FE33E5-0CD2-BBE5-1A06-99BD1535DD25}"/>
              </a:ext>
            </a:extLst>
          </p:cNvPr>
          <p:cNvSpPr/>
          <p:nvPr/>
        </p:nvSpPr>
        <p:spPr>
          <a:xfrm>
            <a:off x="7696200" y="1549400"/>
            <a:ext cx="4241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8D14209E-DBB5-DBD5-FC68-48BF8FEE6C0B}"/>
              </a:ext>
            </a:extLst>
          </p:cNvPr>
          <p:cNvSpPr/>
          <p:nvPr/>
        </p:nvSpPr>
        <p:spPr>
          <a:xfrm>
            <a:off x="79248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53185E00-1744-698A-3777-42A0A48572FA}"/>
              </a:ext>
            </a:extLst>
          </p:cNvPr>
          <p:cNvSpPr txBox="1"/>
          <p:nvPr/>
        </p:nvSpPr>
        <p:spPr>
          <a:xfrm>
            <a:off x="8128000" y="1739900"/>
            <a:ext cx="3606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世代別データの要点</a:t>
            </a:r>
          </a:p>
        </p:txBody>
      </p:sp>
      <p:sp>
        <p:nvSpPr>
          <p:cNvPr id="34" name="テキスト ボックス 33">
            <a:extLst>
              <a:ext uri="{FF2B5EF4-FFF2-40B4-BE49-F238E27FC236}">
                <a16:creationId xmlns:a16="http://schemas.microsoft.com/office/drawing/2014/main" id="{DF4DE9DB-8A48-1011-47BF-9B4EBDE10958}"/>
              </a:ext>
            </a:extLst>
          </p:cNvPr>
          <p:cNvSpPr txBox="1"/>
          <p:nvPr/>
        </p:nvSpPr>
        <p:spPr>
          <a:xfrm>
            <a:off x="7950200" y="2336800"/>
            <a:ext cx="3733800" cy="2318583"/>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・親の介護・入院先を決める市内</a:t>
            </a:r>
            <a:r>
              <a:rPr kumimoji="1" lang="en-US" altLang="ja-JP" sz="1600">
                <a:solidFill>
                  <a:srgbClr val="1E293B"/>
                </a:solidFill>
                <a:latin typeface="Meiryo UI" panose="020B0604030504040204" pitchFamily="50" charset="-128"/>
                <a:ea typeface="Meiryo UI" panose="020B0604030504040204" pitchFamily="50" charset="-128"/>
              </a:rPr>
              <a:t>40</a:t>
            </a:r>
            <a:r>
              <a:rPr kumimoji="1" lang="ja-JP" altLang="en-US" sz="1600">
                <a:solidFill>
                  <a:srgbClr val="1E293B"/>
                </a:solidFill>
                <a:latin typeface="Meiryo UI" panose="020B0604030504040204" pitchFamily="50" charset="-128"/>
                <a:ea typeface="Meiryo UI" panose="020B0604030504040204" pitchFamily="50" charset="-128"/>
              </a:rPr>
              <a:t>歳代の</a:t>
            </a:r>
            <a:r>
              <a:rPr kumimoji="1" lang="en-US" altLang="ja-JP" sz="1600">
                <a:solidFill>
                  <a:srgbClr val="1E293B"/>
                </a:solidFill>
                <a:latin typeface="Meiryo UI" panose="020B0604030504040204" pitchFamily="50" charset="-128"/>
                <a:ea typeface="Meiryo UI" panose="020B0604030504040204" pitchFamily="50" charset="-128"/>
              </a:rPr>
              <a:t>33.3%</a:t>
            </a:r>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a:t>
            </a:r>
            <a:r>
              <a:rPr kumimoji="1" lang="ja-JP" altLang="en-US" sz="1600">
                <a:solidFill>
                  <a:srgbClr val="1E293B"/>
                </a:solidFill>
                <a:latin typeface="Meiryo UI" panose="020B0604030504040204" pitchFamily="50" charset="-128"/>
                <a:ea typeface="Meiryo UI" panose="020B0604030504040204" pitchFamily="50" charset="-128"/>
              </a:rPr>
              <a:t>人に</a:t>
            </a:r>
            <a:r>
              <a:rPr kumimoji="1" lang="en-US" altLang="ja-JP" sz="1600">
                <a:solidFill>
                  <a:srgbClr val="1E293B"/>
                </a:solidFill>
                <a:latin typeface="Meiryo UI" panose="020B0604030504040204" pitchFamily="50" charset="-128"/>
                <a:ea typeface="Meiryo UI" panose="020B0604030504040204" pitchFamily="50" charset="-128"/>
              </a:rPr>
              <a:t>1</a:t>
            </a:r>
            <a:r>
              <a:rPr kumimoji="1" lang="ja-JP" altLang="en-US" sz="1600">
                <a:solidFill>
                  <a:srgbClr val="1E293B"/>
                </a:solidFill>
                <a:latin typeface="Meiryo UI" panose="020B0604030504040204" pitchFamily="50" charset="-128"/>
                <a:ea typeface="Meiryo UI" panose="020B0604030504040204" pitchFamily="50" charset="-128"/>
              </a:rPr>
              <a:t>人）が「今日初めて知った」と回答。
・最多層の市内</a:t>
            </a:r>
            <a:r>
              <a:rPr kumimoji="1" lang="en-US" altLang="ja-JP" sz="1600">
                <a:solidFill>
                  <a:srgbClr val="1E293B"/>
                </a:solidFill>
                <a:latin typeface="Meiryo UI" panose="020B0604030504040204" pitchFamily="50" charset="-128"/>
                <a:ea typeface="Meiryo UI" panose="020B0604030504040204" pitchFamily="50" charset="-128"/>
              </a:rPr>
              <a:t>50</a:t>
            </a:r>
            <a:r>
              <a:rPr kumimoji="1" lang="ja-JP" altLang="en-US" sz="1600">
                <a:solidFill>
                  <a:srgbClr val="1E293B"/>
                </a:solidFill>
                <a:latin typeface="Meiryo UI" panose="020B0604030504040204" pitchFamily="50" charset="-128"/>
                <a:ea typeface="Meiryo UI" panose="020B0604030504040204" pitchFamily="50" charset="-128"/>
              </a:rPr>
              <a:t>歳代でも「よく知っている」は</a:t>
            </a:r>
            <a:r>
              <a:rPr kumimoji="1" lang="en-US" altLang="ja-JP" sz="1600">
                <a:solidFill>
                  <a:srgbClr val="1E293B"/>
                </a:solidFill>
                <a:latin typeface="Meiryo UI" panose="020B0604030504040204" pitchFamily="50" charset="-128"/>
                <a:ea typeface="Meiryo UI" panose="020B0604030504040204" pitchFamily="50" charset="-128"/>
              </a:rPr>
              <a:t>8.5%</a:t>
            </a:r>
            <a:r>
              <a:rPr kumimoji="1" lang="ja-JP" altLang="en-US" sz="1600">
                <a:solidFill>
                  <a:srgbClr val="1E293B"/>
                </a:solidFill>
                <a:latin typeface="Meiryo UI" panose="020B0604030504040204" pitchFamily="50" charset="-128"/>
                <a:ea typeface="Meiryo UI" panose="020B0604030504040204" pitchFamily="50" charset="-128"/>
              </a:rPr>
              <a:t>のみで、</a:t>
            </a:r>
            <a:r>
              <a:rPr kumimoji="1" lang="en-US" altLang="ja-JP" sz="1600">
                <a:solidFill>
                  <a:srgbClr val="1E293B"/>
                </a:solidFill>
                <a:latin typeface="Meiryo UI" panose="020B0604030504040204" pitchFamily="50" charset="-128"/>
                <a:ea typeface="Meiryo UI" panose="020B0604030504040204" pitchFamily="50" charset="-128"/>
              </a:rPr>
              <a:t>91.5%</a:t>
            </a:r>
            <a:r>
              <a:rPr kumimoji="1" lang="ja-JP" altLang="en-US" sz="1600">
                <a:solidFill>
                  <a:srgbClr val="1E293B"/>
                </a:solidFill>
                <a:latin typeface="Meiryo UI" panose="020B0604030504040204" pitchFamily="50" charset="-128"/>
                <a:ea typeface="Meiryo UI" panose="020B0604030504040204" pitchFamily="50" charset="-128"/>
              </a:rPr>
              <a:t>が中身を知らない。
・当事者世代の市内</a:t>
            </a:r>
            <a:r>
              <a:rPr kumimoji="1" lang="en-US" altLang="ja-JP" sz="1600">
                <a:solidFill>
                  <a:srgbClr val="1E293B"/>
                </a:solidFill>
                <a:latin typeface="Meiryo UI" panose="020B0604030504040204" pitchFamily="50" charset="-128"/>
                <a:ea typeface="Meiryo UI" panose="020B0604030504040204" pitchFamily="50" charset="-128"/>
              </a:rPr>
              <a:t>80</a:t>
            </a:r>
            <a:r>
              <a:rPr kumimoji="1" lang="ja-JP" altLang="en-US" sz="1600">
                <a:solidFill>
                  <a:srgbClr val="1E293B"/>
                </a:solidFill>
                <a:latin typeface="Meiryo UI" panose="020B0604030504040204" pitchFamily="50" charset="-128"/>
                <a:ea typeface="Meiryo UI" panose="020B0604030504040204" pitchFamily="50" charset="-128"/>
              </a:rPr>
              <a:t>歳代でも</a:t>
            </a:r>
            <a:r>
              <a:rPr kumimoji="1" lang="en-US" altLang="ja-JP" sz="1600">
                <a:solidFill>
                  <a:srgbClr val="1E293B"/>
                </a:solidFill>
                <a:latin typeface="Meiryo UI" panose="020B0604030504040204" pitchFamily="50" charset="-128"/>
                <a:ea typeface="Meiryo UI" panose="020B0604030504040204" pitchFamily="50" charset="-128"/>
              </a:rPr>
              <a:t>31.6%</a:t>
            </a:r>
            <a:r>
              <a:rPr kumimoji="1" lang="ja-JP" altLang="en-US" sz="1600">
                <a:solidFill>
                  <a:srgbClr val="1E293B"/>
                </a:solidFill>
                <a:latin typeface="Meiryo UI" panose="020B0604030504040204" pitchFamily="50" charset="-128"/>
                <a:ea typeface="Meiryo UI" panose="020B0604030504040204" pitchFamily="50" charset="-128"/>
              </a:rPr>
              <a:t>が「今日初めて知った」と回答している。</a:t>
            </a:r>
          </a:p>
        </p:txBody>
      </p:sp>
    </p:spTree>
    <p:extLst>
      <p:ext uri="{BB962C8B-B14F-4D97-AF65-F5344CB8AC3E}">
        <p14:creationId xmlns:p14="http://schemas.microsoft.com/office/powerpoint/2010/main" val="1242762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392FB42-5912-C209-5D7C-9B327A82615E}"/>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2635E1D3-8AB0-6CA1-9371-7913C2AB632F}"/>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3E8C96FA-ACDB-A5D7-ABC7-359C1F4301B6}"/>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FA381622-78C2-CAD3-08DA-1D23A8BB6008}"/>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部：考察④ クロス分析</a:t>
            </a:r>
          </a:p>
        </p:txBody>
      </p:sp>
      <p:sp>
        <p:nvSpPr>
          <p:cNvPr id="6" name="テキスト ボックス 5">
            <a:extLst>
              <a:ext uri="{FF2B5EF4-FFF2-40B4-BE49-F238E27FC236}">
                <a16:creationId xmlns:a16="http://schemas.microsoft.com/office/drawing/2014/main" id="{BB196AF0-9FA9-A780-475C-BB1B83C60365}"/>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認知度（</a:t>
            </a:r>
            <a:r>
              <a:rPr kumimoji="1" lang="en-US" altLang="ja-JP" sz="2000" b="1">
                <a:solidFill>
                  <a:srgbClr val="1E293B"/>
                </a:solidFill>
                <a:latin typeface="Meiryo UI" panose="020B0604030504040204" pitchFamily="50" charset="-128"/>
                <a:ea typeface="Meiryo UI" panose="020B0604030504040204" pitchFamily="50" charset="-128"/>
              </a:rPr>
              <a:t>Q2</a:t>
            </a:r>
            <a:r>
              <a:rPr kumimoji="1" lang="ja-JP" altLang="en-US" sz="2000" b="1">
                <a:solidFill>
                  <a:srgbClr val="1E293B"/>
                </a:solidFill>
                <a:latin typeface="Meiryo UI" panose="020B0604030504040204" pitchFamily="50" charset="-128"/>
                <a:ea typeface="Meiryo UI" panose="020B0604030504040204" pitchFamily="50" charset="-128"/>
              </a:rPr>
              <a:t>）</a:t>
            </a:r>
            <a:r>
              <a:rPr kumimoji="1" lang="en-US" altLang="ja-JP" sz="2000" b="1">
                <a:solidFill>
                  <a:srgbClr val="1E293B"/>
                </a:solidFill>
                <a:latin typeface="Meiryo UI" panose="020B0604030504040204" pitchFamily="50" charset="-128"/>
                <a:ea typeface="Meiryo UI" panose="020B0604030504040204" pitchFamily="50" charset="-128"/>
              </a:rPr>
              <a:t>× </a:t>
            </a:r>
            <a:r>
              <a:rPr kumimoji="1" lang="ja-JP" altLang="en-US" sz="2000" b="1">
                <a:solidFill>
                  <a:srgbClr val="1E293B"/>
                </a:solidFill>
                <a:latin typeface="Meiryo UI" panose="020B0604030504040204" pitchFamily="50" charset="-128"/>
                <a:ea typeface="Meiryo UI" panose="020B0604030504040204" pitchFamily="50" charset="-128"/>
              </a:rPr>
              <a:t>アンケート時の当院の評価（</a:t>
            </a:r>
            <a:r>
              <a:rPr kumimoji="1" lang="en-US" altLang="ja-JP" sz="2000" b="1">
                <a:solidFill>
                  <a:srgbClr val="1E293B"/>
                </a:solidFill>
                <a:latin typeface="Meiryo UI" panose="020B0604030504040204" pitchFamily="50" charset="-128"/>
                <a:ea typeface="Meiryo UI" panose="020B0604030504040204" pitchFamily="50" charset="-128"/>
              </a:rPr>
              <a:t>Q3</a:t>
            </a:r>
            <a:r>
              <a:rPr kumimoji="1" lang="ja-JP" altLang="en-US" sz="2000" b="1">
                <a:solidFill>
                  <a:srgbClr val="1E293B"/>
                </a:solidFill>
                <a:latin typeface="Meiryo UI" panose="020B0604030504040204" pitchFamily="50" charset="-128"/>
                <a:ea typeface="Meiryo UI" panose="020B0604030504040204" pitchFamily="50" charset="-128"/>
              </a:rPr>
              <a:t>）</a:t>
            </a:r>
          </a:p>
        </p:txBody>
      </p:sp>
      <p:sp>
        <p:nvSpPr>
          <p:cNvPr id="7" name="四角形: 角を丸くする 6">
            <a:extLst>
              <a:ext uri="{FF2B5EF4-FFF2-40B4-BE49-F238E27FC236}">
                <a16:creationId xmlns:a16="http://schemas.microsoft.com/office/drawing/2014/main" id="{D48CE312-89C2-06D3-0482-325C227146E9}"/>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3D6B8ED-6F50-960C-BA4C-22D20E2BC7B9}"/>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19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7CF5521E-28E0-47B4-8DFB-78D91665871F}"/>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688568B-9498-4FE1-BB63-9D4109BF03B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初めて知った層でも体験後は</a:t>
            </a:r>
            <a:r>
              <a:rPr kumimoji="1" lang="en-US" altLang="ja-JP" sz="1500" b="1">
                <a:solidFill>
                  <a:srgbClr val="10B981"/>
                </a:solidFill>
                <a:latin typeface="Meiryo UI" panose="020B0604030504040204" pitchFamily="50" charset="-128"/>
                <a:ea typeface="Meiryo UI" panose="020B0604030504040204" pitchFamily="50" charset="-128"/>
              </a:rPr>
              <a:t>88.1%</a:t>
            </a:r>
            <a:r>
              <a:rPr kumimoji="1" lang="ja-JP" altLang="en-US" sz="1500" b="1">
                <a:solidFill>
                  <a:srgbClr val="10B981"/>
                </a:solidFill>
                <a:latin typeface="Meiryo UI" panose="020B0604030504040204" pitchFamily="50" charset="-128"/>
                <a:ea typeface="Meiryo UI" panose="020B0604030504040204" pitchFamily="50" charset="-128"/>
              </a:rPr>
              <a:t>が好意的評価。「よく知る」層は</a:t>
            </a:r>
            <a:r>
              <a:rPr kumimoji="1" lang="en-US" altLang="ja-JP" sz="1500" b="1">
                <a:solidFill>
                  <a:srgbClr val="10B981"/>
                </a:solidFill>
                <a:latin typeface="Meiryo UI" panose="020B0604030504040204" pitchFamily="50" charset="-128"/>
                <a:ea typeface="Meiryo UI" panose="020B0604030504040204" pitchFamily="50" charset="-128"/>
              </a:rPr>
              <a:t>66.7%</a:t>
            </a:r>
            <a:r>
              <a:rPr kumimoji="1" lang="ja-JP" altLang="en-US" sz="1500" b="1">
                <a:solidFill>
                  <a:srgbClr val="10B981"/>
                </a:solidFill>
                <a:latin typeface="Meiryo UI" panose="020B0604030504040204" pitchFamily="50" charset="-128"/>
                <a:ea typeface="Meiryo UI" panose="020B0604030504040204" pitchFamily="50" charset="-128"/>
              </a:rPr>
              <a:t>が「ぜひ利用したい」と回答</a:t>
            </a:r>
          </a:p>
        </p:txBody>
      </p:sp>
      <p:sp>
        <p:nvSpPr>
          <p:cNvPr id="11" name="四角形: 角を丸くする 10">
            <a:extLst>
              <a:ext uri="{FF2B5EF4-FFF2-40B4-BE49-F238E27FC236}">
                <a16:creationId xmlns:a16="http://schemas.microsoft.com/office/drawing/2014/main" id="{E46EA275-7A1C-1985-0FF8-41D348D8527E}"/>
              </a:ext>
            </a:extLst>
          </p:cNvPr>
          <p:cNvSpPr/>
          <p:nvPr/>
        </p:nvSpPr>
        <p:spPr>
          <a:xfrm>
            <a:off x="254000" y="1549400"/>
            <a:ext cx="37592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28C004A6-40BD-F212-519C-FDDB99D9D9AD}"/>
              </a:ext>
            </a:extLst>
          </p:cNvPr>
          <p:cNvSpPr/>
          <p:nvPr/>
        </p:nvSpPr>
        <p:spPr>
          <a:xfrm>
            <a:off x="482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B6C0E1C-EA49-1F66-5275-40BC895F05C0}"/>
              </a:ext>
            </a:extLst>
          </p:cNvPr>
          <p:cNvSpPr txBox="1"/>
          <p:nvPr/>
        </p:nvSpPr>
        <p:spPr>
          <a:xfrm>
            <a:off x="685800" y="17399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今日初めて知った（</a:t>
            </a:r>
            <a:r>
              <a:rPr kumimoji="1" lang="en-US" altLang="ja-JP" sz="1750" b="1">
                <a:solidFill>
                  <a:srgbClr val="1E293B"/>
                </a:solidFill>
                <a:latin typeface="Meiryo UI" panose="020B0604030504040204" pitchFamily="50" charset="-128"/>
                <a:ea typeface="Meiryo UI" panose="020B0604030504040204" pitchFamily="50" charset="-128"/>
              </a:rPr>
              <a:t>67</a:t>
            </a:r>
            <a:r>
              <a:rPr kumimoji="1" lang="ja-JP" altLang="en-US" sz="1750" b="1">
                <a:solidFill>
                  <a:srgbClr val="1E293B"/>
                </a:solidFill>
                <a:latin typeface="Meiryo UI" panose="020B0604030504040204" pitchFamily="50" charset="-128"/>
                <a:ea typeface="Meiryo UI" panose="020B0604030504040204" pitchFamily="50" charset="-128"/>
              </a:rPr>
              <a:t>名）</a:t>
            </a:r>
          </a:p>
        </p:txBody>
      </p:sp>
      <p:sp>
        <p:nvSpPr>
          <p:cNvPr id="14" name="部分円 13">
            <a:extLst>
              <a:ext uri="{FF2B5EF4-FFF2-40B4-BE49-F238E27FC236}">
                <a16:creationId xmlns:a16="http://schemas.microsoft.com/office/drawing/2014/main" id="{23DC0ABE-FCC0-2EAF-3113-5A415955DB73}"/>
              </a:ext>
            </a:extLst>
          </p:cNvPr>
          <p:cNvSpPr/>
          <p:nvPr/>
        </p:nvSpPr>
        <p:spPr>
          <a:xfrm>
            <a:off x="1143000" y="2286000"/>
            <a:ext cx="1981200" cy="1981200"/>
          </a:xfrm>
          <a:prstGeom prst="pie">
            <a:avLst>
              <a:gd name="adj1" fmla="val 16200000"/>
              <a:gd name="adj2" fmla="val 194184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D0732224-5BD4-77A1-9B05-1F93BC24A400}"/>
              </a:ext>
            </a:extLst>
          </p:cNvPr>
          <p:cNvSpPr/>
          <p:nvPr/>
        </p:nvSpPr>
        <p:spPr>
          <a:xfrm>
            <a:off x="1143000" y="2286000"/>
            <a:ext cx="1981200" cy="1981200"/>
          </a:xfrm>
          <a:prstGeom prst="pie">
            <a:avLst>
              <a:gd name="adj1" fmla="val 19418400"/>
              <a:gd name="adj2" fmla="val 13608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9886B053-901C-CCE1-CEE6-FB15F54E4032}"/>
              </a:ext>
            </a:extLst>
          </p:cNvPr>
          <p:cNvSpPr/>
          <p:nvPr/>
        </p:nvSpPr>
        <p:spPr>
          <a:xfrm>
            <a:off x="1143000" y="2286000"/>
            <a:ext cx="1981200" cy="1981200"/>
          </a:xfrm>
          <a:prstGeom prst="pie">
            <a:avLst>
              <a:gd name="adj1" fmla="val 136080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楕円 16">
            <a:extLst>
              <a:ext uri="{FF2B5EF4-FFF2-40B4-BE49-F238E27FC236}">
                <a16:creationId xmlns:a16="http://schemas.microsoft.com/office/drawing/2014/main" id="{14212BF8-8063-A5E9-7BBE-53BB017AD167}"/>
              </a:ext>
            </a:extLst>
          </p:cNvPr>
          <p:cNvSpPr/>
          <p:nvPr/>
        </p:nvSpPr>
        <p:spPr>
          <a:xfrm>
            <a:off x="1559052" y="2702052"/>
            <a:ext cx="1149096" cy="114909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DAF49A-3615-7DA4-E3EA-3EFEE4C9A158}"/>
              </a:ext>
            </a:extLst>
          </p:cNvPr>
          <p:cNvSpPr txBox="1"/>
          <p:nvPr/>
        </p:nvSpPr>
        <p:spPr>
          <a:xfrm>
            <a:off x="1181100" y="29972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好意的評価</a:t>
            </a:r>
          </a:p>
        </p:txBody>
      </p:sp>
      <p:sp>
        <p:nvSpPr>
          <p:cNvPr id="19" name="テキスト ボックス 18">
            <a:extLst>
              <a:ext uri="{FF2B5EF4-FFF2-40B4-BE49-F238E27FC236}">
                <a16:creationId xmlns:a16="http://schemas.microsoft.com/office/drawing/2014/main" id="{C39493C7-0C77-4422-CF3E-5DFDDBD3A861}"/>
              </a:ext>
            </a:extLst>
          </p:cNvPr>
          <p:cNvSpPr txBox="1"/>
          <p:nvPr/>
        </p:nvSpPr>
        <p:spPr>
          <a:xfrm>
            <a:off x="1181100" y="33020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88.1%</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5F091D0D-314B-0683-AB10-AD9FF6E7C375}"/>
              </a:ext>
            </a:extLst>
          </p:cNvPr>
          <p:cNvSpPr txBox="1"/>
          <p:nvPr/>
        </p:nvSpPr>
        <p:spPr>
          <a:xfrm>
            <a:off x="406400" y="4394200"/>
            <a:ext cx="3454400" cy="548868"/>
          </a:xfrm>
          <a:prstGeom prst="rect">
            <a:avLst/>
          </a:prstGeom>
          <a:noFill/>
        </p:spPr>
        <p:txBody>
          <a:bodyPr vert="horz" wrap="square" lIns="76200" tIns="50800" rIns="76200" bIns="50800" rtlCol="0">
            <a:spAutoFit/>
          </a:bodyPr>
          <a:lstStyle/>
          <a:p>
            <a:pPr algn="ctr"/>
            <a:r>
              <a:rPr kumimoji="1" lang="ja-JP" altLang="en-US" sz="1450" b="1">
                <a:solidFill>
                  <a:srgbClr val="1E293B"/>
                </a:solidFill>
                <a:latin typeface="Meiryo UI" panose="020B0604030504040204" pitchFamily="50" charset="-128"/>
                <a:ea typeface="Meiryo UI" panose="020B0604030504040204" pitchFamily="50" charset="-128"/>
              </a:rPr>
              <a:t>ぜひ利用：</a:t>
            </a:r>
            <a:r>
              <a:rPr kumimoji="1" lang="en-US" altLang="ja-JP" sz="1450" b="1">
                <a:solidFill>
                  <a:srgbClr val="1E293B"/>
                </a:solidFill>
                <a:latin typeface="Meiryo UI" panose="020B0604030504040204" pitchFamily="50" charset="-128"/>
                <a:ea typeface="Meiryo UI" panose="020B0604030504040204" pitchFamily="50" charset="-128"/>
              </a:rPr>
              <a:t>14.9%</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10</a:t>
            </a:r>
            <a:r>
              <a:rPr kumimoji="1" lang="ja-JP" altLang="en-US" sz="1450" b="1">
                <a:solidFill>
                  <a:srgbClr val="1E293B"/>
                </a:solidFill>
                <a:latin typeface="Meiryo UI" panose="020B0604030504040204" pitchFamily="50" charset="-128"/>
                <a:ea typeface="Meiryo UI" panose="020B0604030504040204" pitchFamily="50" charset="-128"/>
              </a:rPr>
              <a:t>名）
検討したい：</a:t>
            </a:r>
            <a:r>
              <a:rPr kumimoji="1" lang="en-US" altLang="ja-JP" sz="1450" b="1">
                <a:solidFill>
                  <a:srgbClr val="1E293B"/>
                </a:solidFill>
                <a:latin typeface="Meiryo UI" panose="020B0604030504040204" pitchFamily="50" charset="-128"/>
                <a:ea typeface="Meiryo UI" panose="020B0604030504040204" pitchFamily="50" charset="-128"/>
              </a:rPr>
              <a:t>73.1%</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49</a:t>
            </a:r>
            <a:r>
              <a:rPr kumimoji="1" lang="ja-JP" altLang="en-US" sz="1450" b="1">
                <a:solidFill>
                  <a:srgbClr val="1E293B"/>
                </a:solidFill>
                <a:latin typeface="Meiryo UI" panose="020B0604030504040204" pitchFamily="50" charset="-128"/>
                <a:ea typeface="Meiryo UI" panose="020B0604030504040204" pitchFamily="50" charset="-128"/>
              </a:rPr>
              <a:t>名）</a:t>
            </a:r>
          </a:p>
        </p:txBody>
      </p:sp>
      <p:sp>
        <p:nvSpPr>
          <p:cNvPr id="21" name="四角形: 角を丸くする 20">
            <a:extLst>
              <a:ext uri="{FF2B5EF4-FFF2-40B4-BE49-F238E27FC236}">
                <a16:creationId xmlns:a16="http://schemas.microsoft.com/office/drawing/2014/main" id="{6AC7765D-4152-D197-DB92-4FF02A306533}"/>
              </a:ext>
            </a:extLst>
          </p:cNvPr>
          <p:cNvSpPr/>
          <p:nvPr/>
        </p:nvSpPr>
        <p:spPr>
          <a:xfrm>
            <a:off x="4216400" y="1549400"/>
            <a:ext cx="37592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58398389-6771-1AE5-F9BD-2719379B0B4F}"/>
              </a:ext>
            </a:extLst>
          </p:cNvPr>
          <p:cNvSpPr/>
          <p:nvPr/>
        </p:nvSpPr>
        <p:spPr>
          <a:xfrm>
            <a:off x="44450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30AE6626-3823-8E94-A05E-DFE4666EE8D4}"/>
              </a:ext>
            </a:extLst>
          </p:cNvPr>
          <p:cNvSpPr txBox="1"/>
          <p:nvPr/>
        </p:nvSpPr>
        <p:spPr>
          <a:xfrm>
            <a:off x="4648200" y="17399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名前・場所は知る（</a:t>
            </a:r>
            <a:r>
              <a:rPr kumimoji="1" lang="en-US" altLang="ja-JP" sz="1750" b="1">
                <a:solidFill>
                  <a:srgbClr val="1E293B"/>
                </a:solidFill>
                <a:latin typeface="Meiryo UI" panose="020B0604030504040204" pitchFamily="50" charset="-128"/>
                <a:ea typeface="Meiryo UI" panose="020B0604030504040204" pitchFamily="50" charset="-128"/>
              </a:rPr>
              <a:t>126</a:t>
            </a:r>
            <a:r>
              <a:rPr kumimoji="1" lang="ja-JP" altLang="en-US" sz="1750" b="1">
                <a:solidFill>
                  <a:srgbClr val="1E293B"/>
                </a:solidFill>
                <a:latin typeface="Meiryo UI" panose="020B0604030504040204" pitchFamily="50" charset="-128"/>
                <a:ea typeface="Meiryo UI" panose="020B0604030504040204" pitchFamily="50" charset="-128"/>
              </a:rPr>
              <a:t>名）</a:t>
            </a:r>
          </a:p>
        </p:txBody>
      </p:sp>
      <p:sp>
        <p:nvSpPr>
          <p:cNvPr id="24" name="部分円 23">
            <a:extLst>
              <a:ext uri="{FF2B5EF4-FFF2-40B4-BE49-F238E27FC236}">
                <a16:creationId xmlns:a16="http://schemas.microsoft.com/office/drawing/2014/main" id="{58FBBA88-964F-69F8-C03B-ED9F96BBED7C}"/>
              </a:ext>
            </a:extLst>
          </p:cNvPr>
          <p:cNvSpPr/>
          <p:nvPr/>
        </p:nvSpPr>
        <p:spPr>
          <a:xfrm>
            <a:off x="5105400" y="2286000"/>
            <a:ext cx="1981200" cy="1981200"/>
          </a:xfrm>
          <a:prstGeom prst="pie">
            <a:avLst>
              <a:gd name="adj1" fmla="val 16200000"/>
              <a:gd name="adj2" fmla="val 203040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5" name="部分円 24">
            <a:extLst>
              <a:ext uri="{FF2B5EF4-FFF2-40B4-BE49-F238E27FC236}">
                <a16:creationId xmlns:a16="http://schemas.microsoft.com/office/drawing/2014/main" id="{B553D1B0-3943-1C7F-A738-C762E2B3FE36}"/>
              </a:ext>
            </a:extLst>
          </p:cNvPr>
          <p:cNvSpPr/>
          <p:nvPr/>
        </p:nvSpPr>
        <p:spPr>
          <a:xfrm>
            <a:off x="5105400" y="2286000"/>
            <a:ext cx="1981200" cy="1981200"/>
          </a:xfrm>
          <a:prstGeom prst="pie">
            <a:avLst>
              <a:gd name="adj1" fmla="val 20304000"/>
              <a:gd name="adj2" fmla="val 148176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6" name="部分円 25">
            <a:extLst>
              <a:ext uri="{FF2B5EF4-FFF2-40B4-BE49-F238E27FC236}">
                <a16:creationId xmlns:a16="http://schemas.microsoft.com/office/drawing/2014/main" id="{89247AC5-9D85-2147-8548-15E000B5BF40}"/>
              </a:ext>
            </a:extLst>
          </p:cNvPr>
          <p:cNvSpPr/>
          <p:nvPr/>
        </p:nvSpPr>
        <p:spPr>
          <a:xfrm>
            <a:off x="5105400" y="2286000"/>
            <a:ext cx="1981200" cy="1981200"/>
          </a:xfrm>
          <a:prstGeom prst="pie">
            <a:avLst>
              <a:gd name="adj1" fmla="val 148176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7" name="楕円 26">
            <a:extLst>
              <a:ext uri="{FF2B5EF4-FFF2-40B4-BE49-F238E27FC236}">
                <a16:creationId xmlns:a16="http://schemas.microsoft.com/office/drawing/2014/main" id="{5D52E231-5BB0-AC2C-CCE9-19442A2B61D9}"/>
              </a:ext>
            </a:extLst>
          </p:cNvPr>
          <p:cNvSpPr/>
          <p:nvPr/>
        </p:nvSpPr>
        <p:spPr>
          <a:xfrm>
            <a:off x="5521452" y="2702052"/>
            <a:ext cx="1149096" cy="114909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5D187C0C-86A5-971E-6043-FD068266659C}"/>
              </a:ext>
            </a:extLst>
          </p:cNvPr>
          <p:cNvSpPr txBox="1"/>
          <p:nvPr/>
        </p:nvSpPr>
        <p:spPr>
          <a:xfrm>
            <a:off x="5143500" y="29972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好意的評価</a:t>
            </a:r>
          </a:p>
        </p:txBody>
      </p:sp>
      <p:sp>
        <p:nvSpPr>
          <p:cNvPr id="29" name="テキスト ボックス 28">
            <a:extLst>
              <a:ext uri="{FF2B5EF4-FFF2-40B4-BE49-F238E27FC236}">
                <a16:creationId xmlns:a16="http://schemas.microsoft.com/office/drawing/2014/main" id="{7D151A7C-D727-861C-EDC9-807F9E89A828}"/>
              </a:ext>
            </a:extLst>
          </p:cNvPr>
          <p:cNvSpPr txBox="1"/>
          <p:nvPr/>
        </p:nvSpPr>
        <p:spPr>
          <a:xfrm>
            <a:off x="5143500" y="33020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93.7%</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3A749613-5921-9E54-3BAC-04C9D4961882}"/>
              </a:ext>
            </a:extLst>
          </p:cNvPr>
          <p:cNvSpPr txBox="1"/>
          <p:nvPr/>
        </p:nvSpPr>
        <p:spPr>
          <a:xfrm>
            <a:off x="4368800" y="4394200"/>
            <a:ext cx="3454400" cy="548868"/>
          </a:xfrm>
          <a:prstGeom prst="rect">
            <a:avLst/>
          </a:prstGeom>
          <a:noFill/>
        </p:spPr>
        <p:txBody>
          <a:bodyPr vert="horz" wrap="square" lIns="76200" tIns="50800" rIns="76200" bIns="50800" rtlCol="0">
            <a:spAutoFit/>
          </a:bodyPr>
          <a:lstStyle/>
          <a:p>
            <a:pPr algn="ctr"/>
            <a:r>
              <a:rPr kumimoji="1" lang="ja-JP" altLang="en-US" sz="1450" b="1">
                <a:solidFill>
                  <a:srgbClr val="1E293B"/>
                </a:solidFill>
                <a:latin typeface="Meiryo UI" panose="020B0604030504040204" pitchFamily="50" charset="-128"/>
                <a:ea typeface="Meiryo UI" panose="020B0604030504040204" pitchFamily="50" charset="-128"/>
              </a:rPr>
              <a:t>ぜひ利用：</a:t>
            </a:r>
            <a:r>
              <a:rPr kumimoji="1" lang="en-US" altLang="ja-JP" sz="1450" b="1">
                <a:solidFill>
                  <a:srgbClr val="1E293B"/>
                </a:solidFill>
                <a:latin typeface="Meiryo UI" panose="020B0604030504040204" pitchFamily="50" charset="-128"/>
                <a:ea typeface="Meiryo UI" panose="020B0604030504040204" pitchFamily="50" charset="-128"/>
              </a:rPr>
              <a:t>19.0%</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24</a:t>
            </a:r>
            <a:r>
              <a:rPr kumimoji="1" lang="ja-JP" altLang="en-US" sz="1450" b="1">
                <a:solidFill>
                  <a:srgbClr val="1E293B"/>
                </a:solidFill>
                <a:latin typeface="Meiryo UI" panose="020B0604030504040204" pitchFamily="50" charset="-128"/>
                <a:ea typeface="Meiryo UI" panose="020B0604030504040204" pitchFamily="50" charset="-128"/>
              </a:rPr>
              <a:t>名）
検討したい：</a:t>
            </a:r>
            <a:r>
              <a:rPr kumimoji="1" lang="en-US" altLang="ja-JP" sz="1450" b="1">
                <a:solidFill>
                  <a:srgbClr val="1E293B"/>
                </a:solidFill>
                <a:latin typeface="Meiryo UI" panose="020B0604030504040204" pitchFamily="50" charset="-128"/>
                <a:ea typeface="Meiryo UI" panose="020B0604030504040204" pitchFamily="50" charset="-128"/>
              </a:rPr>
              <a:t>74.6%</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94</a:t>
            </a:r>
            <a:r>
              <a:rPr kumimoji="1" lang="ja-JP" altLang="en-US" sz="1450" b="1">
                <a:solidFill>
                  <a:srgbClr val="1E293B"/>
                </a:solidFill>
                <a:latin typeface="Meiryo UI" panose="020B0604030504040204" pitchFamily="50" charset="-128"/>
                <a:ea typeface="Meiryo UI" panose="020B0604030504040204" pitchFamily="50" charset="-128"/>
              </a:rPr>
              <a:t>名）</a:t>
            </a:r>
          </a:p>
        </p:txBody>
      </p:sp>
      <p:sp>
        <p:nvSpPr>
          <p:cNvPr id="31" name="四角形: 角を丸くする 30">
            <a:extLst>
              <a:ext uri="{FF2B5EF4-FFF2-40B4-BE49-F238E27FC236}">
                <a16:creationId xmlns:a16="http://schemas.microsoft.com/office/drawing/2014/main" id="{942181AE-7367-99FD-ACCB-13C57F12BF34}"/>
              </a:ext>
            </a:extLst>
          </p:cNvPr>
          <p:cNvSpPr/>
          <p:nvPr/>
        </p:nvSpPr>
        <p:spPr>
          <a:xfrm>
            <a:off x="8178800" y="1549400"/>
            <a:ext cx="37592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5E9B3C2F-7202-8643-3C12-25546AC17E3C}"/>
              </a:ext>
            </a:extLst>
          </p:cNvPr>
          <p:cNvSpPr/>
          <p:nvPr/>
        </p:nvSpPr>
        <p:spPr>
          <a:xfrm>
            <a:off x="84074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52FD048D-74FD-A51F-E445-05771BD94EB0}"/>
              </a:ext>
            </a:extLst>
          </p:cNvPr>
          <p:cNvSpPr txBox="1"/>
          <p:nvPr/>
        </p:nvSpPr>
        <p:spPr>
          <a:xfrm>
            <a:off x="8610600" y="17399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よく知っている（</a:t>
            </a:r>
            <a:r>
              <a:rPr kumimoji="1" lang="en-US" altLang="ja-JP" sz="1750" b="1">
                <a:solidFill>
                  <a:srgbClr val="1E293B"/>
                </a:solidFill>
                <a:latin typeface="Meiryo UI" panose="020B0604030504040204" pitchFamily="50" charset="-128"/>
                <a:ea typeface="Meiryo UI" panose="020B0604030504040204" pitchFamily="50" charset="-128"/>
              </a:rPr>
              <a:t>39</a:t>
            </a:r>
            <a:r>
              <a:rPr kumimoji="1" lang="ja-JP" altLang="en-US" sz="1750" b="1">
                <a:solidFill>
                  <a:srgbClr val="1E293B"/>
                </a:solidFill>
                <a:latin typeface="Meiryo UI" panose="020B0604030504040204" pitchFamily="50" charset="-128"/>
                <a:ea typeface="Meiryo UI" panose="020B0604030504040204" pitchFamily="50" charset="-128"/>
              </a:rPr>
              <a:t>名）</a:t>
            </a:r>
          </a:p>
        </p:txBody>
      </p:sp>
      <p:sp>
        <p:nvSpPr>
          <p:cNvPr id="34" name="部分円 33">
            <a:extLst>
              <a:ext uri="{FF2B5EF4-FFF2-40B4-BE49-F238E27FC236}">
                <a16:creationId xmlns:a16="http://schemas.microsoft.com/office/drawing/2014/main" id="{974CA6E2-C488-8F6E-B535-ED279033FFD6}"/>
              </a:ext>
            </a:extLst>
          </p:cNvPr>
          <p:cNvSpPr/>
          <p:nvPr/>
        </p:nvSpPr>
        <p:spPr>
          <a:xfrm>
            <a:off x="9067800" y="2286000"/>
            <a:ext cx="1981200" cy="1981200"/>
          </a:xfrm>
          <a:prstGeom prst="pie">
            <a:avLst>
              <a:gd name="adj1" fmla="val 16200000"/>
              <a:gd name="adj2" fmla="val 90072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部分円 34">
            <a:extLst>
              <a:ext uri="{FF2B5EF4-FFF2-40B4-BE49-F238E27FC236}">
                <a16:creationId xmlns:a16="http://schemas.microsoft.com/office/drawing/2014/main" id="{A246FD18-AA83-D634-2616-B13CF5FF4066}"/>
              </a:ext>
            </a:extLst>
          </p:cNvPr>
          <p:cNvSpPr/>
          <p:nvPr/>
        </p:nvSpPr>
        <p:spPr>
          <a:xfrm>
            <a:off x="9067800" y="2286000"/>
            <a:ext cx="1981200" cy="1981200"/>
          </a:xfrm>
          <a:prstGeom prst="pie">
            <a:avLst>
              <a:gd name="adj1" fmla="val 9007200"/>
              <a:gd name="adj2" fmla="val 14536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6" name="部分円 35">
            <a:extLst>
              <a:ext uri="{FF2B5EF4-FFF2-40B4-BE49-F238E27FC236}">
                <a16:creationId xmlns:a16="http://schemas.microsoft.com/office/drawing/2014/main" id="{1C652EA7-494C-4F9A-54D8-38CD5270A993}"/>
              </a:ext>
            </a:extLst>
          </p:cNvPr>
          <p:cNvSpPr/>
          <p:nvPr/>
        </p:nvSpPr>
        <p:spPr>
          <a:xfrm>
            <a:off x="9067800" y="2286000"/>
            <a:ext cx="1981200" cy="1981200"/>
          </a:xfrm>
          <a:prstGeom prst="pie">
            <a:avLst>
              <a:gd name="adj1" fmla="val 14536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楕円 36">
            <a:extLst>
              <a:ext uri="{FF2B5EF4-FFF2-40B4-BE49-F238E27FC236}">
                <a16:creationId xmlns:a16="http://schemas.microsoft.com/office/drawing/2014/main" id="{BA2BEF13-FAB7-8D0B-0979-7B8ADEF8AF7D}"/>
              </a:ext>
            </a:extLst>
          </p:cNvPr>
          <p:cNvSpPr/>
          <p:nvPr/>
        </p:nvSpPr>
        <p:spPr>
          <a:xfrm>
            <a:off x="9483852" y="2702052"/>
            <a:ext cx="1149096" cy="114909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D52A4AB-BBE9-0E88-0D3C-43A096818E07}"/>
              </a:ext>
            </a:extLst>
          </p:cNvPr>
          <p:cNvSpPr txBox="1"/>
          <p:nvPr/>
        </p:nvSpPr>
        <p:spPr>
          <a:xfrm>
            <a:off x="9105900" y="29972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ぜひ利用</a:t>
            </a:r>
          </a:p>
        </p:txBody>
      </p:sp>
      <p:sp>
        <p:nvSpPr>
          <p:cNvPr id="39" name="テキスト ボックス 38">
            <a:extLst>
              <a:ext uri="{FF2B5EF4-FFF2-40B4-BE49-F238E27FC236}">
                <a16:creationId xmlns:a16="http://schemas.microsoft.com/office/drawing/2014/main" id="{5942D009-C93F-94B1-D1E1-0584ED5695B0}"/>
              </a:ext>
            </a:extLst>
          </p:cNvPr>
          <p:cNvSpPr txBox="1"/>
          <p:nvPr/>
        </p:nvSpPr>
        <p:spPr>
          <a:xfrm>
            <a:off x="9105900" y="33020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66.7%</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40" name="テキスト ボックス 39">
            <a:extLst>
              <a:ext uri="{FF2B5EF4-FFF2-40B4-BE49-F238E27FC236}">
                <a16:creationId xmlns:a16="http://schemas.microsoft.com/office/drawing/2014/main" id="{9B556E91-CFC1-3F1E-6B0A-0A93309D7628}"/>
              </a:ext>
            </a:extLst>
          </p:cNvPr>
          <p:cNvSpPr txBox="1"/>
          <p:nvPr/>
        </p:nvSpPr>
        <p:spPr>
          <a:xfrm>
            <a:off x="8331200" y="4394200"/>
            <a:ext cx="3454400" cy="548868"/>
          </a:xfrm>
          <a:prstGeom prst="rect">
            <a:avLst/>
          </a:prstGeom>
          <a:noFill/>
        </p:spPr>
        <p:txBody>
          <a:bodyPr vert="horz" wrap="square" lIns="76200" tIns="50800" rIns="76200" bIns="50800" rtlCol="0">
            <a:spAutoFit/>
          </a:bodyPr>
          <a:lstStyle/>
          <a:p>
            <a:pPr algn="ctr"/>
            <a:r>
              <a:rPr kumimoji="1" lang="ja-JP" altLang="en-US" sz="1450" b="1">
                <a:solidFill>
                  <a:srgbClr val="10B981"/>
                </a:solidFill>
                <a:latin typeface="Meiryo UI" panose="020B0604030504040204" pitchFamily="50" charset="-128"/>
                <a:ea typeface="Meiryo UI" panose="020B0604030504040204" pitchFamily="50" charset="-128"/>
              </a:rPr>
              <a:t>ぜひ利用：</a:t>
            </a:r>
            <a:r>
              <a:rPr kumimoji="1" lang="en-US" altLang="ja-JP" sz="1450" b="1">
                <a:solidFill>
                  <a:srgbClr val="10B981"/>
                </a:solidFill>
                <a:latin typeface="Meiryo UI" panose="020B0604030504040204" pitchFamily="50" charset="-128"/>
                <a:ea typeface="Meiryo UI" panose="020B0604030504040204" pitchFamily="50" charset="-128"/>
              </a:rPr>
              <a:t>66.7%</a:t>
            </a:r>
            <a:r>
              <a:rPr kumimoji="1" lang="ja-JP" altLang="en-US" sz="1450" b="1">
                <a:solidFill>
                  <a:srgbClr val="10B981"/>
                </a:solidFill>
                <a:latin typeface="Meiryo UI" panose="020B0604030504040204" pitchFamily="50" charset="-128"/>
                <a:ea typeface="Meiryo UI" panose="020B0604030504040204" pitchFamily="50" charset="-128"/>
              </a:rPr>
              <a:t>（</a:t>
            </a:r>
            <a:r>
              <a:rPr kumimoji="1" lang="en-US" altLang="ja-JP" sz="1450" b="1">
                <a:solidFill>
                  <a:srgbClr val="10B981"/>
                </a:solidFill>
                <a:latin typeface="Meiryo UI" panose="020B0604030504040204" pitchFamily="50" charset="-128"/>
                <a:ea typeface="Meiryo UI" panose="020B0604030504040204" pitchFamily="50" charset="-128"/>
              </a:rPr>
              <a:t>26</a:t>
            </a:r>
            <a:r>
              <a:rPr kumimoji="1" lang="ja-JP" altLang="en-US" sz="1450" b="1">
                <a:solidFill>
                  <a:srgbClr val="10B981"/>
                </a:solidFill>
                <a:latin typeface="Meiryo UI" panose="020B0604030504040204" pitchFamily="50" charset="-128"/>
                <a:ea typeface="Meiryo UI" panose="020B0604030504040204" pitchFamily="50" charset="-128"/>
              </a:rPr>
              <a:t>名）
検討したい：</a:t>
            </a:r>
            <a:r>
              <a:rPr kumimoji="1" lang="en-US" altLang="ja-JP" sz="1450" b="1">
                <a:solidFill>
                  <a:srgbClr val="10B981"/>
                </a:solidFill>
                <a:latin typeface="Meiryo UI" panose="020B0604030504040204" pitchFamily="50" charset="-128"/>
                <a:ea typeface="Meiryo UI" panose="020B0604030504040204" pitchFamily="50" charset="-128"/>
              </a:rPr>
              <a:t>25.6%</a:t>
            </a:r>
            <a:r>
              <a:rPr kumimoji="1" lang="ja-JP" altLang="en-US" sz="1450" b="1">
                <a:solidFill>
                  <a:srgbClr val="10B981"/>
                </a:solidFill>
                <a:latin typeface="Meiryo UI" panose="020B0604030504040204" pitchFamily="50" charset="-128"/>
                <a:ea typeface="Meiryo UI" panose="020B0604030504040204" pitchFamily="50" charset="-128"/>
              </a:rPr>
              <a:t>（</a:t>
            </a:r>
            <a:r>
              <a:rPr kumimoji="1" lang="en-US" altLang="ja-JP" sz="1450" b="1">
                <a:solidFill>
                  <a:srgbClr val="10B981"/>
                </a:solidFill>
                <a:latin typeface="Meiryo UI" panose="020B0604030504040204" pitchFamily="50" charset="-128"/>
                <a:ea typeface="Meiryo UI" panose="020B0604030504040204" pitchFamily="50" charset="-128"/>
              </a:rPr>
              <a:t>10</a:t>
            </a:r>
            <a:r>
              <a:rPr kumimoji="1" lang="ja-JP" altLang="en-US" sz="1450" b="1">
                <a:solidFill>
                  <a:srgbClr val="10B981"/>
                </a:solidFill>
                <a:latin typeface="Meiryo UI" panose="020B0604030504040204" pitchFamily="50" charset="-128"/>
                <a:ea typeface="Meiryo UI" panose="020B0604030504040204" pitchFamily="50" charset="-128"/>
              </a:rPr>
              <a:t>名）</a:t>
            </a:r>
          </a:p>
        </p:txBody>
      </p:sp>
      <p:sp>
        <p:nvSpPr>
          <p:cNvPr id="41" name="四角形: 角を丸くする 40">
            <a:extLst>
              <a:ext uri="{FF2B5EF4-FFF2-40B4-BE49-F238E27FC236}">
                <a16:creationId xmlns:a16="http://schemas.microsoft.com/office/drawing/2014/main" id="{C3AD7CE1-FF55-F527-080F-D6D899D29C5D}"/>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C2978DD-4AF8-08BC-48A5-97DB17216147}"/>
              </a:ext>
            </a:extLst>
          </p:cNvPr>
          <p:cNvSpPr txBox="1"/>
          <p:nvPr/>
        </p:nvSpPr>
        <p:spPr>
          <a:xfrm>
            <a:off x="508000" y="54864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・「今日初めて知った」層でも体験後は</a:t>
            </a:r>
            <a:r>
              <a:rPr kumimoji="1" lang="en-US" altLang="ja-JP" sz="1550" b="1">
                <a:solidFill>
                  <a:srgbClr val="1E293B"/>
                </a:solidFill>
                <a:latin typeface="Meiryo UI" panose="020B0604030504040204" pitchFamily="50" charset="-128"/>
                <a:ea typeface="Meiryo UI" panose="020B0604030504040204" pitchFamily="50" charset="-128"/>
              </a:rPr>
              <a:t>88.1%</a:t>
            </a:r>
            <a:r>
              <a:rPr kumimoji="1" lang="ja-JP" altLang="en-US" sz="1550" b="1">
                <a:solidFill>
                  <a:srgbClr val="1E293B"/>
                </a:solidFill>
                <a:latin typeface="Meiryo UI" panose="020B0604030504040204" pitchFamily="50" charset="-128"/>
                <a:ea typeface="Meiryo UI" panose="020B0604030504040204" pitchFamily="50" charset="-128"/>
              </a:rPr>
              <a:t>、「名前・場所のみ」層では</a:t>
            </a:r>
            <a:r>
              <a:rPr kumimoji="1" lang="en-US" altLang="ja-JP" sz="1550" b="1">
                <a:solidFill>
                  <a:srgbClr val="1E293B"/>
                </a:solidFill>
                <a:latin typeface="Meiryo UI" panose="020B0604030504040204" pitchFamily="50" charset="-128"/>
                <a:ea typeface="Meiryo UI" panose="020B0604030504040204" pitchFamily="50" charset="-128"/>
              </a:rPr>
              <a:t>93.7%</a:t>
            </a:r>
            <a:r>
              <a:rPr kumimoji="1" lang="ja-JP" altLang="en-US" sz="1550" b="1">
                <a:solidFill>
                  <a:srgbClr val="1E293B"/>
                </a:solidFill>
                <a:latin typeface="Meiryo UI" panose="020B0604030504040204" pitchFamily="50" charset="-128"/>
                <a:ea typeface="Meiryo UI" panose="020B0604030504040204" pitchFamily="50" charset="-128"/>
              </a:rPr>
              <a:t>が利用・検討したいと回答した。
・さらに「よく知っている」層では</a:t>
            </a:r>
            <a:r>
              <a:rPr kumimoji="1" lang="en-US" altLang="ja-JP" sz="1550" b="1">
                <a:solidFill>
                  <a:srgbClr val="1E293B"/>
                </a:solidFill>
                <a:latin typeface="Meiryo UI" panose="020B0604030504040204" pitchFamily="50" charset="-128"/>
                <a:ea typeface="Meiryo UI" panose="020B0604030504040204" pitchFamily="50" charset="-128"/>
              </a:rPr>
              <a:t>66.7%</a:t>
            </a:r>
            <a:r>
              <a:rPr kumimoji="1" lang="ja-JP" altLang="en-US" sz="1550" b="1">
                <a:solidFill>
                  <a:srgbClr val="1E293B"/>
                </a:solidFill>
                <a:latin typeface="Meiryo UI" panose="020B0604030504040204" pitchFamily="50" charset="-128"/>
                <a:ea typeface="Meiryo UI" panose="020B0604030504040204" pitchFamily="50" charset="-128"/>
              </a:rPr>
              <a:t>が「ぜひ利用したい」と答えており、当院の中身を知ってもらう機会を増やせば高い評価につながる。</a:t>
            </a:r>
          </a:p>
        </p:txBody>
      </p:sp>
    </p:spTree>
    <p:extLst>
      <p:ext uri="{BB962C8B-B14F-4D97-AF65-F5344CB8AC3E}">
        <p14:creationId xmlns:p14="http://schemas.microsoft.com/office/powerpoint/2010/main" val="20730511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61CFBD5-9E9D-F0A1-8EA1-3FF06A2B5472}"/>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9D6E6E4B-243E-BCAF-1652-5A905EA5F897}"/>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477FFAC2-B1F0-7D17-D454-6FF07058B3F0}"/>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F8CBF77-ABC3-C83E-F001-1FC35028F4BE}"/>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CN" altLang="en-US" sz="1250" b="1">
                <a:solidFill>
                  <a:srgbClr val="FFFFFF"/>
                </a:solidFill>
                <a:latin typeface="Meiryo UI" panose="020B0604030504040204" pitchFamily="50" charset="-128"/>
                <a:ea typeface="Meiryo UI" panose="020B0604030504040204" pitchFamily="50" charset="-128"/>
              </a:rPr>
              <a:t>第</a:t>
            </a:r>
            <a:r>
              <a:rPr kumimoji="1" lang="en-US" altLang="zh-CN" sz="1250" b="1">
                <a:solidFill>
                  <a:srgbClr val="FFFFFF"/>
                </a:solidFill>
                <a:latin typeface="Meiryo UI" panose="020B0604030504040204" pitchFamily="50" charset="-128"/>
                <a:ea typeface="Meiryo UI" panose="020B0604030504040204" pitchFamily="50" charset="-128"/>
              </a:rPr>
              <a:t>4</a:t>
            </a:r>
            <a:r>
              <a:rPr kumimoji="1" lang="zh-CN" altLang="en-US" sz="1250" b="1">
                <a:solidFill>
                  <a:srgbClr val="FFFFFF"/>
                </a:solidFill>
                <a:latin typeface="Meiryo UI" panose="020B0604030504040204" pitchFamily="50" charset="-128"/>
                <a:ea typeface="Meiryo UI" panose="020B0604030504040204" pitchFamily="50" charset="-128"/>
              </a:rPr>
              <a:t>部：来年度提案①</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6935AFF9-5DC1-77A7-3DC3-0D7AA1AE9BF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来年度の出展に向けた</a:t>
            </a:r>
            <a:r>
              <a:rPr kumimoji="1" lang="en-US" altLang="ja-JP" sz="2000" b="1">
                <a:solidFill>
                  <a:srgbClr val="1E293B"/>
                </a:solidFill>
                <a:latin typeface="Meiryo UI" panose="020B0604030504040204" pitchFamily="50" charset="-128"/>
                <a:ea typeface="Meiryo UI" panose="020B0604030504040204" pitchFamily="50" charset="-128"/>
              </a:rPr>
              <a:t>3</a:t>
            </a:r>
            <a:r>
              <a:rPr kumimoji="1" lang="ja-JP" altLang="en-US" sz="2000" b="1">
                <a:solidFill>
                  <a:srgbClr val="1E293B"/>
                </a:solidFill>
                <a:latin typeface="Meiryo UI" panose="020B0604030504040204" pitchFamily="50" charset="-128"/>
                <a:ea typeface="Meiryo UI" panose="020B0604030504040204" pitchFamily="50" charset="-128"/>
              </a:rPr>
              <a:t>つの改善提案</a:t>
            </a:r>
          </a:p>
        </p:txBody>
      </p:sp>
      <p:sp>
        <p:nvSpPr>
          <p:cNvPr id="7" name="四角形: 角を丸くする 6">
            <a:extLst>
              <a:ext uri="{FF2B5EF4-FFF2-40B4-BE49-F238E27FC236}">
                <a16:creationId xmlns:a16="http://schemas.microsoft.com/office/drawing/2014/main" id="{05672BB6-78F2-65E1-9534-7C95AFA91FF2}"/>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48F651C-9A8D-DF58-4975-76B12ABA213C}"/>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20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A6E1E147-C316-87C9-E738-7C7D5192D6B2}"/>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A6E3322-6F31-8CCB-06D0-A7EBD884C78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今年度の混雑・</a:t>
            </a:r>
            <a:r>
              <a:rPr kumimoji="1" lang="en-US" altLang="ja-JP" sz="1500" b="1">
                <a:solidFill>
                  <a:srgbClr val="2563EB"/>
                </a:solidFill>
                <a:latin typeface="Meiryo UI" panose="020B0604030504040204" pitchFamily="50" charset="-128"/>
                <a:ea typeface="Meiryo UI" panose="020B0604030504040204" pitchFamily="50" charset="-128"/>
              </a:rPr>
              <a:t>InBody</a:t>
            </a:r>
            <a:r>
              <a:rPr kumimoji="1" lang="ja-JP" altLang="en-US" sz="1500" b="1">
                <a:solidFill>
                  <a:srgbClr val="2563EB"/>
                </a:solidFill>
                <a:latin typeface="Meiryo UI" panose="020B0604030504040204" pitchFamily="50" charset="-128"/>
                <a:ea typeface="Meiryo UI" panose="020B0604030504040204" pitchFamily="50" charset="-128"/>
              </a:rPr>
              <a:t>受付中止・スタッフ休憩不足を解消するため、</a:t>
            </a:r>
            <a:r>
              <a:rPr kumimoji="1" lang="en-US" altLang="ja-JP" sz="1500" b="1">
                <a:solidFill>
                  <a:srgbClr val="2563EB"/>
                </a:solidFill>
                <a:latin typeface="Meiryo UI" panose="020B0604030504040204" pitchFamily="50" charset="-128"/>
                <a:ea typeface="Meiryo UI" panose="020B0604030504040204" pitchFamily="50" charset="-128"/>
              </a:rPr>
              <a:t>4</a:t>
            </a:r>
            <a:r>
              <a:rPr kumimoji="1" lang="ja-JP" altLang="en-US" sz="1500" b="1">
                <a:solidFill>
                  <a:srgbClr val="2563EB"/>
                </a:solidFill>
                <a:latin typeface="Meiryo UI" panose="020B0604030504040204" pitchFamily="50" charset="-128"/>
                <a:ea typeface="Meiryo UI" panose="020B0604030504040204" pitchFamily="50" charset="-128"/>
              </a:rPr>
              <a:t>区画化と増員を提案</a:t>
            </a:r>
          </a:p>
        </p:txBody>
      </p:sp>
      <p:sp>
        <p:nvSpPr>
          <p:cNvPr id="11" name="四角形: 角を丸くする 10">
            <a:extLst>
              <a:ext uri="{FF2B5EF4-FFF2-40B4-BE49-F238E27FC236}">
                <a16:creationId xmlns:a16="http://schemas.microsoft.com/office/drawing/2014/main" id="{780A4CBC-CC3A-CA20-F206-2C30579A49C5}"/>
              </a:ext>
            </a:extLst>
          </p:cNvPr>
          <p:cNvSpPr/>
          <p:nvPr/>
        </p:nvSpPr>
        <p:spPr>
          <a:xfrm>
            <a:off x="254000" y="1574800"/>
            <a:ext cx="3759200" cy="4978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2EE07060-CE12-D8AD-CC48-AE6FF5E65239}"/>
              </a:ext>
            </a:extLst>
          </p:cNvPr>
          <p:cNvSpPr/>
          <p:nvPr/>
        </p:nvSpPr>
        <p:spPr>
          <a:xfrm>
            <a:off x="457200" y="1803400"/>
            <a:ext cx="3352800" cy="533400"/>
          </a:xfrm>
          <a:prstGeom prst="roundRect">
            <a:avLst>
              <a:gd name="adj" fmla="val 4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A23582D-FDE3-81F3-9F98-E9DFE0B3021D}"/>
              </a:ext>
            </a:extLst>
          </p:cNvPr>
          <p:cNvSpPr txBox="1"/>
          <p:nvPr/>
        </p:nvSpPr>
        <p:spPr>
          <a:xfrm>
            <a:off x="457200" y="1879600"/>
            <a:ext cx="3352800" cy="364202"/>
          </a:xfrm>
          <a:prstGeom prst="rect">
            <a:avLst/>
          </a:prstGeom>
          <a:noFill/>
        </p:spPr>
        <p:txBody>
          <a:bodyPr vert="horz" wrap="square" lIns="76200" tIns="50800" rIns="76200" bIns="50800" rtlCol="0">
            <a:spAutoFit/>
          </a:bodyPr>
          <a:lstStyle/>
          <a:p>
            <a:pPr algn="ctr"/>
            <a:r>
              <a:rPr kumimoji="1" lang="ja-JP" altLang="en-US" sz="1700" b="1">
                <a:solidFill>
                  <a:srgbClr val="EF4444"/>
                </a:solidFill>
                <a:latin typeface="Meiryo UI" panose="020B0604030504040204" pitchFamily="50" charset="-128"/>
                <a:ea typeface="Meiryo UI" panose="020B0604030504040204" pitchFamily="50" charset="-128"/>
              </a:rPr>
              <a:t>① </a:t>
            </a:r>
            <a:r>
              <a:rPr kumimoji="1" lang="en-US" altLang="ja-JP" sz="1700" b="1">
                <a:solidFill>
                  <a:srgbClr val="EF4444"/>
                </a:solidFill>
                <a:latin typeface="Meiryo UI" panose="020B0604030504040204" pitchFamily="50" charset="-128"/>
                <a:ea typeface="Meiryo UI" panose="020B0604030504040204" pitchFamily="50" charset="-128"/>
              </a:rPr>
              <a:t>3</a:t>
            </a:r>
            <a:r>
              <a:rPr kumimoji="1" lang="ja-JP" altLang="en-US" sz="1700" b="1">
                <a:solidFill>
                  <a:srgbClr val="EF4444"/>
                </a:solidFill>
                <a:latin typeface="Meiryo UI" panose="020B0604030504040204" pitchFamily="50" charset="-128"/>
                <a:ea typeface="Meiryo UI" panose="020B0604030504040204" pitchFamily="50" charset="-128"/>
              </a:rPr>
              <a:t>区画 ➔ </a:t>
            </a:r>
            <a:r>
              <a:rPr kumimoji="1" lang="en-US" altLang="ja-JP" sz="1700" b="1">
                <a:solidFill>
                  <a:srgbClr val="EF4444"/>
                </a:solidFill>
                <a:latin typeface="Meiryo UI" panose="020B0604030504040204" pitchFamily="50" charset="-128"/>
                <a:ea typeface="Meiryo UI" panose="020B0604030504040204" pitchFamily="50" charset="-128"/>
              </a:rPr>
              <a:t>4</a:t>
            </a:r>
            <a:r>
              <a:rPr kumimoji="1" lang="ja-JP" altLang="en-US" sz="1700" b="1">
                <a:solidFill>
                  <a:srgbClr val="EF4444"/>
                </a:solidFill>
                <a:latin typeface="Meiryo UI" panose="020B0604030504040204" pitchFamily="50" charset="-128"/>
                <a:ea typeface="Meiryo UI" panose="020B0604030504040204" pitchFamily="50" charset="-128"/>
              </a:rPr>
              <a:t>区画へ拡大</a:t>
            </a:r>
          </a:p>
        </p:txBody>
      </p:sp>
      <p:sp>
        <p:nvSpPr>
          <p:cNvPr id="14" name="テキスト ボックス 13">
            <a:extLst>
              <a:ext uri="{FF2B5EF4-FFF2-40B4-BE49-F238E27FC236}">
                <a16:creationId xmlns:a16="http://schemas.microsoft.com/office/drawing/2014/main" id="{2C126E60-9793-113B-38E8-8BE8AF622080}"/>
              </a:ext>
            </a:extLst>
          </p:cNvPr>
          <p:cNvSpPr txBox="1"/>
          <p:nvPr/>
        </p:nvSpPr>
        <p:spPr>
          <a:xfrm>
            <a:off x="482600" y="2565400"/>
            <a:ext cx="3302000" cy="1333698"/>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a:t>
            </a:r>
            <a:r>
              <a:rPr kumimoji="1" lang="ja-JP" altLang="en-US" sz="1600">
                <a:solidFill>
                  <a:srgbClr val="1E293B"/>
                </a:solidFill>
                <a:latin typeface="Meiryo UI" panose="020B0604030504040204" pitchFamily="50" charset="-128"/>
                <a:ea typeface="Meiryo UI" panose="020B0604030504040204" pitchFamily="50" charset="-128"/>
              </a:rPr>
              <a:t>区画では満席が続き、座れない方に外出を案内する機会損失が生じた。
・来年度は「</a:t>
            </a:r>
            <a:r>
              <a:rPr kumimoji="1" lang="en-US" altLang="ja-JP" sz="1600">
                <a:solidFill>
                  <a:srgbClr val="1E293B"/>
                </a:solidFill>
                <a:latin typeface="Meiryo UI" panose="020B0604030504040204" pitchFamily="50" charset="-128"/>
                <a:ea typeface="Meiryo UI" panose="020B0604030504040204" pitchFamily="50" charset="-128"/>
              </a:rPr>
              <a:t>4</a:t>
            </a:r>
            <a:r>
              <a:rPr kumimoji="1" lang="ja-JP" altLang="en-US" sz="1600">
                <a:solidFill>
                  <a:srgbClr val="1E293B"/>
                </a:solidFill>
                <a:latin typeface="Meiryo UI" panose="020B0604030504040204" pitchFamily="50" charset="-128"/>
                <a:ea typeface="Meiryo UI" panose="020B0604030504040204" pitchFamily="50" charset="-128"/>
              </a:rPr>
              <a:t>区画」を確保し、待合椅子と相談スペースを広げる。</a:t>
            </a:r>
          </a:p>
        </p:txBody>
      </p:sp>
      <p:sp>
        <p:nvSpPr>
          <p:cNvPr id="15" name="四角形: 角を丸くする 14">
            <a:extLst>
              <a:ext uri="{FF2B5EF4-FFF2-40B4-BE49-F238E27FC236}">
                <a16:creationId xmlns:a16="http://schemas.microsoft.com/office/drawing/2014/main" id="{9684A8F8-976C-2B68-A6CA-69978D59BDE1}"/>
              </a:ext>
            </a:extLst>
          </p:cNvPr>
          <p:cNvSpPr/>
          <p:nvPr/>
        </p:nvSpPr>
        <p:spPr>
          <a:xfrm>
            <a:off x="4216400" y="1574800"/>
            <a:ext cx="3759200" cy="4978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1D27FE1-23A4-0A24-CE41-2B66FD819381}"/>
              </a:ext>
            </a:extLst>
          </p:cNvPr>
          <p:cNvSpPr/>
          <p:nvPr/>
        </p:nvSpPr>
        <p:spPr>
          <a:xfrm>
            <a:off x="4419600" y="1803400"/>
            <a:ext cx="3352800" cy="5334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018E32BE-C04F-08EA-D737-811DBF6C409B}"/>
              </a:ext>
            </a:extLst>
          </p:cNvPr>
          <p:cNvSpPr txBox="1"/>
          <p:nvPr/>
        </p:nvSpPr>
        <p:spPr>
          <a:xfrm>
            <a:off x="4419600" y="1879600"/>
            <a:ext cx="3352800" cy="364202"/>
          </a:xfrm>
          <a:prstGeom prst="rect">
            <a:avLst/>
          </a:prstGeom>
          <a:noFill/>
        </p:spPr>
        <p:txBody>
          <a:bodyPr vert="horz" wrap="square" lIns="76200" tIns="50800" rIns="76200" bIns="50800" rtlCol="0">
            <a:spAutoFit/>
          </a:bodyPr>
          <a:lstStyle/>
          <a:p>
            <a:pPr algn="ctr"/>
            <a:r>
              <a:rPr kumimoji="1" lang="ja-JP" altLang="en-US" sz="1700" b="1">
                <a:solidFill>
                  <a:srgbClr val="F59E0B"/>
                </a:solidFill>
                <a:latin typeface="Meiryo UI" panose="020B0604030504040204" pitchFamily="50" charset="-128"/>
                <a:ea typeface="Meiryo UI" panose="020B0604030504040204" pitchFamily="50" charset="-128"/>
              </a:rPr>
              <a:t>② 増員と休憩</a:t>
            </a:r>
            <a:r>
              <a:rPr kumimoji="1" lang="en-US" altLang="ja-JP" sz="1700" b="1">
                <a:solidFill>
                  <a:srgbClr val="F59E0B"/>
                </a:solidFill>
                <a:latin typeface="Meiryo UI" panose="020B0604030504040204" pitchFamily="50" charset="-128"/>
                <a:ea typeface="Meiryo UI" panose="020B0604030504040204" pitchFamily="50" charset="-128"/>
              </a:rPr>
              <a:t>1</a:t>
            </a:r>
            <a:r>
              <a:rPr kumimoji="1" lang="ja-JP" altLang="en-US" sz="1700" b="1">
                <a:solidFill>
                  <a:srgbClr val="F59E0B"/>
                </a:solidFill>
                <a:latin typeface="Meiryo UI" panose="020B0604030504040204" pitchFamily="50" charset="-128"/>
                <a:ea typeface="Meiryo UI" panose="020B0604030504040204" pitchFamily="50" charset="-128"/>
              </a:rPr>
              <a:t>時間の確保</a:t>
            </a:r>
          </a:p>
        </p:txBody>
      </p:sp>
      <p:sp>
        <p:nvSpPr>
          <p:cNvPr id="18" name="テキスト ボックス 17">
            <a:extLst>
              <a:ext uri="{FF2B5EF4-FFF2-40B4-BE49-F238E27FC236}">
                <a16:creationId xmlns:a16="http://schemas.microsoft.com/office/drawing/2014/main" id="{E968DF77-87D3-870C-7D96-6CFA6A1BD666}"/>
              </a:ext>
            </a:extLst>
          </p:cNvPr>
          <p:cNvSpPr txBox="1"/>
          <p:nvPr/>
        </p:nvSpPr>
        <p:spPr>
          <a:xfrm>
            <a:off x="4445000" y="2565400"/>
            <a:ext cx="3302000" cy="1579920"/>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・スタッフの</a:t>
            </a:r>
            <a:r>
              <a:rPr kumimoji="1" lang="en-US" altLang="ja-JP" sz="1600">
                <a:solidFill>
                  <a:srgbClr val="1E293B"/>
                </a:solidFill>
                <a:latin typeface="Meiryo UI" panose="020B0604030504040204" pitchFamily="50" charset="-128"/>
                <a:ea typeface="Meiryo UI" panose="020B0604030504040204" pitchFamily="50" charset="-128"/>
              </a:rPr>
              <a:t>76.9%</a:t>
            </a:r>
            <a:r>
              <a:rPr kumimoji="1" lang="ja-JP" altLang="en-US" sz="1600">
                <a:solidFill>
                  <a:srgbClr val="1E293B"/>
                </a:solidFill>
                <a:latin typeface="Meiryo UI" panose="020B0604030504040204" pitchFamily="50" charset="-128"/>
                <a:ea typeface="Meiryo UI" panose="020B0604030504040204" pitchFamily="50" charset="-128"/>
              </a:rPr>
              <a:t>が人員不足（休憩</a:t>
            </a:r>
            <a:r>
              <a:rPr kumimoji="1" lang="en-US" altLang="ja-JP" sz="1600">
                <a:solidFill>
                  <a:srgbClr val="1E293B"/>
                </a:solidFill>
                <a:latin typeface="Meiryo UI" panose="020B0604030504040204" pitchFamily="50" charset="-128"/>
                <a:ea typeface="Meiryo UI" panose="020B0604030504040204" pitchFamily="50" charset="-128"/>
              </a:rPr>
              <a:t>10〜15</a:t>
            </a:r>
            <a:r>
              <a:rPr kumimoji="1" lang="ja-JP" altLang="en-US" sz="1600">
                <a:solidFill>
                  <a:srgbClr val="1E293B"/>
                </a:solidFill>
                <a:latin typeface="Meiryo UI" panose="020B0604030504040204" pitchFamily="50" charset="-128"/>
                <a:ea typeface="Meiryo UI" panose="020B0604030504040204" pitchFamily="50" charset="-128"/>
              </a:rPr>
              <a:t>分のみ）を課題に挙げた。
・各部署の参加人数を増やし「休憩</a:t>
            </a:r>
            <a:r>
              <a:rPr kumimoji="1" lang="en-US" altLang="ja-JP" sz="1600">
                <a:solidFill>
                  <a:srgbClr val="1E293B"/>
                </a:solidFill>
                <a:latin typeface="Meiryo UI" panose="020B0604030504040204" pitchFamily="50" charset="-128"/>
                <a:ea typeface="Meiryo UI" panose="020B0604030504040204" pitchFamily="50" charset="-128"/>
              </a:rPr>
              <a:t>1</a:t>
            </a:r>
            <a:r>
              <a:rPr kumimoji="1" lang="ja-JP" altLang="en-US" sz="1600">
                <a:solidFill>
                  <a:srgbClr val="1E293B"/>
                </a:solidFill>
                <a:latin typeface="Meiryo UI" panose="020B0604030504040204" pitchFamily="50" charset="-128"/>
                <a:ea typeface="Meiryo UI" panose="020B0604030504040204" pitchFamily="50" charset="-128"/>
              </a:rPr>
              <a:t>時間」を確保するとともに、「全体統括」と「誘導係（整理券方式）」を置く。</a:t>
            </a:r>
          </a:p>
        </p:txBody>
      </p:sp>
      <p:sp>
        <p:nvSpPr>
          <p:cNvPr id="19" name="四角形: 角を丸くする 18">
            <a:extLst>
              <a:ext uri="{FF2B5EF4-FFF2-40B4-BE49-F238E27FC236}">
                <a16:creationId xmlns:a16="http://schemas.microsoft.com/office/drawing/2014/main" id="{694DCCCF-D5CB-0E2D-58B8-36050C81537C}"/>
              </a:ext>
            </a:extLst>
          </p:cNvPr>
          <p:cNvSpPr/>
          <p:nvPr/>
        </p:nvSpPr>
        <p:spPr>
          <a:xfrm>
            <a:off x="8178800" y="1574800"/>
            <a:ext cx="3759200" cy="4978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816D625-1EB4-3991-0BD5-7D750344E6D9}"/>
              </a:ext>
            </a:extLst>
          </p:cNvPr>
          <p:cNvSpPr/>
          <p:nvPr/>
        </p:nvSpPr>
        <p:spPr>
          <a:xfrm>
            <a:off x="8382000" y="1803400"/>
            <a:ext cx="3352800" cy="5334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A9A13F7D-DF61-F407-DCD3-ABD5E3374D2A}"/>
              </a:ext>
            </a:extLst>
          </p:cNvPr>
          <p:cNvSpPr txBox="1"/>
          <p:nvPr/>
        </p:nvSpPr>
        <p:spPr>
          <a:xfrm>
            <a:off x="8382000" y="1879600"/>
            <a:ext cx="3352800" cy="364202"/>
          </a:xfrm>
          <a:prstGeom prst="rect">
            <a:avLst/>
          </a:prstGeom>
          <a:noFill/>
        </p:spPr>
        <p:txBody>
          <a:bodyPr vert="horz" wrap="square" lIns="76200" tIns="50800" rIns="76200" bIns="50800" rtlCol="0">
            <a:spAutoFit/>
          </a:bodyPr>
          <a:lstStyle/>
          <a:p>
            <a:pPr algn="ctr"/>
            <a:r>
              <a:rPr kumimoji="1" lang="en-US" altLang="ja-JP" sz="1700" b="1">
                <a:solidFill>
                  <a:srgbClr val="2563EB"/>
                </a:solidFill>
                <a:latin typeface="Meiryo UI" panose="020B0604030504040204" pitchFamily="50" charset="-128"/>
                <a:ea typeface="Meiryo UI" panose="020B0604030504040204" pitchFamily="50" charset="-128"/>
              </a:rPr>
              <a:t>③ InBody2</a:t>
            </a:r>
            <a:r>
              <a:rPr kumimoji="1" lang="ja-JP" altLang="en-US" sz="1700" b="1">
                <a:solidFill>
                  <a:srgbClr val="2563EB"/>
                </a:solidFill>
                <a:latin typeface="Meiryo UI" panose="020B0604030504040204" pitchFamily="50" charset="-128"/>
                <a:ea typeface="Meiryo UI" panose="020B0604030504040204" pitchFamily="50" charset="-128"/>
              </a:rPr>
              <a:t>台・</a:t>
            </a:r>
            <a:r>
              <a:rPr kumimoji="1" lang="en-US" altLang="ja-JP" sz="1700" b="1">
                <a:solidFill>
                  <a:srgbClr val="2563EB"/>
                </a:solidFill>
                <a:latin typeface="Meiryo UI" panose="020B0604030504040204" pitchFamily="50" charset="-128"/>
                <a:ea typeface="Meiryo UI" panose="020B0604030504040204" pitchFamily="50" charset="-128"/>
              </a:rPr>
              <a:t>PR</a:t>
            </a:r>
            <a:r>
              <a:rPr kumimoji="1" lang="ja-JP" altLang="en-US" sz="1700" b="1">
                <a:solidFill>
                  <a:srgbClr val="2563EB"/>
                </a:solidFill>
                <a:latin typeface="Meiryo UI" panose="020B0604030504040204" pitchFamily="50" charset="-128"/>
                <a:ea typeface="Meiryo UI" panose="020B0604030504040204" pitchFamily="50" charset="-128"/>
              </a:rPr>
              <a:t>パネル</a:t>
            </a:r>
          </a:p>
        </p:txBody>
      </p:sp>
      <p:sp>
        <p:nvSpPr>
          <p:cNvPr id="22" name="テキスト ボックス 21">
            <a:extLst>
              <a:ext uri="{FF2B5EF4-FFF2-40B4-BE49-F238E27FC236}">
                <a16:creationId xmlns:a16="http://schemas.microsoft.com/office/drawing/2014/main" id="{9597D428-E11E-079F-E6EE-D195943BFA42}"/>
              </a:ext>
            </a:extLst>
          </p:cNvPr>
          <p:cNvSpPr txBox="1"/>
          <p:nvPr/>
        </p:nvSpPr>
        <p:spPr>
          <a:xfrm>
            <a:off x="8407400" y="2565400"/>
            <a:ext cx="3302000" cy="1579920"/>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30</a:t>
            </a:r>
            <a:r>
              <a:rPr kumimoji="1" lang="ja-JP" altLang="en-US" sz="1600">
                <a:solidFill>
                  <a:srgbClr val="1E293B"/>
                </a:solidFill>
                <a:latin typeface="Meiryo UI" panose="020B0604030504040204" pitchFamily="50" charset="-128"/>
                <a:ea typeface="Meiryo UI" panose="020B0604030504040204" pitchFamily="50" charset="-128"/>
              </a:rPr>
              <a:t>分待ちで受付中止となった</a:t>
            </a:r>
            <a:r>
              <a:rPr kumimoji="1" lang="en-US" altLang="ja-JP" sz="1600">
                <a:solidFill>
                  <a:srgbClr val="1E293B"/>
                </a:solidFill>
                <a:latin typeface="Meiryo UI" panose="020B0604030504040204" pitchFamily="50" charset="-128"/>
                <a:ea typeface="Meiryo UI" panose="020B0604030504040204" pitchFamily="50" charset="-128"/>
              </a:rPr>
              <a:t>InBody</a:t>
            </a:r>
            <a:r>
              <a:rPr kumimoji="1" lang="ja-JP" altLang="en-US" sz="1600">
                <a:solidFill>
                  <a:srgbClr val="1E293B"/>
                </a:solidFill>
                <a:latin typeface="Meiryo UI" panose="020B0604030504040204" pitchFamily="50" charset="-128"/>
                <a:ea typeface="Meiryo UI" panose="020B0604030504040204" pitchFamily="50" charset="-128"/>
              </a:rPr>
              <a:t>を「</a:t>
            </a:r>
            <a:r>
              <a:rPr kumimoji="1" lang="en-US" altLang="ja-JP" sz="1600">
                <a:solidFill>
                  <a:srgbClr val="1E293B"/>
                </a:solidFill>
                <a:latin typeface="Meiryo UI" panose="020B0604030504040204" pitchFamily="50" charset="-128"/>
                <a:ea typeface="Meiryo UI" panose="020B0604030504040204" pitchFamily="50" charset="-128"/>
              </a:rPr>
              <a:t>2</a:t>
            </a:r>
            <a:r>
              <a:rPr kumimoji="1" lang="ja-JP" altLang="en-US" sz="1600">
                <a:solidFill>
                  <a:srgbClr val="1E293B"/>
                </a:solidFill>
                <a:latin typeface="Meiryo UI" panose="020B0604030504040204" pitchFamily="50" charset="-128"/>
                <a:ea typeface="Meiryo UI" panose="020B0604030504040204" pitchFamily="50" charset="-128"/>
              </a:rPr>
              <a:t>台体制」にする。
・リハ病院の役割を伝える「広報誌・病院紹介パネル」を持参し、靴ベラ・バインダー・ノベルティを拡充する。</a:t>
            </a:r>
          </a:p>
        </p:txBody>
      </p:sp>
    </p:spTree>
    <p:extLst>
      <p:ext uri="{BB962C8B-B14F-4D97-AF65-F5344CB8AC3E}">
        <p14:creationId xmlns:p14="http://schemas.microsoft.com/office/powerpoint/2010/main" val="22931574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B43D4D4-68D3-76AA-7F7D-F3E669B5ECF5}"/>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B5F539D-C777-2F81-4787-54E9D48028A9}"/>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66EFB66-FA8E-C18E-6751-1A619CEAC89F}"/>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5D82B28-CDB3-A5C7-5C86-7B412B5DF7B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CN" altLang="en-US" sz="1250" b="1">
                <a:solidFill>
                  <a:srgbClr val="FFFFFF"/>
                </a:solidFill>
                <a:latin typeface="Meiryo UI" panose="020B0604030504040204" pitchFamily="50" charset="-128"/>
                <a:ea typeface="Meiryo UI" panose="020B0604030504040204" pitchFamily="50" charset="-128"/>
              </a:rPr>
              <a:t>第</a:t>
            </a:r>
            <a:r>
              <a:rPr kumimoji="1" lang="en-US" altLang="zh-CN" sz="1250" b="1">
                <a:solidFill>
                  <a:srgbClr val="FFFFFF"/>
                </a:solidFill>
                <a:latin typeface="Meiryo UI" panose="020B0604030504040204" pitchFamily="50" charset="-128"/>
                <a:ea typeface="Meiryo UI" panose="020B0604030504040204" pitchFamily="50" charset="-128"/>
              </a:rPr>
              <a:t>4</a:t>
            </a:r>
            <a:r>
              <a:rPr kumimoji="1" lang="zh-CN" altLang="en-US" sz="1250" b="1">
                <a:solidFill>
                  <a:srgbClr val="FFFFFF"/>
                </a:solidFill>
                <a:latin typeface="Meiryo UI" panose="020B0604030504040204" pitchFamily="50" charset="-128"/>
                <a:ea typeface="Meiryo UI" panose="020B0604030504040204" pitchFamily="50" charset="-128"/>
              </a:rPr>
              <a:t>部：来年度提案②</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E63508A6-9C2B-F974-F673-8A3AAB2DC835}"/>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今後の知名度向上に向けたアクション（定期的な健康教室）</a:t>
            </a:r>
          </a:p>
        </p:txBody>
      </p:sp>
      <p:sp>
        <p:nvSpPr>
          <p:cNvPr id="7" name="四角形: 角を丸くする 6">
            <a:extLst>
              <a:ext uri="{FF2B5EF4-FFF2-40B4-BE49-F238E27FC236}">
                <a16:creationId xmlns:a16="http://schemas.microsoft.com/office/drawing/2014/main" id="{A2160408-8A5A-DD18-58C2-A9591DD62913}"/>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73DEE56-A10A-5494-6E3D-92DFA42A7335}"/>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21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FF37973-08D3-09F1-635D-F76489AC972E}"/>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CD89DE8-4BC3-17B0-5262-6BE126B7654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Q4</a:t>
            </a:r>
            <a:r>
              <a:rPr kumimoji="1" lang="ja-JP" altLang="en-US" sz="1500" b="1">
                <a:solidFill>
                  <a:srgbClr val="10B981"/>
                </a:solidFill>
                <a:latin typeface="Meiryo UI" panose="020B0604030504040204" pitchFamily="50" charset="-128"/>
                <a:ea typeface="Meiryo UI" panose="020B0604030504040204" pitchFamily="50" charset="-128"/>
              </a:rPr>
              <a:t>で判明した地域住民の</a:t>
            </a:r>
            <a:r>
              <a:rPr kumimoji="1" lang="en-US" altLang="ja-JP" sz="1500" b="1">
                <a:solidFill>
                  <a:srgbClr val="10B981"/>
                </a:solidFill>
                <a:latin typeface="Meiryo UI" panose="020B0604030504040204" pitchFamily="50" charset="-128"/>
                <a:ea typeface="Meiryo UI" panose="020B0604030504040204" pitchFamily="50" charset="-128"/>
              </a:rPr>
              <a:t>4</a:t>
            </a:r>
            <a:r>
              <a:rPr kumimoji="1" lang="ja-JP" altLang="en-US" sz="1500" b="1">
                <a:solidFill>
                  <a:srgbClr val="10B981"/>
                </a:solidFill>
                <a:latin typeface="Meiryo UI" panose="020B0604030504040204" pitchFamily="50" charset="-128"/>
                <a:ea typeface="Meiryo UI" panose="020B0604030504040204" pitchFamily="50" charset="-128"/>
              </a:rPr>
              <a:t>大関心テーマ（各</a:t>
            </a:r>
            <a:r>
              <a:rPr kumimoji="1" lang="en-US" altLang="ja-JP" sz="1500" b="1">
                <a:solidFill>
                  <a:srgbClr val="10B981"/>
                </a:solidFill>
                <a:latin typeface="Meiryo UI" panose="020B0604030504040204" pitchFamily="50" charset="-128"/>
                <a:ea typeface="Meiryo UI" panose="020B0604030504040204" pitchFamily="50" charset="-128"/>
              </a:rPr>
              <a:t>30%</a:t>
            </a:r>
            <a:r>
              <a:rPr kumimoji="1" lang="ja-JP" altLang="en-US" sz="1500" b="1">
                <a:solidFill>
                  <a:srgbClr val="10B981"/>
                </a:solidFill>
                <a:latin typeface="Meiryo UI" panose="020B0604030504040204" pitchFamily="50" charset="-128"/>
                <a:ea typeface="Meiryo UI" panose="020B0604030504040204" pitchFamily="50" charset="-128"/>
              </a:rPr>
              <a:t>超）を活かし、健康教室でコツコツ認知を広げる</a:t>
            </a:r>
          </a:p>
        </p:txBody>
      </p:sp>
      <p:sp>
        <p:nvSpPr>
          <p:cNvPr id="11" name="四角形: 角を丸くする 10">
            <a:extLst>
              <a:ext uri="{FF2B5EF4-FFF2-40B4-BE49-F238E27FC236}">
                <a16:creationId xmlns:a16="http://schemas.microsoft.com/office/drawing/2014/main" id="{CBBB83CD-C1F8-58E4-48E1-B856ADBA4A8E}"/>
              </a:ext>
            </a:extLst>
          </p:cNvPr>
          <p:cNvSpPr/>
          <p:nvPr/>
        </p:nvSpPr>
        <p:spPr>
          <a:xfrm>
            <a:off x="254000" y="15748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E25EC521-250B-A7D3-2660-4CA28C07CF1D}"/>
              </a:ext>
            </a:extLst>
          </p:cNvPr>
          <p:cNvSpPr/>
          <p:nvPr/>
        </p:nvSpPr>
        <p:spPr>
          <a:xfrm>
            <a:off x="457200" y="1752600"/>
            <a:ext cx="5334000" cy="4318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931AAD8-15CD-5E0E-D672-DFFFA1F295DE}"/>
              </a:ext>
            </a:extLst>
          </p:cNvPr>
          <p:cNvSpPr txBox="1"/>
          <p:nvPr/>
        </p:nvSpPr>
        <p:spPr>
          <a:xfrm>
            <a:off x="558800" y="1790700"/>
            <a:ext cx="5130800" cy="348813"/>
          </a:xfrm>
          <a:prstGeom prst="rect">
            <a:avLst/>
          </a:prstGeom>
          <a:noFill/>
        </p:spPr>
        <p:txBody>
          <a:bodyPr vert="horz" wrap="square" lIns="76200" tIns="50800" rIns="76200" bIns="50800" rtlCol="0">
            <a:spAutoFit/>
          </a:bodyPr>
          <a:lstStyle/>
          <a:p>
            <a:r>
              <a:rPr kumimoji="1" lang="ja-JP" altLang="en-US" sz="1600" b="1">
                <a:solidFill>
                  <a:srgbClr val="2563EB"/>
                </a:solidFill>
                <a:latin typeface="Meiryo UI" panose="020B0604030504040204" pitchFamily="50" charset="-128"/>
                <a:ea typeface="Meiryo UI" panose="020B0604030504040204" pitchFamily="50" charset="-128"/>
              </a:rPr>
              <a:t>テーマ① 転倒予防・運動 </a:t>
            </a:r>
            <a:r>
              <a:rPr kumimoji="1" lang="en-US" altLang="ja-JP" sz="1600" b="1">
                <a:solidFill>
                  <a:srgbClr val="2563EB"/>
                </a:solidFill>
                <a:latin typeface="Meiryo UI" panose="020B0604030504040204" pitchFamily="50" charset="-128"/>
                <a:ea typeface="Meiryo UI" panose="020B0604030504040204" pitchFamily="50" charset="-128"/>
              </a:rPr>
              <a:t>(39.4%)</a:t>
            </a:r>
            <a:endParaRPr kumimoji="1" lang="ja-JP" altLang="en-US" sz="1600" b="1">
              <a:solidFill>
                <a:srgbClr val="2563EB"/>
              </a:solidFill>
              <a:latin typeface="Meiryo UI" panose="020B0604030504040204" pitchFamily="50" charset="-128"/>
              <a:ea typeface="Meiryo UI" panose="020B0604030504040204" pitchFamily="50" charset="-128"/>
            </a:endParaRPr>
          </a:p>
        </p:txBody>
      </p:sp>
      <p:sp>
        <p:nvSpPr>
          <p:cNvPr id="14" name="テキスト ボックス 13">
            <a:extLst>
              <a:ext uri="{FF2B5EF4-FFF2-40B4-BE49-F238E27FC236}">
                <a16:creationId xmlns:a16="http://schemas.microsoft.com/office/drawing/2014/main" id="{5991BEF8-30AC-B75F-25E8-F5E24C9F6908}"/>
              </a:ext>
            </a:extLst>
          </p:cNvPr>
          <p:cNvSpPr txBox="1"/>
          <p:nvPr/>
        </p:nvSpPr>
        <p:spPr>
          <a:xfrm>
            <a:off x="558800" y="2286000"/>
            <a:ext cx="5130800" cy="333425"/>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自宅でできるストレッチや筋力維持・バランスチェック（</a:t>
            </a:r>
            <a:r>
              <a:rPr kumimoji="1" lang="en-US" altLang="ja-JP" sz="1500">
                <a:solidFill>
                  <a:srgbClr val="1E293B"/>
                </a:solidFill>
                <a:latin typeface="Meiryo UI" panose="020B0604030504040204" pitchFamily="50" charset="-128"/>
                <a:ea typeface="Meiryo UI" panose="020B0604030504040204" pitchFamily="50" charset="-128"/>
              </a:rPr>
              <a:t>PT/OT</a:t>
            </a:r>
            <a:r>
              <a:rPr kumimoji="1" lang="ja-JP" altLang="en-US" sz="1500">
                <a:solidFill>
                  <a:srgbClr val="1E293B"/>
                </a:solidFill>
                <a:latin typeface="Meiryo UI" panose="020B0604030504040204" pitchFamily="50" charset="-128"/>
                <a:ea typeface="Meiryo UI" panose="020B0604030504040204" pitchFamily="50" charset="-128"/>
              </a:rPr>
              <a:t>）</a:t>
            </a:r>
          </a:p>
        </p:txBody>
      </p:sp>
      <p:sp>
        <p:nvSpPr>
          <p:cNvPr id="15" name="四角形: 角を丸くする 14">
            <a:extLst>
              <a:ext uri="{FF2B5EF4-FFF2-40B4-BE49-F238E27FC236}">
                <a16:creationId xmlns:a16="http://schemas.microsoft.com/office/drawing/2014/main" id="{A9EDA0BE-AC1C-BD2D-E1DB-B662062DBD13}"/>
              </a:ext>
            </a:extLst>
          </p:cNvPr>
          <p:cNvSpPr/>
          <p:nvPr/>
        </p:nvSpPr>
        <p:spPr>
          <a:xfrm>
            <a:off x="6197600" y="15748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7AD7BC72-B69B-9181-C1F8-1275E9B4F6E8}"/>
              </a:ext>
            </a:extLst>
          </p:cNvPr>
          <p:cNvSpPr/>
          <p:nvPr/>
        </p:nvSpPr>
        <p:spPr>
          <a:xfrm>
            <a:off x="6400800" y="1752600"/>
            <a:ext cx="5334000" cy="4318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E7D1477-B97F-5564-079D-AA9A494ED99B}"/>
              </a:ext>
            </a:extLst>
          </p:cNvPr>
          <p:cNvSpPr txBox="1"/>
          <p:nvPr/>
        </p:nvSpPr>
        <p:spPr>
          <a:xfrm>
            <a:off x="6502400" y="1790700"/>
            <a:ext cx="5130800" cy="348813"/>
          </a:xfrm>
          <a:prstGeom prst="rect">
            <a:avLst/>
          </a:prstGeom>
          <a:noFill/>
        </p:spPr>
        <p:txBody>
          <a:bodyPr vert="horz" wrap="square" lIns="76200" tIns="50800" rIns="76200" bIns="50800" rtlCol="0">
            <a:spAutoFit/>
          </a:bodyPr>
          <a:lstStyle/>
          <a:p>
            <a:r>
              <a:rPr kumimoji="1" lang="ja-JP" altLang="en-US" sz="1600" b="1">
                <a:solidFill>
                  <a:srgbClr val="10B981"/>
                </a:solidFill>
                <a:latin typeface="Meiryo UI" panose="020B0604030504040204" pitchFamily="50" charset="-128"/>
                <a:ea typeface="Meiryo UI" panose="020B0604030504040204" pitchFamily="50" charset="-128"/>
              </a:rPr>
              <a:t>テーマ② 食事・栄養バランス </a:t>
            </a:r>
            <a:r>
              <a:rPr kumimoji="1" lang="en-US" altLang="ja-JP" sz="1600" b="1">
                <a:solidFill>
                  <a:srgbClr val="10B981"/>
                </a:solidFill>
                <a:latin typeface="Meiryo UI" panose="020B0604030504040204" pitchFamily="50" charset="-128"/>
                <a:ea typeface="Meiryo UI" panose="020B0604030504040204" pitchFamily="50" charset="-128"/>
              </a:rPr>
              <a:t>(33.5%)</a:t>
            </a:r>
            <a:endParaRPr kumimoji="1" lang="ja-JP" altLang="en-US" sz="1600" b="1">
              <a:solidFill>
                <a:srgbClr val="10B981"/>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EC0A708F-6F1B-44D2-CFB0-615B62561BB8}"/>
              </a:ext>
            </a:extLst>
          </p:cNvPr>
          <p:cNvSpPr txBox="1"/>
          <p:nvPr/>
        </p:nvSpPr>
        <p:spPr>
          <a:xfrm>
            <a:off x="6502400" y="2286000"/>
            <a:ext cx="5130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筋肉量を維持する食事や生活習慣病予防の栄養講座（管理栄養士）</a:t>
            </a:r>
          </a:p>
        </p:txBody>
      </p:sp>
      <p:sp>
        <p:nvSpPr>
          <p:cNvPr id="19" name="四角形: 角を丸くする 18">
            <a:extLst>
              <a:ext uri="{FF2B5EF4-FFF2-40B4-BE49-F238E27FC236}">
                <a16:creationId xmlns:a16="http://schemas.microsoft.com/office/drawing/2014/main" id="{E739A840-0982-A961-9C6E-F2E39EA794EE}"/>
              </a:ext>
            </a:extLst>
          </p:cNvPr>
          <p:cNvSpPr/>
          <p:nvPr/>
        </p:nvSpPr>
        <p:spPr>
          <a:xfrm>
            <a:off x="254000" y="33274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8BDDD8C9-1E0C-F66A-429F-6F8C240625A7}"/>
              </a:ext>
            </a:extLst>
          </p:cNvPr>
          <p:cNvSpPr/>
          <p:nvPr/>
        </p:nvSpPr>
        <p:spPr>
          <a:xfrm>
            <a:off x="457200" y="3505200"/>
            <a:ext cx="5334000" cy="4318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718E6E3C-117D-45EA-0C2E-18257020B0DC}"/>
              </a:ext>
            </a:extLst>
          </p:cNvPr>
          <p:cNvSpPr txBox="1"/>
          <p:nvPr/>
        </p:nvSpPr>
        <p:spPr>
          <a:xfrm>
            <a:off x="558800" y="3543300"/>
            <a:ext cx="5130800" cy="348813"/>
          </a:xfrm>
          <a:prstGeom prst="rect">
            <a:avLst/>
          </a:prstGeom>
          <a:noFill/>
        </p:spPr>
        <p:txBody>
          <a:bodyPr vert="horz" wrap="square" lIns="76200" tIns="50800" rIns="76200" bIns="50800" rtlCol="0">
            <a:spAutoFit/>
          </a:bodyPr>
          <a:lstStyle/>
          <a:p>
            <a:r>
              <a:rPr kumimoji="1" lang="ja-JP" altLang="en-US" sz="1600" b="1">
                <a:solidFill>
                  <a:srgbClr val="F59E0B"/>
                </a:solidFill>
                <a:latin typeface="Meiryo UI" panose="020B0604030504040204" pitchFamily="50" charset="-128"/>
                <a:ea typeface="Meiryo UI" panose="020B0604030504040204" pitchFamily="50" charset="-128"/>
              </a:rPr>
              <a:t>テーマ③ 物忘れ・認知機能 </a:t>
            </a:r>
            <a:r>
              <a:rPr kumimoji="1" lang="en-US" altLang="ja-JP" sz="1600" b="1">
                <a:solidFill>
                  <a:srgbClr val="F59E0B"/>
                </a:solidFill>
                <a:latin typeface="Meiryo UI" panose="020B0604030504040204" pitchFamily="50" charset="-128"/>
                <a:ea typeface="Meiryo UI" panose="020B0604030504040204" pitchFamily="50" charset="-128"/>
              </a:rPr>
              <a:t>(33.1%)</a:t>
            </a:r>
            <a:endParaRPr kumimoji="1" lang="ja-JP" altLang="en-US" sz="1600" b="1">
              <a:solidFill>
                <a:srgbClr val="F59E0B"/>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A678CA2A-B4E5-C288-8FB9-3E4D29AC7B94}"/>
              </a:ext>
            </a:extLst>
          </p:cNvPr>
          <p:cNvSpPr txBox="1"/>
          <p:nvPr/>
        </p:nvSpPr>
        <p:spPr>
          <a:xfrm>
            <a:off x="558800" y="4038600"/>
            <a:ext cx="5130800" cy="333425"/>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認知症予防・フレイル予防のチェックと生活指導（リハ・看護）</a:t>
            </a:r>
          </a:p>
        </p:txBody>
      </p:sp>
      <p:sp>
        <p:nvSpPr>
          <p:cNvPr id="23" name="四角形: 角を丸くする 22">
            <a:extLst>
              <a:ext uri="{FF2B5EF4-FFF2-40B4-BE49-F238E27FC236}">
                <a16:creationId xmlns:a16="http://schemas.microsoft.com/office/drawing/2014/main" id="{1CBA2094-6964-23D3-6668-289CF618DF03}"/>
              </a:ext>
            </a:extLst>
          </p:cNvPr>
          <p:cNvSpPr/>
          <p:nvPr/>
        </p:nvSpPr>
        <p:spPr>
          <a:xfrm>
            <a:off x="6197600" y="33274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DD088368-D36A-5FB1-F158-F743F3C1D31C}"/>
              </a:ext>
            </a:extLst>
          </p:cNvPr>
          <p:cNvSpPr/>
          <p:nvPr/>
        </p:nvSpPr>
        <p:spPr>
          <a:xfrm>
            <a:off x="6400800" y="3505200"/>
            <a:ext cx="5334000" cy="431800"/>
          </a:xfrm>
          <a:prstGeom prst="roundRect">
            <a:avLst>
              <a:gd name="adj" fmla="val 40000"/>
            </a:avLst>
          </a:prstGeom>
          <a:solidFill>
            <a:srgbClr val="F5F3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4A0EA7F-5A23-DFF1-2D17-BD6DAA388954}"/>
              </a:ext>
            </a:extLst>
          </p:cNvPr>
          <p:cNvSpPr txBox="1"/>
          <p:nvPr/>
        </p:nvSpPr>
        <p:spPr>
          <a:xfrm>
            <a:off x="6502400" y="3543300"/>
            <a:ext cx="5130800" cy="348813"/>
          </a:xfrm>
          <a:prstGeom prst="rect">
            <a:avLst/>
          </a:prstGeom>
          <a:noFill/>
        </p:spPr>
        <p:txBody>
          <a:bodyPr vert="horz" wrap="square" lIns="76200" tIns="50800" rIns="76200" bIns="50800" rtlCol="0">
            <a:spAutoFit/>
          </a:bodyPr>
          <a:lstStyle/>
          <a:p>
            <a:r>
              <a:rPr kumimoji="1" lang="ja-JP" altLang="en-US" sz="1600" b="1">
                <a:solidFill>
                  <a:srgbClr val="8B5CF6"/>
                </a:solidFill>
                <a:latin typeface="Meiryo UI" panose="020B0604030504040204" pitchFamily="50" charset="-128"/>
                <a:ea typeface="Meiryo UI" panose="020B0604030504040204" pitchFamily="50" charset="-128"/>
              </a:rPr>
              <a:t>テーマ④ 将来の介護や終活 </a:t>
            </a:r>
            <a:r>
              <a:rPr kumimoji="1" lang="en-US" altLang="ja-JP" sz="1600" b="1">
                <a:solidFill>
                  <a:srgbClr val="8B5CF6"/>
                </a:solidFill>
                <a:latin typeface="Meiryo UI" panose="020B0604030504040204" pitchFamily="50" charset="-128"/>
                <a:ea typeface="Meiryo UI" panose="020B0604030504040204" pitchFamily="50" charset="-128"/>
              </a:rPr>
              <a:t>(30.1%)</a:t>
            </a:r>
            <a:endParaRPr kumimoji="1" lang="ja-JP" altLang="en-US" sz="1600" b="1">
              <a:solidFill>
                <a:srgbClr val="8B5CF6"/>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63D8B9C6-2C0A-C7D2-40BE-C569F815AA1A}"/>
              </a:ext>
            </a:extLst>
          </p:cNvPr>
          <p:cNvSpPr txBox="1"/>
          <p:nvPr/>
        </p:nvSpPr>
        <p:spPr>
          <a:xfrm>
            <a:off x="6502400" y="4038600"/>
            <a:ext cx="5130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回復期リハ入院や訪問・通所リハの仕組み、介護相談（連携室・薬剤）</a:t>
            </a:r>
          </a:p>
        </p:txBody>
      </p:sp>
      <p:sp>
        <p:nvSpPr>
          <p:cNvPr id="27" name="四角形: 角を丸くする 26">
            <a:extLst>
              <a:ext uri="{FF2B5EF4-FFF2-40B4-BE49-F238E27FC236}">
                <a16:creationId xmlns:a16="http://schemas.microsoft.com/office/drawing/2014/main" id="{5F72E3B7-5422-740F-6870-8BB58D6885CE}"/>
              </a:ext>
            </a:extLst>
          </p:cNvPr>
          <p:cNvSpPr/>
          <p:nvPr/>
        </p:nvSpPr>
        <p:spPr>
          <a:xfrm>
            <a:off x="254000" y="5156200"/>
            <a:ext cx="11684000" cy="1397000"/>
          </a:xfrm>
          <a:prstGeom prst="roundRect">
            <a:avLst>
              <a:gd name="adj" fmla="val 12000"/>
            </a:avLst>
          </a:prstGeom>
          <a:solidFill>
            <a:srgbClr val="FFFFFF"/>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5E991AAC-ED2D-BFC7-7461-F9B10D8F34F4}"/>
              </a:ext>
            </a:extLst>
          </p:cNvPr>
          <p:cNvSpPr txBox="1"/>
          <p:nvPr/>
        </p:nvSpPr>
        <p:spPr>
          <a:xfrm>
            <a:off x="508000" y="53086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・八千代市民の</a:t>
            </a:r>
            <a:r>
              <a:rPr kumimoji="1" lang="en-US" altLang="ja-JP" sz="1550" b="1">
                <a:solidFill>
                  <a:srgbClr val="1E293B"/>
                </a:solidFill>
                <a:latin typeface="Meiryo UI" panose="020B0604030504040204" pitchFamily="50" charset="-128"/>
                <a:ea typeface="Meiryo UI" panose="020B0604030504040204" pitchFamily="50" charset="-128"/>
              </a:rPr>
              <a:t>80.7%</a:t>
            </a:r>
            <a:r>
              <a:rPr kumimoji="1" lang="ja-JP" altLang="en-US" sz="1550" b="1">
                <a:solidFill>
                  <a:srgbClr val="1E293B"/>
                </a:solidFill>
                <a:latin typeface="Meiryo UI" panose="020B0604030504040204" pitchFamily="50" charset="-128"/>
                <a:ea typeface="Meiryo UI" panose="020B0604030504040204" pitchFamily="50" charset="-128"/>
              </a:rPr>
              <a:t>が当院を詳しく知らない弱点を補うには、年</a:t>
            </a:r>
            <a:r>
              <a:rPr kumimoji="1" lang="en-US" altLang="ja-JP" sz="1550" b="1">
                <a:solidFill>
                  <a:srgbClr val="1E293B"/>
                </a:solidFill>
                <a:latin typeface="Meiryo UI" panose="020B0604030504040204" pitchFamily="50" charset="-128"/>
                <a:ea typeface="Meiryo UI" panose="020B0604030504040204" pitchFamily="50" charset="-128"/>
              </a:rPr>
              <a:t>1</a:t>
            </a:r>
            <a:r>
              <a:rPr kumimoji="1" lang="ja-JP" altLang="en-US" sz="1550" b="1">
                <a:solidFill>
                  <a:srgbClr val="1E293B"/>
                </a:solidFill>
                <a:latin typeface="Meiryo UI" panose="020B0604030504040204" pitchFamily="50" charset="-128"/>
                <a:ea typeface="Meiryo UI" panose="020B0604030504040204" pitchFamily="50" charset="-128"/>
              </a:rPr>
              <a:t>回の産業祭だけでなく継続的な接点づくりが必要である。
・今回</a:t>
            </a:r>
            <a:r>
              <a:rPr kumimoji="1" lang="en-US" altLang="ja-JP" sz="1550" b="1">
                <a:solidFill>
                  <a:srgbClr val="1E293B"/>
                </a:solidFill>
                <a:latin typeface="Meiryo UI" panose="020B0604030504040204" pitchFamily="50" charset="-128"/>
                <a:ea typeface="Meiryo UI" panose="020B0604030504040204" pitchFamily="50" charset="-128"/>
              </a:rPr>
              <a:t>Q4</a:t>
            </a:r>
            <a:r>
              <a:rPr kumimoji="1" lang="ja-JP" altLang="en-US" sz="1550" b="1">
                <a:solidFill>
                  <a:srgbClr val="1E293B"/>
                </a:solidFill>
                <a:latin typeface="Meiryo UI" panose="020B0604030504040204" pitchFamily="50" charset="-128"/>
                <a:ea typeface="Meiryo UI" panose="020B0604030504040204" pitchFamily="50" charset="-128"/>
              </a:rPr>
              <a:t>で把握した上記</a:t>
            </a:r>
            <a:r>
              <a:rPr kumimoji="1" lang="en-US" altLang="ja-JP" sz="1550" b="1">
                <a:solidFill>
                  <a:srgbClr val="1E293B"/>
                </a:solidFill>
                <a:latin typeface="Meiryo UI" panose="020B0604030504040204" pitchFamily="50" charset="-128"/>
                <a:ea typeface="Meiryo UI" panose="020B0604030504040204" pitchFamily="50" charset="-128"/>
              </a:rPr>
              <a:t>4</a:t>
            </a:r>
            <a:r>
              <a:rPr kumimoji="1" lang="ja-JP" altLang="en-US" sz="1550" b="1">
                <a:solidFill>
                  <a:srgbClr val="1E293B"/>
                </a:solidFill>
                <a:latin typeface="Meiryo UI" panose="020B0604030504040204" pitchFamily="50" charset="-128"/>
                <a:ea typeface="Meiryo UI" panose="020B0604030504040204" pitchFamily="50" charset="-128"/>
              </a:rPr>
              <a:t>テーマで定期的に「健康教室」を開催し、当院の役割（入院リハ・訪問・通所）をコツコツと浸透させる。</a:t>
            </a:r>
          </a:p>
        </p:txBody>
      </p:sp>
    </p:spTree>
    <p:extLst>
      <p:ext uri="{BB962C8B-B14F-4D97-AF65-F5344CB8AC3E}">
        <p14:creationId xmlns:p14="http://schemas.microsoft.com/office/powerpoint/2010/main" val="10162337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CAB4437-F0B7-0E3E-EAB2-7D624B6AB2CF}"/>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5FC9E34-AC45-50C8-DC3E-C6D4A25D9EE3}"/>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1855B57-FA02-FB03-0890-2887B75E0F83}"/>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E60CD4D0-5FE7-1842-2A3F-C442211459A5}"/>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4</a:t>
            </a:r>
            <a:r>
              <a:rPr kumimoji="1" lang="ja-JP" altLang="en-US" sz="1250" b="1">
                <a:solidFill>
                  <a:srgbClr val="FFFFFF"/>
                </a:solidFill>
                <a:latin typeface="Meiryo UI" panose="020B0604030504040204" pitchFamily="50" charset="-128"/>
                <a:ea typeface="Meiryo UI" panose="020B0604030504040204" pitchFamily="50" charset="-128"/>
              </a:rPr>
              <a:t>部：総括まとめ</a:t>
            </a:r>
          </a:p>
        </p:txBody>
      </p:sp>
      <p:sp>
        <p:nvSpPr>
          <p:cNvPr id="6" name="テキスト ボックス 5">
            <a:extLst>
              <a:ext uri="{FF2B5EF4-FFF2-40B4-BE49-F238E27FC236}">
                <a16:creationId xmlns:a16="http://schemas.microsoft.com/office/drawing/2014/main" id="{792CC90C-93F9-F2D8-F789-E6187A7DF0DB}"/>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まとめ：当院の弱点・出展で得られたこと・来年度の課題</a:t>
            </a:r>
          </a:p>
        </p:txBody>
      </p:sp>
      <p:sp>
        <p:nvSpPr>
          <p:cNvPr id="7" name="四角形: 角を丸くする 6">
            <a:extLst>
              <a:ext uri="{FF2B5EF4-FFF2-40B4-BE49-F238E27FC236}">
                <a16:creationId xmlns:a16="http://schemas.microsoft.com/office/drawing/2014/main" id="{C7251FD7-E56E-721C-9812-4375324F5FFA}"/>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FC1364D-6975-6574-9A48-3EA5CEA351F3}"/>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22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1C67B42C-28F6-A2C3-7084-6AB057E26DE8}"/>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27DED170-FB59-B4FD-519A-252ED8EEA139}"/>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来場者アンケート（</a:t>
            </a:r>
            <a:r>
              <a:rPr kumimoji="1" lang="en-US" altLang="ja-JP" sz="1500" b="1">
                <a:solidFill>
                  <a:srgbClr val="2563EB"/>
                </a:solidFill>
                <a:latin typeface="Meiryo UI" panose="020B0604030504040204" pitchFamily="50" charset="-128"/>
                <a:ea typeface="Meiryo UI" panose="020B0604030504040204" pitchFamily="50" charset="-128"/>
              </a:rPr>
              <a:t>236</a:t>
            </a:r>
            <a:r>
              <a:rPr kumimoji="1" lang="ja-JP" altLang="en-US" sz="1500" b="1">
                <a:solidFill>
                  <a:srgbClr val="2563EB"/>
                </a:solidFill>
                <a:latin typeface="Meiryo UI" panose="020B0604030504040204" pitchFamily="50" charset="-128"/>
                <a:ea typeface="Meiryo UI" panose="020B0604030504040204" pitchFamily="50" charset="-128"/>
              </a:rPr>
              <a:t>名）とスタッフアンケート（</a:t>
            </a:r>
            <a:r>
              <a:rPr kumimoji="1" lang="en-US" altLang="ja-JP" sz="1500" b="1">
                <a:solidFill>
                  <a:srgbClr val="2563EB"/>
                </a:solidFill>
                <a:latin typeface="Meiryo UI" panose="020B0604030504040204" pitchFamily="50" charset="-128"/>
                <a:ea typeface="Meiryo UI" panose="020B0604030504040204" pitchFamily="50" charset="-128"/>
              </a:rPr>
              <a:t>13</a:t>
            </a:r>
            <a:r>
              <a:rPr kumimoji="1" lang="ja-JP" altLang="en-US" sz="1500" b="1">
                <a:solidFill>
                  <a:srgbClr val="2563EB"/>
                </a:solidFill>
                <a:latin typeface="Meiryo UI" panose="020B0604030504040204" pitchFamily="50" charset="-128"/>
                <a:ea typeface="Meiryo UI" panose="020B0604030504040204" pitchFamily="50" charset="-128"/>
              </a:rPr>
              <a:t>名）を掛け合わせた最終結論</a:t>
            </a:r>
          </a:p>
        </p:txBody>
      </p:sp>
      <p:sp>
        <p:nvSpPr>
          <p:cNvPr id="11" name="四角形: 角を丸くする 10">
            <a:extLst>
              <a:ext uri="{FF2B5EF4-FFF2-40B4-BE49-F238E27FC236}">
                <a16:creationId xmlns:a16="http://schemas.microsoft.com/office/drawing/2014/main" id="{B4AAD42F-B555-4CCA-673A-A88A183DAC5C}"/>
              </a:ext>
            </a:extLst>
          </p:cNvPr>
          <p:cNvSpPr/>
          <p:nvPr/>
        </p:nvSpPr>
        <p:spPr>
          <a:xfrm>
            <a:off x="254000" y="1574800"/>
            <a:ext cx="11684000" cy="15494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318AEE1D-CE3A-E94A-5823-92AAC9FB7037}"/>
              </a:ext>
            </a:extLst>
          </p:cNvPr>
          <p:cNvSpPr/>
          <p:nvPr/>
        </p:nvSpPr>
        <p:spPr>
          <a:xfrm>
            <a:off x="431800" y="1752600"/>
            <a:ext cx="2413000" cy="1193800"/>
          </a:xfrm>
          <a:prstGeom prst="roundRect">
            <a:avLst>
              <a:gd name="adj" fmla="val 2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CF54E8E-6CF4-1035-F9E2-30FEF35A6DAD}"/>
              </a:ext>
            </a:extLst>
          </p:cNvPr>
          <p:cNvSpPr txBox="1"/>
          <p:nvPr/>
        </p:nvSpPr>
        <p:spPr>
          <a:xfrm>
            <a:off x="508000" y="20320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EF4444"/>
                </a:solidFill>
                <a:latin typeface="Meiryo UI" panose="020B0604030504040204" pitchFamily="50" charset="-128"/>
                <a:ea typeface="Meiryo UI" panose="020B0604030504040204" pitchFamily="50" charset="-128"/>
              </a:rPr>
              <a:t>1. </a:t>
            </a:r>
            <a:r>
              <a:rPr kumimoji="1" lang="ja-JP" altLang="en-US" sz="1650" b="1">
                <a:solidFill>
                  <a:srgbClr val="EF4444"/>
                </a:solidFill>
                <a:latin typeface="Meiryo UI" panose="020B0604030504040204" pitchFamily="50" charset="-128"/>
                <a:ea typeface="Meiryo UI" panose="020B0604030504040204" pitchFamily="50" charset="-128"/>
              </a:rPr>
              <a:t>当院の弱点
（知名度の低さ）</a:t>
            </a:r>
          </a:p>
        </p:txBody>
      </p:sp>
      <p:sp>
        <p:nvSpPr>
          <p:cNvPr id="14" name="テキスト ボックス 13">
            <a:extLst>
              <a:ext uri="{FF2B5EF4-FFF2-40B4-BE49-F238E27FC236}">
                <a16:creationId xmlns:a16="http://schemas.microsoft.com/office/drawing/2014/main" id="{7504FE12-606A-FE7D-A2CC-026AF5DCA50A}"/>
              </a:ext>
            </a:extLst>
          </p:cNvPr>
          <p:cNvSpPr txBox="1"/>
          <p:nvPr/>
        </p:nvSpPr>
        <p:spPr>
          <a:xfrm>
            <a:off x="3048000" y="1727200"/>
            <a:ext cx="86868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・八千代市民（</a:t>
            </a:r>
            <a:r>
              <a:rPr kumimoji="1" lang="en-US" altLang="ja-JP" sz="1500" b="1">
                <a:solidFill>
                  <a:srgbClr val="1E293B"/>
                </a:solidFill>
                <a:latin typeface="Meiryo UI" panose="020B0604030504040204" pitchFamily="50" charset="-128"/>
                <a:ea typeface="Meiryo UI" panose="020B0604030504040204" pitchFamily="50" charset="-128"/>
              </a:rPr>
              <a:t>171</a:t>
            </a:r>
            <a:r>
              <a:rPr kumimoji="1" lang="ja-JP" altLang="en-US" sz="1500" b="1">
                <a:solidFill>
                  <a:srgbClr val="1E293B"/>
                </a:solidFill>
                <a:latin typeface="Meiryo UI" panose="020B0604030504040204" pitchFamily="50" charset="-128"/>
                <a:ea typeface="Meiryo UI" panose="020B0604030504040204" pitchFamily="50" charset="-128"/>
              </a:rPr>
              <a:t>名）の</a:t>
            </a:r>
            <a:r>
              <a:rPr kumimoji="1" lang="en-US" altLang="ja-JP" sz="1500" b="1">
                <a:solidFill>
                  <a:srgbClr val="1E293B"/>
                </a:solidFill>
                <a:latin typeface="Meiryo UI" panose="020B0604030504040204" pitchFamily="50" charset="-128"/>
                <a:ea typeface="Meiryo UI" panose="020B0604030504040204" pitchFamily="50" charset="-128"/>
              </a:rPr>
              <a:t>80.7%</a:t>
            </a:r>
            <a:r>
              <a:rPr kumimoji="1" lang="ja-JP" altLang="en-US" sz="1500" b="1">
                <a:solidFill>
                  <a:srgbClr val="1E293B"/>
                </a:solidFill>
                <a:latin typeface="Meiryo UI" panose="020B0604030504040204" pitchFamily="50" charset="-128"/>
                <a:ea typeface="Meiryo UI" panose="020B0604030504040204" pitchFamily="50" charset="-128"/>
              </a:rPr>
              <a:t>が「今日初めて知った（</a:t>
            </a:r>
            <a:r>
              <a:rPr kumimoji="1" lang="en-US" altLang="ja-JP" sz="1500" b="1">
                <a:solidFill>
                  <a:srgbClr val="1E293B"/>
                </a:solidFill>
                <a:latin typeface="Meiryo UI" panose="020B0604030504040204" pitchFamily="50" charset="-128"/>
                <a:ea typeface="Meiryo UI" panose="020B0604030504040204" pitchFamily="50" charset="-128"/>
              </a:rPr>
              <a:t>21.1%</a:t>
            </a:r>
            <a:r>
              <a:rPr kumimoji="1" lang="ja-JP" altLang="en-US" sz="1500" b="1">
                <a:solidFill>
                  <a:srgbClr val="1E293B"/>
                </a:solidFill>
                <a:latin typeface="Meiryo UI" panose="020B0604030504040204" pitchFamily="50" charset="-128"/>
                <a:ea typeface="Meiryo UI" panose="020B0604030504040204" pitchFamily="50" charset="-128"/>
              </a:rPr>
              <a:t>）」または「名前のみ（</a:t>
            </a:r>
            <a:r>
              <a:rPr kumimoji="1" lang="en-US" altLang="ja-JP" sz="1500" b="1">
                <a:solidFill>
                  <a:srgbClr val="1E293B"/>
                </a:solidFill>
                <a:latin typeface="Meiryo UI" panose="020B0604030504040204" pitchFamily="50" charset="-128"/>
                <a:ea typeface="Meiryo UI" panose="020B0604030504040204" pitchFamily="50" charset="-128"/>
              </a:rPr>
              <a:t>59.6%</a:t>
            </a:r>
            <a:r>
              <a:rPr kumimoji="1" lang="ja-JP" altLang="en-US" sz="1500" b="1">
                <a:solidFill>
                  <a:srgbClr val="1E293B"/>
                </a:solidFill>
                <a:latin typeface="Meiryo UI" panose="020B0604030504040204" pitchFamily="50" charset="-128"/>
                <a:ea typeface="Meiryo UI" panose="020B0604030504040204" pitchFamily="50" charset="-128"/>
              </a:rPr>
              <a:t>）」と回答。
・スタッフも「認知度の低さや他院との誤認」を痛感しており、一般外来がない当院にとって地域での知名度向上が最重要課題である。</a:t>
            </a:r>
          </a:p>
        </p:txBody>
      </p:sp>
      <p:sp>
        <p:nvSpPr>
          <p:cNvPr id="15" name="四角形: 角を丸くする 14">
            <a:extLst>
              <a:ext uri="{FF2B5EF4-FFF2-40B4-BE49-F238E27FC236}">
                <a16:creationId xmlns:a16="http://schemas.microsoft.com/office/drawing/2014/main" id="{D7833D1E-4617-82FA-87D7-09FDE999FE6F}"/>
              </a:ext>
            </a:extLst>
          </p:cNvPr>
          <p:cNvSpPr/>
          <p:nvPr/>
        </p:nvSpPr>
        <p:spPr>
          <a:xfrm>
            <a:off x="254000" y="3276600"/>
            <a:ext cx="11684000" cy="15494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9223FFE3-7506-ED73-9944-8E63E61DCE41}"/>
              </a:ext>
            </a:extLst>
          </p:cNvPr>
          <p:cNvSpPr/>
          <p:nvPr/>
        </p:nvSpPr>
        <p:spPr>
          <a:xfrm>
            <a:off x="431800" y="3454400"/>
            <a:ext cx="2413000" cy="1193800"/>
          </a:xfrm>
          <a:prstGeom prst="roundRect">
            <a:avLst>
              <a:gd name="adj" fmla="val 2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01AA59B-4142-21E7-DAB3-16237515AC74}"/>
              </a:ext>
            </a:extLst>
          </p:cNvPr>
          <p:cNvSpPr txBox="1"/>
          <p:nvPr/>
        </p:nvSpPr>
        <p:spPr>
          <a:xfrm>
            <a:off x="508000" y="37338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10B981"/>
                </a:solidFill>
                <a:latin typeface="Meiryo UI" panose="020B0604030504040204" pitchFamily="50" charset="-128"/>
                <a:ea typeface="Meiryo UI" panose="020B0604030504040204" pitchFamily="50" charset="-128"/>
              </a:rPr>
              <a:t>2. </a:t>
            </a:r>
            <a:r>
              <a:rPr kumimoji="1" lang="ja-JP" altLang="en-US" sz="1650" b="1">
                <a:solidFill>
                  <a:srgbClr val="10B981"/>
                </a:solidFill>
                <a:latin typeface="Meiryo UI" panose="020B0604030504040204" pitchFamily="50" charset="-128"/>
                <a:ea typeface="Meiryo UI" panose="020B0604030504040204" pitchFamily="50" charset="-128"/>
              </a:rPr>
              <a:t>出展で
得られたこと</a:t>
            </a:r>
          </a:p>
        </p:txBody>
      </p:sp>
      <p:sp>
        <p:nvSpPr>
          <p:cNvPr id="18" name="テキスト ボックス 17">
            <a:extLst>
              <a:ext uri="{FF2B5EF4-FFF2-40B4-BE49-F238E27FC236}">
                <a16:creationId xmlns:a16="http://schemas.microsoft.com/office/drawing/2014/main" id="{9D7C4658-B8E5-1070-83B3-8021FB4DBBE4}"/>
              </a:ext>
            </a:extLst>
          </p:cNvPr>
          <p:cNvSpPr txBox="1"/>
          <p:nvPr/>
        </p:nvSpPr>
        <p:spPr>
          <a:xfrm>
            <a:off x="3048000" y="3429000"/>
            <a:ext cx="86868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a:t>
            </a:r>
            <a:r>
              <a:rPr kumimoji="1" lang="en-US" altLang="ja-JP" sz="1500" b="1">
                <a:solidFill>
                  <a:srgbClr val="1E293B"/>
                </a:solidFill>
                <a:latin typeface="Meiryo UI" panose="020B0604030504040204" pitchFamily="50" charset="-128"/>
                <a:ea typeface="Meiryo UI" panose="020B0604030504040204" pitchFamily="50" charset="-128"/>
              </a:rPr>
              <a:t>6</a:t>
            </a:r>
            <a:r>
              <a:rPr kumimoji="1" lang="ja-JP" altLang="en-US" sz="1500" b="1">
                <a:solidFill>
                  <a:srgbClr val="1E293B"/>
                </a:solidFill>
                <a:latin typeface="Meiryo UI" panose="020B0604030504040204" pitchFamily="50" charset="-128"/>
                <a:ea typeface="Meiryo UI" panose="020B0604030504040204" pitchFamily="50" charset="-128"/>
              </a:rPr>
              <a:t>部署協働で来場</a:t>
            </a:r>
            <a:r>
              <a:rPr kumimoji="1" lang="en-US" altLang="ja-JP" sz="1500" b="1">
                <a:solidFill>
                  <a:srgbClr val="1E293B"/>
                </a:solidFill>
                <a:latin typeface="Meiryo UI" panose="020B0604030504040204" pitchFamily="50" charset="-128"/>
                <a:ea typeface="Meiryo UI" panose="020B0604030504040204" pitchFamily="50" charset="-128"/>
              </a:rPr>
              <a:t>268</a:t>
            </a:r>
            <a:r>
              <a:rPr kumimoji="1" lang="ja-JP" altLang="en-US" sz="1500" b="1">
                <a:solidFill>
                  <a:srgbClr val="1E293B"/>
                </a:solidFill>
                <a:latin typeface="Meiryo UI" panose="020B0604030504040204" pitchFamily="50" charset="-128"/>
                <a:ea typeface="Meiryo UI" panose="020B0604030504040204" pitchFamily="50" charset="-128"/>
              </a:rPr>
              <a:t>名・回答</a:t>
            </a:r>
            <a:r>
              <a:rPr kumimoji="1" lang="en-US" altLang="ja-JP" sz="1500" b="1">
                <a:solidFill>
                  <a:srgbClr val="1E293B"/>
                </a:solidFill>
                <a:latin typeface="Meiryo UI" panose="020B0604030504040204" pitchFamily="50" charset="-128"/>
                <a:ea typeface="Meiryo UI" panose="020B0604030504040204" pitchFamily="50" charset="-128"/>
              </a:rPr>
              <a:t>236</a:t>
            </a:r>
            <a:r>
              <a:rPr kumimoji="1" lang="ja-JP" altLang="en-US" sz="1500" b="1">
                <a:solidFill>
                  <a:srgbClr val="1E293B"/>
                </a:solidFill>
                <a:latin typeface="Meiryo UI" panose="020B0604030504040204" pitchFamily="50" charset="-128"/>
                <a:ea typeface="Meiryo UI" panose="020B0604030504040204" pitchFamily="50" charset="-128"/>
              </a:rPr>
              <a:t>名（目標比</a:t>
            </a:r>
            <a:r>
              <a:rPr kumimoji="1" lang="en-US" altLang="ja-JP" sz="1500" b="1">
                <a:solidFill>
                  <a:srgbClr val="1E293B"/>
                </a:solidFill>
                <a:latin typeface="Meiryo UI" panose="020B0604030504040204" pitchFamily="50" charset="-128"/>
                <a:ea typeface="Meiryo UI" panose="020B0604030504040204" pitchFamily="50" charset="-128"/>
              </a:rPr>
              <a:t>472%</a:t>
            </a:r>
            <a:r>
              <a:rPr kumimoji="1" lang="ja-JP" altLang="en-US" sz="1500" b="1">
                <a:solidFill>
                  <a:srgbClr val="1E293B"/>
                </a:solidFill>
                <a:latin typeface="Meiryo UI" panose="020B0604030504040204" pitchFamily="50" charset="-128"/>
                <a:ea typeface="Meiryo UI" panose="020B0604030504040204" pitchFamily="50" charset="-128"/>
              </a:rPr>
              <a:t>）を達成し、多職種連携の強化（満足度</a:t>
            </a:r>
            <a:r>
              <a:rPr kumimoji="1" lang="en-US" altLang="ja-JP" sz="1500" b="1">
                <a:solidFill>
                  <a:srgbClr val="1E293B"/>
                </a:solidFill>
                <a:latin typeface="Meiryo UI" panose="020B0604030504040204" pitchFamily="50" charset="-128"/>
                <a:ea typeface="Meiryo UI" panose="020B0604030504040204" pitchFamily="50" charset="-128"/>
              </a:rPr>
              <a:t>100%</a:t>
            </a:r>
            <a:r>
              <a:rPr kumimoji="1" lang="ja-JP" altLang="en-US" sz="1500" b="1">
                <a:solidFill>
                  <a:srgbClr val="1E293B"/>
                </a:solidFill>
                <a:latin typeface="Meiryo UI" panose="020B0604030504040204" pitchFamily="50" charset="-128"/>
                <a:ea typeface="Meiryo UI" panose="020B0604030504040204" pitchFamily="50" charset="-128"/>
              </a:rPr>
              <a:t>）を実現した。
・初めて知った層でも体験後は</a:t>
            </a:r>
            <a:r>
              <a:rPr kumimoji="1" lang="en-US" altLang="ja-JP" sz="1500" b="1">
                <a:solidFill>
                  <a:srgbClr val="1E293B"/>
                </a:solidFill>
                <a:latin typeface="Meiryo UI" panose="020B0604030504040204" pitchFamily="50" charset="-128"/>
                <a:ea typeface="Meiryo UI" panose="020B0604030504040204" pitchFamily="50" charset="-128"/>
              </a:rPr>
              <a:t>88.1%</a:t>
            </a:r>
            <a:r>
              <a:rPr kumimoji="1" lang="ja-JP" altLang="en-US" sz="1500" b="1">
                <a:solidFill>
                  <a:srgbClr val="1E293B"/>
                </a:solidFill>
                <a:latin typeface="Meiryo UI" panose="020B0604030504040204" pitchFamily="50" charset="-128"/>
                <a:ea typeface="Meiryo UI" panose="020B0604030504040204" pitchFamily="50" charset="-128"/>
              </a:rPr>
              <a:t>（全体</a:t>
            </a:r>
            <a:r>
              <a:rPr kumimoji="1" lang="en-US" altLang="ja-JP" sz="1500" b="1">
                <a:solidFill>
                  <a:srgbClr val="1E293B"/>
                </a:solidFill>
                <a:latin typeface="Meiryo UI" panose="020B0604030504040204" pitchFamily="50" charset="-128"/>
                <a:ea typeface="Meiryo UI" panose="020B0604030504040204" pitchFamily="50" charset="-128"/>
              </a:rPr>
              <a:t>90.3%</a:t>
            </a:r>
            <a:r>
              <a:rPr kumimoji="1" lang="ja-JP" altLang="en-US" sz="1500" b="1">
                <a:solidFill>
                  <a:srgbClr val="1E293B"/>
                </a:solidFill>
                <a:latin typeface="Meiryo UI" panose="020B0604030504040204" pitchFamily="50" charset="-128"/>
                <a:ea typeface="Meiryo UI" panose="020B0604030504040204" pitchFamily="50" charset="-128"/>
              </a:rPr>
              <a:t>）が「利用・検討したい」と評価し、対面活動の有効性と健康教室の</a:t>
            </a:r>
            <a:r>
              <a:rPr kumimoji="1" lang="en-US" altLang="ja-JP" sz="1500" b="1">
                <a:solidFill>
                  <a:srgbClr val="1E293B"/>
                </a:solidFill>
                <a:latin typeface="Meiryo UI" panose="020B0604030504040204" pitchFamily="50" charset="-128"/>
                <a:ea typeface="Meiryo UI" panose="020B0604030504040204" pitchFamily="50" charset="-128"/>
              </a:rPr>
              <a:t>4</a:t>
            </a:r>
            <a:r>
              <a:rPr kumimoji="1" lang="ja-JP" altLang="en-US" sz="1500" b="1">
                <a:solidFill>
                  <a:srgbClr val="1E293B"/>
                </a:solidFill>
                <a:latin typeface="Meiryo UI" panose="020B0604030504040204" pitchFamily="50" charset="-128"/>
                <a:ea typeface="Meiryo UI" panose="020B0604030504040204" pitchFamily="50" charset="-128"/>
              </a:rPr>
              <a:t>大テーマが判明した。</a:t>
            </a:r>
          </a:p>
        </p:txBody>
      </p:sp>
      <p:sp>
        <p:nvSpPr>
          <p:cNvPr id="19" name="四角形: 角を丸くする 18">
            <a:extLst>
              <a:ext uri="{FF2B5EF4-FFF2-40B4-BE49-F238E27FC236}">
                <a16:creationId xmlns:a16="http://schemas.microsoft.com/office/drawing/2014/main" id="{6908BE42-96F2-D66E-BB58-882EEF3A13AA}"/>
              </a:ext>
            </a:extLst>
          </p:cNvPr>
          <p:cNvSpPr/>
          <p:nvPr/>
        </p:nvSpPr>
        <p:spPr>
          <a:xfrm>
            <a:off x="254000" y="4978400"/>
            <a:ext cx="116840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8EA4E394-E70A-27FB-0A0B-96BC25965E87}"/>
              </a:ext>
            </a:extLst>
          </p:cNvPr>
          <p:cNvSpPr/>
          <p:nvPr/>
        </p:nvSpPr>
        <p:spPr>
          <a:xfrm>
            <a:off x="431800" y="5156200"/>
            <a:ext cx="2413000" cy="1219200"/>
          </a:xfrm>
          <a:prstGeom prst="roundRect">
            <a:avLst>
              <a:gd name="adj" fmla="val 2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6E9008D4-635D-87F9-BAC0-39B5B8E7BD4B}"/>
              </a:ext>
            </a:extLst>
          </p:cNvPr>
          <p:cNvSpPr txBox="1"/>
          <p:nvPr/>
        </p:nvSpPr>
        <p:spPr>
          <a:xfrm>
            <a:off x="508000" y="54356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2563EB"/>
                </a:solidFill>
                <a:latin typeface="Meiryo UI" panose="020B0604030504040204" pitchFamily="50" charset="-128"/>
                <a:ea typeface="Meiryo UI" panose="020B0604030504040204" pitchFamily="50" charset="-128"/>
              </a:rPr>
              <a:t>3. </a:t>
            </a:r>
            <a:r>
              <a:rPr kumimoji="1" lang="ja-JP" altLang="en-US" sz="1650" b="1">
                <a:solidFill>
                  <a:srgbClr val="2563EB"/>
                </a:solidFill>
                <a:latin typeface="Meiryo UI" panose="020B0604030504040204" pitchFamily="50" charset="-128"/>
                <a:ea typeface="Meiryo UI" panose="020B0604030504040204" pitchFamily="50" charset="-128"/>
              </a:rPr>
              <a:t>来年度の課題
（環境と体制整備）</a:t>
            </a:r>
          </a:p>
        </p:txBody>
      </p:sp>
      <p:sp>
        <p:nvSpPr>
          <p:cNvPr id="22" name="テキスト ボックス 21">
            <a:extLst>
              <a:ext uri="{FF2B5EF4-FFF2-40B4-BE49-F238E27FC236}">
                <a16:creationId xmlns:a16="http://schemas.microsoft.com/office/drawing/2014/main" id="{FF582E51-C08A-3FC4-848A-7AFEC2001160}"/>
              </a:ext>
            </a:extLst>
          </p:cNvPr>
          <p:cNvSpPr txBox="1"/>
          <p:nvPr/>
        </p:nvSpPr>
        <p:spPr>
          <a:xfrm>
            <a:off x="3048000" y="5130800"/>
            <a:ext cx="86868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・来場者の「測定への人気集中・順路や備品の要望」と、スタッフの「</a:t>
            </a:r>
            <a:r>
              <a:rPr kumimoji="1" lang="en-US" altLang="ja-JP" sz="1500" b="1">
                <a:solidFill>
                  <a:srgbClr val="1E293B"/>
                </a:solidFill>
                <a:latin typeface="Meiryo UI" panose="020B0604030504040204" pitchFamily="50" charset="-128"/>
                <a:ea typeface="Meiryo UI" panose="020B0604030504040204" pitchFamily="50" charset="-128"/>
              </a:rPr>
              <a:t>3</a:t>
            </a:r>
            <a:r>
              <a:rPr kumimoji="1" lang="ja-JP" altLang="en-US" sz="1500" b="1">
                <a:solidFill>
                  <a:srgbClr val="1E293B"/>
                </a:solidFill>
                <a:latin typeface="Meiryo UI" panose="020B0604030504040204" pitchFamily="50" charset="-128"/>
                <a:ea typeface="Meiryo UI" panose="020B0604030504040204" pitchFamily="50" charset="-128"/>
              </a:rPr>
              <a:t>区画の狭さ・</a:t>
            </a:r>
            <a:r>
              <a:rPr kumimoji="1" lang="en-US" altLang="ja-JP" sz="1500" b="1">
                <a:solidFill>
                  <a:srgbClr val="1E293B"/>
                </a:solidFill>
                <a:latin typeface="Meiryo UI" panose="020B0604030504040204" pitchFamily="50" charset="-128"/>
                <a:ea typeface="Meiryo UI" panose="020B0604030504040204" pitchFamily="50" charset="-128"/>
              </a:rPr>
              <a:t>InBody</a:t>
            </a:r>
            <a:r>
              <a:rPr kumimoji="1" lang="ja-JP" altLang="en-US" sz="1500" b="1">
                <a:solidFill>
                  <a:srgbClr val="1E293B"/>
                </a:solidFill>
                <a:latin typeface="Meiryo UI" panose="020B0604030504040204" pitchFamily="50" charset="-128"/>
                <a:ea typeface="Meiryo UI" panose="020B0604030504040204" pitchFamily="50" charset="-128"/>
              </a:rPr>
              <a:t>受付中止・人員と休憩不足（</a:t>
            </a:r>
            <a:r>
              <a:rPr kumimoji="1" lang="en-US" altLang="ja-JP" sz="1500" b="1">
                <a:solidFill>
                  <a:srgbClr val="1E293B"/>
                </a:solidFill>
                <a:latin typeface="Meiryo UI" panose="020B0604030504040204" pitchFamily="50" charset="-128"/>
                <a:ea typeface="Meiryo UI" panose="020B0604030504040204" pitchFamily="50" charset="-128"/>
              </a:rPr>
              <a:t>76.9%</a:t>
            </a:r>
            <a:r>
              <a:rPr kumimoji="1" lang="ja-JP" altLang="en-US" sz="1500" b="1">
                <a:solidFill>
                  <a:srgbClr val="1E293B"/>
                </a:solidFill>
                <a:latin typeface="Meiryo UI" panose="020B0604030504040204" pitchFamily="50" charset="-128"/>
                <a:ea typeface="Meiryo UI" panose="020B0604030504040204" pitchFamily="50" charset="-128"/>
              </a:rPr>
              <a:t>）」が一致。
・来年度は「① </a:t>
            </a:r>
            <a:r>
              <a:rPr kumimoji="1" lang="en-US" altLang="ja-JP" sz="1500" b="1">
                <a:solidFill>
                  <a:srgbClr val="1E293B"/>
                </a:solidFill>
                <a:latin typeface="Meiryo UI" panose="020B0604030504040204" pitchFamily="50" charset="-128"/>
                <a:ea typeface="Meiryo UI" panose="020B0604030504040204" pitchFamily="50" charset="-128"/>
              </a:rPr>
              <a:t>4</a:t>
            </a:r>
            <a:r>
              <a:rPr kumimoji="1" lang="ja-JP" altLang="en-US" sz="1500" b="1">
                <a:solidFill>
                  <a:srgbClr val="1E293B"/>
                </a:solidFill>
                <a:latin typeface="Meiryo UI" panose="020B0604030504040204" pitchFamily="50" charset="-128"/>
                <a:ea typeface="Meiryo UI" panose="020B0604030504040204" pitchFamily="50" charset="-128"/>
              </a:rPr>
              <a:t>区画への拡大」「② </a:t>
            </a:r>
            <a:r>
              <a:rPr kumimoji="1" lang="en-US" altLang="ja-JP" sz="1500" b="1">
                <a:solidFill>
                  <a:srgbClr val="1E293B"/>
                </a:solidFill>
                <a:latin typeface="Meiryo UI" panose="020B0604030504040204" pitchFamily="50" charset="-128"/>
                <a:ea typeface="Meiryo UI" panose="020B0604030504040204" pitchFamily="50" charset="-128"/>
              </a:rPr>
              <a:t>InBody 2</a:t>
            </a:r>
            <a:r>
              <a:rPr kumimoji="1" lang="ja-JP" altLang="en-US" sz="1500" b="1">
                <a:solidFill>
                  <a:srgbClr val="1E293B"/>
                </a:solidFill>
                <a:latin typeface="Meiryo UI" panose="020B0604030504040204" pitchFamily="50" charset="-128"/>
                <a:ea typeface="Meiryo UI" panose="020B0604030504040204" pitchFamily="50" charset="-128"/>
              </a:rPr>
              <a:t>台体制・病院紹介パネル持参」「③ 誘導係・各部署の増員（休憩</a:t>
            </a:r>
            <a:r>
              <a:rPr kumimoji="1" lang="en-US" altLang="ja-JP" sz="1500" b="1">
                <a:solidFill>
                  <a:srgbClr val="1E293B"/>
                </a:solidFill>
                <a:latin typeface="Meiryo UI" panose="020B0604030504040204" pitchFamily="50" charset="-128"/>
                <a:ea typeface="Meiryo UI" panose="020B0604030504040204" pitchFamily="50" charset="-128"/>
              </a:rPr>
              <a:t>1</a:t>
            </a:r>
            <a:r>
              <a:rPr kumimoji="1" lang="ja-JP" altLang="en-US" sz="1500" b="1">
                <a:solidFill>
                  <a:srgbClr val="1E293B"/>
                </a:solidFill>
                <a:latin typeface="Meiryo UI" panose="020B0604030504040204" pitchFamily="50" charset="-128"/>
                <a:ea typeface="Meiryo UI" panose="020B0604030504040204" pitchFamily="50" charset="-128"/>
              </a:rPr>
              <a:t>時間確保）」を実施する。</a:t>
            </a:r>
          </a:p>
        </p:txBody>
      </p:sp>
    </p:spTree>
    <p:extLst>
      <p:ext uri="{BB962C8B-B14F-4D97-AF65-F5344CB8AC3E}">
        <p14:creationId xmlns:p14="http://schemas.microsoft.com/office/powerpoint/2010/main" val="34039351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4595</Words>
  <Application>Microsoft Office PowerPoint</Application>
  <PresentationFormat>ユーザー設定</PresentationFormat>
  <Paragraphs>367</Paragraphs>
  <Slides>22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22</vt:i4>
      </vt:variant>
    </vt:vector>
  </HeadingPairs>
  <TitlesOfParts>
    <vt:vector size="27" baseType="lpstr">
      <vt:lpstr>Meiryo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憲幸 保科</dc:creator>
  <cp:lastModifiedBy>憲幸 保科</cp:lastModifiedBy>
  <cp:revision>1</cp:revision>
  <dcterms:created xsi:type="dcterms:W3CDTF">2026-10-21T00:10:28Z</dcterms:created>
  <dcterms:modified xsi:type="dcterms:W3CDTF">2026-10-21T00:10:31Z</dcterms:modified>
</cp:coreProperties>
</file>