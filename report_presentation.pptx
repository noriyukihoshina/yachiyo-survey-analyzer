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00BF9D-90CD-411F-662E-930E71C61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DD817FE-57FF-7686-161F-B4F55BD780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CBEDB33-7A23-3938-1C7E-22B3479FA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78BE5-25F8-4BBB-88C5-ADCEB715F80C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1503667-F153-4324-4526-30F710F47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1272DC1-0A72-D362-9D60-4418AE85D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E7352-E469-4B35-A130-D1001D24845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889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DFD70E-6637-D0E4-3015-89C262AC7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5EF7DCD-E930-6D0E-FC77-EF998CBE5F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9D08938-C8FE-9F7B-B2BA-F2BD96D83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78BE5-25F8-4BBB-88C5-ADCEB715F80C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E631B99-658B-ADA0-EC64-ECC38D87F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AD5172-3195-4B76-2081-ED7D9D885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E7352-E469-4B35-A130-D1001D24845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18558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124354-4BD8-04B2-6697-AF34BB9C8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204AFA7-4427-735C-E68E-AF55DB06D7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FA6DC6-92D5-641F-8803-397E8B3C0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78BE5-25F8-4BBB-88C5-ADCEB715F80C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BB5648A-A845-C01A-F9FF-CA5AFEF90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3863169-5B1E-372E-0F4E-3C43EC8AE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E7352-E469-4B35-A130-D1001D24845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5700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D22FE8F-A9C6-ED3F-2AC0-AF6D00032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2C661FA-F8E5-FC1F-4F17-185C8D749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E44713A-431F-2F66-036F-68E9A7CBEB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6E74652-D415-37A7-660A-F823C9974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78BE5-25F8-4BBB-88C5-ADCEB715F80C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02AD219-8121-CF20-EA7A-1B1799BD7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A1C25D8-CAA4-1F4B-4144-834DC46DD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E7352-E469-4B35-A130-D1001D24845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37544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769A40-000C-34F4-60AD-6395B66E4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811D96A-2686-FD4E-1FE0-070FC39252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144855A-C4D1-317C-2675-AF691001D4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9754079-18D1-2B7A-8191-7E52DD90D4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1B94386-0418-BEE4-7BA2-C8E00FF2FC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C87948A-67FF-B6F0-EC34-1343D8123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78BE5-25F8-4BBB-88C5-ADCEB715F80C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40CF327-3DD9-264E-F81C-7B55C47C3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61F61AB-8768-EECB-F60B-B2C48B603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E7352-E469-4B35-A130-D1001D24845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12295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A31EE5-98F4-0723-7D8B-3026DAFE3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581E04E-2AE3-0FF9-AC12-A5AB59176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78BE5-25F8-4BBB-88C5-ADCEB715F80C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2C52FCD-EA2D-7FCB-EA83-A5070B3FC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DF1664F5-E0CC-ED5A-BDC1-519DB7D31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E7352-E469-4B35-A130-D1001D24845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6239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054F85C-296F-5037-2837-B874A7EBF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78BE5-25F8-4BBB-88C5-ADCEB715F80C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CE88ABE-861C-CB27-1BB7-DA914C7CE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8914DC7-7052-6DDA-C72C-B3A15D2D2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E7352-E469-4B35-A130-D1001D24845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9621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74FE1A-EEA2-CF8D-8F80-2CE436AF4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A3CCC86-3D97-90CF-30F8-2A6B7AA30F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3694EEF-1CD2-0A3B-1423-C59515EA84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5DB9C49-D66C-3115-4144-9528081CC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78BE5-25F8-4BBB-88C5-ADCEB715F80C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4C2B0A2-3E9E-6469-C153-2E4FC01C9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DD07D94-14B8-86CA-AA36-31F32AADC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E7352-E469-4B35-A130-D1001D24845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4062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D94059-AA6E-AC39-1421-67B4EAD1A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95771E0-634A-B7AD-35C7-830541B468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3ED716C-915E-D4C5-B7AE-2C1C9B35D0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45E6340-7B87-FF52-BE62-A9D34871B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78BE5-25F8-4BBB-88C5-ADCEB715F80C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6A41E14-67D3-9DA4-E9AE-24EE266EB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E0D5F47-985E-14B6-CCD0-90EE6C3D6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E7352-E469-4B35-A130-D1001D24845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8161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546EF2-E379-055C-2928-30240E064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CE294D1-8721-EDAA-464F-2059195E16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F0795F6-1DC0-566D-AB28-9FFA32AEF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78BE5-25F8-4BBB-88C5-ADCEB715F80C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C210BB4-48A8-601B-E2B8-EFA3E617E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D2B2A09-E2B6-8B6A-FD12-ABABDC58E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E7352-E469-4B35-A130-D1001D24845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7147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A9B1588-9CA6-BFAD-34B9-49E8BE355E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4523D9D-D2C3-25FB-3571-6B4DCEB208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05731CF-39E9-64A1-91B3-90A8B0F2D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78BE5-25F8-4BBB-88C5-ADCEB715F80C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D5EDF8-F1A9-8DA0-86B4-1A2C2A47D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E1184C-754E-7492-A4B4-E1C274E17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E7352-E469-4B35-A130-D1001D24845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8756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582A04D-F452-DFFA-0C8D-0E57E7B3D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E131067-8693-311C-A867-3241F09701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08C6A7C-BA10-DBEF-1B31-B2CB5734BB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778BE5-25F8-4BBB-88C5-ADCEB715F80C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3C9634-9246-353A-9762-250BA3BB36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5E11973-9DC2-796A-C3BD-DBA2C7D80A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4E7352-E469-4B35-A130-D1001D24845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8925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00CC7F8-7EB5-7328-DA4D-FD75C0D19D0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F0C5027-BCC9-9DCD-4C78-0C1E4CE0556D}"/>
              </a:ext>
            </a:extLst>
          </p:cNvPr>
          <p:cNvSpPr/>
          <p:nvPr/>
        </p:nvSpPr>
        <p:spPr>
          <a:xfrm>
            <a:off x="0" y="0"/>
            <a:ext cx="12192000" cy="19685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A9F85D9-3668-6560-BB44-84D7AB681473}"/>
              </a:ext>
            </a:extLst>
          </p:cNvPr>
          <p:cNvSpPr/>
          <p:nvPr/>
        </p:nvSpPr>
        <p:spPr>
          <a:xfrm>
            <a:off x="0" y="1905000"/>
            <a:ext cx="121920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A1C12699-84D0-E26B-0D78-E2EC3A6D9B2C}"/>
              </a:ext>
            </a:extLst>
          </p:cNvPr>
          <p:cNvSpPr/>
          <p:nvPr/>
        </p:nvSpPr>
        <p:spPr>
          <a:xfrm>
            <a:off x="508000" y="431800"/>
            <a:ext cx="660400" cy="660400"/>
          </a:xfrm>
          <a:prstGeom prst="roundRect">
            <a:avLst>
              <a:gd name="adj" fmla="val 4000"/>
            </a:avLst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B394AEB-FE61-DB8B-F61F-363E52BACE9C}"/>
              </a:ext>
            </a:extLst>
          </p:cNvPr>
          <p:cNvSpPr/>
          <p:nvPr/>
        </p:nvSpPr>
        <p:spPr>
          <a:xfrm>
            <a:off x="762000" y="558800"/>
            <a:ext cx="152400" cy="4064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BBD20BE-E553-FE5E-23BA-07F65A2A2FEF}"/>
              </a:ext>
            </a:extLst>
          </p:cNvPr>
          <p:cNvSpPr/>
          <p:nvPr/>
        </p:nvSpPr>
        <p:spPr>
          <a:xfrm>
            <a:off x="635000" y="685800"/>
            <a:ext cx="406400" cy="1524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D714ECE-5ED7-C2FB-A109-FEDDAFA76586}"/>
              </a:ext>
            </a:extLst>
          </p:cNvPr>
          <p:cNvSpPr txBox="1"/>
          <p:nvPr/>
        </p:nvSpPr>
        <p:spPr>
          <a:xfrm>
            <a:off x="1346200" y="355600"/>
            <a:ext cx="10414000" cy="33342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八千代リハビリテーション病院｜四役報告資料（</a:t>
            </a:r>
            <a:r>
              <a:rPr kumimoji="1" lang="en-US" altLang="ja-JP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2026</a:t>
            </a:r>
            <a:r>
              <a:rPr kumimoji="1" lang="ja-JP" altLang="en-US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年</a:t>
            </a:r>
            <a:r>
              <a:rPr kumimoji="1" lang="en-US" altLang="ja-JP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r>
              <a:rPr kumimoji="1" lang="ja-JP" altLang="en-US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月</a:t>
            </a:r>
            <a:r>
              <a:rPr kumimoji="1" lang="en-US" altLang="ja-JP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</a:t>
            </a:r>
            <a:r>
              <a:rPr kumimoji="1" lang="ja-JP" altLang="en-US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日・</a:t>
            </a:r>
            <a:r>
              <a:rPr kumimoji="1" lang="en-US" altLang="ja-JP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18</a:t>
            </a:r>
            <a:r>
              <a:rPr kumimoji="1" lang="ja-JP" altLang="en-US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 実施）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C2B1F8-9446-7C6B-58C3-08FE20623F48}"/>
              </a:ext>
            </a:extLst>
          </p:cNvPr>
          <p:cNvSpPr txBox="1"/>
          <p:nvPr/>
        </p:nvSpPr>
        <p:spPr>
          <a:xfrm>
            <a:off x="1346200" y="762000"/>
            <a:ext cx="10414000" cy="53347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8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八千代市産業祭「どーんと祭」出展結果報告書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59B9350-52ED-01AD-081F-23B82C7C7779}"/>
              </a:ext>
            </a:extLst>
          </p:cNvPr>
          <p:cNvSpPr txBox="1"/>
          <p:nvPr/>
        </p:nvSpPr>
        <p:spPr>
          <a:xfrm>
            <a:off x="1346200" y="1422400"/>
            <a:ext cx="10414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会場：八千代市総合運動公園 ／ 出展規模：</a:t>
            </a:r>
            <a:r>
              <a:rPr kumimoji="1" lang="en-US" altLang="ja-JP" sz="1350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50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区画・</a:t>
            </a:r>
            <a:r>
              <a:rPr kumimoji="1" lang="en-US" altLang="ja-JP" sz="1350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350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部署協働体制 ／ 報告者：リハビリテーション部 保科憲幸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E2A709B8-4ABC-23E6-C807-ADE56049E438}"/>
              </a:ext>
            </a:extLst>
          </p:cNvPr>
          <p:cNvSpPr/>
          <p:nvPr/>
        </p:nvSpPr>
        <p:spPr>
          <a:xfrm>
            <a:off x="406400" y="2209800"/>
            <a:ext cx="11379200" cy="8128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4F20872-D7CE-AAAE-2D13-C78D7C714CD6}"/>
              </a:ext>
            </a:extLst>
          </p:cNvPr>
          <p:cNvSpPr/>
          <p:nvPr/>
        </p:nvSpPr>
        <p:spPr>
          <a:xfrm>
            <a:off x="406400" y="2209800"/>
            <a:ext cx="101600" cy="8128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B89C0B7-68CB-F52C-35C3-8D4244CB1D30}"/>
              </a:ext>
            </a:extLst>
          </p:cNvPr>
          <p:cNvSpPr txBox="1"/>
          <p:nvPr/>
        </p:nvSpPr>
        <p:spPr>
          <a:xfrm>
            <a:off x="660400" y="2311400"/>
            <a:ext cx="10922000" cy="56425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出展実績サマリー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  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ブース来場者数：計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 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120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／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148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
                      アンケート有効回答数：計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 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106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／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130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  ｜  参加スタッフ：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部署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C4679B3-6D35-D527-572A-656009A9A5B9}"/>
              </a:ext>
            </a:extLst>
          </p:cNvPr>
          <p:cNvSpPr txBox="1"/>
          <p:nvPr/>
        </p:nvSpPr>
        <p:spPr>
          <a:xfrm>
            <a:off x="406400" y="3200400"/>
            <a:ext cx="113792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 起案書における出展の目的（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つの柱）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3F759A40-EA0D-E1D3-73DF-BBADA16E9430}"/>
              </a:ext>
            </a:extLst>
          </p:cNvPr>
          <p:cNvSpPr/>
          <p:nvPr/>
        </p:nvSpPr>
        <p:spPr>
          <a:xfrm>
            <a:off x="406400" y="3632200"/>
            <a:ext cx="3657600" cy="2870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50CA76A9-02E6-A409-D18A-9CC1C1FB49A8}"/>
              </a:ext>
            </a:extLst>
          </p:cNvPr>
          <p:cNvSpPr/>
          <p:nvPr/>
        </p:nvSpPr>
        <p:spPr>
          <a:xfrm>
            <a:off x="406400" y="3632200"/>
            <a:ext cx="3657600" cy="76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4E9D1A9-65F7-73D2-57B3-C8291D87B258}"/>
              </a:ext>
            </a:extLst>
          </p:cNvPr>
          <p:cNvSpPr txBox="1"/>
          <p:nvPr/>
        </p:nvSpPr>
        <p:spPr>
          <a:xfrm>
            <a:off x="584200" y="3784600"/>
            <a:ext cx="3302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基本方針の遂行（地域貢献）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B8462171-DABC-B781-6116-F353670C3F77}"/>
              </a:ext>
            </a:extLst>
          </p:cNvPr>
          <p:cNvSpPr/>
          <p:nvPr/>
        </p:nvSpPr>
        <p:spPr>
          <a:xfrm>
            <a:off x="584200" y="4165600"/>
            <a:ext cx="3302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B28B28F-EEFB-6E23-9425-06A0B415A84E}"/>
              </a:ext>
            </a:extLst>
          </p:cNvPr>
          <p:cNvSpPr txBox="1"/>
          <p:nvPr/>
        </p:nvSpPr>
        <p:spPr>
          <a:xfrm>
            <a:off x="584200" y="4318000"/>
            <a:ext cx="3302000" cy="995144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</a:t>
            </a:r>
            <a:r>
              <a:rPr kumimoji="1" lang="en-US" altLang="ja-JP" sz="14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4.5</a:t>
            </a:r>
            <a:r>
              <a:rPr kumimoji="1" lang="ja-JP" altLang="en-US" sz="14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万人規模の「どーんと祭」出展と、多職種による健康相談・測定機会の提供を通じ、地域医療への貢献と住民の健康寿命延伸に寄与する。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A893675B-ABC2-9FC1-5537-56D5894BCE52}"/>
              </a:ext>
            </a:extLst>
          </p:cNvPr>
          <p:cNvSpPr/>
          <p:nvPr/>
        </p:nvSpPr>
        <p:spPr>
          <a:xfrm>
            <a:off x="4267200" y="3632200"/>
            <a:ext cx="3657600" cy="2870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25FFFBD0-6024-F87F-60FF-0C1CDB0E5E48}"/>
              </a:ext>
            </a:extLst>
          </p:cNvPr>
          <p:cNvSpPr/>
          <p:nvPr/>
        </p:nvSpPr>
        <p:spPr>
          <a:xfrm>
            <a:off x="4267200" y="3632200"/>
            <a:ext cx="3657600" cy="762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2F3A8E2-3510-5BEF-ABAA-ADAC4CA680A0}"/>
              </a:ext>
            </a:extLst>
          </p:cNvPr>
          <p:cNvSpPr txBox="1"/>
          <p:nvPr/>
        </p:nvSpPr>
        <p:spPr>
          <a:xfrm>
            <a:off x="4445000" y="3784600"/>
            <a:ext cx="3302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経営的価値（認知・集患）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30BA4CB9-CD12-42C3-4C1D-B732073879F5}"/>
              </a:ext>
            </a:extLst>
          </p:cNvPr>
          <p:cNvSpPr/>
          <p:nvPr/>
        </p:nvSpPr>
        <p:spPr>
          <a:xfrm>
            <a:off x="4445000" y="4165600"/>
            <a:ext cx="3302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912C672-6FED-DD43-4B29-5D1A89A70BEC}"/>
              </a:ext>
            </a:extLst>
          </p:cNvPr>
          <p:cNvSpPr txBox="1"/>
          <p:nvPr/>
        </p:nvSpPr>
        <p:spPr>
          <a:xfrm>
            <a:off x="4445000" y="4318000"/>
            <a:ext cx="3302000" cy="1218282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地域住民へ「顔が見える医療機関」としての認知を確立し、将来的に来場者やそのご家族が入院を要する事態となった際、当院が第一選択として思い浮かぶような下地を作る。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E397CB2C-21A0-8706-08A9-99F5FBD717C0}"/>
              </a:ext>
            </a:extLst>
          </p:cNvPr>
          <p:cNvSpPr/>
          <p:nvPr/>
        </p:nvSpPr>
        <p:spPr>
          <a:xfrm>
            <a:off x="8128000" y="3632200"/>
            <a:ext cx="3657600" cy="2870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79D4F908-9A5F-3364-A90F-CB3242A45B62}"/>
              </a:ext>
            </a:extLst>
          </p:cNvPr>
          <p:cNvSpPr/>
          <p:nvPr/>
        </p:nvSpPr>
        <p:spPr>
          <a:xfrm>
            <a:off x="8128000" y="3632200"/>
            <a:ext cx="36576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7CB8D97-459D-4C31-2AC3-637531848F7D}"/>
              </a:ext>
            </a:extLst>
          </p:cNvPr>
          <p:cNvSpPr txBox="1"/>
          <p:nvPr/>
        </p:nvSpPr>
        <p:spPr>
          <a:xfrm>
            <a:off x="8305800" y="3784600"/>
            <a:ext cx="3302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zh-TW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3. </a:t>
            </a:r>
            <a:r>
              <a:rPr kumimoji="1" lang="zh-TW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組織的価値（多職種連携）</a:t>
            </a:r>
            <a:endParaRPr kumimoji="1" lang="ja-JP" altLang="en-US" sz="16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4B4E2379-1B40-00AB-46BB-C70E57F9DEE4}"/>
              </a:ext>
            </a:extLst>
          </p:cNvPr>
          <p:cNvSpPr/>
          <p:nvPr/>
        </p:nvSpPr>
        <p:spPr>
          <a:xfrm>
            <a:off x="8305800" y="4165600"/>
            <a:ext cx="3302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EB6DAF1-A311-D6FB-6D61-E06D44158BAC}"/>
              </a:ext>
            </a:extLst>
          </p:cNvPr>
          <p:cNvSpPr txBox="1"/>
          <p:nvPr/>
        </p:nvSpPr>
        <p:spPr>
          <a:xfrm>
            <a:off x="8305800" y="4318000"/>
            <a:ext cx="3302000" cy="1218282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4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部署（リハ・看護・薬剤・栄養・地域連携・総務）が協働して一つの地域イベントを企画・運営することで、院内の多職種連携を強化し、日常業務の連携基盤をより強固にする。</a:t>
            </a:r>
          </a:p>
        </p:txBody>
      </p:sp>
    </p:spTree>
    <p:extLst>
      <p:ext uri="{BB962C8B-B14F-4D97-AF65-F5344CB8AC3E}">
        <p14:creationId xmlns:p14="http://schemas.microsoft.com/office/powerpoint/2010/main" val="18043020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E7D14A0-40B8-3ADF-8F6E-52753DC80C6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6560625-9D59-B813-954D-3CE8AA358779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D8FF168-87FE-F152-8164-423982E03158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CB22D8B-172D-6D46-C52D-81E83537A86B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zh-TW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部：来場者調査</a:t>
            </a:r>
            <a:endParaRPr kumimoji="1" lang="ja-JP" altLang="en-US" sz="1300" b="1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1F5C2AA-F15E-81E5-CD05-137E56EE590A}"/>
              </a:ext>
            </a:extLst>
          </p:cNvPr>
          <p:cNvSpPr txBox="1"/>
          <p:nvPr/>
        </p:nvSpPr>
        <p:spPr>
          <a:xfrm>
            <a:off x="2311400" y="165100"/>
            <a:ext cx="85852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来場者アンケートの質問事項と各設問から見えること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E7B49E7-3AF8-090C-C99F-61CADC1875A5}"/>
              </a:ext>
            </a:extLst>
          </p:cNvPr>
          <p:cNvSpPr txBox="1"/>
          <p:nvPr/>
        </p:nvSpPr>
        <p:spPr>
          <a:xfrm>
            <a:off x="10896600" y="203200"/>
            <a:ext cx="990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C94B25C-1B0C-F489-DF32-7F1E218DB4FA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3E702F0-ECE0-F61D-D16A-FF8812BD8A8A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A100EFF-34BB-FBE1-636C-E7A98A654145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全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項目（基本情報＋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Q1〜Q5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）を通じて、今回の出展評価・現在の認知度・当院への評価・住民の関心事を把握する</a:t>
            </a:r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8E5CBC86-7252-2E57-A9C3-531F327E95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4753047"/>
              </p:ext>
            </p:extLst>
          </p:nvPr>
        </p:nvGraphicFramePr>
        <p:xfrm>
          <a:off x="304800" y="1625600"/>
          <a:ext cx="11582400" cy="490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1644237460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3217608200"/>
                    </a:ext>
                  </a:extLst>
                </a:gridCol>
                <a:gridCol w="4318000">
                  <a:extLst>
                    <a:ext uri="{9D8B030D-6E8A-4147-A177-3AD203B41FA5}">
                      <a16:colId xmlns:a16="http://schemas.microsoft.com/office/drawing/2014/main" val="2308097447"/>
                    </a:ext>
                  </a:extLst>
                </a:gridCol>
              </a:tblGrid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質問項目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選択肢・回答形式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この質問から何が見えるか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1781937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基本情報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・年齢（</a:t>
                      </a:r>
                      <a:r>
                        <a:rPr kumimoji="1" lang="en-US" altLang="ja-JP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</a:t>
                      </a:r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</a:t>
                      </a:r>
                      <a:r>
                        <a:rPr kumimoji="1" lang="en-US" altLang="ja-JP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〜90</a:t>
                      </a:r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歳代）
・性別（男性・女性）
・お住まい（八千代市内・八千代市外）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来場者の属性（年代・性別・居住地）の内訳と、</a:t>
                      </a:r>
                      <a:r>
                        <a:rPr kumimoji="1" lang="en-US" altLang="ja-JP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日目・</a:t>
                      </a:r>
                      <a:r>
                        <a:rPr kumimoji="1" lang="en-US" altLang="ja-JP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</a:t>
                      </a:r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日目の客層の違い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8063327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en-US" altLang="ja-JP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Q1. </a:t>
                      </a:r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本日参考になった内容は
    どれですか？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・筋肉量測定   ・血管年齢測定   ・お薬相談
・栄養レッスン ・人生会議（終活）の案内
（複数選択可）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今回の出展内容に対する評価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0425121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en-US" altLang="ja-JP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Q2. </a:t>
                      </a:r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これまで当院を
    ご存知でしたか？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・よく知っている（自身や家族が利用したことがある）
・名前や場所は知っている
・今日初めて知った（単一選択）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地域における当院の現在の認知度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6401419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en-US" altLang="ja-JP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Q3. </a:t>
                      </a:r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万が一の際、当院を利用
    したいと思いますか？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・ぜひ利用したい
・候補の一つとして検討したい
・他の病院を選ぶ・わからない（単一選択）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アンケート回答時における当院の評価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7885770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en-US" altLang="ja-JP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Q4. </a:t>
                      </a:r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現在健康について気になる
    ことはありますか？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・足腰の衰え・転倒  ・物忘れ・認知機能
・食事・栄養バランス ・薬の飲み方
・将来の介護や終活  ・とくにない  ・その他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地域住民の抱える健康課題や関心のチェック
（</a:t>
                      </a:r>
                      <a:r>
                        <a:rPr kumimoji="1" lang="en-US" altLang="ja-JP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※</a:t>
                      </a:r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今後の知名度向上に向けた定期的な健康教室のテーマ選定用データ）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38857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en-US" altLang="ja-JP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Q5. </a:t>
                      </a:r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来年に期待する内容は
    何ですか？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・自由記述（計</a:t>
                      </a:r>
                      <a:r>
                        <a:rPr kumimoji="1" lang="en-US" altLang="ja-JP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39</a:t>
                      </a:r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件の記述回答）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来年度の出展内容に向けたヒント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87026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66404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58642F4-92FA-2728-4A9D-E93553C0018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1C14036-62E8-B0EC-1447-44A11B201896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62A79DA-BB29-2B1C-8184-8D79B757F3DE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B6EB300-208D-1343-0B01-12CFC1D40979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zh-TW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部：単純集計①</a:t>
            </a:r>
            <a:endParaRPr kumimoji="1" lang="ja-JP" altLang="en-US" sz="1300" b="1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B7E0D90-3D37-677E-46D5-7791AAA32878}"/>
              </a:ext>
            </a:extLst>
          </p:cNvPr>
          <p:cNvSpPr txBox="1"/>
          <p:nvPr/>
        </p:nvSpPr>
        <p:spPr>
          <a:xfrm>
            <a:off x="2311400" y="165100"/>
            <a:ext cx="85852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来場者アンケート結果①：基本情報（年齢・性別・お住まい）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97A5DD8-3353-D8BC-75B2-65DABDE6A3EA}"/>
              </a:ext>
            </a:extLst>
          </p:cNvPr>
          <p:cNvSpPr txBox="1"/>
          <p:nvPr/>
        </p:nvSpPr>
        <p:spPr>
          <a:xfrm>
            <a:off x="10896600" y="203200"/>
            <a:ext cx="990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39E647A-120D-3E3A-F8CB-3F1EC5812B47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A09E8F4-4AB1-1914-E8C2-1C1230F52D0C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3D14D9C-E6B0-7E18-FE6F-47A7A429DA8A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有効回答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名。年代は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50〜70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歳代が中心（計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60.6%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）、性別は女性が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64.8%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、お住まいは八千代市内が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72.5%</a:t>
            </a:r>
            <a:endParaRPr kumimoji="1" lang="ja-JP" altLang="en-US" sz="14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EFD6DAB-3CCC-E886-B4F9-AF5E4D866540}"/>
              </a:ext>
            </a:extLst>
          </p:cNvPr>
          <p:cNvSpPr/>
          <p:nvPr/>
        </p:nvSpPr>
        <p:spPr>
          <a:xfrm>
            <a:off x="304800" y="1574800"/>
            <a:ext cx="59690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618F278-EC73-1DD3-7DDF-72E6CC073194}"/>
              </a:ext>
            </a:extLst>
          </p:cNvPr>
          <p:cNvSpPr/>
          <p:nvPr/>
        </p:nvSpPr>
        <p:spPr>
          <a:xfrm>
            <a:off x="304800" y="1574800"/>
            <a:ext cx="5969000" cy="76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31D9A1A-8F3B-80BB-DDC1-4CB9F61D072A}"/>
              </a:ext>
            </a:extLst>
          </p:cNvPr>
          <p:cNvSpPr txBox="1"/>
          <p:nvPr/>
        </p:nvSpPr>
        <p:spPr>
          <a:xfrm>
            <a:off x="482600" y="1727200"/>
            <a:ext cx="56134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年齢別の回答数・割合（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N=236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0483867-D6A7-89E7-4EFE-DF8601B515E8}"/>
              </a:ext>
            </a:extLst>
          </p:cNvPr>
          <p:cNvSpPr/>
          <p:nvPr/>
        </p:nvSpPr>
        <p:spPr>
          <a:xfrm>
            <a:off x="482600" y="2108200"/>
            <a:ext cx="56134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37CAA9C6-C612-8393-964A-37848820548B}"/>
              </a:ext>
            </a:extLst>
          </p:cNvPr>
          <p:cNvSpPr txBox="1"/>
          <p:nvPr/>
        </p:nvSpPr>
        <p:spPr>
          <a:xfrm>
            <a:off x="482600" y="21844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C3FC6CE-A959-28A7-1C8A-6051019BA4E1}"/>
              </a:ext>
            </a:extLst>
          </p:cNvPr>
          <p:cNvSpPr/>
          <p:nvPr/>
        </p:nvSpPr>
        <p:spPr>
          <a:xfrm>
            <a:off x="1524000" y="22352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FE49CB0-6266-BAB6-430B-188D8887BF15}"/>
              </a:ext>
            </a:extLst>
          </p:cNvPr>
          <p:cNvSpPr/>
          <p:nvPr/>
        </p:nvSpPr>
        <p:spPr>
          <a:xfrm>
            <a:off x="1524000" y="2235200"/>
            <a:ext cx="3175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FAE2F1C-16A3-84CD-7CCD-B214540F7CA7}"/>
              </a:ext>
            </a:extLst>
          </p:cNvPr>
          <p:cNvSpPr txBox="1"/>
          <p:nvPr/>
        </p:nvSpPr>
        <p:spPr>
          <a:xfrm>
            <a:off x="4419600" y="21844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(3.8%)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129160B-C717-7AC9-AC1C-A9707F133C45}"/>
              </a:ext>
            </a:extLst>
          </p:cNvPr>
          <p:cNvSpPr txBox="1"/>
          <p:nvPr/>
        </p:nvSpPr>
        <p:spPr>
          <a:xfrm>
            <a:off x="482600" y="26035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EE835FD5-63E2-30E3-E81B-42994FA31C27}"/>
              </a:ext>
            </a:extLst>
          </p:cNvPr>
          <p:cNvSpPr/>
          <p:nvPr/>
        </p:nvSpPr>
        <p:spPr>
          <a:xfrm>
            <a:off x="1524000" y="26543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4C8024B6-2A95-9560-C190-7E8D3135170A}"/>
              </a:ext>
            </a:extLst>
          </p:cNvPr>
          <p:cNvSpPr/>
          <p:nvPr/>
        </p:nvSpPr>
        <p:spPr>
          <a:xfrm>
            <a:off x="1524000" y="2654300"/>
            <a:ext cx="3175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7DC7D132-8A66-EEF1-3EF3-FD5179D4699A}"/>
              </a:ext>
            </a:extLst>
          </p:cNvPr>
          <p:cNvSpPr txBox="1"/>
          <p:nvPr/>
        </p:nvSpPr>
        <p:spPr>
          <a:xfrm>
            <a:off x="4419600" y="26035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(3.8%)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7C3AF97-5302-3A37-35DF-2D1E787DC1C2}"/>
              </a:ext>
            </a:extLst>
          </p:cNvPr>
          <p:cNvSpPr txBox="1"/>
          <p:nvPr/>
        </p:nvSpPr>
        <p:spPr>
          <a:xfrm>
            <a:off x="482600" y="30226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C037D22-C28C-6C00-8DEE-695430C7D93D}"/>
              </a:ext>
            </a:extLst>
          </p:cNvPr>
          <p:cNvSpPr/>
          <p:nvPr/>
        </p:nvSpPr>
        <p:spPr>
          <a:xfrm>
            <a:off x="1524000" y="30734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8C431F9-1F3A-3F6B-1087-2B1E51CB8C41}"/>
              </a:ext>
            </a:extLst>
          </p:cNvPr>
          <p:cNvSpPr/>
          <p:nvPr/>
        </p:nvSpPr>
        <p:spPr>
          <a:xfrm>
            <a:off x="1524000" y="3073400"/>
            <a:ext cx="4318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7C6D5B9-9BBE-3F76-A022-1B8C214E915B}"/>
              </a:ext>
            </a:extLst>
          </p:cNvPr>
          <p:cNvSpPr txBox="1"/>
          <p:nvPr/>
        </p:nvSpPr>
        <p:spPr>
          <a:xfrm>
            <a:off x="4419600" y="3022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(5.1%)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0D76F1E-051E-9E3A-CA52-EE793E6DE0CD}"/>
              </a:ext>
            </a:extLst>
          </p:cNvPr>
          <p:cNvSpPr txBox="1"/>
          <p:nvPr/>
        </p:nvSpPr>
        <p:spPr>
          <a:xfrm>
            <a:off x="482600" y="34417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47F7C7B2-F337-B1D7-3AF2-857275BCA4EE}"/>
              </a:ext>
            </a:extLst>
          </p:cNvPr>
          <p:cNvSpPr/>
          <p:nvPr/>
        </p:nvSpPr>
        <p:spPr>
          <a:xfrm>
            <a:off x="1524000" y="34925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99307CFC-51F8-0F31-51E1-6D658A7B1260}"/>
              </a:ext>
            </a:extLst>
          </p:cNvPr>
          <p:cNvSpPr/>
          <p:nvPr/>
        </p:nvSpPr>
        <p:spPr>
          <a:xfrm>
            <a:off x="1524000" y="3492500"/>
            <a:ext cx="11684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19D040E1-E3DC-81C6-8E59-673B2F612DF1}"/>
              </a:ext>
            </a:extLst>
          </p:cNvPr>
          <p:cNvSpPr txBox="1"/>
          <p:nvPr/>
        </p:nvSpPr>
        <p:spPr>
          <a:xfrm>
            <a:off x="4419600" y="34417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(14.0%)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1610C2D3-CD07-E34B-272B-2513A358602E}"/>
              </a:ext>
            </a:extLst>
          </p:cNvPr>
          <p:cNvSpPr txBox="1"/>
          <p:nvPr/>
        </p:nvSpPr>
        <p:spPr>
          <a:xfrm>
            <a:off x="482600" y="38608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6A9F71EA-1804-579F-0FF2-A171E56096C1}"/>
              </a:ext>
            </a:extLst>
          </p:cNvPr>
          <p:cNvSpPr/>
          <p:nvPr/>
        </p:nvSpPr>
        <p:spPr>
          <a:xfrm>
            <a:off x="1524000" y="39116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90FBBD89-9277-C08C-3D4D-44EDBF12A0D5}"/>
              </a:ext>
            </a:extLst>
          </p:cNvPr>
          <p:cNvSpPr/>
          <p:nvPr/>
        </p:nvSpPr>
        <p:spPr>
          <a:xfrm>
            <a:off x="1524000" y="3911600"/>
            <a:ext cx="2209800" cy="228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88FE28B-B162-A58C-642A-93456AC35B05}"/>
              </a:ext>
            </a:extLst>
          </p:cNvPr>
          <p:cNvSpPr txBox="1"/>
          <p:nvPr/>
        </p:nvSpPr>
        <p:spPr>
          <a:xfrm>
            <a:off x="4419600" y="38608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(26.3%)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57471191-49D7-9468-99AA-09E1ABA5D2E3}"/>
              </a:ext>
            </a:extLst>
          </p:cNvPr>
          <p:cNvSpPr txBox="1"/>
          <p:nvPr/>
        </p:nvSpPr>
        <p:spPr>
          <a:xfrm>
            <a:off x="482600" y="42799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8EDAFE4F-4D9D-586D-13CD-1D6DE7EEB331}"/>
              </a:ext>
            </a:extLst>
          </p:cNvPr>
          <p:cNvSpPr/>
          <p:nvPr/>
        </p:nvSpPr>
        <p:spPr>
          <a:xfrm>
            <a:off x="1524000" y="43307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82A497CC-5C11-7D19-B940-33ECD6FB6DE6}"/>
              </a:ext>
            </a:extLst>
          </p:cNvPr>
          <p:cNvSpPr/>
          <p:nvPr/>
        </p:nvSpPr>
        <p:spPr>
          <a:xfrm>
            <a:off x="1524000" y="4330700"/>
            <a:ext cx="13843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FD7ACA38-DD87-670B-C1CE-39F7B2CAA3EF}"/>
              </a:ext>
            </a:extLst>
          </p:cNvPr>
          <p:cNvSpPr txBox="1"/>
          <p:nvPr/>
        </p:nvSpPr>
        <p:spPr>
          <a:xfrm>
            <a:off x="4419600" y="42799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(16.5%)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03A75292-A56A-5712-3D59-A5D7A94A541C}"/>
              </a:ext>
            </a:extLst>
          </p:cNvPr>
          <p:cNvSpPr txBox="1"/>
          <p:nvPr/>
        </p:nvSpPr>
        <p:spPr>
          <a:xfrm>
            <a:off x="482600" y="46990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2555B6EB-0B43-CADF-B8BF-D4DDCE53DAA1}"/>
              </a:ext>
            </a:extLst>
          </p:cNvPr>
          <p:cNvSpPr/>
          <p:nvPr/>
        </p:nvSpPr>
        <p:spPr>
          <a:xfrm>
            <a:off x="1524000" y="47498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3D893C6C-87F8-4B98-05C9-98842605FAF9}"/>
              </a:ext>
            </a:extLst>
          </p:cNvPr>
          <p:cNvSpPr/>
          <p:nvPr/>
        </p:nvSpPr>
        <p:spPr>
          <a:xfrm>
            <a:off x="1524000" y="4749800"/>
            <a:ext cx="14859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46EAC10E-2BDB-1B06-DDC4-D22D58AF6883}"/>
              </a:ext>
            </a:extLst>
          </p:cNvPr>
          <p:cNvSpPr txBox="1"/>
          <p:nvPr/>
        </p:nvSpPr>
        <p:spPr>
          <a:xfrm>
            <a:off x="4419600" y="46990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(17.8%)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326685C6-765B-D6D0-3105-2D61874EBEA8}"/>
              </a:ext>
            </a:extLst>
          </p:cNvPr>
          <p:cNvSpPr txBox="1"/>
          <p:nvPr/>
        </p:nvSpPr>
        <p:spPr>
          <a:xfrm>
            <a:off x="482600" y="51181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C76018E5-05A9-03C6-27D7-53DE6CB6486E}"/>
              </a:ext>
            </a:extLst>
          </p:cNvPr>
          <p:cNvSpPr/>
          <p:nvPr/>
        </p:nvSpPr>
        <p:spPr>
          <a:xfrm>
            <a:off x="1524000" y="51689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5296F7CF-EFE9-8212-2C04-65961CC3A584}"/>
              </a:ext>
            </a:extLst>
          </p:cNvPr>
          <p:cNvSpPr/>
          <p:nvPr/>
        </p:nvSpPr>
        <p:spPr>
          <a:xfrm>
            <a:off x="1524000" y="5168900"/>
            <a:ext cx="8890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331D7454-1461-CBDF-A138-2DB235F29B16}"/>
              </a:ext>
            </a:extLst>
          </p:cNvPr>
          <p:cNvSpPr txBox="1"/>
          <p:nvPr/>
        </p:nvSpPr>
        <p:spPr>
          <a:xfrm>
            <a:off x="4419600" y="51181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25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(10.6%)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52357152-9F58-510A-B1CC-EE01E47D4644}"/>
              </a:ext>
            </a:extLst>
          </p:cNvPr>
          <p:cNvSpPr txBox="1"/>
          <p:nvPr/>
        </p:nvSpPr>
        <p:spPr>
          <a:xfrm>
            <a:off x="482600" y="55372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A17E7E72-4779-AAA3-197E-D688332096E3}"/>
              </a:ext>
            </a:extLst>
          </p:cNvPr>
          <p:cNvSpPr/>
          <p:nvPr/>
        </p:nvSpPr>
        <p:spPr>
          <a:xfrm>
            <a:off x="1524000" y="55880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97DF22BE-EA23-2BD2-3321-F9D3C7BC4503}"/>
              </a:ext>
            </a:extLst>
          </p:cNvPr>
          <p:cNvSpPr/>
          <p:nvPr/>
        </p:nvSpPr>
        <p:spPr>
          <a:xfrm>
            <a:off x="1524000" y="5588000"/>
            <a:ext cx="63500" cy="228600"/>
          </a:xfrm>
          <a:prstGeom prst="rect">
            <a:avLst/>
          </a:prstGeom>
          <a:solidFill>
            <a:srgbClr val="64748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04D2D1FA-5879-D020-5B2B-74F47359BDC4}"/>
              </a:ext>
            </a:extLst>
          </p:cNvPr>
          <p:cNvSpPr txBox="1"/>
          <p:nvPr/>
        </p:nvSpPr>
        <p:spPr>
          <a:xfrm>
            <a:off x="4419600" y="55372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(0.8%)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2B8AEFC4-EFC7-AB60-F9BD-2A25B5E5E631}"/>
              </a:ext>
            </a:extLst>
          </p:cNvPr>
          <p:cNvSpPr txBox="1"/>
          <p:nvPr/>
        </p:nvSpPr>
        <p:spPr>
          <a:xfrm>
            <a:off x="482600" y="59563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未記入</a:t>
            </a:r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032C698B-7823-FA70-2EFC-DEDBD252EBF9}"/>
              </a:ext>
            </a:extLst>
          </p:cNvPr>
          <p:cNvSpPr/>
          <p:nvPr/>
        </p:nvSpPr>
        <p:spPr>
          <a:xfrm>
            <a:off x="1524000" y="60071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44613D84-524F-0512-8FCB-65D8D4971AED}"/>
              </a:ext>
            </a:extLst>
          </p:cNvPr>
          <p:cNvSpPr/>
          <p:nvPr/>
        </p:nvSpPr>
        <p:spPr>
          <a:xfrm>
            <a:off x="1524000" y="6007100"/>
            <a:ext cx="114300" cy="228600"/>
          </a:xfrm>
          <a:prstGeom prst="rect">
            <a:avLst/>
          </a:prstGeom>
          <a:solidFill>
            <a:srgbClr val="64748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42305742-4244-6565-9ED9-B537BB60D36F}"/>
              </a:ext>
            </a:extLst>
          </p:cNvPr>
          <p:cNvSpPr txBox="1"/>
          <p:nvPr/>
        </p:nvSpPr>
        <p:spPr>
          <a:xfrm>
            <a:off x="4419600" y="59563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(1.3%)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1B104440-7C74-D8B8-8FB8-A0D22F21D85C}"/>
              </a:ext>
            </a:extLst>
          </p:cNvPr>
          <p:cNvSpPr/>
          <p:nvPr/>
        </p:nvSpPr>
        <p:spPr>
          <a:xfrm>
            <a:off x="6477000" y="1574800"/>
            <a:ext cx="5410200" cy="254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B32E6152-E2CD-C617-ABC9-8DA1F27D6BD0}"/>
              </a:ext>
            </a:extLst>
          </p:cNvPr>
          <p:cNvSpPr/>
          <p:nvPr/>
        </p:nvSpPr>
        <p:spPr>
          <a:xfrm>
            <a:off x="6477000" y="1574800"/>
            <a:ext cx="54102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1A100454-E5EE-DC4B-7852-99C13A75EBEA}"/>
              </a:ext>
            </a:extLst>
          </p:cNvPr>
          <p:cNvSpPr txBox="1"/>
          <p:nvPr/>
        </p:nvSpPr>
        <p:spPr>
          <a:xfrm>
            <a:off x="6654800" y="1727200"/>
            <a:ext cx="50546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お住まい・性別の内訳（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N=236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C9EE2B0D-EE76-6103-57B0-F15917009A5E}"/>
              </a:ext>
            </a:extLst>
          </p:cNvPr>
          <p:cNvSpPr/>
          <p:nvPr/>
        </p:nvSpPr>
        <p:spPr>
          <a:xfrm>
            <a:off x="6654800" y="2108200"/>
            <a:ext cx="50546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468FAF4F-6DB0-403B-B28C-6D32AB114D67}"/>
              </a:ext>
            </a:extLst>
          </p:cNvPr>
          <p:cNvSpPr txBox="1"/>
          <p:nvPr/>
        </p:nvSpPr>
        <p:spPr>
          <a:xfrm>
            <a:off x="6680200" y="2184400"/>
            <a:ext cx="1270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八千代市内</a:t>
            </a:r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540F4245-3D21-F04C-C459-F00768B5A06A}"/>
              </a:ext>
            </a:extLst>
          </p:cNvPr>
          <p:cNvSpPr/>
          <p:nvPr/>
        </p:nvSpPr>
        <p:spPr>
          <a:xfrm>
            <a:off x="8026400" y="2235200"/>
            <a:ext cx="19685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358FB5B2-AFBA-09B8-A38F-FC55F106041D}"/>
              </a:ext>
            </a:extLst>
          </p:cNvPr>
          <p:cNvSpPr/>
          <p:nvPr/>
        </p:nvSpPr>
        <p:spPr>
          <a:xfrm>
            <a:off x="8026400" y="2235200"/>
            <a:ext cx="14224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4F6E6951-55E5-CCFC-4FA1-5207DA58B408}"/>
              </a:ext>
            </a:extLst>
          </p:cNvPr>
          <p:cNvSpPr txBox="1"/>
          <p:nvPr/>
        </p:nvSpPr>
        <p:spPr>
          <a:xfrm>
            <a:off x="10096500" y="21844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(72.5%)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D1650534-1CB4-5EB7-FBE5-F4DBC1399E6C}"/>
              </a:ext>
            </a:extLst>
          </p:cNvPr>
          <p:cNvSpPr txBox="1"/>
          <p:nvPr/>
        </p:nvSpPr>
        <p:spPr>
          <a:xfrm>
            <a:off x="6680200" y="2565400"/>
            <a:ext cx="1270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八千代市外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49D5A37A-A1E7-9FD7-1615-2FD004DFEFDC}"/>
              </a:ext>
            </a:extLst>
          </p:cNvPr>
          <p:cNvSpPr/>
          <p:nvPr/>
        </p:nvSpPr>
        <p:spPr>
          <a:xfrm>
            <a:off x="8026400" y="2616200"/>
            <a:ext cx="19685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2F1B6CAF-268E-C6A7-4F85-F299C56680D7}"/>
              </a:ext>
            </a:extLst>
          </p:cNvPr>
          <p:cNvSpPr/>
          <p:nvPr/>
        </p:nvSpPr>
        <p:spPr>
          <a:xfrm>
            <a:off x="8026400" y="2616200"/>
            <a:ext cx="5207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282624F6-0BB7-3E51-5482-BC5A4ABAE413}"/>
              </a:ext>
            </a:extLst>
          </p:cNvPr>
          <p:cNvSpPr txBox="1"/>
          <p:nvPr/>
        </p:nvSpPr>
        <p:spPr>
          <a:xfrm>
            <a:off x="10096500" y="25654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(26.3%)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337F8717-87A5-E8F1-E6AE-24B35DB4730F}"/>
              </a:ext>
            </a:extLst>
          </p:cNvPr>
          <p:cNvSpPr txBox="1"/>
          <p:nvPr/>
        </p:nvSpPr>
        <p:spPr>
          <a:xfrm>
            <a:off x="6680200" y="2946400"/>
            <a:ext cx="1270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女性</a:t>
            </a:r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8587E66D-8457-9CF3-A470-02DC06BA0996}"/>
              </a:ext>
            </a:extLst>
          </p:cNvPr>
          <p:cNvSpPr/>
          <p:nvPr/>
        </p:nvSpPr>
        <p:spPr>
          <a:xfrm>
            <a:off x="8026400" y="2997200"/>
            <a:ext cx="19685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B60250E2-ECAC-943F-C01B-E051B2B83B12}"/>
              </a:ext>
            </a:extLst>
          </p:cNvPr>
          <p:cNvSpPr/>
          <p:nvPr/>
        </p:nvSpPr>
        <p:spPr>
          <a:xfrm>
            <a:off x="8026400" y="2997200"/>
            <a:ext cx="1270000" cy="2286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テキスト ボックス 69">
            <a:extLst>
              <a:ext uri="{FF2B5EF4-FFF2-40B4-BE49-F238E27FC236}">
                <a16:creationId xmlns:a16="http://schemas.microsoft.com/office/drawing/2014/main" id="{BB39E7EA-C258-C9C4-822F-036993D3FE57}"/>
              </a:ext>
            </a:extLst>
          </p:cNvPr>
          <p:cNvSpPr txBox="1"/>
          <p:nvPr/>
        </p:nvSpPr>
        <p:spPr>
          <a:xfrm>
            <a:off x="10096500" y="29464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153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(64.8%)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1" name="テキスト ボックス 70">
            <a:extLst>
              <a:ext uri="{FF2B5EF4-FFF2-40B4-BE49-F238E27FC236}">
                <a16:creationId xmlns:a16="http://schemas.microsoft.com/office/drawing/2014/main" id="{6FB59119-763F-C828-E031-606AF3767F12}"/>
              </a:ext>
            </a:extLst>
          </p:cNvPr>
          <p:cNvSpPr txBox="1"/>
          <p:nvPr/>
        </p:nvSpPr>
        <p:spPr>
          <a:xfrm>
            <a:off x="6680200" y="3327400"/>
            <a:ext cx="1270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男性</a:t>
            </a:r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D9787782-D292-3601-BF2D-9DAB6F33DC23}"/>
              </a:ext>
            </a:extLst>
          </p:cNvPr>
          <p:cNvSpPr/>
          <p:nvPr/>
        </p:nvSpPr>
        <p:spPr>
          <a:xfrm>
            <a:off x="8026400" y="3378200"/>
            <a:ext cx="19685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3" name="正方形/長方形 72">
            <a:extLst>
              <a:ext uri="{FF2B5EF4-FFF2-40B4-BE49-F238E27FC236}">
                <a16:creationId xmlns:a16="http://schemas.microsoft.com/office/drawing/2014/main" id="{AD798F2B-CB37-38D3-638E-98731F02BE65}"/>
              </a:ext>
            </a:extLst>
          </p:cNvPr>
          <p:cNvSpPr/>
          <p:nvPr/>
        </p:nvSpPr>
        <p:spPr>
          <a:xfrm>
            <a:off x="8026400" y="3378200"/>
            <a:ext cx="6731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5A807129-2694-53A0-C0A7-98E65E14E806}"/>
              </a:ext>
            </a:extLst>
          </p:cNvPr>
          <p:cNvSpPr txBox="1"/>
          <p:nvPr/>
        </p:nvSpPr>
        <p:spPr>
          <a:xfrm>
            <a:off x="10096500" y="33274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81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(34.3%)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D291DD94-D27C-2D95-BE04-FB2FFD4479D9}"/>
              </a:ext>
            </a:extLst>
          </p:cNvPr>
          <p:cNvSpPr txBox="1"/>
          <p:nvPr/>
        </p:nvSpPr>
        <p:spPr>
          <a:xfrm>
            <a:off x="6680200" y="3708400"/>
            <a:ext cx="50292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r>
              <a:rPr kumimoji="1" lang="ja-JP" altLang="en-US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未記入：お住まい </a:t>
            </a:r>
            <a:r>
              <a:rPr kumimoji="1" lang="en-US" altLang="ja-JP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1.3%</a:t>
            </a:r>
            <a:r>
              <a:rPr kumimoji="1" lang="ja-JP" altLang="en-US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 ／ 性別 </a:t>
            </a:r>
            <a:r>
              <a:rPr kumimoji="1" lang="en-US" altLang="ja-JP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0.8%</a:t>
            </a:r>
            <a:r>
              <a:rPr kumimoji="1" lang="ja-JP" altLang="en-US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7317783A-1FB2-B1EE-DE2F-84A1A53C8F5C}"/>
              </a:ext>
            </a:extLst>
          </p:cNvPr>
          <p:cNvSpPr/>
          <p:nvPr/>
        </p:nvSpPr>
        <p:spPr>
          <a:xfrm>
            <a:off x="6477000" y="4267200"/>
            <a:ext cx="5410200" cy="2286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2CF26044-88E7-04B4-1B38-2B1DD1E8A82B}"/>
              </a:ext>
            </a:extLst>
          </p:cNvPr>
          <p:cNvSpPr/>
          <p:nvPr/>
        </p:nvSpPr>
        <p:spPr>
          <a:xfrm>
            <a:off x="6477000" y="4267200"/>
            <a:ext cx="5410200" cy="762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3F90375A-B65A-E8E7-2105-96A06E02A367}"/>
              </a:ext>
            </a:extLst>
          </p:cNvPr>
          <p:cNvSpPr txBox="1"/>
          <p:nvPr/>
        </p:nvSpPr>
        <p:spPr>
          <a:xfrm>
            <a:off x="6654800" y="4419600"/>
            <a:ext cx="50546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基本情報 集計結果の説明</a:t>
            </a:r>
          </a:p>
        </p:txBody>
      </p:sp>
      <p:sp>
        <p:nvSpPr>
          <p:cNvPr id="79" name="正方形/長方形 78">
            <a:extLst>
              <a:ext uri="{FF2B5EF4-FFF2-40B4-BE49-F238E27FC236}">
                <a16:creationId xmlns:a16="http://schemas.microsoft.com/office/drawing/2014/main" id="{B83D10D9-4D10-B7FE-6479-099782479940}"/>
              </a:ext>
            </a:extLst>
          </p:cNvPr>
          <p:cNvSpPr/>
          <p:nvPr/>
        </p:nvSpPr>
        <p:spPr>
          <a:xfrm>
            <a:off x="6654800" y="4800600"/>
            <a:ext cx="50546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0" name="テキスト ボックス 79">
            <a:extLst>
              <a:ext uri="{FF2B5EF4-FFF2-40B4-BE49-F238E27FC236}">
                <a16:creationId xmlns:a16="http://schemas.microsoft.com/office/drawing/2014/main" id="{D81F1C4F-BF9C-221E-E5AA-F017A71C88F5}"/>
              </a:ext>
            </a:extLst>
          </p:cNvPr>
          <p:cNvSpPr txBox="1"/>
          <p:nvPr/>
        </p:nvSpPr>
        <p:spPr>
          <a:xfrm>
            <a:off x="6654800" y="4851400"/>
            <a:ext cx="5054600" cy="201388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・ブース来場者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名のうち、有効回答数は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名（回答率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88.1%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・年齢別では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）で最も多く、次いで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16.5%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14.0%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・性別は女性が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64.8%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）、男性が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34.3%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・お住まいは八千代市内が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）、八千代市外が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</a:t>
            </a:r>
          </a:p>
        </p:txBody>
      </p:sp>
    </p:spTree>
    <p:extLst>
      <p:ext uri="{BB962C8B-B14F-4D97-AF65-F5344CB8AC3E}">
        <p14:creationId xmlns:p14="http://schemas.microsoft.com/office/powerpoint/2010/main" val="3501743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1D67744-B44B-6FF0-A3DE-8904634695C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826EDC3-D4DF-A616-5AFE-D958B3490386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A407981-A44D-6984-A276-2A5CB69DDE28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4E0B522-387B-64E2-5E39-A2D7D034F25D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zh-TW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部：単純集計②</a:t>
            </a:r>
            <a:endParaRPr kumimoji="1" lang="ja-JP" altLang="en-US" sz="1300" b="1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BAAD97F-8E46-08E8-2B58-61F54C5224CA}"/>
              </a:ext>
            </a:extLst>
          </p:cNvPr>
          <p:cNvSpPr txBox="1"/>
          <p:nvPr/>
        </p:nvSpPr>
        <p:spPr>
          <a:xfrm>
            <a:off x="2311400" y="165100"/>
            <a:ext cx="85852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来場者アンケート結果②：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Q1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（出展評価）・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Q2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（認知度）・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Q3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（当院評価）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C15C4F6-5122-DB30-1C06-BEAE6E2D6B39}"/>
              </a:ext>
            </a:extLst>
          </p:cNvPr>
          <p:cNvSpPr txBox="1"/>
          <p:nvPr/>
        </p:nvSpPr>
        <p:spPr>
          <a:xfrm>
            <a:off x="10896600" y="203200"/>
            <a:ext cx="990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BAD591D-9AA5-E5BD-4666-187454135E3C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F0B20EA-D968-A8F0-D422-FBC5B40BD78F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1517A39-A306-01C9-B088-B200765F09DF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血管年齢（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72.9%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）・筋肉量（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66.5%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）が高評価。初認知は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28.4%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、当院を「利用・検討したい」は計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90.3%</a:t>
            </a:r>
            <a:endParaRPr kumimoji="1" lang="ja-JP" altLang="en-US" sz="14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A9176EE-8977-1371-BB0A-4AD904A23F60}"/>
              </a:ext>
            </a:extLst>
          </p:cNvPr>
          <p:cNvSpPr/>
          <p:nvPr/>
        </p:nvSpPr>
        <p:spPr>
          <a:xfrm>
            <a:off x="304800" y="1574800"/>
            <a:ext cx="64770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268EB1F-7F51-6301-85DA-EE6BB651EFD3}"/>
              </a:ext>
            </a:extLst>
          </p:cNvPr>
          <p:cNvSpPr/>
          <p:nvPr/>
        </p:nvSpPr>
        <p:spPr>
          <a:xfrm>
            <a:off x="304800" y="1574800"/>
            <a:ext cx="6477000" cy="76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08E5E1C-A6A9-DB26-E093-1A526976407F}"/>
              </a:ext>
            </a:extLst>
          </p:cNvPr>
          <p:cNvSpPr txBox="1"/>
          <p:nvPr/>
        </p:nvSpPr>
        <p:spPr>
          <a:xfrm>
            <a:off x="482600" y="1727200"/>
            <a:ext cx="61214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Q1〜Q3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設問別の回答数・割合（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N=236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D4C9246-B1D7-F4A7-AD12-C390CDCF01D3}"/>
              </a:ext>
            </a:extLst>
          </p:cNvPr>
          <p:cNvSpPr/>
          <p:nvPr/>
        </p:nvSpPr>
        <p:spPr>
          <a:xfrm>
            <a:off x="482600" y="2108200"/>
            <a:ext cx="61214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854DD89-3254-3D60-4F13-AFC6C1860CCD}"/>
              </a:ext>
            </a:extLst>
          </p:cNvPr>
          <p:cNvSpPr txBox="1"/>
          <p:nvPr/>
        </p:nvSpPr>
        <p:spPr>
          <a:xfrm>
            <a:off x="482600" y="2133600"/>
            <a:ext cx="6096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1D4ED8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【Q1】</a:t>
            </a:r>
            <a:r>
              <a:rPr kumimoji="1" lang="ja-JP" altLang="en-US" sz="1400" b="1">
                <a:solidFill>
                  <a:srgbClr val="1D4ED8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本日参考になった内容（複数回答）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A81449C-EB61-F180-AFD9-34CB989FF2EE}"/>
              </a:ext>
            </a:extLst>
          </p:cNvPr>
          <p:cNvSpPr txBox="1"/>
          <p:nvPr/>
        </p:nvSpPr>
        <p:spPr>
          <a:xfrm>
            <a:off x="482600" y="24638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zh-TW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血管年齢測定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673D5AA-12CA-A16E-5B94-A36486DCF3EE}"/>
              </a:ext>
            </a:extLst>
          </p:cNvPr>
          <p:cNvSpPr/>
          <p:nvPr/>
        </p:nvSpPr>
        <p:spPr>
          <a:xfrm>
            <a:off x="2590800" y="25146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37B2DBC5-5D6C-A980-F0E7-0D56B957BF1B}"/>
              </a:ext>
            </a:extLst>
          </p:cNvPr>
          <p:cNvSpPr/>
          <p:nvPr/>
        </p:nvSpPr>
        <p:spPr>
          <a:xfrm>
            <a:off x="2590800" y="2514600"/>
            <a:ext cx="17653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33D0795-5459-BD3B-89F6-DE1F0E912618}"/>
              </a:ext>
            </a:extLst>
          </p:cNvPr>
          <p:cNvSpPr txBox="1"/>
          <p:nvPr/>
        </p:nvSpPr>
        <p:spPr>
          <a:xfrm>
            <a:off x="5105400" y="24638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(72.9%)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4EF55BE-12C9-F983-3054-EA14159BB684}"/>
              </a:ext>
            </a:extLst>
          </p:cNvPr>
          <p:cNvSpPr txBox="1"/>
          <p:nvPr/>
        </p:nvSpPr>
        <p:spPr>
          <a:xfrm>
            <a:off x="482600" y="27940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筋肉量測定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(InBody)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3E9C9B78-4B24-87A4-61BB-C2B664E91D2C}"/>
              </a:ext>
            </a:extLst>
          </p:cNvPr>
          <p:cNvSpPr/>
          <p:nvPr/>
        </p:nvSpPr>
        <p:spPr>
          <a:xfrm>
            <a:off x="2590800" y="28448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AD6C6365-A4EE-3DCE-CAE5-6B2A1D80DDAF}"/>
              </a:ext>
            </a:extLst>
          </p:cNvPr>
          <p:cNvSpPr/>
          <p:nvPr/>
        </p:nvSpPr>
        <p:spPr>
          <a:xfrm>
            <a:off x="2590800" y="2844800"/>
            <a:ext cx="16002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99327FE-D1AB-2C5B-ED21-9E4038095AF0}"/>
              </a:ext>
            </a:extLst>
          </p:cNvPr>
          <p:cNvSpPr txBox="1"/>
          <p:nvPr/>
        </p:nvSpPr>
        <p:spPr>
          <a:xfrm>
            <a:off x="5105400" y="27940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157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(66.5%)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CB7A8A6-9C56-EB28-BB60-7E58D09BC794}"/>
              </a:ext>
            </a:extLst>
          </p:cNvPr>
          <p:cNvSpPr txBox="1"/>
          <p:nvPr/>
        </p:nvSpPr>
        <p:spPr>
          <a:xfrm>
            <a:off x="482600" y="31242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栄養レッスン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ECE5BC77-1849-7523-D2B3-897FDB5614BF}"/>
              </a:ext>
            </a:extLst>
          </p:cNvPr>
          <p:cNvSpPr/>
          <p:nvPr/>
        </p:nvSpPr>
        <p:spPr>
          <a:xfrm>
            <a:off x="2590800" y="31750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588FF736-FA2A-3C48-CB47-155D0081C9B6}"/>
              </a:ext>
            </a:extLst>
          </p:cNvPr>
          <p:cNvSpPr/>
          <p:nvPr/>
        </p:nvSpPr>
        <p:spPr>
          <a:xfrm>
            <a:off x="2590800" y="3175000"/>
            <a:ext cx="5842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CF23F136-B707-0E19-9DAA-E1FA126E51F7}"/>
              </a:ext>
            </a:extLst>
          </p:cNvPr>
          <p:cNvSpPr txBox="1"/>
          <p:nvPr/>
        </p:nvSpPr>
        <p:spPr>
          <a:xfrm>
            <a:off x="5105400" y="31242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57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(24.2%)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1EAB88AE-50F2-25B3-D913-C7365CD20D52}"/>
              </a:ext>
            </a:extLst>
          </p:cNvPr>
          <p:cNvSpPr txBox="1"/>
          <p:nvPr/>
        </p:nvSpPr>
        <p:spPr>
          <a:xfrm>
            <a:off x="482600" y="34544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人生会議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終活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の案内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90DE0F54-9C6B-AC3F-EC31-6CE15B53D83C}"/>
              </a:ext>
            </a:extLst>
          </p:cNvPr>
          <p:cNvSpPr/>
          <p:nvPr/>
        </p:nvSpPr>
        <p:spPr>
          <a:xfrm>
            <a:off x="2590800" y="35052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60DD4DBF-9C14-31F7-0D6F-1F4F2A7AA774}"/>
              </a:ext>
            </a:extLst>
          </p:cNvPr>
          <p:cNvSpPr/>
          <p:nvPr/>
        </p:nvSpPr>
        <p:spPr>
          <a:xfrm>
            <a:off x="2590800" y="3505200"/>
            <a:ext cx="4191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715E730-062F-DCF9-73B9-56BD994E0809}"/>
              </a:ext>
            </a:extLst>
          </p:cNvPr>
          <p:cNvSpPr txBox="1"/>
          <p:nvPr/>
        </p:nvSpPr>
        <p:spPr>
          <a:xfrm>
            <a:off x="5105400" y="34544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41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(17.4%)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5296AB0-1E9B-F3B7-4307-5333365F2B8A}"/>
              </a:ext>
            </a:extLst>
          </p:cNvPr>
          <p:cNvSpPr txBox="1"/>
          <p:nvPr/>
        </p:nvSpPr>
        <p:spPr>
          <a:xfrm>
            <a:off x="482600" y="37846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お薬相談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763A584A-4426-9D0B-3BFE-E27FCD0B13EC}"/>
              </a:ext>
            </a:extLst>
          </p:cNvPr>
          <p:cNvSpPr/>
          <p:nvPr/>
        </p:nvSpPr>
        <p:spPr>
          <a:xfrm>
            <a:off x="2590800" y="38354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13E7C84F-CE53-79A6-2ABF-317E1DD7A1A5}"/>
              </a:ext>
            </a:extLst>
          </p:cNvPr>
          <p:cNvSpPr/>
          <p:nvPr/>
        </p:nvSpPr>
        <p:spPr>
          <a:xfrm>
            <a:off x="2590800" y="3835400"/>
            <a:ext cx="3302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C6505F01-7651-2501-45B9-25576D3F1532}"/>
              </a:ext>
            </a:extLst>
          </p:cNvPr>
          <p:cNvSpPr txBox="1"/>
          <p:nvPr/>
        </p:nvSpPr>
        <p:spPr>
          <a:xfrm>
            <a:off x="5105400" y="3784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(13.6%)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3FB2017-3DA4-933D-7487-7351E92DF207}"/>
              </a:ext>
            </a:extLst>
          </p:cNvPr>
          <p:cNvSpPr txBox="1"/>
          <p:nvPr/>
        </p:nvSpPr>
        <p:spPr>
          <a:xfrm>
            <a:off x="482600" y="4191000"/>
            <a:ext cx="6096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D97706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【Q2】</a:t>
            </a:r>
            <a:r>
              <a:rPr kumimoji="1" lang="ja-JP" altLang="en-US" sz="1400" b="1">
                <a:solidFill>
                  <a:srgbClr val="D97706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これまで当院をご存知でしたか？（単一回答）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A29FA359-E43E-02CC-DA4B-9DB60585A6B3}"/>
              </a:ext>
            </a:extLst>
          </p:cNvPr>
          <p:cNvSpPr txBox="1"/>
          <p:nvPr/>
        </p:nvSpPr>
        <p:spPr>
          <a:xfrm>
            <a:off x="482600" y="45212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名前や場所は知っている</a:t>
            </a: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17513A40-C7E3-7C56-AEE3-9DE0C087E833}"/>
              </a:ext>
            </a:extLst>
          </p:cNvPr>
          <p:cNvSpPr/>
          <p:nvPr/>
        </p:nvSpPr>
        <p:spPr>
          <a:xfrm>
            <a:off x="2590800" y="45720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F8670A72-F3CE-B665-AA67-07F7568E1632}"/>
              </a:ext>
            </a:extLst>
          </p:cNvPr>
          <p:cNvSpPr/>
          <p:nvPr/>
        </p:nvSpPr>
        <p:spPr>
          <a:xfrm>
            <a:off x="2590800" y="4572000"/>
            <a:ext cx="12827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561A27B7-962A-D4AC-62B0-18B93C34E656}"/>
              </a:ext>
            </a:extLst>
          </p:cNvPr>
          <p:cNvSpPr txBox="1"/>
          <p:nvPr/>
        </p:nvSpPr>
        <p:spPr>
          <a:xfrm>
            <a:off x="5105400" y="45212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126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(53.4%)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38EAB6B-455C-9A2F-D975-088000B3B045}"/>
              </a:ext>
            </a:extLst>
          </p:cNvPr>
          <p:cNvSpPr txBox="1"/>
          <p:nvPr/>
        </p:nvSpPr>
        <p:spPr>
          <a:xfrm>
            <a:off x="482600" y="48514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今日初めて知った</a:t>
            </a: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10E9C098-E00F-52A2-1173-2DF3BA760E2C}"/>
              </a:ext>
            </a:extLst>
          </p:cNvPr>
          <p:cNvSpPr/>
          <p:nvPr/>
        </p:nvSpPr>
        <p:spPr>
          <a:xfrm>
            <a:off x="2590800" y="49022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CA4478E5-F345-4CA5-614C-0E2EA5D12501}"/>
              </a:ext>
            </a:extLst>
          </p:cNvPr>
          <p:cNvSpPr/>
          <p:nvPr/>
        </p:nvSpPr>
        <p:spPr>
          <a:xfrm>
            <a:off x="2590800" y="4902200"/>
            <a:ext cx="685800" cy="2286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4441CB47-F70D-B06D-7375-A49BB60987E0}"/>
              </a:ext>
            </a:extLst>
          </p:cNvPr>
          <p:cNvSpPr txBox="1"/>
          <p:nvPr/>
        </p:nvSpPr>
        <p:spPr>
          <a:xfrm>
            <a:off x="5105400" y="48514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67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(28.4%)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936B4558-BB8B-A847-6A15-42A0B5F961AD}"/>
              </a:ext>
            </a:extLst>
          </p:cNvPr>
          <p:cNvSpPr txBox="1"/>
          <p:nvPr/>
        </p:nvSpPr>
        <p:spPr>
          <a:xfrm>
            <a:off x="482600" y="51816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よく知っている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利用有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98C7F2DB-D00B-97A7-2129-62C3A2F04584}"/>
              </a:ext>
            </a:extLst>
          </p:cNvPr>
          <p:cNvSpPr/>
          <p:nvPr/>
        </p:nvSpPr>
        <p:spPr>
          <a:xfrm>
            <a:off x="2590800" y="52324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2C6DA764-1996-B8DD-B971-3B0CC27766DF}"/>
              </a:ext>
            </a:extLst>
          </p:cNvPr>
          <p:cNvSpPr/>
          <p:nvPr/>
        </p:nvSpPr>
        <p:spPr>
          <a:xfrm>
            <a:off x="2590800" y="5232400"/>
            <a:ext cx="3937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D528FB35-535C-CD19-B6EF-5B41C61FCB8A}"/>
              </a:ext>
            </a:extLst>
          </p:cNvPr>
          <p:cNvSpPr txBox="1"/>
          <p:nvPr/>
        </p:nvSpPr>
        <p:spPr>
          <a:xfrm>
            <a:off x="5105400" y="5181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(16.5%)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FC34AC5F-799C-E0E4-D0BB-EDF89DC4FC58}"/>
              </a:ext>
            </a:extLst>
          </p:cNvPr>
          <p:cNvSpPr txBox="1"/>
          <p:nvPr/>
        </p:nvSpPr>
        <p:spPr>
          <a:xfrm>
            <a:off x="482600" y="5562600"/>
            <a:ext cx="6096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D9488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【Q3】</a:t>
            </a:r>
            <a:r>
              <a:rPr kumimoji="1" lang="ja-JP" altLang="en-US" sz="1400" b="1">
                <a:solidFill>
                  <a:srgbClr val="0D9488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万が一の際、当院を利用したいですか？（単一回答）</a:t>
            </a: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0ED9843-E578-F786-B78B-48FBBD0DC45C}"/>
              </a:ext>
            </a:extLst>
          </p:cNvPr>
          <p:cNvSpPr txBox="1"/>
          <p:nvPr/>
        </p:nvSpPr>
        <p:spPr>
          <a:xfrm>
            <a:off x="482600" y="58674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候補として検討したい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91872C3D-71D8-67BA-0EC6-5C7D37892C35}"/>
              </a:ext>
            </a:extLst>
          </p:cNvPr>
          <p:cNvSpPr/>
          <p:nvPr/>
        </p:nvSpPr>
        <p:spPr>
          <a:xfrm>
            <a:off x="2590800" y="59182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2E49FB82-1FA2-554C-B469-5A5DB751291C}"/>
              </a:ext>
            </a:extLst>
          </p:cNvPr>
          <p:cNvSpPr/>
          <p:nvPr/>
        </p:nvSpPr>
        <p:spPr>
          <a:xfrm>
            <a:off x="2590800" y="5918200"/>
            <a:ext cx="15621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4A3F4DFC-C06C-6E67-3316-AC4B7C7E5537}"/>
              </a:ext>
            </a:extLst>
          </p:cNvPr>
          <p:cNvSpPr txBox="1"/>
          <p:nvPr/>
        </p:nvSpPr>
        <p:spPr>
          <a:xfrm>
            <a:off x="5105400" y="58674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153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(64.8%)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7A710B5D-B1D5-40F0-66D5-9C759780E868}"/>
              </a:ext>
            </a:extLst>
          </p:cNvPr>
          <p:cNvSpPr txBox="1"/>
          <p:nvPr/>
        </p:nvSpPr>
        <p:spPr>
          <a:xfrm>
            <a:off x="482600" y="61722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ぜひ利用したい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F5D32958-4C54-9FFF-6221-B371165D4AF3}"/>
              </a:ext>
            </a:extLst>
          </p:cNvPr>
          <p:cNvSpPr/>
          <p:nvPr/>
        </p:nvSpPr>
        <p:spPr>
          <a:xfrm>
            <a:off x="2590800" y="62230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2571C09-4993-2484-E95E-F6A95B19A55E}"/>
              </a:ext>
            </a:extLst>
          </p:cNvPr>
          <p:cNvSpPr/>
          <p:nvPr/>
        </p:nvSpPr>
        <p:spPr>
          <a:xfrm>
            <a:off x="2590800" y="6223000"/>
            <a:ext cx="6096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9B3DD1B8-F215-CB74-A83A-CB4C4A40076E}"/>
              </a:ext>
            </a:extLst>
          </p:cNvPr>
          <p:cNvSpPr txBox="1"/>
          <p:nvPr/>
        </p:nvSpPr>
        <p:spPr>
          <a:xfrm>
            <a:off x="5105400" y="61722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(25.4%)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5074669A-FFC5-998B-5C51-1FF38C882845}"/>
              </a:ext>
            </a:extLst>
          </p:cNvPr>
          <p:cNvSpPr/>
          <p:nvPr/>
        </p:nvSpPr>
        <p:spPr>
          <a:xfrm>
            <a:off x="6959600" y="1574800"/>
            <a:ext cx="49276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26EA96B0-27EF-ACD1-9D1D-84DCF9CDE65B}"/>
              </a:ext>
            </a:extLst>
          </p:cNvPr>
          <p:cNvSpPr/>
          <p:nvPr/>
        </p:nvSpPr>
        <p:spPr>
          <a:xfrm>
            <a:off x="6959600" y="1574800"/>
            <a:ext cx="4927600" cy="762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1B88F2D0-BA75-9AF5-27E3-8591E1C341B3}"/>
              </a:ext>
            </a:extLst>
          </p:cNvPr>
          <p:cNvSpPr txBox="1"/>
          <p:nvPr/>
        </p:nvSpPr>
        <p:spPr>
          <a:xfrm>
            <a:off x="7137400" y="1727200"/>
            <a:ext cx="4572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Q1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Q2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Q3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集計結果の説明</a:t>
            </a:r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E158C593-DABA-5DC7-1AAA-0F5AF0B1E05B}"/>
              </a:ext>
            </a:extLst>
          </p:cNvPr>
          <p:cNvSpPr/>
          <p:nvPr/>
        </p:nvSpPr>
        <p:spPr>
          <a:xfrm>
            <a:off x="7137400" y="2108200"/>
            <a:ext cx="4572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0A2293D1-1B14-71E2-2D1F-A002C4BB091E}"/>
              </a:ext>
            </a:extLst>
          </p:cNvPr>
          <p:cNvSpPr txBox="1"/>
          <p:nvPr/>
        </p:nvSpPr>
        <p:spPr>
          <a:xfrm>
            <a:off x="7137400" y="2209800"/>
            <a:ext cx="4572000" cy="392517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：今回の出展内容の評価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・「血管年齢測定」が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72.9%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）で最も多く、次いで「筋肉量測定」が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157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66.5%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・続いて「栄養レッスン」が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57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24.2%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）、「人生会議の案内」が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17.4%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）、「お薬相談」が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13.6%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：地域における当院の現在の認知度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・「名前や場所は知っている」が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126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53.4%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）で半数を超え、「今日初めて知った」が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67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28.4%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）、「よく知っている」が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16.5%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）、未記入が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1.7%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：アンケート時の当院の評価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・「候補の一つとして検討したい」が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64.8%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）、「ぜひ利用したい」が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25.4%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）で、合計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・「他の病院を選ぶ・わからない」は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7.2%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）、未記入は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</a:t>
            </a:r>
          </a:p>
        </p:txBody>
      </p:sp>
    </p:spTree>
    <p:extLst>
      <p:ext uri="{BB962C8B-B14F-4D97-AF65-F5344CB8AC3E}">
        <p14:creationId xmlns:p14="http://schemas.microsoft.com/office/powerpoint/2010/main" val="36554892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7381A31-0C94-06FC-DAAF-D898C494884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1F1452F-06CE-EDC4-360B-2EFDA589C929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2A8E1A6-B563-0238-A4DE-E66DA734A7D3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34C22AB-DBC5-6BC2-7F90-468F0C6CF6ED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zh-TW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部：単純集計③</a:t>
            </a:r>
            <a:endParaRPr kumimoji="1" lang="ja-JP" altLang="en-US" sz="1300" b="1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4FDA012-3376-A92D-5020-794255BE109B}"/>
              </a:ext>
            </a:extLst>
          </p:cNvPr>
          <p:cNvSpPr txBox="1"/>
          <p:nvPr/>
        </p:nvSpPr>
        <p:spPr>
          <a:xfrm>
            <a:off x="2311400" y="165100"/>
            <a:ext cx="85852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来場者アンケート結果③：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Q4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（健康課題のチェック）・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Q5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（来年度へのヒント）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8EFF02B-AE36-E710-BFF0-F1145F42DA25}"/>
              </a:ext>
            </a:extLst>
          </p:cNvPr>
          <p:cNvSpPr txBox="1"/>
          <p:nvPr/>
        </p:nvSpPr>
        <p:spPr>
          <a:xfrm>
            <a:off x="10896600" y="203200"/>
            <a:ext cx="990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5591B81-AD36-E52E-FBF6-29E096981315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9919234-5B85-28AB-4E11-5AA095E91FF3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D053728-E840-6971-94D5-2DF9D52D2C5B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健康課題は「転倒（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39.4%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）」「栄養（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33.5%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）」「認知機能（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33.1%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）」「介護・終活（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30.1%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）」が各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割超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E4114FCE-E572-4C00-CBAB-A0BB540D0127}"/>
              </a:ext>
            </a:extLst>
          </p:cNvPr>
          <p:cNvSpPr/>
          <p:nvPr/>
        </p:nvSpPr>
        <p:spPr>
          <a:xfrm>
            <a:off x="304800" y="1574800"/>
            <a:ext cx="58420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C26E8CE-DB62-3249-11D4-B8B328C38F66}"/>
              </a:ext>
            </a:extLst>
          </p:cNvPr>
          <p:cNvSpPr/>
          <p:nvPr/>
        </p:nvSpPr>
        <p:spPr>
          <a:xfrm>
            <a:off x="304800" y="1574800"/>
            <a:ext cx="5842000" cy="76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AC3DD10-DBF7-CD01-200B-3F10A853C973}"/>
              </a:ext>
            </a:extLst>
          </p:cNvPr>
          <p:cNvSpPr txBox="1"/>
          <p:nvPr/>
        </p:nvSpPr>
        <p:spPr>
          <a:xfrm>
            <a:off x="482600" y="1727200"/>
            <a:ext cx="54864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Q4.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健康について気になること（複数回答・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N=236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00CDE71C-8128-5479-9AA1-9601AA50010B}"/>
              </a:ext>
            </a:extLst>
          </p:cNvPr>
          <p:cNvSpPr/>
          <p:nvPr/>
        </p:nvSpPr>
        <p:spPr>
          <a:xfrm>
            <a:off x="482600" y="2108200"/>
            <a:ext cx="54864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374661DB-3085-23B0-644D-E11993787956}"/>
              </a:ext>
            </a:extLst>
          </p:cNvPr>
          <p:cNvSpPr txBox="1"/>
          <p:nvPr/>
        </p:nvSpPr>
        <p:spPr>
          <a:xfrm>
            <a:off x="482600" y="22352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足腰の衰え・転倒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FCAE4FA-45B1-61F4-5E0E-AE143A67C8EA}"/>
              </a:ext>
            </a:extLst>
          </p:cNvPr>
          <p:cNvSpPr/>
          <p:nvPr/>
        </p:nvSpPr>
        <p:spPr>
          <a:xfrm>
            <a:off x="2463800" y="22860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79CD5F0D-FF38-8458-585A-7023D1D523C2}"/>
              </a:ext>
            </a:extLst>
          </p:cNvPr>
          <p:cNvSpPr/>
          <p:nvPr/>
        </p:nvSpPr>
        <p:spPr>
          <a:xfrm>
            <a:off x="2463800" y="2286000"/>
            <a:ext cx="8001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12013C4-4811-2F04-8D5E-E9975D10F64B}"/>
              </a:ext>
            </a:extLst>
          </p:cNvPr>
          <p:cNvSpPr txBox="1"/>
          <p:nvPr/>
        </p:nvSpPr>
        <p:spPr>
          <a:xfrm>
            <a:off x="4597400" y="22352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93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(39.4%)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BC633B2F-078D-95C9-B96A-CF76510A2886}"/>
              </a:ext>
            </a:extLst>
          </p:cNvPr>
          <p:cNvSpPr txBox="1"/>
          <p:nvPr/>
        </p:nvSpPr>
        <p:spPr>
          <a:xfrm>
            <a:off x="482600" y="26670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食事・栄養バランス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305D93FD-2C02-7A84-99DB-6D58BA96B8F0}"/>
              </a:ext>
            </a:extLst>
          </p:cNvPr>
          <p:cNvSpPr/>
          <p:nvPr/>
        </p:nvSpPr>
        <p:spPr>
          <a:xfrm>
            <a:off x="2463800" y="27178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BDE8169C-0554-C511-7EFB-4A160B30BBBF}"/>
              </a:ext>
            </a:extLst>
          </p:cNvPr>
          <p:cNvSpPr/>
          <p:nvPr/>
        </p:nvSpPr>
        <p:spPr>
          <a:xfrm>
            <a:off x="2463800" y="2717800"/>
            <a:ext cx="6858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3038A73D-C27E-DBF9-A75C-0A9FDD965AE2}"/>
              </a:ext>
            </a:extLst>
          </p:cNvPr>
          <p:cNvSpPr txBox="1"/>
          <p:nvPr/>
        </p:nvSpPr>
        <p:spPr>
          <a:xfrm>
            <a:off x="4597400" y="26670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79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(33.5%)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5191DF5-1D6B-DDEA-C0F2-1A143B3832F1}"/>
              </a:ext>
            </a:extLst>
          </p:cNvPr>
          <p:cNvSpPr txBox="1"/>
          <p:nvPr/>
        </p:nvSpPr>
        <p:spPr>
          <a:xfrm>
            <a:off x="482600" y="30988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物忘れ・認知機能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5BB0167E-B58B-6151-CB9A-A7954174AC28}"/>
              </a:ext>
            </a:extLst>
          </p:cNvPr>
          <p:cNvSpPr/>
          <p:nvPr/>
        </p:nvSpPr>
        <p:spPr>
          <a:xfrm>
            <a:off x="2463800" y="31496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D928CA44-BB0F-A8D6-3712-BC8C03BDB57D}"/>
              </a:ext>
            </a:extLst>
          </p:cNvPr>
          <p:cNvSpPr/>
          <p:nvPr/>
        </p:nvSpPr>
        <p:spPr>
          <a:xfrm>
            <a:off x="2463800" y="3149600"/>
            <a:ext cx="673100" cy="2286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EBEC5BA6-6F66-2511-60F9-E2ABA5998CFF}"/>
              </a:ext>
            </a:extLst>
          </p:cNvPr>
          <p:cNvSpPr txBox="1"/>
          <p:nvPr/>
        </p:nvSpPr>
        <p:spPr>
          <a:xfrm>
            <a:off x="4597400" y="30988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78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(33.1%)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C69DD46E-71C0-A734-58C3-6E630BBCFE21}"/>
              </a:ext>
            </a:extLst>
          </p:cNvPr>
          <p:cNvSpPr txBox="1"/>
          <p:nvPr/>
        </p:nvSpPr>
        <p:spPr>
          <a:xfrm>
            <a:off x="482600" y="35306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将来の介護や終活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9C2BC4FE-63CF-E07A-E182-82385A62F9E3}"/>
              </a:ext>
            </a:extLst>
          </p:cNvPr>
          <p:cNvSpPr/>
          <p:nvPr/>
        </p:nvSpPr>
        <p:spPr>
          <a:xfrm>
            <a:off x="2463800" y="35814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AA428C23-D6E3-CC42-DF41-D3966B23B8C2}"/>
              </a:ext>
            </a:extLst>
          </p:cNvPr>
          <p:cNvSpPr/>
          <p:nvPr/>
        </p:nvSpPr>
        <p:spPr>
          <a:xfrm>
            <a:off x="2463800" y="3581400"/>
            <a:ext cx="609600" cy="228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1B443AEF-B4F6-5E68-5CAC-6D3E504162BD}"/>
              </a:ext>
            </a:extLst>
          </p:cNvPr>
          <p:cNvSpPr txBox="1"/>
          <p:nvPr/>
        </p:nvSpPr>
        <p:spPr>
          <a:xfrm>
            <a:off x="4597400" y="35306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71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(30.1%)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AB5B5B6C-C771-4F00-91F4-13A3DD8B2549}"/>
              </a:ext>
            </a:extLst>
          </p:cNvPr>
          <p:cNvSpPr txBox="1"/>
          <p:nvPr/>
        </p:nvSpPr>
        <p:spPr>
          <a:xfrm>
            <a:off x="482600" y="39624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とくにない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6B0B270B-EA51-530A-610E-AB1C1586D720}"/>
              </a:ext>
            </a:extLst>
          </p:cNvPr>
          <p:cNvSpPr/>
          <p:nvPr/>
        </p:nvSpPr>
        <p:spPr>
          <a:xfrm>
            <a:off x="2463800" y="40132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8559223A-8A0D-D123-ECD0-67D1A36B2A18}"/>
              </a:ext>
            </a:extLst>
          </p:cNvPr>
          <p:cNvSpPr/>
          <p:nvPr/>
        </p:nvSpPr>
        <p:spPr>
          <a:xfrm>
            <a:off x="2463800" y="4013200"/>
            <a:ext cx="2921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2AF3996-31CE-DCB6-5506-D0F70A3E652E}"/>
              </a:ext>
            </a:extLst>
          </p:cNvPr>
          <p:cNvSpPr txBox="1"/>
          <p:nvPr/>
        </p:nvSpPr>
        <p:spPr>
          <a:xfrm>
            <a:off x="4597400" y="39624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34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(14.4%)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41930FA0-1DE1-4681-CF4C-B62117DA3676}"/>
              </a:ext>
            </a:extLst>
          </p:cNvPr>
          <p:cNvSpPr txBox="1"/>
          <p:nvPr/>
        </p:nvSpPr>
        <p:spPr>
          <a:xfrm>
            <a:off x="482600" y="43942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薬の飲み方</a:t>
            </a: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9BACF574-09AC-F4EB-5F54-AF40176FB08E}"/>
              </a:ext>
            </a:extLst>
          </p:cNvPr>
          <p:cNvSpPr/>
          <p:nvPr/>
        </p:nvSpPr>
        <p:spPr>
          <a:xfrm>
            <a:off x="2463800" y="44450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D4774EE5-BAC8-7EDA-0067-F9FB504C369C}"/>
              </a:ext>
            </a:extLst>
          </p:cNvPr>
          <p:cNvSpPr/>
          <p:nvPr/>
        </p:nvSpPr>
        <p:spPr>
          <a:xfrm>
            <a:off x="2463800" y="4445000"/>
            <a:ext cx="101600" cy="228600"/>
          </a:xfrm>
          <a:prstGeom prst="rect">
            <a:avLst/>
          </a:prstGeom>
          <a:solidFill>
            <a:srgbClr val="64748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2393C6D-FA2E-63D7-A4B4-70C1AD4749EF}"/>
              </a:ext>
            </a:extLst>
          </p:cNvPr>
          <p:cNvSpPr txBox="1"/>
          <p:nvPr/>
        </p:nvSpPr>
        <p:spPr>
          <a:xfrm>
            <a:off x="4597400" y="43942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(4.7%)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731C855B-9112-DDE3-94E4-311E796BE612}"/>
              </a:ext>
            </a:extLst>
          </p:cNvPr>
          <p:cNvSpPr txBox="1"/>
          <p:nvPr/>
        </p:nvSpPr>
        <p:spPr>
          <a:xfrm>
            <a:off x="482600" y="48260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その他</a:t>
            </a: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AC888B8D-D7E4-E2E5-33C7-1CA2CF6F7B94}"/>
              </a:ext>
            </a:extLst>
          </p:cNvPr>
          <p:cNvSpPr/>
          <p:nvPr/>
        </p:nvSpPr>
        <p:spPr>
          <a:xfrm>
            <a:off x="2463800" y="48768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29339A6C-1D4A-7FB5-DEF5-5032BC3FD8A8}"/>
              </a:ext>
            </a:extLst>
          </p:cNvPr>
          <p:cNvSpPr/>
          <p:nvPr/>
        </p:nvSpPr>
        <p:spPr>
          <a:xfrm>
            <a:off x="2463800" y="4876800"/>
            <a:ext cx="101600" cy="228600"/>
          </a:xfrm>
          <a:prstGeom prst="rect">
            <a:avLst/>
          </a:prstGeom>
          <a:solidFill>
            <a:srgbClr val="64748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9631903E-97D1-53AA-EDC6-3DF63041284A}"/>
              </a:ext>
            </a:extLst>
          </p:cNvPr>
          <p:cNvSpPr txBox="1"/>
          <p:nvPr/>
        </p:nvSpPr>
        <p:spPr>
          <a:xfrm>
            <a:off x="4597400" y="48260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(4.7%)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DDE5FD23-7219-84D6-613D-33DAEC12E907}"/>
              </a:ext>
            </a:extLst>
          </p:cNvPr>
          <p:cNvSpPr txBox="1"/>
          <p:nvPr/>
        </p:nvSpPr>
        <p:spPr>
          <a:xfrm>
            <a:off x="482600" y="5257800"/>
            <a:ext cx="5486400" cy="130292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【Q4 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集計結果の説明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・「足腰の衰え・転倒」が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93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39.4%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）で最も多く、「食事・栄養バランス」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79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33.5%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）、「物忘れ・認知機能」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78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33.1%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）、「将来の介護や終活」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71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30.1%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）の上位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項目が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30%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を超えた。
・「その他（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名）」には血圧、糖尿病、ひざの痛み、五十肩、むくみ等が記載された。</a:t>
            </a: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53CBDAFE-47FB-2BA1-E879-E0D2CE2E4B61}"/>
              </a:ext>
            </a:extLst>
          </p:cNvPr>
          <p:cNvSpPr/>
          <p:nvPr/>
        </p:nvSpPr>
        <p:spPr>
          <a:xfrm>
            <a:off x="6324600" y="1574800"/>
            <a:ext cx="55626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1E404712-BAAE-C991-F47D-DB96AF22783E}"/>
              </a:ext>
            </a:extLst>
          </p:cNvPr>
          <p:cNvSpPr/>
          <p:nvPr/>
        </p:nvSpPr>
        <p:spPr>
          <a:xfrm>
            <a:off x="6324600" y="1574800"/>
            <a:ext cx="55626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765CD785-E169-0EDB-1383-29098DB80F8B}"/>
              </a:ext>
            </a:extLst>
          </p:cNvPr>
          <p:cNvSpPr txBox="1"/>
          <p:nvPr/>
        </p:nvSpPr>
        <p:spPr>
          <a:xfrm>
            <a:off x="6502400" y="1727200"/>
            <a:ext cx="5207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Q5.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来年に期待する内容（自由記述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件の内訳）</a:t>
            </a: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C56A188E-F288-922E-080C-58B2A9D285F7}"/>
              </a:ext>
            </a:extLst>
          </p:cNvPr>
          <p:cNvSpPr/>
          <p:nvPr/>
        </p:nvSpPr>
        <p:spPr>
          <a:xfrm>
            <a:off x="6502400" y="2108200"/>
            <a:ext cx="5207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48" name="表 47">
            <a:extLst>
              <a:ext uri="{FF2B5EF4-FFF2-40B4-BE49-F238E27FC236}">
                <a16:creationId xmlns:a16="http://schemas.microsoft.com/office/drawing/2014/main" id="{D3AC71B8-1D29-6892-3DCD-76697A3A9B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1087380"/>
              </p:ext>
            </p:extLst>
          </p:nvPr>
        </p:nvGraphicFramePr>
        <p:xfrm>
          <a:off x="6502400" y="2209800"/>
          <a:ext cx="52070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2500">
                  <a:extLst>
                    <a:ext uri="{9D8B030D-6E8A-4147-A177-3AD203B41FA5}">
                      <a16:colId xmlns:a16="http://schemas.microsoft.com/office/drawing/2014/main" val="358896615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325819590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2059725896"/>
                    </a:ext>
                  </a:extLst>
                </a:gridCol>
              </a:tblGrid>
              <a:tr h="444500"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記述カテゴリ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件数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主な記述内容（抜粋）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313571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運動・転倒・骨密度測定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12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自宅ストレッチ、運動体験、骨密度・バランス測定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0593034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今年度と同様の測定継続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11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今年と同じ内容、筋肉量・血管年齢測定の継続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335677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認知機能・フレイル測定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認知機能チェック、体力測定、フレイル予防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5833589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介護・薬・医療相談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介護相談、入院時の薬、症状別の受診科案内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073508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運営・備品への要望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記入用バインダー、靴入れ・靴ベラ、順路表示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850984"/>
                  </a:ext>
                </a:extLst>
              </a:tr>
            </a:tbl>
          </a:graphicData>
        </a:graphic>
      </p:graphicFrame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D1838EE9-7429-A4C9-09D6-B425D49B9CF5}"/>
              </a:ext>
            </a:extLst>
          </p:cNvPr>
          <p:cNvSpPr txBox="1"/>
          <p:nvPr/>
        </p:nvSpPr>
        <p:spPr>
          <a:xfrm>
            <a:off x="6502400" y="5054600"/>
            <a:ext cx="5207000" cy="90281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【Q5 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集計結果の説明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・自由記述は計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件（特になし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件含む）であった。
・運動指導や骨密度・転倒チェックを求める声が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件、今年度と同様の測定継続を求める声が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件、認知機能・フレイル測定を求める声が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件であった。</a:t>
            </a:r>
          </a:p>
        </p:txBody>
      </p:sp>
    </p:spTree>
    <p:extLst>
      <p:ext uri="{BB962C8B-B14F-4D97-AF65-F5344CB8AC3E}">
        <p14:creationId xmlns:p14="http://schemas.microsoft.com/office/powerpoint/2010/main" val="1709743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A8531A9-A8FA-6A2D-7571-8B4F39B89E7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6D3C35D-9272-B22A-EDAA-3A976E3CAFA1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CFF7101-F5DE-DAC1-8A8A-3BCDA04F7DAE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EEB7882-3D6A-FD09-4283-05986EABEB48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部：スタッフ調査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81C32B6-7D76-1485-1354-1BF903BB7B54}"/>
              </a:ext>
            </a:extLst>
          </p:cNvPr>
          <p:cNvSpPr txBox="1"/>
          <p:nvPr/>
        </p:nvSpPr>
        <p:spPr>
          <a:xfrm>
            <a:off x="2311400" y="165100"/>
            <a:ext cx="85852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スタッフアンケートの質問事項と各設問から見えること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FAFF644-6DB7-CE5C-5F6E-345C2CDEF2A3}"/>
              </a:ext>
            </a:extLst>
          </p:cNvPr>
          <p:cNvSpPr txBox="1"/>
          <p:nvPr/>
        </p:nvSpPr>
        <p:spPr>
          <a:xfrm>
            <a:off x="10896600" y="203200"/>
            <a:ext cx="990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F74531D-55DE-B0B4-BFBF-7EA826E255A8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657BEC1-FF9E-FBCE-E679-CADC59B28CE0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B2FCD2B-860F-73A0-1E79-1703A388E9B3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参加した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部署・全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名（現在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名回答済）を対象に、出展意義・貢献度・広さ・人員配置・来年度改善点を調査</a:t>
            </a:r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A9BCCFA4-4D4C-BA12-AD3A-A8742B20F6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70958"/>
              </p:ext>
            </p:extLst>
          </p:nvPr>
        </p:nvGraphicFramePr>
        <p:xfrm>
          <a:off x="304800" y="1625600"/>
          <a:ext cx="11582400" cy="490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0">
                  <a:extLst>
                    <a:ext uri="{9D8B030D-6E8A-4147-A177-3AD203B41FA5}">
                      <a16:colId xmlns:a16="http://schemas.microsoft.com/office/drawing/2014/main" val="4062859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4107721196"/>
                    </a:ext>
                  </a:extLst>
                </a:gridCol>
                <a:gridCol w="5740400">
                  <a:extLst>
                    <a:ext uri="{9D8B030D-6E8A-4147-A177-3AD203B41FA5}">
                      <a16:colId xmlns:a16="http://schemas.microsoft.com/office/drawing/2014/main" val="3566527260"/>
                    </a:ext>
                  </a:extLst>
                </a:gridCol>
              </a:tblGrid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質問項目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回答形式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この質問から何が見えるか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7470608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① 今回のどーんと祭に参加して
    良かったですか？（＋②理由）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はい ／ いいえ
＋ 自由記述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出展に対するスタッフの満足度と、参加を通じて得た実感（地域</a:t>
                      </a:r>
                      <a:r>
                        <a:rPr kumimoji="1" lang="en-US" altLang="ja-JP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PR</a:t>
                      </a:r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や多職種連携など）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638262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③ 自部署の出展内容や役割は地域住民に
    貢献できる内容でしたか？（＋④理由）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はい ／ いいえ
＋ 自由記述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自部署の企画・役割が地域貢献につながったかどうかのスタッフ自身の評価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1450210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⑤ 今回</a:t>
                      </a:r>
                      <a:r>
                        <a:rPr kumimoji="1" lang="en-US" altLang="ja-JP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区画を借りて出展しましたが
    広さはいかがでしたか？（＋⑥問題点）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問題なし ／ 問題あり
＋ 自由記述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区画というスペースの妥当性と、広さに関して現場で生じた具体的な問題点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997923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⑦ 今回の人員配置（部署参加人数）は
    適切でしたか？（＋⑧問題点）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問題なし ／ 問題あり
＋ 自由記述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各部署の参加人数の妥当性と、休憩時間や誘導など人員面で生じた具体的な問題点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259899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⑨ 来年も自部署が参加する必要性は
    あると考えますか？（＋⑩理由）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はい ／ いいえ
＋ 自由記述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来年度の継続参加に対する各部署スタッフの意向とその理由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9940883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⑪ 来年に向けて改善・強化・
    取り入れた方がよいこと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自由記述（箇条書き）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来年度のブース運営・設備・広報に向けた現場スタッフからの具体的な改善提案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91771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0146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BDAF185-7A75-6F42-99C4-1FCAD394B77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0F98E17-3501-AE36-98F1-6FF378734788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07F6481-F23D-D13F-ED0E-76D61EAFF222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02A63E6-EC03-91F6-13F8-C6E42BC2227D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部：スタッフ集計①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559C88A-5360-80F9-392F-E2C7DAB7017A}"/>
              </a:ext>
            </a:extLst>
          </p:cNvPr>
          <p:cNvSpPr txBox="1"/>
          <p:nvPr/>
        </p:nvSpPr>
        <p:spPr>
          <a:xfrm>
            <a:off x="2311400" y="165100"/>
            <a:ext cx="85852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スタッフアンケート結果①：選択式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設問の集計（対象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名中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名回答）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C8B48E4-73DB-84DF-91B4-02BD5EA87A6C}"/>
              </a:ext>
            </a:extLst>
          </p:cNvPr>
          <p:cNvSpPr txBox="1"/>
          <p:nvPr/>
        </p:nvSpPr>
        <p:spPr>
          <a:xfrm>
            <a:off x="10896600" y="203200"/>
            <a:ext cx="990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9DF58ED-3CA7-ACB0-3280-E82334C7FA90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A820FBB-CA97-A30F-C69D-6A2F5E7595EC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C9EEE95-EC33-6726-CA56-C2E46FA7568A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参加満足度は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100%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、地域貢献実感は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92.3%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。一方、人員配置は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76.9%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区画の広さは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38.5%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が「問題あり」と回答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E440F8B2-8BD2-E53D-C8D4-0613C546FCD2}"/>
              </a:ext>
            </a:extLst>
          </p:cNvPr>
          <p:cNvSpPr/>
          <p:nvPr/>
        </p:nvSpPr>
        <p:spPr>
          <a:xfrm>
            <a:off x="304800" y="1574800"/>
            <a:ext cx="62992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E2542F9-3482-FD19-E2B3-661B8914C85D}"/>
              </a:ext>
            </a:extLst>
          </p:cNvPr>
          <p:cNvSpPr/>
          <p:nvPr/>
        </p:nvSpPr>
        <p:spPr>
          <a:xfrm>
            <a:off x="304800" y="1574800"/>
            <a:ext cx="62992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0C85D74-8219-416F-7278-6349ED22FE73}"/>
              </a:ext>
            </a:extLst>
          </p:cNvPr>
          <p:cNvSpPr txBox="1"/>
          <p:nvPr/>
        </p:nvSpPr>
        <p:spPr>
          <a:xfrm>
            <a:off x="482600" y="1727200"/>
            <a:ext cx="59436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選択式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設問の回答数・割合（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N=13 /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対象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F282ECD-D431-F17F-7499-BC6AB9293AFE}"/>
              </a:ext>
            </a:extLst>
          </p:cNvPr>
          <p:cNvSpPr/>
          <p:nvPr/>
        </p:nvSpPr>
        <p:spPr>
          <a:xfrm>
            <a:off x="482600" y="2108200"/>
            <a:ext cx="59436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32F5AF1-F1AA-E2BA-8151-CE3EA555C131}"/>
              </a:ext>
            </a:extLst>
          </p:cNvPr>
          <p:cNvSpPr txBox="1"/>
          <p:nvPr/>
        </p:nvSpPr>
        <p:spPr>
          <a:xfrm>
            <a:off x="482600" y="2159000"/>
            <a:ext cx="5842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① どーんと祭に参加して良かったか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C54B0D7-BE7E-AEE1-6BBB-92517A934F89}"/>
              </a:ext>
            </a:extLst>
          </p:cNvPr>
          <p:cNvSpPr txBox="1"/>
          <p:nvPr/>
        </p:nvSpPr>
        <p:spPr>
          <a:xfrm>
            <a:off x="482600" y="24638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はい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076A9DE-E16F-38DE-A2E4-E39485A8E76A}"/>
              </a:ext>
            </a:extLst>
          </p:cNvPr>
          <p:cNvSpPr/>
          <p:nvPr/>
        </p:nvSpPr>
        <p:spPr>
          <a:xfrm>
            <a:off x="2336800" y="25146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B03F6DC1-1FE4-FA42-1536-25BAECAD0C96}"/>
              </a:ext>
            </a:extLst>
          </p:cNvPr>
          <p:cNvSpPr/>
          <p:nvPr/>
        </p:nvSpPr>
        <p:spPr>
          <a:xfrm>
            <a:off x="2336800" y="2514600"/>
            <a:ext cx="24130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02BB07D-02DC-7B27-6389-1B8D636F8CE2}"/>
              </a:ext>
            </a:extLst>
          </p:cNvPr>
          <p:cNvSpPr txBox="1"/>
          <p:nvPr/>
        </p:nvSpPr>
        <p:spPr>
          <a:xfrm>
            <a:off x="4851400" y="24638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(100.0%)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5F770B9-1F73-D920-BE32-CC6AD6B9A1B3}"/>
              </a:ext>
            </a:extLst>
          </p:cNvPr>
          <p:cNvSpPr txBox="1"/>
          <p:nvPr/>
        </p:nvSpPr>
        <p:spPr>
          <a:xfrm>
            <a:off x="482600" y="2946400"/>
            <a:ext cx="5842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③ 自部署の役割は地域住民に貢献できたか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E4279FA-7B65-6573-D28A-2D2ABDE35393}"/>
              </a:ext>
            </a:extLst>
          </p:cNvPr>
          <p:cNvSpPr txBox="1"/>
          <p:nvPr/>
        </p:nvSpPr>
        <p:spPr>
          <a:xfrm>
            <a:off x="482600" y="32512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はい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DE60CEB8-C934-17CA-DA1D-5A7CC59CADF5}"/>
              </a:ext>
            </a:extLst>
          </p:cNvPr>
          <p:cNvSpPr/>
          <p:nvPr/>
        </p:nvSpPr>
        <p:spPr>
          <a:xfrm>
            <a:off x="2336800" y="33020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F7269119-0BDA-A4E2-A893-74F3EDA3D867}"/>
              </a:ext>
            </a:extLst>
          </p:cNvPr>
          <p:cNvSpPr/>
          <p:nvPr/>
        </p:nvSpPr>
        <p:spPr>
          <a:xfrm>
            <a:off x="2336800" y="3302000"/>
            <a:ext cx="22225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70653ECF-7BE8-6308-6C71-DCDD5BF4CE5B}"/>
              </a:ext>
            </a:extLst>
          </p:cNvPr>
          <p:cNvSpPr txBox="1"/>
          <p:nvPr/>
        </p:nvSpPr>
        <p:spPr>
          <a:xfrm>
            <a:off x="4851400" y="32512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(92.3%)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B8484BED-DC4C-8A33-66D5-9E8665E9FE09}"/>
              </a:ext>
            </a:extLst>
          </p:cNvPr>
          <p:cNvSpPr txBox="1"/>
          <p:nvPr/>
        </p:nvSpPr>
        <p:spPr>
          <a:xfrm>
            <a:off x="482600" y="35560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いいえ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D0E9041C-0E3B-D9CF-A9B6-A32F9DBE9269}"/>
              </a:ext>
            </a:extLst>
          </p:cNvPr>
          <p:cNvSpPr/>
          <p:nvPr/>
        </p:nvSpPr>
        <p:spPr>
          <a:xfrm>
            <a:off x="2336800" y="36068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FF06288F-9572-F047-AACF-8863494DC685}"/>
              </a:ext>
            </a:extLst>
          </p:cNvPr>
          <p:cNvSpPr/>
          <p:nvPr/>
        </p:nvSpPr>
        <p:spPr>
          <a:xfrm>
            <a:off x="2336800" y="3606800"/>
            <a:ext cx="190500" cy="228600"/>
          </a:xfrm>
          <a:prstGeom prst="rect">
            <a:avLst/>
          </a:prstGeom>
          <a:solidFill>
            <a:srgbClr val="64748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92DE9A4-D199-E2D2-594F-87B4026949B4}"/>
              </a:ext>
            </a:extLst>
          </p:cNvPr>
          <p:cNvSpPr txBox="1"/>
          <p:nvPr/>
        </p:nvSpPr>
        <p:spPr>
          <a:xfrm>
            <a:off x="4851400" y="35560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(7.7%)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2C366428-8ADF-4685-136D-397B8B34A8E5}"/>
              </a:ext>
            </a:extLst>
          </p:cNvPr>
          <p:cNvSpPr txBox="1"/>
          <p:nvPr/>
        </p:nvSpPr>
        <p:spPr>
          <a:xfrm>
            <a:off x="482600" y="4013200"/>
            <a:ext cx="5842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⑤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区画の広さはいかがだったか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3E0F923A-D8E5-CE1A-A649-93131242A54E}"/>
              </a:ext>
            </a:extLst>
          </p:cNvPr>
          <p:cNvSpPr txBox="1"/>
          <p:nvPr/>
        </p:nvSpPr>
        <p:spPr>
          <a:xfrm>
            <a:off x="482600" y="43180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問題なし</a:t>
            </a: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456D77A6-1590-74AF-6791-B715A744B5B7}"/>
              </a:ext>
            </a:extLst>
          </p:cNvPr>
          <p:cNvSpPr/>
          <p:nvPr/>
        </p:nvSpPr>
        <p:spPr>
          <a:xfrm>
            <a:off x="2336800" y="43688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0AF943F9-C28C-49B2-9633-77129A4EC52E}"/>
              </a:ext>
            </a:extLst>
          </p:cNvPr>
          <p:cNvSpPr/>
          <p:nvPr/>
        </p:nvSpPr>
        <p:spPr>
          <a:xfrm>
            <a:off x="2336800" y="4368800"/>
            <a:ext cx="14859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82EBAD9-27E3-C7BB-D59D-2A40AC4428E0}"/>
              </a:ext>
            </a:extLst>
          </p:cNvPr>
          <p:cNvSpPr txBox="1"/>
          <p:nvPr/>
        </p:nvSpPr>
        <p:spPr>
          <a:xfrm>
            <a:off x="4851400" y="43180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(61.5%)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45F86E56-C794-5467-9201-AD23CAEEC07B}"/>
              </a:ext>
            </a:extLst>
          </p:cNvPr>
          <p:cNvSpPr txBox="1"/>
          <p:nvPr/>
        </p:nvSpPr>
        <p:spPr>
          <a:xfrm>
            <a:off x="482600" y="46228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問題あり</a:t>
            </a: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D6EAC6C6-BEE5-071B-2D8D-8DFBD7CF2E0D}"/>
              </a:ext>
            </a:extLst>
          </p:cNvPr>
          <p:cNvSpPr/>
          <p:nvPr/>
        </p:nvSpPr>
        <p:spPr>
          <a:xfrm>
            <a:off x="2336800" y="46736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B3D2AFF3-3880-D292-0527-97B123396C66}"/>
              </a:ext>
            </a:extLst>
          </p:cNvPr>
          <p:cNvSpPr/>
          <p:nvPr/>
        </p:nvSpPr>
        <p:spPr>
          <a:xfrm>
            <a:off x="2336800" y="4673600"/>
            <a:ext cx="927100" cy="2286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822B6C7D-4ACD-C921-3F9D-B3EC741BC972}"/>
              </a:ext>
            </a:extLst>
          </p:cNvPr>
          <p:cNvSpPr txBox="1"/>
          <p:nvPr/>
        </p:nvSpPr>
        <p:spPr>
          <a:xfrm>
            <a:off x="4851400" y="46228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(38.5%)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868EFC1-5F81-6687-D890-F13BD4123F88}"/>
              </a:ext>
            </a:extLst>
          </p:cNvPr>
          <p:cNvSpPr txBox="1"/>
          <p:nvPr/>
        </p:nvSpPr>
        <p:spPr>
          <a:xfrm>
            <a:off x="482600" y="5080000"/>
            <a:ext cx="5842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⑦ 人員配置（部署参加人数）は適切だったか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FE8345D3-0479-90AF-5DD6-7D5BB130F69A}"/>
              </a:ext>
            </a:extLst>
          </p:cNvPr>
          <p:cNvSpPr txBox="1"/>
          <p:nvPr/>
        </p:nvSpPr>
        <p:spPr>
          <a:xfrm>
            <a:off x="482600" y="53848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問題あり</a:t>
            </a: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330DB872-99DF-F6A5-D6F5-B41677AF1B90}"/>
              </a:ext>
            </a:extLst>
          </p:cNvPr>
          <p:cNvSpPr/>
          <p:nvPr/>
        </p:nvSpPr>
        <p:spPr>
          <a:xfrm>
            <a:off x="2336800" y="54356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0B399388-042A-6B9C-B6A9-7DCC2B25C29F}"/>
              </a:ext>
            </a:extLst>
          </p:cNvPr>
          <p:cNvSpPr/>
          <p:nvPr/>
        </p:nvSpPr>
        <p:spPr>
          <a:xfrm>
            <a:off x="2336800" y="5435600"/>
            <a:ext cx="1854200" cy="2286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9D0A8605-9AC5-7F47-7F40-45392E24A04E}"/>
              </a:ext>
            </a:extLst>
          </p:cNvPr>
          <p:cNvSpPr txBox="1"/>
          <p:nvPr/>
        </p:nvSpPr>
        <p:spPr>
          <a:xfrm>
            <a:off x="4851400" y="53848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(76.9%)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755DBDA8-3414-82F9-5CB1-AC1F3FB1E719}"/>
              </a:ext>
            </a:extLst>
          </p:cNvPr>
          <p:cNvSpPr txBox="1"/>
          <p:nvPr/>
        </p:nvSpPr>
        <p:spPr>
          <a:xfrm>
            <a:off x="482600" y="56896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問題なし</a:t>
            </a: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2FFFAB4E-4473-0392-87F7-27923AA78773}"/>
              </a:ext>
            </a:extLst>
          </p:cNvPr>
          <p:cNvSpPr/>
          <p:nvPr/>
        </p:nvSpPr>
        <p:spPr>
          <a:xfrm>
            <a:off x="2336800" y="57404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AD24E53C-E1D3-496A-C56E-E091C7B02C5F}"/>
              </a:ext>
            </a:extLst>
          </p:cNvPr>
          <p:cNvSpPr/>
          <p:nvPr/>
        </p:nvSpPr>
        <p:spPr>
          <a:xfrm>
            <a:off x="2336800" y="5740400"/>
            <a:ext cx="5588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1237DAB1-AEA3-FBBB-E2D9-0EA4728F9B41}"/>
              </a:ext>
            </a:extLst>
          </p:cNvPr>
          <p:cNvSpPr txBox="1"/>
          <p:nvPr/>
        </p:nvSpPr>
        <p:spPr>
          <a:xfrm>
            <a:off x="4851400" y="5689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(23.1%)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6011255-28FA-EF2E-FDD3-9ED04A266684}"/>
              </a:ext>
            </a:extLst>
          </p:cNvPr>
          <p:cNvSpPr txBox="1"/>
          <p:nvPr/>
        </p:nvSpPr>
        <p:spPr>
          <a:xfrm>
            <a:off x="482600" y="6070600"/>
            <a:ext cx="5842000" cy="5180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⑨ 来年も参加する必要性はあるか：はい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(84.6%) 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／ いいえ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(15.4%)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AF97D2BC-6604-BA71-7764-E4F010E46FD0}"/>
              </a:ext>
            </a:extLst>
          </p:cNvPr>
          <p:cNvSpPr/>
          <p:nvPr/>
        </p:nvSpPr>
        <p:spPr>
          <a:xfrm>
            <a:off x="6781800" y="1574800"/>
            <a:ext cx="51054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029AE5BC-E137-8D7E-B6DF-52B5DFAC60F4}"/>
              </a:ext>
            </a:extLst>
          </p:cNvPr>
          <p:cNvSpPr/>
          <p:nvPr/>
        </p:nvSpPr>
        <p:spPr>
          <a:xfrm>
            <a:off x="6781800" y="1574800"/>
            <a:ext cx="5105400" cy="762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FD4DD5DC-05D6-17D8-C7B0-EB56B4BC0F4F}"/>
              </a:ext>
            </a:extLst>
          </p:cNvPr>
          <p:cNvSpPr txBox="1"/>
          <p:nvPr/>
        </p:nvSpPr>
        <p:spPr>
          <a:xfrm>
            <a:off x="6959600" y="1727200"/>
            <a:ext cx="47498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スタッフ選択式設問 集計結果の説明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2B4CB60C-8B3E-D1FB-0DCB-1AD192A943E2}"/>
              </a:ext>
            </a:extLst>
          </p:cNvPr>
          <p:cNvSpPr/>
          <p:nvPr/>
        </p:nvSpPr>
        <p:spPr>
          <a:xfrm>
            <a:off x="6959600" y="2108200"/>
            <a:ext cx="47498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A86F85A-28A7-B67E-7294-AC9BC74217A1}"/>
              </a:ext>
            </a:extLst>
          </p:cNvPr>
          <p:cNvSpPr txBox="1"/>
          <p:nvPr/>
        </p:nvSpPr>
        <p:spPr>
          <a:xfrm>
            <a:off x="6959600" y="2209800"/>
            <a:ext cx="4749800" cy="371281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・参加スタッフ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名のうち、現時点で回答が完了した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名の集計結果である。
・設問①（参加して良かったか）は、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名全員（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100.0%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）が「はい」と回答した。
・設問③（地域住民に貢献できたか）は、「はい」が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92.3%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）、「いいえ」が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7.7%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・設問⑤（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区画の広さ）は、「問題なし」が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61.5%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）、「問題あり」が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38.5%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・設問⑦（人員配置の適切さ）は、「問題あり」が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76.9%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）、「問題なし」が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23.1%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・設問⑨（来年の自部署の参加必要性）は、「はい」が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84.6%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）、「いいえ」が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15.4%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</a:t>
            </a:r>
          </a:p>
        </p:txBody>
      </p:sp>
    </p:spTree>
    <p:extLst>
      <p:ext uri="{BB962C8B-B14F-4D97-AF65-F5344CB8AC3E}">
        <p14:creationId xmlns:p14="http://schemas.microsoft.com/office/powerpoint/2010/main" val="18193080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50F1360-5B83-7D79-D7AF-8888D8C4509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88358C6-4FB3-9B52-BFC4-85AD4C2E8321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A3D4035-60F6-4C7A-C4AD-9CC1FC3A2384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CD8E57B-CB2D-4A1A-F9B5-E522C57114AB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部：スタッフ集計②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86B566D-D692-0F96-921D-E5E4238D61E9}"/>
              </a:ext>
            </a:extLst>
          </p:cNvPr>
          <p:cNvSpPr txBox="1"/>
          <p:nvPr/>
        </p:nvSpPr>
        <p:spPr>
          <a:xfrm>
            <a:off x="2311400" y="165100"/>
            <a:ext cx="85852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スタッフアンケート結果②：各設問の自由記述まとめ（考察なし）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D9F0C7C-11D3-7375-95BA-95610B5DBAC8}"/>
              </a:ext>
            </a:extLst>
          </p:cNvPr>
          <p:cNvSpPr txBox="1"/>
          <p:nvPr/>
        </p:nvSpPr>
        <p:spPr>
          <a:xfrm>
            <a:off x="10896600" y="203200"/>
            <a:ext cx="990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DA94E9B-C4E2-5B09-E878-DD95B17FC2FF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0F8D1F8-EAD4-AB69-8745-0B0AF7CD3771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C408BD9-E854-8474-3EB6-221DAB2D25F1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参加意義・多職種連携への肯定的な記述と、広さ・人員・運営面での具体的な問題点が記載された</a:t>
            </a:r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8E6DA469-0467-3006-30D8-9066C1AC9C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9501228"/>
              </p:ext>
            </p:extLst>
          </p:nvPr>
        </p:nvGraphicFramePr>
        <p:xfrm>
          <a:off x="304800" y="1625600"/>
          <a:ext cx="11582400" cy="490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4014588404"/>
                    </a:ext>
                  </a:extLst>
                </a:gridCol>
                <a:gridCol w="8534400">
                  <a:extLst>
                    <a:ext uri="{9D8B030D-6E8A-4147-A177-3AD203B41FA5}">
                      <a16:colId xmlns:a16="http://schemas.microsoft.com/office/drawing/2014/main" val="2929001741"/>
                    </a:ext>
                  </a:extLst>
                </a:gridCol>
              </a:tblGrid>
              <a:tr h="817033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自由記述の設問項目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スタッフから記載された主な回答内容（事実の集約）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9413634"/>
                  </a:ext>
                </a:extLst>
              </a:tr>
              <a:tr h="817033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② 参加して良かった理由
（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13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名全員が「はい」）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・地域住民と直接話し、当院を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PR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できた。生活習慣や悩みをリアルに伺えた。
・他部門メンバーと同じ目標に向かって一致団結し、普段できないコミュニケーションを取れた。
・多職種連携ができた。多職種と楽しく地域社会に関われた。当院の結束力が感じられた。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1495484"/>
                  </a:ext>
                </a:extLst>
              </a:tr>
              <a:tr h="817033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④ 地域貢献できた理由
（はい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12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／ いいえ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・筋肉量（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InBody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）や血管年齢をもとに、運動・生活・栄養指導ができ、お薬カレンダー配布も喜ばれた。
・栄養相談は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InBody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の結果ありきの方が話しやすかった。専門職から多様なアドバイスができた。
・（「いいえ」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名の理由）：人生会議というテーマが来場者が求めていたものか判断が難しかったため。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1316442"/>
                  </a:ext>
                </a:extLst>
              </a:tr>
              <a:tr h="817033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⑥ 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区画の広さの問題点
（問題あり 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・常に混雑して狭かった。満席の状態が続き、移動時に狭そうだった。
・お待ちの方々が座れず、外出をお勧めして対応した。
・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InBody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のスペースが狭かった。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InBody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を増やすなど規模を広げるなら、もう半テント（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区画）必要。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3366179"/>
                  </a:ext>
                </a:extLst>
              </a:tr>
              <a:tr h="817033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⑧ 人員配置の問題点
（問題あり 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・来場者が多く、休憩時間がほとんど取れなかった（長くても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10〜15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分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×2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回程度）。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日連続出勤はきつかった。
・並んでいる方や待っている方を公平に案内する「誘導係（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名程度）」と「全体統括」が必要だった。
・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人が休憩に入ると回らないため、リハ・測定スタッフ、看護、事務の増員が必要だった。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1542041"/>
                  </a:ext>
                </a:extLst>
              </a:tr>
              <a:tr h="817033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⑩ 来年参加の理由・
⑪ 来年に向けた改善提案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・当院の認知度がまだ低い（医療センターのブースと誤認している人もいた）ため、広報誌や病院紹介パネルが必要。
・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InBody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は待ち時間が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30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分以上となり最後は並ぶのを中止したため、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台体制（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台では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150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人が限度）が必要。
・整理券方式や順路固定（栄養→薬剤→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MSW→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看護）、ノベルティ（ボールペン・防災グッズ等）増量、休憩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時間確保。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56921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37430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1217BF2-D4C5-6863-9489-85E3A138955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E6AD406-1D43-7952-9FF1-ECAA5E864211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5BBF584-4B40-E140-AD28-6130E7052E70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2BA31F6-D7B9-1B33-29D2-EFFA62C72160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・目的達成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2B8044D-19DD-2245-5BCF-C145EBEFC746}"/>
              </a:ext>
            </a:extLst>
          </p:cNvPr>
          <p:cNvSpPr txBox="1"/>
          <p:nvPr/>
        </p:nvSpPr>
        <p:spPr>
          <a:xfrm>
            <a:off x="2311400" y="165100"/>
            <a:ext cx="85852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起案書の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つの目的達成報告 と 今回の出展で得られたこと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D71681A-FC3C-E6C4-38EC-345F94B6A567}"/>
              </a:ext>
            </a:extLst>
          </p:cNvPr>
          <p:cNvSpPr txBox="1"/>
          <p:nvPr/>
        </p:nvSpPr>
        <p:spPr>
          <a:xfrm>
            <a:off x="10896600" y="203200"/>
            <a:ext cx="990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B2E91DF-CD15-A6EF-31A1-9A79A9207E9F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E4B2E54-C363-E373-4EBD-AE924913ABAF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7E0543B-3A4F-62A4-9A3C-F0C19B702CFB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ブース来場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名（目標比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134%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）・アンケート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名（目標比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472%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）を達成し、起案の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目的すべてを遂行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EC6B9CAC-84A6-E03D-4026-B5219476133F}"/>
              </a:ext>
            </a:extLst>
          </p:cNvPr>
          <p:cNvSpPr/>
          <p:nvPr/>
        </p:nvSpPr>
        <p:spPr>
          <a:xfrm>
            <a:off x="304800" y="1574800"/>
            <a:ext cx="59690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45D9712-C74F-548B-8C97-8D512BE71E9C}"/>
              </a:ext>
            </a:extLst>
          </p:cNvPr>
          <p:cNvSpPr/>
          <p:nvPr/>
        </p:nvSpPr>
        <p:spPr>
          <a:xfrm>
            <a:off x="304800" y="1574800"/>
            <a:ext cx="5969000" cy="76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2DDEC9E-40C9-4F6B-0948-D157774DE4FB}"/>
              </a:ext>
            </a:extLst>
          </p:cNvPr>
          <p:cNvSpPr txBox="1"/>
          <p:nvPr/>
        </p:nvSpPr>
        <p:spPr>
          <a:xfrm>
            <a:off x="482600" y="1727200"/>
            <a:ext cx="56134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起案書の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および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つの目的の達成報告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E5A278C-AEB7-2740-3677-4D562D654F3A}"/>
              </a:ext>
            </a:extLst>
          </p:cNvPr>
          <p:cNvSpPr/>
          <p:nvPr/>
        </p:nvSpPr>
        <p:spPr>
          <a:xfrm>
            <a:off x="482600" y="2108200"/>
            <a:ext cx="56134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05D21CE-E825-4F4E-0D79-BB98A5B2291B}"/>
              </a:ext>
            </a:extLst>
          </p:cNvPr>
          <p:cNvSpPr txBox="1"/>
          <p:nvPr/>
        </p:nvSpPr>
        <p:spPr>
          <a:xfrm>
            <a:off x="482600" y="2159000"/>
            <a:ext cx="55880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 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（目標数値）の達成状況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ACA8714-7466-BEC0-FC6F-24A84FCBA5AC}"/>
              </a:ext>
            </a:extLst>
          </p:cNvPr>
          <p:cNvSpPr txBox="1"/>
          <p:nvPr/>
        </p:nvSpPr>
        <p:spPr>
          <a:xfrm>
            <a:off x="482600" y="2514600"/>
            <a:ext cx="1968500" cy="5180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ブース立ち寄り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目標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200)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344C25D1-2DCC-7D12-3B8B-907527F1D11C}"/>
              </a:ext>
            </a:extLst>
          </p:cNvPr>
          <p:cNvSpPr/>
          <p:nvPr/>
        </p:nvSpPr>
        <p:spPr>
          <a:xfrm>
            <a:off x="2527300" y="2565400"/>
            <a:ext cx="19685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8079C0E-2C13-7E94-6793-E232CEDB4ED3}"/>
              </a:ext>
            </a:extLst>
          </p:cNvPr>
          <p:cNvSpPr/>
          <p:nvPr/>
        </p:nvSpPr>
        <p:spPr>
          <a:xfrm>
            <a:off x="2527300" y="2565400"/>
            <a:ext cx="19685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3B0194D-954D-B822-0745-B821FEBD00F3}"/>
              </a:ext>
            </a:extLst>
          </p:cNvPr>
          <p:cNvSpPr txBox="1"/>
          <p:nvPr/>
        </p:nvSpPr>
        <p:spPr>
          <a:xfrm>
            <a:off x="4597400" y="2514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(134.0%)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113356C5-D2C8-1F3A-F7ED-92B26902F1DF}"/>
              </a:ext>
            </a:extLst>
          </p:cNvPr>
          <p:cNvSpPr txBox="1"/>
          <p:nvPr/>
        </p:nvSpPr>
        <p:spPr>
          <a:xfrm>
            <a:off x="482600" y="2895600"/>
            <a:ext cx="1968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アンケート回答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目標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1715F0CF-9F69-E1F1-FE10-9EA1143844D2}"/>
              </a:ext>
            </a:extLst>
          </p:cNvPr>
          <p:cNvSpPr/>
          <p:nvPr/>
        </p:nvSpPr>
        <p:spPr>
          <a:xfrm>
            <a:off x="2527300" y="2946400"/>
            <a:ext cx="19685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F951EC2-BB1D-207E-C8E2-A267B8B7B337}"/>
              </a:ext>
            </a:extLst>
          </p:cNvPr>
          <p:cNvSpPr/>
          <p:nvPr/>
        </p:nvSpPr>
        <p:spPr>
          <a:xfrm>
            <a:off x="2527300" y="2946400"/>
            <a:ext cx="19685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6FDBE66-EBC9-3BDD-33F2-F2A7CE38F869}"/>
              </a:ext>
            </a:extLst>
          </p:cNvPr>
          <p:cNvSpPr txBox="1"/>
          <p:nvPr/>
        </p:nvSpPr>
        <p:spPr>
          <a:xfrm>
            <a:off x="4597400" y="2895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(472.0%)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C873D46-B818-8CF3-9FD6-2EEEC0181F9E}"/>
              </a:ext>
            </a:extLst>
          </p:cNvPr>
          <p:cNvSpPr txBox="1"/>
          <p:nvPr/>
        </p:nvSpPr>
        <p:spPr>
          <a:xfrm>
            <a:off x="482600" y="3251200"/>
            <a:ext cx="56134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内訳：</a:t>
            </a:r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来場</a:t>
            </a:r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120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名（回答</a:t>
            </a:r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106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 ／ </a:t>
            </a:r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来場</a:t>
            </a:r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148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名（回答</a:t>
            </a:r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130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</a:t>
            </a:r>
            <a:endParaRPr kumimoji="1" lang="ja-JP" altLang="en-US" sz="1250">
              <a:solidFill>
                <a:srgbClr val="475569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FB917D95-107A-BF36-90B3-4624F6F29E48}"/>
              </a:ext>
            </a:extLst>
          </p:cNvPr>
          <p:cNvSpPr txBox="1"/>
          <p:nvPr/>
        </p:nvSpPr>
        <p:spPr>
          <a:xfrm>
            <a:off x="482600" y="3581400"/>
            <a:ext cx="5613400" cy="250324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 起案書の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つの目的の達成状況
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目的① 基本方針の遂行（地域貢献）：達成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名に測定・専門職相談を提供し、スタッフの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92.3%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が貢献を実感。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Q1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でも血管年齢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72.9%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・筋肉量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66.5%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等が高く評価された。
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目的② 経営的価値（認知・集患）：達成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・初認知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67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28.4%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）・名前のみ認知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126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53.4%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）と直接接点を持ち、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Q3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で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90.3%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213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名）から「将来利用・検討したい」との評価を獲得した。
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目的③ 組織的価値（多職種連携の醸成）：達成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部署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名が協働運営し、スタッフ満足度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100%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を達成。「他部門と一致団結できた」「測定結果をもとに他職種へつなぐ連携が機能した」と連携基盤が強化された。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9033A400-8056-64C1-96DB-32E49192BAA6}"/>
              </a:ext>
            </a:extLst>
          </p:cNvPr>
          <p:cNvSpPr/>
          <p:nvPr/>
        </p:nvSpPr>
        <p:spPr>
          <a:xfrm>
            <a:off x="6451600" y="1574800"/>
            <a:ext cx="54356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0021BCEB-A602-BCE5-8391-D8C522837C6F}"/>
              </a:ext>
            </a:extLst>
          </p:cNvPr>
          <p:cNvSpPr/>
          <p:nvPr/>
        </p:nvSpPr>
        <p:spPr>
          <a:xfrm>
            <a:off x="6451600" y="1574800"/>
            <a:ext cx="54356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47C5DCDF-A713-F6D7-9892-53BA2E717105}"/>
              </a:ext>
            </a:extLst>
          </p:cNvPr>
          <p:cNvSpPr txBox="1"/>
          <p:nvPr/>
        </p:nvSpPr>
        <p:spPr>
          <a:xfrm>
            <a:off x="6629400" y="1727200"/>
            <a:ext cx="5080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今回の出展で得られたこと（事実の整理）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EC8D882E-948F-9968-B645-FD41B7C1CE72}"/>
              </a:ext>
            </a:extLst>
          </p:cNvPr>
          <p:cNvSpPr/>
          <p:nvPr/>
        </p:nvSpPr>
        <p:spPr>
          <a:xfrm>
            <a:off x="6629400" y="2108200"/>
            <a:ext cx="5080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193750C7-7243-A7DD-26DB-39E9B78EF520}"/>
              </a:ext>
            </a:extLst>
          </p:cNvPr>
          <p:cNvSpPr txBox="1"/>
          <p:nvPr/>
        </p:nvSpPr>
        <p:spPr>
          <a:xfrm>
            <a:off x="6629400" y="2184400"/>
            <a:ext cx="5080000" cy="416524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日間で計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名が来場し、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名分の地域住民アンケートデータを取得できたこと。
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日目は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歳代以上（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52.8%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日目は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歳代以下が倍増（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32.3%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）し、土日で異なる年代層と接点を持てたこと。
・八千代市内（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72.5%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）に加え、市外（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26.3%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名）の住民とも接点を持てたこと。
・血管年齢測定と筋肉量測定が、住民の約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割から評価される集客コンテンツであると確認できたこと。
・八千代市民であっても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80.7%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が当院を「全く知らない」か「名前・場所しか知らない」という現状が数値で判明したこと。
・ブース体験者の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90.3%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213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名）が、万が一の際に当院を「利用・検討したい」と回答したこと。
・今後の知名度向上策（定期的な健康教室）に向け、住民の関心が高い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つのテーマ（転倒・栄養・認知機能・介護終活）を把握できたこと。</a:t>
            </a:r>
          </a:p>
        </p:txBody>
      </p:sp>
    </p:spTree>
    <p:extLst>
      <p:ext uri="{BB962C8B-B14F-4D97-AF65-F5344CB8AC3E}">
        <p14:creationId xmlns:p14="http://schemas.microsoft.com/office/powerpoint/2010/main" val="3099147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361A178-0931-2290-8E79-E4F5BD03B12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AF6AEE7-5C47-DEC3-2983-AA23CE425F99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24FD8BE-2A86-C064-DE3F-1978CFF8BC5B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D495201-0AD4-A2E0-1F5D-7A5CFA2424E1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部：クロス分析①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8C03E53-F89B-4387-D265-D6A87ABCFF32}"/>
              </a:ext>
            </a:extLst>
          </p:cNvPr>
          <p:cNvSpPr txBox="1"/>
          <p:nvPr/>
        </p:nvSpPr>
        <p:spPr>
          <a:xfrm>
            <a:off x="2311400" y="165100"/>
            <a:ext cx="85852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日目（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106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名）と 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日目（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130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名）の来場者層の違い（年齢・居住地）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3487733-9335-3767-9C8F-80CBA596A8C6}"/>
              </a:ext>
            </a:extLst>
          </p:cNvPr>
          <p:cNvSpPr txBox="1"/>
          <p:nvPr/>
        </p:nvSpPr>
        <p:spPr>
          <a:xfrm>
            <a:off x="10896600" y="203200"/>
            <a:ext cx="990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8D82EBD-6B9B-E0B7-EA6D-ACF26227993A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86D6ADE-2E35-2115-6BDE-3C26D48FED9E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3E7379F-0B8B-2D72-EC7B-28774F161D12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代以上のシニア層が過半数（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52.8%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）。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代以下の若年・子育て世代が倍増（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19.8%→32.3%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64F8F4C-5089-E000-F514-13AF2104476B}"/>
              </a:ext>
            </a:extLst>
          </p:cNvPr>
          <p:cNvSpPr/>
          <p:nvPr/>
        </p:nvSpPr>
        <p:spPr>
          <a:xfrm>
            <a:off x="304800" y="1574800"/>
            <a:ext cx="64770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D4AB298-C891-F8A4-43DD-0BF5A9B112ED}"/>
              </a:ext>
            </a:extLst>
          </p:cNvPr>
          <p:cNvSpPr/>
          <p:nvPr/>
        </p:nvSpPr>
        <p:spPr>
          <a:xfrm>
            <a:off x="304800" y="1574800"/>
            <a:ext cx="6477000" cy="762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3023541-4802-E8F2-E122-495286030095}"/>
              </a:ext>
            </a:extLst>
          </p:cNvPr>
          <p:cNvSpPr txBox="1"/>
          <p:nvPr/>
        </p:nvSpPr>
        <p:spPr>
          <a:xfrm>
            <a:off x="482600" y="1727200"/>
            <a:ext cx="61214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年代別・居住地別の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vs 2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比較表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F3449D59-3D46-DC83-22CF-661D6F3F6B0C}"/>
              </a:ext>
            </a:extLst>
          </p:cNvPr>
          <p:cNvSpPr/>
          <p:nvPr/>
        </p:nvSpPr>
        <p:spPr>
          <a:xfrm>
            <a:off x="482600" y="2108200"/>
            <a:ext cx="61214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15" name="表 14">
            <a:extLst>
              <a:ext uri="{FF2B5EF4-FFF2-40B4-BE49-F238E27FC236}">
                <a16:creationId xmlns:a16="http://schemas.microsoft.com/office/drawing/2014/main" id="{763DED26-8BA4-B54B-A4CC-5FFD4A5C3A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6145645"/>
              </p:ext>
            </p:extLst>
          </p:nvPr>
        </p:nvGraphicFramePr>
        <p:xfrm>
          <a:off x="482600" y="2209800"/>
          <a:ext cx="6121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>
                  <a:extLst>
                    <a:ext uri="{9D8B030D-6E8A-4147-A177-3AD203B41FA5}">
                      <a16:colId xmlns:a16="http://schemas.microsoft.com/office/drawing/2014/main" val="2422654544"/>
                    </a:ext>
                  </a:extLst>
                </a:gridCol>
                <a:gridCol w="1346200">
                  <a:extLst>
                    <a:ext uri="{9D8B030D-6E8A-4147-A177-3AD203B41FA5}">
                      <a16:colId xmlns:a16="http://schemas.microsoft.com/office/drawing/2014/main" val="2786321596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780967039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3239255248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属性区分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全体 </a:t>
                      </a:r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(236</a:t>
                      </a:r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300" b="1">
                        <a:solidFill>
                          <a:srgbClr val="FFFFFF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日目 </a:t>
                      </a:r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(106</a:t>
                      </a:r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300" b="1">
                        <a:solidFill>
                          <a:srgbClr val="FFFFFF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</a:t>
                      </a:r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日目 </a:t>
                      </a:r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(130</a:t>
                      </a:r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300" b="1">
                        <a:solidFill>
                          <a:srgbClr val="FFFFFF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159297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en-US" altLang="zh-TW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10〜30</a:t>
                      </a:r>
                      <a:r>
                        <a:rPr kumimoji="1" lang="zh-TW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歳代（若年層）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30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(12.7%)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(11.3%)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18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(13.8%) ▲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318337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40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歳代（子育て世代）</a:t>
                      </a:r>
                    </a:p>
                  </a:txBody>
                  <a:tcPr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33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(14.0%)</a:t>
                      </a:r>
                      <a:endParaRPr kumimoji="1" lang="ja-JP" altLang="en-US" sz="1300" b="1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9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(8.5%)</a:t>
                      </a:r>
                      <a:endParaRPr kumimoji="1" lang="ja-JP" altLang="en-US" sz="1300" b="1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24</a:t>
                      </a:r>
                      <a:r>
                        <a:rPr kumimoji="1" lang="ja-JP" altLang="en-US" sz="130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(18.5%) ▲2.7</a:t>
                      </a:r>
                      <a:r>
                        <a:rPr kumimoji="1" lang="ja-JP" altLang="en-US" sz="130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倍</a:t>
                      </a:r>
                    </a:p>
                  </a:txBody>
                  <a:tcPr>
                    <a:solidFill>
                      <a:srgbClr val="FFF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292814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en-US" altLang="zh-TW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50</a:t>
                      </a:r>
                      <a:r>
                        <a:rPr kumimoji="1" lang="zh-TW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歳代（最多層）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(26.3%)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28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(26.4%)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34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(26.2%)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38775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60〜70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歳代（シニア層）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81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(34.3%)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40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(37.7%)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(31.5%)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94439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en-US" altLang="zh-TW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80〜90</a:t>
                      </a:r>
                      <a:r>
                        <a:rPr kumimoji="1" lang="zh-TW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歳代（高齢層）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27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(11.4%)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16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(15.1%)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(8.5%) ▼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9609199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zh-CN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八千代市内 在住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171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(72.5%)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75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(70.8%)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96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(73.8%) ▲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289913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八千代市外 在住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(26.3%)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29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(27.4%)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33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(25.4%)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8985876"/>
                  </a:ext>
                </a:extLst>
              </a:tr>
            </a:tbl>
          </a:graphicData>
        </a:graphic>
      </p:graphicFrame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ED4568C-66F8-895A-843B-6362F34136E0}"/>
              </a:ext>
            </a:extLst>
          </p:cNvPr>
          <p:cNvSpPr/>
          <p:nvPr/>
        </p:nvSpPr>
        <p:spPr>
          <a:xfrm>
            <a:off x="6959600" y="1574800"/>
            <a:ext cx="49276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4B0439B-B32B-BB9F-7087-50F2D11D2C8A}"/>
              </a:ext>
            </a:extLst>
          </p:cNvPr>
          <p:cNvSpPr/>
          <p:nvPr/>
        </p:nvSpPr>
        <p:spPr>
          <a:xfrm>
            <a:off x="6959600" y="1574800"/>
            <a:ext cx="4927600" cy="762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EE6209D-67D0-D088-8342-9868EFF95FE7}"/>
              </a:ext>
            </a:extLst>
          </p:cNvPr>
          <p:cNvSpPr txBox="1"/>
          <p:nvPr/>
        </p:nvSpPr>
        <p:spPr>
          <a:xfrm>
            <a:off x="7137400" y="1727200"/>
            <a:ext cx="4572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日別クロス集計から見える特徴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098C265D-42C5-2FC7-F6B1-09AEA6F7D0B1}"/>
              </a:ext>
            </a:extLst>
          </p:cNvPr>
          <p:cNvSpPr/>
          <p:nvPr/>
        </p:nvSpPr>
        <p:spPr>
          <a:xfrm>
            <a:off x="7137400" y="2108200"/>
            <a:ext cx="4572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1A3BF4A1-9D53-67E6-0952-741BD55B9EB7}"/>
              </a:ext>
            </a:extLst>
          </p:cNvPr>
          <p:cNvSpPr txBox="1"/>
          <p:nvPr/>
        </p:nvSpPr>
        <p:spPr>
          <a:xfrm>
            <a:off x="7137400" y="2209800"/>
            <a:ext cx="4572000" cy="392517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【1. 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年齢層の明確な変化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日目（土曜）は、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歳代以上が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56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52.8%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）と過半数を占め、シニア当事者層が中心であった。
・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日目（日曜）は、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10〜40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歳代の若い世代・子育て世代が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日目の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19.8%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）から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32.3%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）へと倍増した。特に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歳代は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）から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24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18.5%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）へと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2.7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倍に増加した。
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【2. 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居住地（市内・市外）の変化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日目は地元の家族連れの増加に伴い、八千代市内の回答者が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日目の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75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70.8%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）から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96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73.8%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）へと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名増加した。
・また両日を通じて約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人に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人（計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名・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）が八千代市外からの来場者であった。
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【3. 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土日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日間出展の効果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・土曜日は「シニアご本人層」、日曜日は「将来親の介護・入院に関わる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40〜50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代の家族層」にそれぞれ多くアプローチできた。</a:t>
            </a:r>
          </a:p>
        </p:txBody>
      </p:sp>
    </p:spTree>
    <p:extLst>
      <p:ext uri="{BB962C8B-B14F-4D97-AF65-F5344CB8AC3E}">
        <p14:creationId xmlns:p14="http://schemas.microsoft.com/office/powerpoint/2010/main" val="15755990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E6A5E74-A0EB-DD85-3884-320D87ECDEB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A78E688-556A-F659-CAD5-BEF7C21F413D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4C4ECD5-6775-1998-514C-5AD62AEE4B8E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9E65BB0-2C3D-91A8-8D36-3305EF850F50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部：当院の弱点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22857E3-5306-8D8F-EE4B-8FFD4D62C5F3}"/>
              </a:ext>
            </a:extLst>
          </p:cNvPr>
          <p:cNvSpPr txBox="1"/>
          <p:nvPr/>
        </p:nvSpPr>
        <p:spPr>
          <a:xfrm>
            <a:off x="2311400" y="165100"/>
            <a:ext cx="85852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アンケート結果からわかる当院の弱点（八千代市内における知名度の低さ）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5BDB17D-2D25-29C0-E460-2EC5E84CD289}"/>
              </a:ext>
            </a:extLst>
          </p:cNvPr>
          <p:cNvSpPr txBox="1"/>
          <p:nvPr/>
        </p:nvSpPr>
        <p:spPr>
          <a:xfrm>
            <a:off x="10896600" y="203200"/>
            <a:ext cx="990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A136D01-DB33-A22C-66E5-41C1852A1560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7B223DF-20D4-7CBE-F86E-F29199BB9146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7CF8AFC-AC8A-9307-7EF9-C5828DC2F005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八千代市民（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名）でも「よく知っている」は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18.1%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のみ。市民の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80.7%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が当院を「初めて知った・名前のみ」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CEDA20D-71C9-B6EB-20E2-902755B6F4B7}"/>
              </a:ext>
            </a:extLst>
          </p:cNvPr>
          <p:cNvSpPr/>
          <p:nvPr/>
        </p:nvSpPr>
        <p:spPr>
          <a:xfrm>
            <a:off x="304800" y="1574800"/>
            <a:ext cx="62992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78236B7-B3AB-014F-D96A-ED78558703DF}"/>
              </a:ext>
            </a:extLst>
          </p:cNvPr>
          <p:cNvSpPr/>
          <p:nvPr/>
        </p:nvSpPr>
        <p:spPr>
          <a:xfrm>
            <a:off x="304800" y="1574800"/>
            <a:ext cx="6299200" cy="762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19336BF-31F5-DB1F-0989-18CA21E73957}"/>
              </a:ext>
            </a:extLst>
          </p:cNvPr>
          <p:cNvSpPr txBox="1"/>
          <p:nvPr/>
        </p:nvSpPr>
        <p:spPr>
          <a:xfrm>
            <a:off x="482600" y="1727200"/>
            <a:ext cx="59436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八千代市内居住者（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名）における当院の認知度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6705A364-AACA-EDE9-857F-CF54F819E335}"/>
              </a:ext>
            </a:extLst>
          </p:cNvPr>
          <p:cNvSpPr/>
          <p:nvPr/>
        </p:nvSpPr>
        <p:spPr>
          <a:xfrm>
            <a:off x="482600" y="2108200"/>
            <a:ext cx="59436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5A315C7-22BA-DFDD-8853-D2D63A672C9D}"/>
              </a:ext>
            </a:extLst>
          </p:cNvPr>
          <p:cNvSpPr txBox="1"/>
          <p:nvPr/>
        </p:nvSpPr>
        <p:spPr>
          <a:xfrm>
            <a:off x="482600" y="2159000"/>
            <a:ext cx="58420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 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 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八千代市内居住者（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名）の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Q2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回答内訳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7EBD963-697C-B29C-1954-A79B920582E3}"/>
              </a:ext>
            </a:extLst>
          </p:cNvPr>
          <p:cNvSpPr txBox="1"/>
          <p:nvPr/>
        </p:nvSpPr>
        <p:spPr>
          <a:xfrm>
            <a:off x="482600" y="2514600"/>
            <a:ext cx="2095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よく知っている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利用有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E8FFD74D-31A4-1BD5-712A-65B345F4E759}"/>
              </a:ext>
            </a:extLst>
          </p:cNvPr>
          <p:cNvSpPr/>
          <p:nvPr/>
        </p:nvSpPr>
        <p:spPr>
          <a:xfrm>
            <a:off x="2654300" y="2565400"/>
            <a:ext cx="2159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7FFEAC6F-D9F5-2F48-0DD0-AD03301CF27B}"/>
              </a:ext>
            </a:extLst>
          </p:cNvPr>
          <p:cNvSpPr/>
          <p:nvPr/>
        </p:nvSpPr>
        <p:spPr>
          <a:xfrm>
            <a:off x="2654300" y="2565400"/>
            <a:ext cx="3937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B9D99EC-C441-5AB7-460E-D07B072BA160}"/>
              </a:ext>
            </a:extLst>
          </p:cNvPr>
          <p:cNvSpPr txBox="1"/>
          <p:nvPr/>
        </p:nvSpPr>
        <p:spPr>
          <a:xfrm>
            <a:off x="4914900" y="2514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31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(18.1%)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1AEA424C-CE8D-DB07-6DE9-F1B2F39253F5}"/>
              </a:ext>
            </a:extLst>
          </p:cNvPr>
          <p:cNvSpPr txBox="1"/>
          <p:nvPr/>
        </p:nvSpPr>
        <p:spPr>
          <a:xfrm>
            <a:off x="482600" y="2895600"/>
            <a:ext cx="2095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名前や場所は知っている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BA3A809-9190-5AE1-3940-1F60E27CF8B9}"/>
              </a:ext>
            </a:extLst>
          </p:cNvPr>
          <p:cNvSpPr/>
          <p:nvPr/>
        </p:nvSpPr>
        <p:spPr>
          <a:xfrm>
            <a:off x="2654300" y="2946400"/>
            <a:ext cx="2159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CDB45EC-8F63-8543-4535-D168507661C0}"/>
              </a:ext>
            </a:extLst>
          </p:cNvPr>
          <p:cNvSpPr/>
          <p:nvPr/>
        </p:nvSpPr>
        <p:spPr>
          <a:xfrm>
            <a:off x="2654300" y="2946400"/>
            <a:ext cx="1282700" cy="2286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8E603A46-1DA5-0BBC-BC2D-E9B91AC5FCBA}"/>
              </a:ext>
            </a:extLst>
          </p:cNvPr>
          <p:cNvSpPr txBox="1"/>
          <p:nvPr/>
        </p:nvSpPr>
        <p:spPr>
          <a:xfrm>
            <a:off x="4914900" y="2895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(59.6%)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EAD348DC-6AB8-92E5-FB54-1AE51C19D28D}"/>
              </a:ext>
            </a:extLst>
          </p:cNvPr>
          <p:cNvSpPr txBox="1"/>
          <p:nvPr/>
        </p:nvSpPr>
        <p:spPr>
          <a:xfrm>
            <a:off x="482600" y="3276600"/>
            <a:ext cx="2095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今日初めて知った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160B66B-5F04-4C6F-6DA0-197F77FAD72C}"/>
              </a:ext>
            </a:extLst>
          </p:cNvPr>
          <p:cNvSpPr/>
          <p:nvPr/>
        </p:nvSpPr>
        <p:spPr>
          <a:xfrm>
            <a:off x="2654300" y="3327400"/>
            <a:ext cx="2159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A350B985-648E-8206-A930-6998DE807A14}"/>
              </a:ext>
            </a:extLst>
          </p:cNvPr>
          <p:cNvSpPr/>
          <p:nvPr/>
        </p:nvSpPr>
        <p:spPr>
          <a:xfrm>
            <a:off x="2654300" y="3327400"/>
            <a:ext cx="457200" cy="2286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78D6186-CDD3-F07C-EC6C-DB1E07D17322}"/>
              </a:ext>
            </a:extLst>
          </p:cNvPr>
          <p:cNvSpPr txBox="1"/>
          <p:nvPr/>
        </p:nvSpPr>
        <p:spPr>
          <a:xfrm>
            <a:off x="4914900" y="3276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36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(21.1%)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1E045156-FECF-CFA3-ED83-5F6777BE6242}"/>
              </a:ext>
            </a:extLst>
          </p:cNvPr>
          <p:cNvSpPr/>
          <p:nvPr/>
        </p:nvSpPr>
        <p:spPr>
          <a:xfrm>
            <a:off x="482600" y="3657600"/>
            <a:ext cx="5943600" cy="431800"/>
          </a:xfrm>
          <a:prstGeom prst="rect">
            <a:avLst/>
          </a:prstGeom>
          <a:solidFill>
            <a:srgbClr val="FEF2F2"/>
          </a:solidFill>
          <a:ln w="15240">
            <a:solidFill>
              <a:srgbClr val="B91C1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402C9C75-B5D6-B444-518F-1E1849140C1A}"/>
              </a:ext>
            </a:extLst>
          </p:cNvPr>
          <p:cNvSpPr txBox="1"/>
          <p:nvPr/>
        </p:nvSpPr>
        <p:spPr>
          <a:xfrm>
            <a:off x="558800" y="3695700"/>
            <a:ext cx="57912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250" b="1">
                <a:solidFill>
                  <a:srgbClr val="B91C1C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地元・八千代市民の </a:t>
            </a:r>
            <a:r>
              <a:rPr kumimoji="1" lang="en-US" altLang="ja-JP" sz="1250" b="1">
                <a:solidFill>
                  <a:srgbClr val="B91C1C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80.7%</a:t>
            </a:r>
            <a:r>
              <a:rPr kumimoji="1" lang="ja-JP" altLang="en-US" sz="1250" b="1">
                <a:solidFill>
                  <a:srgbClr val="B91C1C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250" b="1">
                <a:solidFill>
                  <a:srgbClr val="B91C1C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138</a:t>
            </a:r>
            <a:r>
              <a:rPr kumimoji="1" lang="ja-JP" altLang="en-US" sz="1250" b="1">
                <a:solidFill>
                  <a:srgbClr val="B91C1C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名）が「今日初めて知った」または「名前のみ」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B00BB7F4-B21C-1666-FD43-20AC8C035B2F}"/>
              </a:ext>
            </a:extLst>
          </p:cNvPr>
          <p:cNvSpPr txBox="1"/>
          <p:nvPr/>
        </p:nvSpPr>
        <p:spPr>
          <a:xfrm>
            <a:off x="482600" y="4191000"/>
            <a:ext cx="5842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 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八千代市内の主要年代別「認知度」内訳</a:t>
            </a:r>
          </a:p>
        </p:txBody>
      </p:sp>
      <p:graphicFrame>
        <p:nvGraphicFramePr>
          <p:cNvPr id="31" name="表 30">
            <a:extLst>
              <a:ext uri="{FF2B5EF4-FFF2-40B4-BE49-F238E27FC236}">
                <a16:creationId xmlns:a16="http://schemas.microsoft.com/office/drawing/2014/main" id="{9E836226-5773-97DC-1790-07E870B9E5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2745453"/>
              </p:ext>
            </p:extLst>
          </p:nvPr>
        </p:nvGraphicFramePr>
        <p:xfrm>
          <a:off x="482600" y="4521200"/>
          <a:ext cx="5943600" cy="177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7200">
                  <a:extLst>
                    <a:ext uri="{9D8B030D-6E8A-4147-A177-3AD203B41FA5}">
                      <a16:colId xmlns:a16="http://schemas.microsoft.com/office/drawing/2014/main" val="1341831897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1815368156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480664512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1366623905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r>
                        <a:rPr kumimoji="1" lang="zh-CN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八千代市内 年代</a:t>
                      </a:r>
                      <a:endParaRPr kumimoji="1" lang="ja-JP" altLang="en-US" sz="1250" b="1">
                        <a:solidFill>
                          <a:srgbClr val="FFFFFF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よく知っている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名前・場所のみ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今日初めて知った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080265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市内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40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(21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(14.3%)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11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(52.4%)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7</a:t>
                      </a:r>
                      <a:r>
                        <a:rPr kumimoji="1" lang="ja-JP" altLang="en-US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(33.3%)</a:t>
                      </a:r>
                      <a:endParaRPr kumimoji="1" lang="ja-JP" altLang="en-US" sz="1250" b="1">
                        <a:solidFill>
                          <a:srgbClr val="B91C1C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1824067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市内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50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(47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</a:t>
                      </a:r>
                      <a:r>
                        <a:rPr kumimoji="1" lang="ja-JP" altLang="en-US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(8.5%)</a:t>
                      </a:r>
                      <a:endParaRPr kumimoji="1" lang="ja-JP" altLang="en-US" sz="1250" b="1">
                        <a:solidFill>
                          <a:srgbClr val="B91C1C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37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(78.7%)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(12.8%)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3747682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市内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60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(30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(13.3%)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20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(66.7%)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(20.0%)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415958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市内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80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(19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(15.8%)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(52.6%)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</a:t>
                      </a:r>
                      <a:r>
                        <a:rPr kumimoji="1" lang="ja-JP" altLang="en-US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(31.6%)</a:t>
                      </a:r>
                      <a:endParaRPr kumimoji="1" lang="ja-JP" altLang="en-US" sz="1250" b="1">
                        <a:solidFill>
                          <a:srgbClr val="B91C1C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279101"/>
                  </a:ext>
                </a:extLst>
              </a:tr>
            </a:tbl>
          </a:graphicData>
        </a:graphic>
      </p:graphicFrame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235D8FA9-4A26-6EC1-B3FC-ECE1689732C0}"/>
              </a:ext>
            </a:extLst>
          </p:cNvPr>
          <p:cNvSpPr/>
          <p:nvPr/>
        </p:nvSpPr>
        <p:spPr>
          <a:xfrm>
            <a:off x="6781800" y="1574800"/>
            <a:ext cx="51054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0DD80F1D-45D9-09FA-75E6-EF009D2CEEF0}"/>
              </a:ext>
            </a:extLst>
          </p:cNvPr>
          <p:cNvSpPr/>
          <p:nvPr/>
        </p:nvSpPr>
        <p:spPr>
          <a:xfrm>
            <a:off x="6781800" y="1574800"/>
            <a:ext cx="5105400" cy="762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61CA7824-7E11-675E-30D7-841C3703C041}"/>
              </a:ext>
            </a:extLst>
          </p:cNvPr>
          <p:cNvSpPr txBox="1"/>
          <p:nvPr/>
        </p:nvSpPr>
        <p:spPr>
          <a:xfrm>
            <a:off x="6959600" y="1727200"/>
            <a:ext cx="47498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データから見る当院の弱点（知名度の低さ）</a:t>
            </a: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899F76BD-0FD6-4F43-F552-5DE506BFD150}"/>
              </a:ext>
            </a:extLst>
          </p:cNvPr>
          <p:cNvSpPr/>
          <p:nvPr/>
        </p:nvSpPr>
        <p:spPr>
          <a:xfrm>
            <a:off x="6959600" y="2108200"/>
            <a:ext cx="47498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EB6D86A2-EBC9-4F21-FCF4-B2DF1D5F51CE}"/>
              </a:ext>
            </a:extLst>
          </p:cNvPr>
          <p:cNvSpPr txBox="1"/>
          <p:nvPr/>
        </p:nvSpPr>
        <p:spPr>
          <a:xfrm>
            <a:off x="6959600" y="2209800"/>
            <a:ext cx="4749800" cy="363432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【1. 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入院専門のリハ病院ゆえの構造的な認知課題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・当院は回復期リハビリテーション専門の入院病院（外来は退院患者のフォローのみ、介護保険は訪問・通所リハ）であるため、一般外来を持つ病院と比べて日常的に住民が接する機会が少ない。
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【2. 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地元・八千代市民でも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割が詳細を知らない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・八千代市内在住者（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名）のうち、「よく知っている」は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18.1%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31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名）にとどまる。
・市民の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人に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21.1%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36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名）が「今日初めて当院を知った」と回答し、「名前や場所は知っている（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59.6%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）」と合わせると、市民の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80.7%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138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名）が当院の役割や中身を知らない状態にある。
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【3. 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家族世代（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40〜60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代）・当事者世代（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代）の課題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・親の入院先を検討する市内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33.3%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、当事者である市内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31.6%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が「今日初めて知った」と回答し、市内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歳代でも「よく知っている」は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8.5%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のみであった。</a:t>
            </a:r>
          </a:p>
        </p:txBody>
      </p:sp>
    </p:spTree>
    <p:extLst>
      <p:ext uri="{BB962C8B-B14F-4D97-AF65-F5344CB8AC3E}">
        <p14:creationId xmlns:p14="http://schemas.microsoft.com/office/powerpoint/2010/main" val="36199793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6B5872F-0814-C50E-B147-BE88E63CFE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C0A3689-CCFA-C513-A547-69254EA26592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CC51FFC-0674-C9A3-4CC5-2A979F075024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4EB947B-F455-0FB9-518D-FAEA96F0FB16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部：クロス分析③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E8B7EA0-AD04-0B57-5BF5-5E64E44BFE45}"/>
              </a:ext>
            </a:extLst>
          </p:cNvPr>
          <p:cNvSpPr txBox="1"/>
          <p:nvPr/>
        </p:nvSpPr>
        <p:spPr>
          <a:xfrm>
            <a:off x="2311400" y="165100"/>
            <a:ext cx="85852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認知度（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Q2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× 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アンケート時の当院の評価（</a:t>
            </a:r>
            <a:r>
              <a:rPr kumimoji="1" lang="en-US" altLang="ja-JP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Q3</a:t>
            </a:r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）クロス分析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B06232F-EF98-7565-2FF8-214A17C12635}"/>
              </a:ext>
            </a:extLst>
          </p:cNvPr>
          <p:cNvSpPr txBox="1"/>
          <p:nvPr/>
        </p:nvSpPr>
        <p:spPr>
          <a:xfrm>
            <a:off x="10896600" y="203200"/>
            <a:ext cx="990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744C01D-F718-6D72-EBD7-445FC5A897AB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2E4AA06-FFA4-90E6-8ACE-32ADE4CD32B7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503C43B-147C-A0A5-B3F0-F5724DC13A64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「今日初めて知った」層でも体験後は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88.1%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が好意的評価。「よく知っている」層は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66.7%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が「ぜひ利用したい」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0F3CBD5-AAAB-E36F-6FBC-958720F9F19E}"/>
              </a:ext>
            </a:extLst>
          </p:cNvPr>
          <p:cNvSpPr/>
          <p:nvPr/>
        </p:nvSpPr>
        <p:spPr>
          <a:xfrm>
            <a:off x="304800" y="1574800"/>
            <a:ext cx="63500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F2BA0AB-D72B-93B5-9ED4-06052F727B17}"/>
              </a:ext>
            </a:extLst>
          </p:cNvPr>
          <p:cNvSpPr/>
          <p:nvPr/>
        </p:nvSpPr>
        <p:spPr>
          <a:xfrm>
            <a:off x="304800" y="1574800"/>
            <a:ext cx="63500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21FF62B-EDDC-1EB8-C35C-F32880992EE6}"/>
              </a:ext>
            </a:extLst>
          </p:cNvPr>
          <p:cNvSpPr txBox="1"/>
          <p:nvPr/>
        </p:nvSpPr>
        <p:spPr>
          <a:xfrm>
            <a:off x="482600" y="1727200"/>
            <a:ext cx="59944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Q2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（認知度）別の 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Q3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（今後の利用意向）内訳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064BFF6C-E91D-E092-E2F2-4D30DE929A88}"/>
              </a:ext>
            </a:extLst>
          </p:cNvPr>
          <p:cNvSpPr/>
          <p:nvPr/>
        </p:nvSpPr>
        <p:spPr>
          <a:xfrm>
            <a:off x="482600" y="2108200"/>
            <a:ext cx="59944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4EFD8CD-E8DE-3053-A9D5-0A6C0341B41A}"/>
              </a:ext>
            </a:extLst>
          </p:cNvPr>
          <p:cNvSpPr txBox="1"/>
          <p:nvPr/>
        </p:nvSpPr>
        <p:spPr>
          <a:xfrm>
            <a:off x="482600" y="2159000"/>
            <a:ext cx="5969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■「ぜひ利用したい ＋ 候補として検討したい」の合計割合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3950015-A862-E534-4E37-89E55A3F086B}"/>
              </a:ext>
            </a:extLst>
          </p:cNvPr>
          <p:cNvSpPr txBox="1"/>
          <p:nvPr/>
        </p:nvSpPr>
        <p:spPr>
          <a:xfrm>
            <a:off x="482600" y="2540000"/>
            <a:ext cx="2222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今日初めて知った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(67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0AF62FA4-9957-766D-28D1-581EFF5CACAA}"/>
              </a:ext>
            </a:extLst>
          </p:cNvPr>
          <p:cNvSpPr/>
          <p:nvPr/>
        </p:nvSpPr>
        <p:spPr>
          <a:xfrm>
            <a:off x="2781300" y="25908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E32C862F-E7FE-AD15-6FA9-75CD809F27E7}"/>
              </a:ext>
            </a:extLst>
          </p:cNvPr>
          <p:cNvSpPr/>
          <p:nvPr/>
        </p:nvSpPr>
        <p:spPr>
          <a:xfrm>
            <a:off x="2781300" y="2590800"/>
            <a:ext cx="1790700" cy="2286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AB5D72F-3D1E-64FF-A40C-A0CE2028F46A}"/>
              </a:ext>
            </a:extLst>
          </p:cNvPr>
          <p:cNvSpPr txBox="1"/>
          <p:nvPr/>
        </p:nvSpPr>
        <p:spPr>
          <a:xfrm>
            <a:off x="4914900" y="25400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59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(88.1%)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01196D7-AC85-325C-1B9D-A656C2495A21}"/>
              </a:ext>
            </a:extLst>
          </p:cNvPr>
          <p:cNvSpPr txBox="1"/>
          <p:nvPr/>
        </p:nvSpPr>
        <p:spPr>
          <a:xfrm>
            <a:off x="482600" y="2946400"/>
            <a:ext cx="2222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名前・場所は知る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(126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040E120E-9CCB-FA63-D9FE-9F71A0A85CFC}"/>
              </a:ext>
            </a:extLst>
          </p:cNvPr>
          <p:cNvSpPr/>
          <p:nvPr/>
        </p:nvSpPr>
        <p:spPr>
          <a:xfrm>
            <a:off x="2781300" y="29972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A731145-CE13-44CC-F590-7E0344DB6A38}"/>
              </a:ext>
            </a:extLst>
          </p:cNvPr>
          <p:cNvSpPr/>
          <p:nvPr/>
        </p:nvSpPr>
        <p:spPr>
          <a:xfrm>
            <a:off x="2781300" y="2997200"/>
            <a:ext cx="19050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C301CF4-750F-97DC-1B55-8E192CD7E608}"/>
              </a:ext>
            </a:extLst>
          </p:cNvPr>
          <p:cNvSpPr txBox="1"/>
          <p:nvPr/>
        </p:nvSpPr>
        <p:spPr>
          <a:xfrm>
            <a:off x="4914900" y="29464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118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(93.7%)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A9AD966-0B6C-9068-E340-34E48F791615}"/>
              </a:ext>
            </a:extLst>
          </p:cNvPr>
          <p:cNvSpPr txBox="1"/>
          <p:nvPr/>
        </p:nvSpPr>
        <p:spPr>
          <a:xfrm>
            <a:off x="482600" y="3352800"/>
            <a:ext cx="2222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よく知っている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(39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4ACF4CD-BEBA-5A97-364B-FBCB9931A564}"/>
              </a:ext>
            </a:extLst>
          </p:cNvPr>
          <p:cNvSpPr/>
          <p:nvPr/>
        </p:nvSpPr>
        <p:spPr>
          <a:xfrm>
            <a:off x="2781300" y="34036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65A89FCB-0C53-36B4-50D1-0248BA82FCB0}"/>
              </a:ext>
            </a:extLst>
          </p:cNvPr>
          <p:cNvSpPr/>
          <p:nvPr/>
        </p:nvSpPr>
        <p:spPr>
          <a:xfrm>
            <a:off x="2781300" y="3403600"/>
            <a:ext cx="18796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2F2DFADB-BF6E-9AD2-57CE-AA5EDAFE2F8F}"/>
              </a:ext>
            </a:extLst>
          </p:cNvPr>
          <p:cNvSpPr txBox="1"/>
          <p:nvPr/>
        </p:nvSpPr>
        <p:spPr>
          <a:xfrm>
            <a:off x="4914900" y="33528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36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(92.3%)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5C72156-C9E8-F1B4-12ED-3DB75D8588AD}"/>
              </a:ext>
            </a:extLst>
          </p:cNvPr>
          <p:cNvSpPr txBox="1"/>
          <p:nvPr/>
        </p:nvSpPr>
        <p:spPr>
          <a:xfrm>
            <a:off x="482600" y="3860800"/>
            <a:ext cx="5969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Q2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（認知度）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× Q3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（当院の評価）詳細クロス集計表</a:t>
            </a:r>
          </a:p>
        </p:txBody>
      </p:sp>
      <p:graphicFrame>
        <p:nvGraphicFramePr>
          <p:cNvPr id="29" name="表 28">
            <a:extLst>
              <a:ext uri="{FF2B5EF4-FFF2-40B4-BE49-F238E27FC236}">
                <a16:creationId xmlns:a16="http://schemas.microsoft.com/office/drawing/2014/main" id="{99FFF5E6-2705-12DF-43EF-B5FF7EC98C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5432078"/>
              </p:ext>
            </p:extLst>
          </p:nvPr>
        </p:nvGraphicFramePr>
        <p:xfrm>
          <a:off x="482600" y="4216400"/>
          <a:ext cx="5994400" cy="20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>
                  <a:extLst>
                    <a:ext uri="{9D8B030D-6E8A-4147-A177-3AD203B41FA5}">
                      <a16:colId xmlns:a16="http://schemas.microsoft.com/office/drawing/2014/main" val="4215605874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1237383192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30528196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414624656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r>
                        <a:rPr kumimoji="1" lang="en-US" altLang="ja-JP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Q2 </a:t>
                      </a: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認知度区分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ぜひ利用したい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候補として検討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他院・不明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967944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今日初めて知った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(67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(14.9%)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49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(73.1%)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8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(11.9%)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18747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名前・場所は知る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(126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24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(19.0%)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94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(74.6%)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(4.8%)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07277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よく知っている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(39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26</a:t>
                      </a:r>
                      <a:r>
                        <a:rPr kumimoji="1" lang="ja-JP" altLang="en-US" sz="12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(66.7%)</a:t>
                      </a:r>
                      <a:endParaRPr kumimoji="1" lang="ja-JP" altLang="en-US" sz="1250" b="1">
                        <a:solidFill>
                          <a:srgbClr val="0D9488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(25.6%)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(7.7%)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994092"/>
                  </a:ext>
                </a:extLst>
              </a:tr>
            </a:tbl>
          </a:graphicData>
        </a:graphic>
      </p:graphicFrame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2C015881-CFB7-DADA-EED7-530F003CD39E}"/>
              </a:ext>
            </a:extLst>
          </p:cNvPr>
          <p:cNvSpPr/>
          <p:nvPr/>
        </p:nvSpPr>
        <p:spPr>
          <a:xfrm>
            <a:off x="6832600" y="1574800"/>
            <a:ext cx="50546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23263986-F93D-5584-E17B-F793668FD22F}"/>
              </a:ext>
            </a:extLst>
          </p:cNvPr>
          <p:cNvSpPr/>
          <p:nvPr/>
        </p:nvSpPr>
        <p:spPr>
          <a:xfrm>
            <a:off x="6832600" y="1574800"/>
            <a:ext cx="5054600" cy="762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E352F867-0E4B-5B3D-6B23-01A13348D50E}"/>
              </a:ext>
            </a:extLst>
          </p:cNvPr>
          <p:cNvSpPr txBox="1"/>
          <p:nvPr/>
        </p:nvSpPr>
        <p:spPr>
          <a:xfrm>
            <a:off x="7010400" y="1727200"/>
            <a:ext cx="4699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クロス集計から見える出展の効果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55B4C9DD-ABE1-3624-62C6-117F90F39B8D}"/>
              </a:ext>
            </a:extLst>
          </p:cNvPr>
          <p:cNvSpPr/>
          <p:nvPr/>
        </p:nvSpPr>
        <p:spPr>
          <a:xfrm>
            <a:off x="7010400" y="2108200"/>
            <a:ext cx="4699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A5213EA-60D7-E62D-B145-242CFE294152}"/>
              </a:ext>
            </a:extLst>
          </p:cNvPr>
          <p:cNvSpPr txBox="1"/>
          <p:nvPr/>
        </p:nvSpPr>
        <p:spPr>
          <a:xfrm>
            <a:off x="7010400" y="2209800"/>
            <a:ext cx="4699000" cy="342657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【1. 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初認知層でも体験後は約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割が好意的評価へ転換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・「今日初めて当院を知った」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67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名であっても、ブースで測定や多職種からのアドバイスを体験した時点（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Q3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）では、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88.1%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59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名）が「ぜひ利用したい（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14.9%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）・候補として検討したい（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73.1%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）」と回答した。
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【2. 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名前のみ認知層の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93.7%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が第一選択の候補へ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・地域で最も多い「名前や場所は知っている」層（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126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名）でも、直接スタッフと接することで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93.7%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118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名）が利用・検討したいと回答した。
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【3. 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よく知る層は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人に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人が「ぜひ利用したい」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・自身や家族の利用経験がある「よく知っている」層（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名）では、「ぜひ利用したい」が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66.7%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名）に達した。当院の取り組みや中身を知ってもらう機会を増やせば、高い確率で当院への信頼・選択意向につながることが数値で裏付けられた。</a:t>
            </a:r>
          </a:p>
        </p:txBody>
      </p:sp>
    </p:spTree>
    <p:extLst>
      <p:ext uri="{BB962C8B-B14F-4D97-AF65-F5344CB8AC3E}">
        <p14:creationId xmlns:p14="http://schemas.microsoft.com/office/powerpoint/2010/main" val="16468303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3ED44B7-58F5-B202-C611-4177B67DD48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5EB0A43-0C2F-8D04-8A08-77F0F5DBB2F3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6CFF14C-A57D-B9BE-1515-75AAE73394D5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9B318C9-935E-1AF9-24C1-9C923F16EB41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zh-CN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zh-CN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zh-CN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部：来年度提案</a:t>
            </a:r>
            <a:endParaRPr kumimoji="1" lang="ja-JP" altLang="en-US" sz="1300" b="1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DEC8F12-4C26-867E-0950-86F728D8013E}"/>
              </a:ext>
            </a:extLst>
          </p:cNvPr>
          <p:cNvSpPr txBox="1"/>
          <p:nvPr/>
        </p:nvSpPr>
        <p:spPr>
          <a:xfrm>
            <a:off x="2311400" y="165100"/>
            <a:ext cx="85852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来年度に向けた改善点（出展体制の見直し・知名度向上へのアクション）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E967B3E-3118-68E4-1C74-6FF9B7D51080}"/>
              </a:ext>
            </a:extLst>
          </p:cNvPr>
          <p:cNvSpPr txBox="1"/>
          <p:nvPr/>
        </p:nvSpPr>
        <p:spPr>
          <a:xfrm>
            <a:off x="10896600" y="203200"/>
            <a:ext cx="990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ED70649-D272-047D-AEB4-6D5086E108C9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5133D4C-8582-01AE-5EAF-99F4768045CB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03F03F6-9CC9-E10E-814D-B7A918C2A4EF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今年度の課題（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区画の混雑・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制限・休憩未確保・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PR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不足）を踏まえ、来年度に向け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点を提案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5DB1408-C6B7-40AA-283B-5A6FA6109ECD}"/>
              </a:ext>
            </a:extLst>
          </p:cNvPr>
          <p:cNvSpPr/>
          <p:nvPr/>
        </p:nvSpPr>
        <p:spPr>
          <a:xfrm>
            <a:off x="304800" y="1574800"/>
            <a:ext cx="5689600" cy="23876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37F79A8-6023-E15C-A72A-6D4F12376069}"/>
              </a:ext>
            </a:extLst>
          </p:cNvPr>
          <p:cNvSpPr/>
          <p:nvPr/>
        </p:nvSpPr>
        <p:spPr>
          <a:xfrm>
            <a:off x="304800" y="1574800"/>
            <a:ext cx="5689600" cy="762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88895B3-DA45-2F8C-74CF-49CF9296A28E}"/>
              </a:ext>
            </a:extLst>
          </p:cNvPr>
          <p:cNvSpPr txBox="1"/>
          <p:nvPr/>
        </p:nvSpPr>
        <p:spPr>
          <a:xfrm>
            <a:off x="482600" y="1727200"/>
            <a:ext cx="5334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提案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：出展規模を「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 → 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区画」へ拡大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6BACFEB0-12DA-6941-B052-FB6585572C63}"/>
              </a:ext>
            </a:extLst>
          </p:cNvPr>
          <p:cNvSpPr/>
          <p:nvPr/>
        </p:nvSpPr>
        <p:spPr>
          <a:xfrm>
            <a:off x="482600" y="2108200"/>
            <a:ext cx="5334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1D80416-D3A5-E3A5-A502-66BA8E095C53}"/>
              </a:ext>
            </a:extLst>
          </p:cNvPr>
          <p:cNvSpPr txBox="1"/>
          <p:nvPr/>
        </p:nvSpPr>
        <p:spPr>
          <a:xfrm>
            <a:off x="482600" y="2184400"/>
            <a:ext cx="5334000" cy="114133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・今年度は四役相談のもと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区画で実施したが、目標の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4.7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倍（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名）が回答する盛況となり、待合椅子不足（座れず外出案内）や移動時の狭さが発生した。
・来年度は当初起案の「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区画」を確保し、測定スペース・待合椅子・相談動線を拡充して機会損失を防ぐ。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6BFE6902-5BE4-3AF2-A267-C178BFF3FA66}"/>
              </a:ext>
            </a:extLst>
          </p:cNvPr>
          <p:cNvSpPr/>
          <p:nvPr/>
        </p:nvSpPr>
        <p:spPr>
          <a:xfrm>
            <a:off x="6197600" y="1574800"/>
            <a:ext cx="5689600" cy="23876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898A8DD-5DAB-397C-45A7-52F7F2EFC796}"/>
              </a:ext>
            </a:extLst>
          </p:cNvPr>
          <p:cNvSpPr/>
          <p:nvPr/>
        </p:nvSpPr>
        <p:spPr>
          <a:xfrm>
            <a:off x="6197600" y="1574800"/>
            <a:ext cx="5689600" cy="762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90A9AAC-B338-4B1D-A20A-A8B41E15DFAE}"/>
              </a:ext>
            </a:extLst>
          </p:cNvPr>
          <p:cNvSpPr txBox="1"/>
          <p:nvPr/>
        </p:nvSpPr>
        <p:spPr>
          <a:xfrm>
            <a:off x="6375400" y="1727200"/>
            <a:ext cx="5334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提案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：スタッフ増員による「休憩確保」と「誘導強化」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CC8B8F98-D671-380D-555D-D2E1715993BD}"/>
              </a:ext>
            </a:extLst>
          </p:cNvPr>
          <p:cNvSpPr/>
          <p:nvPr/>
        </p:nvSpPr>
        <p:spPr>
          <a:xfrm>
            <a:off x="6375400" y="2108200"/>
            <a:ext cx="5334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D26D8DA-F0B5-8F61-7247-706C8E9ECBFE}"/>
              </a:ext>
            </a:extLst>
          </p:cNvPr>
          <p:cNvSpPr txBox="1"/>
          <p:nvPr/>
        </p:nvSpPr>
        <p:spPr>
          <a:xfrm>
            <a:off x="6375400" y="2184400"/>
            <a:ext cx="5334000" cy="93358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・スタッフの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76.9%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が人員不足（休憩が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10〜15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分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×2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回しか取れない、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日連続出勤の負担）を課題に挙げた。
・来年度は各部署の参加人数を増員して「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時間の休憩」を確実に回すとともに、「全体統括」と「誘導係（整理券方式や順路固定）」を配置する。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E1B8959-B537-A5D5-615A-7C85F27DE6BA}"/>
              </a:ext>
            </a:extLst>
          </p:cNvPr>
          <p:cNvSpPr/>
          <p:nvPr/>
        </p:nvSpPr>
        <p:spPr>
          <a:xfrm>
            <a:off x="304800" y="4140200"/>
            <a:ext cx="5689600" cy="2413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580B9A9-0153-AD42-7958-3A9761304FFA}"/>
              </a:ext>
            </a:extLst>
          </p:cNvPr>
          <p:cNvSpPr/>
          <p:nvPr/>
        </p:nvSpPr>
        <p:spPr>
          <a:xfrm>
            <a:off x="304800" y="4140200"/>
            <a:ext cx="5689600" cy="76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E4331F22-A22E-E1F8-A71C-07D361A5A0D8}"/>
              </a:ext>
            </a:extLst>
          </p:cNvPr>
          <p:cNvSpPr txBox="1"/>
          <p:nvPr/>
        </p:nvSpPr>
        <p:spPr>
          <a:xfrm>
            <a:off x="482600" y="4292600"/>
            <a:ext cx="5334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提案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 2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台体制 ＆ 病院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PR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資材・備品の充実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24AF42AA-16AF-1B51-0387-4B77617974C9}"/>
              </a:ext>
            </a:extLst>
          </p:cNvPr>
          <p:cNvSpPr/>
          <p:nvPr/>
        </p:nvSpPr>
        <p:spPr>
          <a:xfrm>
            <a:off x="482600" y="4673600"/>
            <a:ext cx="5334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4641BC71-623C-B07E-684C-390CF18B243C}"/>
              </a:ext>
            </a:extLst>
          </p:cNvPr>
          <p:cNvSpPr txBox="1"/>
          <p:nvPr/>
        </p:nvSpPr>
        <p:spPr>
          <a:xfrm>
            <a:off x="482600" y="4749800"/>
            <a:ext cx="5334000" cy="114133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は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30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分以上の待ち時間が発生し終盤に受付を中止したため、来年度は「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 2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台体制」とする。
・リハビリ病院の役割（入院専門・退院後の訪問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通所リハ）を正しく伝えるため「病院広報誌・紹介パネル・映像」を持参し、バインダー・靴ベラ・ノベルティを拡充する。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870261FE-AD50-7537-4D8A-9C07214A9F42}"/>
              </a:ext>
            </a:extLst>
          </p:cNvPr>
          <p:cNvSpPr/>
          <p:nvPr/>
        </p:nvSpPr>
        <p:spPr>
          <a:xfrm>
            <a:off x="6197600" y="4140200"/>
            <a:ext cx="5689600" cy="2413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C423EBEE-254A-821D-C9C0-98002427CA0E}"/>
              </a:ext>
            </a:extLst>
          </p:cNvPr>
          <p:cNvSpPr/>
          <p:nvPr/>
        </p:nvSpPr>
        <p:spPr>
          <a:xfrm>
            <a:off x="6197600" y="4140200"/>
            <a:ext cx="56896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A3D1FDF7-8B6F-24C7-22C1-EC097B4BE0E6}"/>
              </a:ext>
            </a:extLst>
          </p:cNvPr>
          <p:cNvSpPr txBox="1"/>
          <p:nvPr/>
        </p:nvSpPr>
        <p:spPr>
          <a:xfrm>
            <a:off x="6375400" y="4292600"/>
            <a:ext cx="5334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提案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：知名度向上に向けた「健康教室」の定期開催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9513E1A2-48DA-6B64-C43D-D1F61FB566F2}"/>
              </a:ext>
            </a:extLst>
          </p:cNvPr>
          <p:cNvSpPr/>
          <p:nvPr/>
        </p:nvSpPr>
        <p:spPr>
          <a:xfrm>
            <a:off x="6375400" y="4673600"/>
            <a:ext cx="5334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9DBB75D4-C676-7A5C-BE4B-69D9EC9CDDEF}"/>
              </a:ext>
            </a:extLst>
          </p:cNvPr>
          <p:cNvSpPr txBox="1"/>
          <p:nvPr/>
        </p:nvSpPr>
        <p:spPr>
          <a:xfrm>
            <a:off x="6375400" y="4749800"/>
            <a:ext cx="5334000" cy="93358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・八千代市民の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80.7%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が当院を詳しく知らない現状を打破するため、年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回の産業祭だけでなく、定期的な「健康教室」でコツコツと知名度向上を進める。
・テーマには、今回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Q4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で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割を超えた「①転倒予防・ストレッチ」「②栄養」「③認知機能」「④介護・終活」を活用する。</a:t>
            </a:r>
          </a:p>
        </p:txBody>
      </p:sp>
    </p:spTree>
    <p:extLst>
      <p:ext uri="{BB962C8B-B14F-4D97-AF65-F5344CB8AC3E}">
        <p14:creationId xmlns:p14="http://schemas.microsoft.com/office/powerpoint/2010/main" val="28937484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E8582C7-387E-5CDA-8DD1-37276444380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617F4D8-6195-D83A-8A60-110D94A51450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42D258C-AA89-28F0-D452-CC13B8770873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192E153-6BBA-784F-2983-D2AD17B2B88C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部：総括まとめ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EC45B92-8BE3-A241-E3C6-7483E1425D34}"/>
              </a:ext>
            </a:extLst>
          </p:cNvPr>
          <p:cNvSpPr txBox="1"/>
          <p:nvPr/>
        </p:nvSpPr>
        <p:spPr>
          <a:xfrm>
            <a:off x="2311400" y="165100"/>
            <a:ext cx="85852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総括：当院の弱点・出展で得られたこと・来年度の課題（アンケートの掛け合わせ）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4AC4217-1C98-596D-33FE-371E1AF0E284}"/>
              </a:ext>
            </a:extLst>
          </p:cNvPr>
          <p:cNvSpPr txBox="1"/>
          <p:nvPr/>
        </p:nvSpPr>
        <p:spPr>
          <a:xfrm>
            <a:off x="10896600" y="203200"/>
            <a:ext cx="990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1644D20-9359-B537-BD58-A9AE3C32FB22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28E37BF-33DA-7080-FA83-49A39B557EFD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654878E-739C-7331-18D5-C82ABA707353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来場者アンケート（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名）とスタッフアンケート（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名）の双方のデータが完全に一致して示す結論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39C3CA3-8675-F6DC-49C0-7832F022FEA8}"/>
              </a:ext>
            </a:extLst>
          </p:cNvPr>
          <p:cNvSpPr/>
          <p:nvPr/>
        </p:nvSpPr>
        <p:spPr>
          <a:xfrm>
            <a:off x="304800" y="1574800"/>
            <a:ext cx="11582400" cy="1524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A384E986-28F7-7ACB-4478-C21AD6572D0E}"/>
              </a:ext>
            </a:extLst>
          </p:cNvPr>
          <p:cNvSpPr/>
          <p:nvPr/>
        </p:nvSpPr>
        <p:spPr>
          <a:xfrm>
            <a:off x="304800" y="1574800"/>
            <a:ext cx="2235200" cy="15240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51CEFA6-ACAA-9467-127B-484A3837F075}"/>
              </a:ext>
            </a:extLst>
          </p:cNvPr>
          <p:cNvSpPr txBox="1"/>
          <p:nvPr/>
        </p:nvSpPr>
        <p:spPr>
          <a:xfrm>
            <a:off x="406400" y="1981200"/>
            <a:ext cx="2032000" cy="59503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 </a:t>
            </a:r>
            <a:r>
              <a:rPr kumimoji="1" lang="ja-JP" altLang="en-US" sz="1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当院の弱点
（知名度の低さ）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968BC4C7-4323-4EA0-7C39-1F05E62192C3}"/>
              </a:ext>
            </a:extLst>
          </p:cNvPr>
          <p:cNvSpPr txBox="1"/>
          <p:nvPr/>
        </p:nvSpPr>
        <p:spPr>
          <a:xfrm>
            <a:off x="2692400" y="1651000"/>
            <a:ext cx="9042400" cy="915122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来場者データ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八千代市民（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名）であっても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21.1%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が「今日初めて知った」、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59.6%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が「名前や場所しか知らない」（計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80.7%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）。特に家族世代（市内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40〜60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代）や当事者世代（市内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代）でも認知が不足している。
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スタッフデータ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「まだまだ当院の認知度が低いことが分かった」「リハ病院の役割（入院専門・訪問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通所）が知られておらず、他院と誤認している人もいた」と双方が一致。日常の一般外来がない当院にとって、地域での知名度向上が最重要課題である。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3FD50E8A-6845-1AF9-AB04-B262678621B2}"/>
              </a:ext>
            </a:extLst>
          </p:cNvPr>
          <p:cNvSpPr/>
          <p:nvPr/>
        </p:nvSpPr>
        <p:spPr>
          <a:xfrm>
            <a:off x="304800" y="3251200"/>
            <a:ext cx="11582400" cy="15748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87557387-B7BC-8220-2AA0-004BC9A0E76D}"/>
              </a:ext>
            </a:extLst>
          </p:cNvPr>
          <p:cNvSpPr/>
          <p:nvPr/>
        </p:nvSpPr>
        <p:spPr>
          <a:xfrm>
            <a:off x="304800" y="3251200"/>
            <a:ext cx="2235200" cy="15748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9ECC2DC-FA6F-013D-2862-4C157CA8C59E}"/>
              </a:ext>
            </a:extLst>
          </p:cNvPr>
          <p:cNvSpPr txBox="1"/>
          <p:nvPr/>
        </p:nvSpPr>
        <p:spPr>
          <a:xfrm>
            <a:off x="406400" y="3683000"/>
            <a:ext cx="2032000" cy="59503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 </a:t>
            </a:r>
            <a:r>
              <a:rPr kumimoji="1" lang="ja-JP" altLang="en-US" sz="1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出展で
得られたこと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D11AFF3-53BD-DA18-9694-66DD0ECFEC65}"/>
              </a:ext>
            </a:extLst>
          </p:cNvPr>
          <p:cNvSpPr txBox="1"/>
          <p:nvPr/>
        </p:nvSpPr>
        <p:spPr>
          <a:xfrm>
            <a:off x="2692400" y="3327400"/>
            <a:ext cx="9042400" cy="111825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来場者データ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名・回答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名（目標比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472%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）を達成。初めて知った層でも体験後は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88.1%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（全体では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90.3%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213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名）が「万が一の際に利用・検討したい」と回答し、今後の健康教室に向けた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大関心テーマ（転倒・栄養・認知機能・介護終活）も判明した。
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スタッフデータ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】6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部署協働により参加満足度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100%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・地域貢献実感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92.3%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を達成。「他部門と一致団結できた」「測定から栄養・看護・相談へつなぐ連携ができた」と、多職種連携の強化と対面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PR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の有効性が実証された。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77F62A8-DDD6-8165-827A-BE28FB0F214F}"/>
              </a:ext>
            </a:extLst>
          </p:cNvPr>
          <p:cNvSpPr/>
          <p:nvPr/>
        </p:nvSpPr>
        <p:spPr>
          <a:xfrm>
            <a:off x="304800" y="4978400"/>
            <a:ext cx="11582400" cy="15748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7AF47637-279D-B3BF-8915-3D990833E0F3}"/>
              </a:ext>
            </a:extLst>
          </p:cNvPr>
          <p:cNvSpPr/>
          <p:nvPr/>
        </p:nvSpPr>
        <p:spPr>
          <a:xfrm>
            <a:off x="304800" y="4978400"/>
            <a:ext cx="2235200" cy="15748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881ABD0-8891-B07F-F439-99088A31606F}"/>
              </a:ext>
            </a:extLst>
          </p:cNvPr>
          <p:cNvSpPr txBox="1"/>
          <p:nvPr/>
        </p:nvSpPr>
        <p:spPr>
          <a:xfrm>
            <a:off x="406400" y="5410200"/>
            <a:ext cx="2032000" cy="59503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3. </a:t>
            </a:r>
            <a:r>
              <a:rPr kumimoji="1" lang="ja-JP" altLang="en-US" sz="1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来年度の課題
（環境と体制整備）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5237D9D-6ACD-BD49-78BF-1A66ABE49E9D}"/>
              </a:ext>
            </a:extLst>
          </p:cNvPr>
          <p:cNvSpPr txBox="1"/>
          <p:nvPr/>
        </p:nvSpPr>
        <p:spPr>
          <a:xfrm>
            <a:off x="2692400" y="5054600"/>
            <a:ext cx="9042400" cy="111825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×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スタッフの一致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来場者側で「血管年齢（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72.9%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）・筋肉量測定（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66.5%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）」に人気が集中し「順路表示やバインダー・靴ベラ」の要望が出たことと、スタッフ側で「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区画での混雑・待合椅子不足」「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 30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分待ちによる受付中止」「人員不足・休憩未確保（問題あり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76.9%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）」が挙がったことは表裏一体である。
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結論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来年度は「① 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区画への拡大」「② 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 2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台体制と病院紹介パネル・広報誌の持参」「③ 誘導係・各部署スタッフの増員（休憩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時間確保）」を行い、健康教室と連動して着実に当院の知名度を向上させる。</a:t>
            </a:r>
          </a:p>
        </p:txBody>
      </p:sp>
    </p:spTree>
    <p:extLst>
      <p:ext uri="{BB962C8B-B14F-4D97-AF65-F5344CB8AC3E}">
        <p14:creationId xmlns:p14="http://schemas.microsoft.com/office/powerpoint/2010/main" val="14907707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6003</Words>
  <Application>Microsoft Office PowerPoint</Application>
  <PresentationFormat>ユーザー設定</PresentationFormat>
  <Paragraphs>352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9" baseType="lpstr">
      <vt:lpstr>Meiryo UI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憲幸 保科</dc:creator>
  <cp:lastModifiedBy>憲幸 保科</cp:lastModifiedBy>
  <cp:revision>1</cp:revision>
  <dcterms:created xsi:type="dcterms:W3CDTF">2026-10-20T23:56:40Z</dcterms:created>
  <dcterms:modified xsi:type="dcterms:W3CDTF">2026-10-20T23:56:42Z</dcterms:modified>
</cp:coreProperties>
</file>