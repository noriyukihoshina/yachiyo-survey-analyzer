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9AE97-8E1B-93CA-0B98-6F8E8F7C5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8C7A58-8EEB-682C-0C1D-2741DD57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F4AB26-087D-B910-2C1A-BB8E8849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55BEFA-1234-8BDD-95EF-ED22F186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5C87ED-435A-A640-67A0-D22D8368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04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99589-EABF-731C-565E-EFB54870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2554F3-1125-4C03-4E67-D93BB4F7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B8A4DC-23D8-AAF2-5D45-31D498F8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839FF4-53DA-273F-64E5-35C5B805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1F1D5-A2B9-4494-0464-20AF3219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32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A9F88-67C8-1749-2C80-419BD553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EDDCE1-ECA3-11DA-77E9-BF52CAF1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0AD9B-3AB0-D6E7-D5C3-7FB30EEF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B263CB-B561-7241-1B76-1E8A584A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AD6219-22E1-4F86-C804-9DA82789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2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4D776-D7A1-56CA-1CA1-386C14AC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10317B-B58E-13A7-17D2-EAE06BB5E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DE942E-5A01-55E5-9F25-B7217C130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CCE752-D358-73CA-7307-09EBE382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D197CC-6E8F-EDA5-978E-1A80446F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BFD4DF-2B0C-2818-7A68-E2A860BC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28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4D5671-D2EC-8E43-D290-2F11F56E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03DF3-5FE6-B023-80ED-BC1914376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33934D-6068-05B7-6E32-E4CB65456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2E39C4-C729-E562-A06F-452FD14EA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575CA0-569E-CF04-0C71-1DE971D49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748275-9F34-5A3B-69B5-9852D6D1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004133-FB07-723A-9CFE-4E129770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D300261-8F87-4E9F-7F58-88B1E71E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40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F4058-F151-6201-4C84-785423F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21B819-C98C-5A4F-1597-8A953CDC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4D5988-4898-7B2B-F466-C3F2F988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956E5A-3EA8-F602-58D5-0440152E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76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D4D532-6AF4-B457-AB93-CE1C8231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4811AB-F92F-D19A-14DB-7384E372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0A8569-4B6A-6DC2-2BB3-A036AB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99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D1A38-7703-633E-9901-E3860373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EE9C73-0386-09B2-105C-AA60F24E4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456B25-1875-424D-32C9-1DDCEE08E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555FB8-028C-0B30-AF46-D56426E1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F20F92-A183-5590-C688-6264053B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943D31-9E3B-A450-5550-0B82DDAB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2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A8E916-D4B9-756B-44FA-2348F03F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F3BF97C-CEBF-A41E-6FA9-36BF0FAA8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D7C55B-8E89-49C1-7A71-5997F1090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F6179B-8FC6-094F-7142-4980F11A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529F12-DF6E-C4C6-EEE0-16302BAD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0E16F4-65B5-0A51-9D2C-1EE3C93F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7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38256-C5AF-5204-6155-2FDCA50C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A1232D-476C-E6E4-41C0-BAC54DC52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BABD82-6C10-01CA-9E60-FCC8EA27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BA46A-AD2C-1B96-24F8-53DDE174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AB06FC-525B-F8C4-00DE-7EB5FAE5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30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7BF487-5706-C609-3F6A-B176BB6B0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555F64-E752-D138-E32D-42027C8CD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6DFB07-F5FB-2EEF-27CD-5D497811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D0C826-DB1D-386B-C8A3-A2686D78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F8BD8B-8B97-248C-BE4E-250AEF07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42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71747F-BE2B-4696-F1C5-AFEA8C41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DF9701-2212-EE5B-2AA5-A3971CAA8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B8A09B-6401-1473-A404-AB5EC5F81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D2FF5-3CAD-4D97-821A-F46FB27BA3F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26A5CA-6746-99A0-FBAF-64C9FFD0F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78D050-DE93-C4D2-ECEE-2F4485B33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E7D63-CAD4-4619-BF4D-450CC250A0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20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81F8D6-1E29-7A1E-E8F5-424E1419EF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2C9410E-C224-A3E1-4249-9BADFDD453E1}"/>
              </a:ext>
            </a:extLst>
          </p:cNvPr>
          <p:cNvSpPr/>
          <p:nvPr/>
        </p:nvSpPr>
        <p:spPr>
          <a:xfrm>
            <a:off x="355600" y="355600"/>
            <a:ext cx="11480800" cy="2489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D87F8F1-5A5B-AB74-8838-D3A9E101C12E}"/>
              </a:ext>
            </a:extLst>
          </p:cNvPr>
          <p:cNvSpPr/>
          <p:nvPr/>
        </p:nvSpPr>
        <p:spPr>
          <a:xfrm>
            <a:off x="762000" y="812800"/>
            <a:ext cx="914400" cy="914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6F0C14F-854B-D1AD-C4DA-1EFAAB6C861E}"/>
              </a:ext>
            </a:extLst>
          </p:cNvPr>
          <p:cNvSpPr/>
          <p:nvPr/>
        </p:nvSpPr>
        <p:spPr>
          <a:xfrm>
            <a:off x="1117600" y="990600"/>
            <a:ext cx="203200" cy="558800"/>
          </a:xfrm>
          <a:prstGeom prst="roundRect">
            <a:avLst>
              <a:gd name="adj" fmla="val 2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B590DE5-5507-505F-47E3-AED1D685FA6B}"/>
              </a:ext>
            </a:extLst>
          </p:cNvPr>
          <p:cNvSpPr/>
          <p:nvPr/>
        </p:nvSpPr>
        <p:spPr>
          <a:xfrm>
            <a:off x="939800" y="1168400"/>
            <a:ext cx="558800" cy="203200"/>
          </a:xfrm>
          <a:prstGeom prst="roundRect">
            <a:avLst>
              <a:gd name="adj" fmla="val 2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225170-E663-4FCF-8105-42271E02CDF8}"/>
              </a:ext>
            </a:extLst>
          </p:cNvPr>
          <p:cNvSpPr txBox="1"/>
          <p:nvPr/>
        </p:nvSpPr>
        <p:spPr>
          <a:xfrm>
            <a:off x="1955800" y="635000"/>
            <a:ext cx="9398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八千代リハビリテーション病院 ｜ 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日（土）・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日（日）開催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866DCF-887D-BDC4-1C68-2AD1A4DF2D5E}"/>
              </a:ext>
            </a:extLst>
          </p:cNvPr>
          <p:cNvSpPr txBox="1"/>
          <p:nvPr/>
        </p:nvSpPr>
        <p:spPr>
          <a:xfrm>
            <a:off x="1955800" y="1117600"/>
            <a:ext cx="9398000" cy="102592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八千代市産業祭「どーんと祭」
アンケート結果報告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ADE2506-0F80-FCB8-34F6-3F5D09D3D02D}"/>
              </a:ext>
            </a:extLst>
          </p:cNvPr>
          <p:cNvSpPr/>
          <p:nvPr/>
        </p:nvSpPr>
        <p:spPr>
          <a:xfrm>
            <a:off x="355600" y="3149600"/>
            <a:ext cx="5588000" cy="332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DE3DAB9-6A16-21B4-2235-A3A9DF9B7F00}"/>
              </a:ext>
            </a:extLst>
          </p:cNvPr>
          <p:cNvSpPr/>
          <p:nvPr/>
        </p:nvSpPr>
        <p:spPr>
          <a:xfrm>
            <a:off x="584200" y="3378200"/>
            <a:ext cx="5130800" cy="55880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947563-7B63-6AF3-D85F-26A5109AE69E}"/>
              </a:ext>
            </a:extLst>
          </p:cNvPr>
          <p:cNvSpPr txBox="1"/>
          <p:nvPr/>
        </p:nvSpPr>
        <p:spPr>
          <a:xfrm>
            <a:off x="584200" y="3467100"/>
            <a:ext cx="51308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7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 </a:t>
            </a:r>
            <a:r>
              <a:rPr kumimoji="1" lang="en-US" altLang="ja-JP" sz="17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 </a:t>
            </a:r>
            <a:r>
              <a:rPr kumimoji="1" lang="ja-JP" altLang="en-US" sz="17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来場者アンケート集計（青テーマ）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ED9559-4CA4-19A0-C480-423B92AC5446}"/>
              </a:ext>
            </a:extLst>
          </p:cNvPr>
          <p:cNvSpPr txBox="1"/>
          <p:nvPr/>
        </p:nvSpPr>
        <p:spPr>
          <a:xfrm>
            <a:off x="660400" y="4140200"/>
            <a:ext cx="4978400" cy="18261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・ブース来場者数：計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268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148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・アンケート有効回答数：計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236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P.2 〜 P.6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627DCD4-CF08-87BD-1255-E971425D71C7}"/>
              </a:ext>
            </a:extLst>
          </p:cNvPr>
          <p:cNvSpPr/>
          <p:nvPr/>
        </p:nvSpPr>
        <p:spPr>
          <a:xfrm>
            <a:off x="6248400" y="3149600"/>
            <a:ext cx="5588000" cy="332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EBBECFC-C37B-106E-864E-587B764476C5}"/>
              </a:ext>
            </a:extLst>
          </p:cNvPr>
          <p:cNvSpPr/>
          <p:nvPr/>
        </p:nvSpPr>
        <p:spPr>
          <a:xfrm>
            <a:off x="6477000" y="3378200"/>
            <a:ext cx="5130800" cy="5588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C25F54-248D-5198-73B6-6E766C2B07A1}"/>
              </a:ext>
            </a:extLst>
          </p:cNvPr>
          <p:cNvSpPr txBox="1"/>
          <p:nvPr/>
        </p:nvSpPr>
        <p:spPr>
          <a:xfrm>
            <a:off x="6477000" y="3467100"/>
            <a:ext cx="51308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70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 </a:t>
            </a:r>
            <a:r>
              <a:rPr kumimoji="1" lang="en-US" altLang="ja-JP" sz="170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ja-JP" altLang="en-US" sz="170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スタッフアンケート集計（緑テーマ）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FE7094-BC52-570C-6F41-0F6342C90A37}"/>
              </a:ext>
            </a:extLst>
          </p:cNvPr>
          <p:cNvSpPr txBox="1"/>
          <p:nvPr/>
        </p:nvSpPr>
        <p:spPr>
          <a:xfrm>
            <a:off x="6553200" y="4140200"/>
            <a:ext cx="4978400" cy="133369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・対象スタッフ：計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部署）
・回答完了数：計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P.7 〜 P.12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024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EAA68E-0370-A552-B2E5-AD98937E90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4E958E9-5BC1-F648-910D-775796D7A9E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84C2FE3-E8EB-ECB0-1EE5-099A4EF8338E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01DCD4-20F0-25E3-E5AE-67F87AB49D1D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E2B8B-555B-2896-66E1-3484DAD250D8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基本情報：お住まい ／ 性別（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3D6BA2-A435-77EF-EF92-821258728CF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CA2D0C-077E-D65C-7D10-06793D1035BF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C396E34-5666-41F6-54A7-F46AC76A7D4A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FCEDAED-0174-4660-B56E-78207736CD3D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70163B-6929-F36F-E1B4-A9BD18B004F1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お住まい（単一回答・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3FC6059-2147-A0C3-B869-36AB8526C03F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30702737-301C-5198-D3AA-7EFB8CEC7E4B}"/>
              </a:ext>
            </a:extLst>
          </p:cNvPr>
          <p:cNvSpPr/>
          <p:nvPr/>
        </p:nvSpPr>
        <p:spPr>
          <a:xfrm>
            <a:off x="1816100" y="1854200"/>
            <a:ext cx="2590800" cy="2590800"/>
          </a:xfrm>
          <a:prstGeom prst="pie">
            <a:avLst>
              <a:gd name="adj1" fmla="val 16200000"/>
              <a:gd name="adj2" fmla="val 10260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8243257C-2B6F-F55A-6FA0-7DB7B64E3036}"/>
              </a:ext>
            </a:extLst>
          </p:cNvPr>
          <p:cNvSpPr/>
          <p:nvPr/>
        </p:nvSpPr>
        <p:spPr>
          <a:xfrm>
            <a:off x="1816100" y="1854200"/>
            <a:ext cx="2590800" cy="2590800"/>
          </a:xfrm>
          <a:prstGeom prst="pie">
            <a:avLst>
              <a:gd name="adj1" fmla="val 10260000"/>
              <a:gd name="adj2" fmla="val 159408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4C725888-F733-54D9-EFCC-8E3164A7545A}"/>
              </a:ext>
            </a:extLst>
          </p:cNvPr>
          <p:cNvSpPr/>
          <p:nvPr/>
        </p:nvSpPr>
        <p:spPr>
          <a:xfrm>
            <a:off x="1816100" y="1854200"/>
            <a:ext cx="2590800" cy="2590800"/>
          </a:xfrm>
          <a:prstGeom prst="pie">
            <a:avLst>
              <a:gd name="adj1" fmla="val 15940800"/>
              <a:gd name="adj2" fmla="val 16221599"/>
            </a:avLst>
          </a:prstGeom>
          <a:solidFill>
            <a:srgbClr val="CBD5E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98021DD-021F-38E6-1BF1-3E4926302B00}"/>
              </a:ext>
            </a:extLst>
          </p:cNvPr>
          <p:cNvSpPr/>
          <p:nvPr/>
        </p:nvSpPr>
        <p:spPr>
          <a:xfrm>
            <a:off x="2360168" y="2398268"/>
            <a:ext cx="1502664" cy="1502664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5B4A12-A766-20B0-786D-DACDD9917FD7}"/>
              </a:ext>
            </a:extLst>
          </p:cNvPr>
          <p:cNvSpPr txBox="1"/>
          <p:nvPr/>
        </p:nvSpPr>
        <p:spPr>
          <a:xfrm>
            <a:off x="2159000" y="28702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928C57-2D1D-4EA4-3591-A6168573B065}"/>
              </a:ext>
            </a:extLst>
          </p:cNvPr>
          <p:cNvSpPr txBox="1"/>
          <p:nvPr/>
        </p:nvSpPr>
        <p:spPr>
          <a:xfrm>
            <a:off x="2159000" y="31750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72.5% (171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5853949-FB8E-E39A-7E79-F9F3A07702F4}"/>
              </a:ext>
            </a:extLst>
          </p:cNvPr>
          <p:cNvSpPr/>
          <p:nvPr/>
        </p:nvSpPr>
        <p:spPr>
          <a:xfrm>
            <a:off x="596900" y="4762500"/>
            <a:ext cx="5029200" cy="43180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65CCB21-2ECC-527E-92A4-7B39A2374B66}"/>
              </a:ext>
            </a:extLst>
          </p:cNvPr>
          <p:cNvSpPr/>
          <p:nvPr/>
        </p:nvSpPr>
        <p:spPr>
          <a:xfrm>
            <a:off x="698500" y="4876800"/>
            <a:ext cx="190500" cy="1905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BC81CD5-757A-3B14-18E9-24EB4EA7713C}"/>
              </a:ext>
            </a:extLst>
          </p:cNvPr>
          <p:cNvSpPr txBox="1"/>
          <p:nvPr/>
        </p:nvSpPr>
        <p:spPr>
          <a:xfrm>
            <a:off x="977900" y="48006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519F787-8287-0FEA-227D-7F4FA827FEA0}"/>
              </a:ext>
            </a:extLst>
          </p:cNvPr>
          <p:cNvSpPr txBox="1"/>
          <p:nvPr/>
        </p:nvSpPr>
        <p:spPr>
          <a:xfrm>
            <a:off x="3683000" y="4800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(72.5%)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29B39353-BAF3-F49D-61B3-68611B53526A}"/>
              </a:ext>
            </a:extLst>
          </p:cNvPr>
          <p:cNvSpPr/>
          <p:nvPr/>
        </p:nvSpPr>
        <p:spPr>
          <a:xfrm>
            <a:off x="698500" y="54102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DE30B39-A814-5A7E-8FF2-72CC3B70511D}"/>
              </a:ext>
            </a:extLst>
          </p:cNvPr>
          <p:cNvSpPr txBox="1"/>
          <p:nvPr/>
        </p:nvSpPr>
        <p:spPr>
          <a:xfrm>
            <a:off x="977900" y="53340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CA513-A22D-1FDA-D967-2256CB9BEB05}"/>
              </a:ext>
            </a:extLst>
          </p:cNvPr>
          <p:cNvSpPr txBox="1"/>
          <p:nvPr/>
        </p:nvSpPr>
        <p:spPr>
          <a:xfrm>
            <a:off x="3683000" y="5334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F75F1195-0CDB-0E1B-8D1C-5A18D0332A4E}"/>
              </a:ext>
            </a:extLst>
          </p:cNvPr>
          <p:cNvSpPr/>
          <p:nvPr/>
        </p:nvSpPr>
        <p:spPr>
          <a:xfrm>
            <a:off x="698500" y="5918200"/>
            <a:ext cx="190500" cy="190500"/>
          </a:xfrm>
          <a:prstGeom prst="ellipse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38E9A09-6C33-2ADD-1F70-FD16222B318C}"/>
              </a:ext>
            </a:extLst>
          </p:cNvPr>
          <p:cNvSpPr txBox="1"/>
          <p:nvPr/>
        </p:nvSpPr>
        <p:spPr>
          <a:xfrm>
            <a:off x="977900" y="58420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3E77EC7-8615-BD0E-B997-5011B06BC620}"/>
              </a:ext>
            </a:extLst>
          </p:cNvPr>
          <p:cNvSpPr txBox="1"/>
          <p:nvPr/>
        </p:nvSpPr>
        <p:spPr>
          <a:xfrm>
            <a:off x="3683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4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6F003AA-82C8-F733-9124-6455076BBF78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977E4A60-587E-48D8-A6E4-7B996885B4ED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D09F3A8-E79A-DBA5-21AD-28A997D090B3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805619E-19EE-4A67-BF3B-73CC69C8AA71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部分円 32">
            <a:extLst>
              <a:ext uri="{FF2B5EF4-FFF2-40B4-BE49-F238E27FC236}">
                <a16:creationId xmlns:a16="http://schemas.microsoft.com/office/drawing/2014/main" id="{721FDA60-31D8-3269-EF75-E6977AFDCAFA}"/>
              </a:ext>
            </a:extLst>
          </p:cNvPr>
          <p:cNvSpPr/>
          <p:nvPr/>
        </p:nvSpPr>
        <p:spPr>
          <a:xfrm>
            <a:off x="7785100" y="1854200"/>
            <a:ext cx="2590800" cy="2590800"/>
          </a:xfrm>
          <a:prstGeom prst="pie">
            <a:avLst>
              <a:gd name="adj1" fmla="val 16200000"/>
              <a:gd name="adj2" fmla="val 8596800"/>
            </a:avLst>
          </a:prstGeom>
          <a:solidFill>
            <a:srgbClr val="EA8A19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部分円 33">
            <a:extLst>
              <a:ext uri="{FF2B5EF4-FFF2-40B4-BE49-F238E27FC236}">
                <a16:creationId xmlns:a16="http://schemas.microsoft.com/office/drawing/2014/main" id="{E12EDBE7-D8E9-5F8B-BC31-569282CF0A46}"/>
              </a:ext>
            </a:extLst>
          </p:cNvPr>
          <p:cNvSpPr/>
          <p:nvPr/>
        </p:nvSpPr>
        <p:spPr>
          <a:xfrm>
            <a:off x="7785100" y="1854200"/>
            <a:ext cx="2590800" cy="2590800"/>
          </a:xfrm>
          <a:prstGeom prst="pie">
            <a:avLst>
              <a:gd name="adj1" fmla="val 8596800"/>
              <a:gd name="adj2" fmla="val 16005601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" name="部分円 34">
            <a:extLst>
              <a:ext uri="{FF2B5EF4-FFF2-40B4-BE49-F238E27FC236}">
                <a16:creationId xmlns:a16="http://schemas.microsoft.com/office/drawing/2014/main" id="{9E03B6C5-529C-5AF0-5CBB-93DAF0711525}"/>
              </a:ext>
            </a:extLst>
          </p:cNvPr>
          <p:cNvSpPr/>
          <p:nvPr/>
        </p:nvSpPr>
        <p:spPr>
          <a:xfrm>
            <a:off x="7785100" y="1854200"/>
            <a:ext cx="2590800" cy="2590800"/>
          </a:xfrm>
          <a:prstGeom prst="pie">
            <a:avLst>
              <a:gd name="adj1" fmla="val 16005601"/>
              <a:gd name="adj2" fmla="val 16178401"/>
            </a:avLst>
          </a:prstGeom>
          <a:solidFill>
            <a:srgbClr val="CBD5E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AD173AE7-71AC-F8BA-6D80-7077BC36C01B}"/>
              </a:ext>
            </a:extLst>
          </p:cNvPr>
          <p:cNvSpPr/>
          <p:nvPr/>
        </p:nvSpPr>
        <p:spPr>
          <a:xfrm>
            <a:off x="8329168" y="2398268"/>
            <a:ext cx="1502664" cy="1502664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7A5332D-E6A2-501C-4D48-96C3F225FDA6}"/>
              </a:ext>
            </a:extLst>
          </p:cNvPr>
          <p:cNvSpPr txBox="1"/>
          <p:nvPr/>
        </p:nvSpPr>
        <p:spPr>
          <a:xfrm>
            <a:off x="8128000" y="28702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2C107EA-EC43-4F62-DED6-18D90043CE7E}"/>
              </a:ext>
            </a:extLst>
          </p:cNvPr>
          <p:cNvSpPr txBox="1"/>
          <p:nvPr/>
        </p:nvSpPr>
        <p:spPr>
          <a:xfrm>
            <a:off x="8128000" y="31750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64.8% (153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70C755E0-ED6B-1344-2D7B-FAB6E03405C9}"/>
              </a:ext>
            </a:extLst>
          </p:cNvPr>
          <p:cNvSpPr/>
          <p:nvPr/>
        </p:nvSpPr>
        <p:spPr>
          <a:xfrm>
            <a:off x="6565900" y="4762500"/>
            <a:ext cx="5029200" cy="431800"/>
          </a:xfrm>
          <a:prstGeom prst="roundRect">
            <a:avLst>
              <a:gd name="adj" fmla="val 30000"/>
            </a:avLst>
          </a:prstGeom>
          <a:solidFill>
            <a:srgbClr val="FEF9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1B522FAC-1BED-29BE-BD66-9B41DD44A650}"/>
              </a:ext>
            </a:extLst>
          </p:cNvPr>
          <p:cNvSpPr/>
          <p:nvPr/>
        </p:nvSpPr>
        <p:spPr>
          <a:xfrm>
            <a:off x="6667500" y="4876800"/>
            <a:ext cx="190500" cy="190500"/>
          </a:xfrm>
          <a:prstGeom prst="ellipse">
            <a:avLst/>
          </a:prstGeom>
          <a:solidFill>
            <a:srgbClr val="EA8A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A29E859-AFB9-BD44-E7BF-B5DE5396366A}"/>
              </a:ext>
            </a:extLst>
          </p:cNvPr>
          <p:cNvSpPr txBox="1"/>
          <p:nvPr/>
        </p:nvSpPr>
        <p:spPr>
          <a:xfrm>
            <a:off x="6946900" y="48006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DA6F0B5-B5E1-73C8-E1E8-625BA203CB95}"/>
              </a:ext>
            </a:extLst>
          </p:cNvPr>
          <p:cNvSpPr txBox="1"/>
          <p:nvPr/>
        </p:nvSpPr>
        <p:spPr>
          <a:xfrm>
            <a:off x="9652000" y="4800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A8A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EA8A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A8A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EA8A1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970D818C-5831-90CE-3661-B4D3BCA9C092}"/>
              </a:ext>
            </a:extLst>
          </p:cNvPr>
          <p:cNvSpPr/>
          <p:nvPr/>
        </p:nvSpPr>
        <p:spPr>
          <a:xfrm>
            <a:off x="6667500" y="5410200"/>
            <a:ext cx="190500" cy="1905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DCC8588-6484-9282-D0DA-0C0060BBBC1D}"/>
              </a:ext>
            </a:extLst>
          </p:cNvPr>
          <p:cNvSpPr txBox="1"/>
          <p:nvPr/>
        </p:nvSpPr>
        <p:spPr>
          <a:xfrm>
            <a:off x="6946900" y="53340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男性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7A2EE32-C112-8989-570C-1E7DB9DBF86F}"/>
              </a:ext>
            </a:extLst>
          </p:cNvPr>
          <p:cNvSpPr txBox="1"/>
          <p:nvPr/>
        </p:nvSpPr>
        <p:spPr>
          <a:xfrm>
            <a:off x="9652000" y="5334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(34.3%)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9A3689D1-2D18-DC0D-9B57-FE777E18CAD5}"/>
              </a:ext>
            </a:extLst>
          </p:cNvPr>
          <p:cNvSpPr/>
          <p:nvPr/>
        </p:nvSpPr>
        <p:spPr>
          <a:xfrm>
            <a:off x="6667500" y="5918200"/>
            <a:ext cx="190500" cy="190500"/>
          </a:xfrm>
          <a:prstGeom prst="ellipse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3BEB706-7ACA-6C8A-F698-289FD0F0B52E}"/>
              </a:ext>
            </a:extLst>
          </p:cNvPr>
          <p:cNvSpPr txBox="1"/>
          <p:nvPr/>
        </p:nvSpPr>
        <p:spPr>
          <a:xfrm>
            <a:off x="6946900" y="5842000"/>
            <a:ext cx="2984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BB748FB-921B-6934-BEDE-DBC433E64BB6}"/>
              </a:ext>
            </a:extLst>
          </p:cNvPr>
          <p:cNvSpPr txBox="1"/>
          <p:nvPr/>
        </p:nvSpPr>
        <p:spPr>
          <a:xfrm>
            <a:off x="9652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4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56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078EFF-BD34-8F90-60C9-206F62D6E8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0501F38-76B0-9039-0B37-0D06B38C1FAB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F643E2A-D4FC-FE9F-B99A-57F674379466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CD6D3C-BD0B-9070-0C88-0265B9BF424A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9AB754A-EEA3-66A7-9C0D-FA916844697E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基本情報：年齢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A0202E7-2786-8B61-CCEF-438DDFD72568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5B2CAA-4050-65D1-75AF-954A291A2F43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5C53E1D-EACE-7A7A-25C1-44E4070B3C83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07FF85C-6722-83F0-F121-390B63A610FF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375308-02DA-580A-6BFC-40BD5C5C46E3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年齢（単一回答・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4AB6A12-1A64-D106-2447-FBF78A1EE8F2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9602A9-AC2C-2977-53B6-D4D800F75333}"/>
              </a:ext>
            </a:extLst>
          </p:cNvPr>
          <p:cNvSpPr txBox="1"/>
          <p:nvPr/>
        </p:nvSpPr>
        <p:spPr>
          <a:xfrm>
            <a:off x="457200" y="18288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789A28D-3D26-3214-97EA-5E3FB5FCC258}"/>
              </a:ext>
            </a:extLst>
          </p:cNvPr>
          <p:cNvSpPr/>
          <p:nvPr/>
        </p:nvSpPr>
        <p:spPr>
          <a:xfrm>
            <a:off x="1498600" y="18923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4D8E7DD-D31D-25AD-BB50-7876FE3DA53B}"/>
              </a:ext>
            </a:extLst>
          </p:cNvPr>
          <p:cNvSpPr/>
          <p:nvPr/>
        </p:nvSpPr>
        <p:spPr>
          <a:xfrm>
            <a:off x="1498600" y="1892300"/>
            <a:ext cx="2921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BD4AC74-04E5-5510-DB68-24BD607561CA}"/>
              </a:ext>
            </a:extLst>
          </p:cNvPr>
          <p:cNvSpPr txBox="1"/>
          <p:nvPr/>
        </p:nvSpPr>
        <p:spPr>
          <a:xfrm>
            <a:off x="4013200" y="1828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075A5C-7852-60B2-E257-88FA37BD1834}"/>
              </a:ext>
            </a:extLst>
          </p:cNvPr>
          <p:cNvSpPr txBox="1"/>
          <p:nvPr/>
        </p:nvSpPr>
        <p:spPr>
          <a:xfrm>
            <a:off x="457200" y="22352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DA631FB3-167B-CF3A-0D29-75578412FD9E}"/>
              </a:ext>
            </a:extLst>
          </p:cNvPr>
          <p:cNvSpPr/>
          <p:nvPr/>
        </p:nvSpPr>
        <p:spPr>
          <a:xfrm>
            <a:off x="1498600" y="22987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0819817-7687-0788-F0B9-D2F04A2845FC}"/>
              </a:ext>
            </a:extLst>
          </p:cNvPr>
          <p:cNvSpPr/>
          <p:nvPr/>
        </p:nvSpPr>
        <p:spPr>
          <a:xfrm>
            <a:off x="1498600" y="2298700"/>
            <a:ext cx="2921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F72167-98BA-8B69-84AD-8BA5289F9E27}"/>
              </a:ext>
            </a:extLst>
          </p:cNvPr>
          <p:cNvSpPr txBox="1"/>
          <p:nvPr/>
        </p:nvSpPr>
        <p:spPr>
          <a:xfrm>
            <a:off x="4013200" y="2235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F1A3E3-58E4-5BAE-2870-3961C6DDB8BA}"/>
              </a:ext>
            </a:extLst>
          </p:cNvPr>
          <p:cNvSpPr txBox="1"/>
          <p:nvPr/>
        </p:nvSpPr>
        <p:spPr>
          <a:xfrm>
            <a:off x="457200" y="26416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9DB8324-BC55-AA0F-6C88-0B37DC9BBAA4}"/>
              </a:ext>
            </a:extLst>
          </p:cNvPr>
          <p:cNvSpPr/>
          <p:nvPr/>
        </p:nvSpPr>
        <p:spPr>
          <a:xfrm>
            <a:off x="1498600" y="27051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DF19F17-4DE3-90DC-FEC1-448A77D85BA0}"/>
              </a:ext>
            </a:extLst>
          </p:cNvPr>
          <p:cNvSpPr/>
          <p:nvPr/>
        </p:nvSpPr>
        <p:spPr>
          <a:xfrm>
            <a:off x="1498600" y="2705100"/>
            <a:ext cx="3937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3208C9-6351-068A-F611-B2BC18B69656}"/>
              </a:ext>
            </a:extLst>
          </p:cNvPr>
          <p:cNvSpPr txBox="1"/>
          <p:nvPr/>
        </p:nvSpPr>
        <p:spPr>
          <a:xfrm>
            <a:off x="4013200" y="2641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(5.1%)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21B45AE-28F2-93A0-2CB0-C3CCA970B96E}"/>
              </a:ext>
            </a:extLst>
          </p:cNvPr>
          <p:cNvSpPr txBox="1"/>
          <p:nvPr/>
        </p:nvSpPr>
        <p:spPr>
          <a:xfrm>
            <a:off x="457200" y="30480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D2C2564-5B90-A9F2-ADAE-629436A902F3}"/>
              </a:ext>
            </a:extLst>
          </p:cNvPr>
          <p:cNvSpPr/>
          <p:nvPr/>
        </p:nvSpPr>
        <p:spPr>
          <a:xfrm>
            <a:off x="1498600" y="31115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99F2FBE-4F1C-2D5A-EAE6-07539F803CA4}"/>
              </a:ext>
            </a:extLst>
          </p:cNvPr>
          <p:cNvSpPr/>
          <p:nvPr/>
        </p:nvSpPr>
        <p:spPr>
          <a:xfrm>
            <a:off x="1498600" y="3111500"/>
            <a:ext cx="10795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ED8EDA5-D086-776A-1E13-C0889DE7979D}"/>
              </a:ext>
            </a:extLst>
          </p:cNvPr>
          <p:cNvSpPr txBox="1"/>
          <p:nvPr/>
        </p:nvSpPr>
        <p:spPr>
          <a:xfrm>
            <a:off x="4013200" y="3048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33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(14.0%)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79E030D-F753-18AA-0C59-C3F9489F0FF7}"/>
              </a:ext>
            </a:extLst>
          </p:cNvPr>
          <p:cNvSpPr txBox="1"/>
          <p:nvPr/>
        </p:nvSpPr>
        <p:spPr>
          <a:xfrm>
            <a:off x="457200" y="34544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1EC2376-03F1-3B33-A155-2216CFD72398}"/>
              </a:ext>
            </a:extLst>
          </p:cNvPr>
          <p:cNvSpPr/>
          <p:nvPr/>
        </p:nvSpPr>
        <p:spPr>
          <a:xfrm>
            <a:off x="1498600" y="35179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52CAB7A-EB1D-D18D-3B2A-2AD71F2CFF00}"/>
              </a:ext>
            </a:extLst>
          </p:cNvPr>
          <p:cNvSpPr/>
          <p:nvPr/>
        </p:nvSpPr>
        <p:spPr>
          <a:xfrm>
            <a:off x="1498600" y="3517900"/>
            <a:ext cx="20320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6B69569-8F01-CBF6-AE50-68D0EBD9E61E}"/>
              </a:ext>
            </a:extLst>
          </p:cNvPr>
          <p:cNvSpPr txBox="1"/>
          <p:nvPr/>
        </p:nvSpPr>
        <p:spPr>
          <a:xfrm>
            <a:off x="4013200" y="3454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3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5DD11F3-71D5-1AAA-80A4-F378E6EC0A35}"/>
              </a:ext>
            </a:extLst>
          </p:cNvPr>
          <p:cNvSpPr txBox="1"/>
          <p:nvPr/>
        </p:nvSpPr>
        <p:spPr>
          <a:xfrm>
            <a:off x="457200" y="38608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AB0EE29-F291-C587-4042-49F28C776BFE}"/>
              </a:ext>
            </a:extLst>
          </p:cNvPr>
          <p:cNvSpPr/>
          <p:nvPr/>
        </p:nvSpPr>
        <p:spPr>
          <a:xfrm>
            <a:off x="1498600" y="39243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9C2713B1-15A5-77A6-5BBD-DA88D481A8EB}"/>
              </a:ext>
            </a:extLst>
          </p:cNvPr>
          <p:cNvSpPr/>
          <p:nvPr/>
        </p:nvSpPr>
        <p:spPr>
          <a:xfrm>
            <a:off x="1498600" y="3924300"/>
            <a:ext cx="12700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0965748-52BD-0A5F-1F58-5402BA671FE6}"/>
              </a:ext>
            </a:extLst>
          </p:cNvPr>
          <p:cNvSpPr txBox="1"/>
          <p:nvPr/>
        </p:nvSpPr>
        <p:spPr>
          <a:xfrm>
            <a:off x="4013200" y="3860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F555DE2-86CB-6B7D-336E-F3D03FDFFD99}"/>
              </a:ext>
            </a:extLst>
          </p:cNvPr>
          <p:cNvSpPr txBox="1"/>
          <p:nvPr/>
        </p:nvSpPr>
        <p:spPr>
          <a:xfrm>
            <a:off x="457200" y="42672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480E0A5-BB75-6444-029C-8279B4696956}"/>
              </a:ext>
            </a:extLst>
          </p:cNvPr>
          <p:cNvSpPr/>
          <p:nvPr/>
        </p:nvSpPr>
        <p:spPr>
          <a:xfrm>
            <a:off x="1498600" y="43307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7784AE98-9D24-444D-73EF-C45931541503}"/>
              </a:ext>
            </a:extLst>
          </p:cNvPr>
          <p:cNvSpPr/>
          <p:nvPr/>
        </p:nvSpPr>
        <p:spPr>
          <a:xfrm>
            <a:off x="1498600" y="433070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8DA0BA7-E2E7-829E-3A7C-F56B642B0E82}"/>
              </a:ext>
            </a:extLst>
          </p:cNvPr>
          <p:cNvSpPr txBox="1"/>
          <p:nvPr/>
        </p:nvSpPr>
        <p:spPr>
          <a:xfrm>
            <a:off x="4013200" y="4267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42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(17.8%)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B1C1743-7D99-60C8-1AA4-6C0090B3A2A1}"/>
              </a:ext>
            </a:extLst>
          </p:cNvPr>
          <p:cNvSpPr txBox="1"/>
          <p:nvPr/>
        </p:nvSpPr>
        <p:spPr>
          <a:xfrm>
            <a:off x="457200" y="46736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CD230742-14B7-2E91-C0A5-353FE2AC2B78}"/>
              </a:ext>
            </a:extLst>
          </p:cNvPr>
          <p:cNvSpPr/>
          <p:nvPr/>
        </p:nvSpPr>
        <p:spPr>
          <a:xfrm>
            <a:off x="1498600" y="47371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9C0FADAA-3706-332E-3A11-8818CB677FE8}"/>
              </a:ext>
            </a:extLst>
          </p:cNvPr>
          <p:cNvSpPr/>
          <p:nvPr/>
        </p:nvSpPr>
        <p:spPr>
          <a:xfrm>
            <a:off x="1498600" y="4737100"/>
            <a:ext cx="8128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56FD8C3-2BFF-A59A-5C90-58E704D915A0}"/>
              </a:ext>
            </a:extLst>
          </p:cNvPr>
          <p:cNvSpPr txBox="1"/>
          <p:nvPr/>
        </p:nvSpPr>
        <p:spPr>
          <a:xfrm>
            <a:off x="4013200" y="4673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25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(10.6%)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925D43E-333C-B81D-A758-35A75FD34278}"/>
              </a:ext>
            </a:extLst>
          </p:cNvPr>
          <p:cNvSpPr txBox="1"/>
          <p:nvPr/>
        </p:nvSpPr>
        <p:spPr>
          <a:xfrm>
            <a:off x="457200" y="50800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4B1C3553-BB84-D921-5849-C188CB3E3352}"/>
              </a:ext>
            </a:extLst>
          </p:cNvPr>
          <p:cNvSpPr/>
          <p:nvPr/>
        </p:nvSpPr>
        <p:spPr>
          <a:xfrm>
            <a:off x="1498600" y="51435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C96F715C-27D1-8F49-F3A9-67D05A708125}"/>
              </a:ext>
            </a:extLst>
          </p:cNvPr>
          <p:cNvSpPr/>
          <p:nvPr/>
        </p:nvSpPr>
        <p:spPr>
          <a:xfrm>
            <a:off x="1498600" y="51435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84DA56E-3857-12E8-E397-0C9407D8471F}"/>
              </a:ext>
            </a:extLst>
          </p:cNvPr>
          <p:cNvSpPr txBox="1"/>
          <p:nvPr/>
        </p:nvSpPr>
        <p:spPr>
          <a:xfrm>
            <a:off x="4013200" y="5080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3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256DA0B-32F9-D018-171F-099F8664D6B3}"/>
              </a:ext>
            </a:extLst>
          </p:cNvPr>
          <p:cNvSpPr txBox="1"/>
          <p:nvPr/>
        </p:nvSpPr>
        <p:spPr>
          <a:xfrm>
            <a:off x="457200" y="5486400"/>
            <a:ext cx="9652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5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9ED3F831-E443-5481-A827-07AD0F9C4D47}"/>
              </a:ext>
            </a:extLst>
          </p:cNvPr>
          <p:cNvSpPr/>
          <p:nvPr/>
        </p:nvSpPr>
        <p:spPr>
          <a:xfrm>
            <a:off x="1498600" y="5549900"/>
            <a:ext cx="2413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106B35E3-50A9-2DA8-78DA-A0359A1EF485}"/>
              </a:ext>
            </a:extLst>
          </p:cNvPr>
          <p:cNvSpPr/>
          <p:nvPr/>
        </p:nvSpPr>
        <p:spPr>
          <a:xfrm>
            <a:off x="1498600" y="55499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28F151A-B0F4-5608-DFD9-75A46E711B1E}"/>
              </a:ext>
            </a:extLst>
          </p:cNvPr>
          <p:cNvSpPr txBox="1"/>
          <p:nvPr/>
        </p:nvSpPr>
        <p:spPr>
          <a:xfrm>
            <a:off x="4013200" y="5486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35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41B367A1-85E7-8B8D-5916-A27743742EE8}"/>
              </a:ext>
            </a:extLst>
          </p:cNvPr>
          <p:cNvSpPr/>
          <p:nvPr/>
        </p:nvSpPr>
        <p:spPr>
          <a:xfrm>
            <a:off x="406400" y="6019800"/>
            <a:ext cx="5410200" cy="3810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F61054F-17C7-517F-725F-7FC9B4B8B7CD}"/>
              </a:ext>
            </a:extLst>
          </p:cNvPr>
          <p:cNvSpPr/>
          <p:nvPr/>
        </p:nvSpPr>
        <p:spPr>
          <a:xfrm>
            <a:off x="533400" y="6134100"/>
            <a:ext cx="152400" cy="1524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C7CFD5F-0BC9-3DA4-F37A-CF8D0FCE0365}"/>
              </a:ext>
            </a:extLst>
          </p:cNvPr>
          <p:cNvSpPr txBox="1"/>
          <p:nvPr/>
        </p:nvSpPr>
        <p:spPr>
          <a:xfrm>
            <a:off x="711200" y="6057900"/>
            <a:ext cx="1841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青：最多 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(50</a:t>
            </a:r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ED89A85C-D40B-0035-576E-5B151748FEB7}"/>
              </a:ext>
            </a:extLst>
          </p:cNvPr>
          <p:cNvSpPr/>
          <p:nvPr/>
        </p:nvSpPr>
        <p:spPr>
          <a:xfrm>
            <a:off x="2540000" y="6134100"/>
            <a:ext cx="152400" cy="1524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12D298F-32DB-9662-64FF-A75A09EB5191}"/>
              </a:ext>
            </a:extLst>
          </p:cNvPr>
          <p:cNvSpPr txBox="1"/>
          <p:nvPr/>
        </p:nvSpPr>
        <p:spPr>
          <a:xfrm>
            <a:off x="2717800" y="6057900"/>
            <a:ext cx="1714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赤：最少 </a:t>
            </a:r>
            <a:r>
              <a:rPr kumimoji="1" lang="en-US" altLang="ja-JP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(90</a:t>
            </a:r>
            <a:r>
              <a:rPr kumimoji="1" lang="ja-JP" altLang="en-US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  <a:r>
              <a:rPr kumimoji="1" lang="en-US" altLang="ja-JP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A61EC7A3-655E-CCD7-0102-C3745E15AF14}"/>
              </a:ext>
            </a:extLst>
          </p:cNvPr>
          <p:cNvSpPr/>
          <p:nvPr/>
        </p:nvSpPr>
        <p:spPr>
          <a:xfrm>
            <a:off x="4419600" y="6134100"/>
            <a:ext cx="152400" cy="1524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26CBEFE-44DA-BC9A-A8B9-0E991AFCADD8}"/>
              </a:ext>
            </a:extLst>
          </p:cNvPr>
          <p:cNvSpPr txBox="1"/>
          <p:nvPr/>
        </p:nvSpPr>
        <p:spPr>
          <a:xfrm>
            <a:off x="4597400" y="6057900"/>
            <a:ext cx="1206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灰：中間・標準</a:t>
            </a: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F19733B1-041F-6590-C4C3-30F3C848C6B5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B8CFF1D6-D05C-A6C3-98EF-E80444D0679D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94F941C-7780-3055-FB37-4FD800D17272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04133516-A2B2-C065-7E5C-96278A1349D1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377156B-FE37-E3C4-E54F-1B6D1EBBB5EA}"/>
              </a:ext>
            </a:extLst>
          </p:cNvPr>
          <p:cNvSpPr txBox="1"/>
          <p:nvPr/>
        </p:nvSpPr>
        <p:spPr>
          <a:xfrm>
            <a:off x="6426200" y="2082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zh-TW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血管年齢測定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A947CF06-C6E7-4B3B-E810-12049652FE6F}"/>
              </a:ext>
            </a:extLst>
          </p:cNvPr>
          <p:cNvSpPr/>
          <p:nvPr/>
        </p:nvSpPr>
        <p:spPr>
          <a:xfrm>
            <a:off x="8470900" y="21463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450ADB56-C742-52BD-D171-FF8F7F375B99}"/>
              </a:ext>
            </a:extLst>
          </p:cNvPr>
          <p:cNvSpPr/>
          <p:nvPr/>
        </p:nvSpPr>
        <p:spPr>
          <a:xfrm>
            <a:off x="8470900" y="2146300"/>
            <a:ext cx="12065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D95E698-3290-B2F2-EF2F-FCD2AA07D559}"/>
              </a:ext>
            </a:extLst>
          </p:cNvPr>
          <p:cNvSpPr txBox="1"/>
          <p:nvPr/>
        </p:nvSpPr>
        <p:spPr>
          <a:xfrm>
            <a:off x="10223500" y="2082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(72.9%)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8B9A2E0-3334-56ED-8590-65787AC88BC2}"/>
              </a:ext>
            </a:extLst>
          </p:cNvPr>
          <p:cNvSpPr txBox="1"/>
          <p:nvPr/>
        </p:nvSpPr>
        <p:spPr>
          <a:xfrm>
            <a:off x="6426200" y="2794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筋肉量測定</a:t>
            </a:r>
          </a:p>
        </p:txBody>
      </p: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20BAB5D2-C8A9-1694-5865-69BCD5BBD80E}"/>
              </a:ext>
            </a:extLst>
          </p:cNvPr>
          <p:cNvSpPr/>
          <p:nvPr/>
        </p:nvSpPr>
        <p:spPr>
          <a:xfrm>
            <a:off x="8470900" y="28575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0258391D-09E2-F013-94F3-07089EB3F89E}"/>
              </a:ext>
            </a:extLst>
          </p:cNvPr>
          <p:cNvSpPr/>
          <p:nvPr/>
        </p:nvSpPr>
        <p:spPr>
          <a:xfrm>
            <a:off x="8470900" y="28575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F009638-44F4-E488-5C84-67A9C074CB18}"/>
              </a:ext>
            </a:extLst>
          </p:cNvPr>
          <p:cNvSpPr txBox="1"/>
          <p:nvPr/>
        </p:nvSpPr>
        <p:spPr>
          <a:xfrm>
            <a:off x="10223500" y="2794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157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(66.5%)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35903D9-1EC6-63FD-D8CA-3A7A12BBD4BA}"/>
              </a:ext>
            </a:extLst>
          </p:cNvPr>
          <p:cNvSpPr txBox="1"/>
          <p:nvPr/>
        </p:nvSpPr>
        <p:spPr>
          <a:xfrm>
            <a:off x="6426200" y="3505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栄養レッスン</a:t>
            </a: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605A1855-688E-30C3-E726-03EF1A2E6EE1}"/>
              </a:ext>
            </a:extLst>
          </p:cNvPr>
          <p:cNvSpPr/>
          <p:nvPr/>
        </p:nvSpPr>
        <p:spPr>
          <a:xfrm>
            <a:off x="8470900" y="35687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A2794CDA-280D-F02C-0F22-0BB7D2A9544F}"/>
              </a:ext>
            </a:extLst>
          </p:cNvPr>
          <p:cNvSpPr/>
          <p:nvPr/>
        </p:nvSpPr>
        <p:spPr>
          <a:xfrm>
            <a:off x="8470900" y="3568700"/>
            <a:ext cx="3937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D35386E-1D58-19B0-DA19-D631830FF522}"/>
              </a:ext>
            </a:extLst>
          </p:cNvPr>
          <p:cNvSpPr txBox="1"/>
          <p:nvPr/>
        </p:nvSpPr>
        <p:spPr>
          <a:xfrm>
            <a:off x="10223500" y="3505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57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(24.2%)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355A08F-A0AE-543A-A223-DF59F188AE7A}"/>
              </a:ext>
            </a:extLst>
          </p:cNvPr>
          <p:cNvSpPr txBox="1"/>
          <p:nvPr/>
        </p:nvSpPr>
        <p:spPr>
          <a:xfrm>
            <a:off x="6426200" y="4216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人生会議</a:t>
            </a:r>
            <a:r>
              <a:rPr kumimoji="1" lang="en-US" altLang="ja-JP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終活</a:t>
            </a:r>
            <a:r>
              <a:rPr kumimoji="1" lang="en-US" altLang="ja-JP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の案内</a:t>
            </a: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E71748D7-36D9-3A69-9E5A-F44531B530CB}"/>
              </a:ext>
            </a:extLst>
          </p:cNvPr>
          <p:cNvSpPr/>
          <p:nvPr/>
        </p:nvSpPr>
        <p:spPr>
          <a:xfrm>
            <a:off x="8470900" y="42799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28A4ABA2-0016-300E-89FF-B75122EA4615}"/>
              </a:ext>
            </a:extLst>
          </p:cNvPr>
          <p:cNvSpPr/>
          <p:nvPr/>
        </p:nvSpPr>
        <p:spPr>
          <a:xfrm>
            <a:off x="8470900" y="4279900"/>
            <a:ext cx="2921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F301E78-BECE-FB15-87A5-F035355DC2A3}"/>
              </a:ext>
            </a:extLst>
          </p:cNvPr>
          <p:cNvSpPr txBox="1"/>
          <p:nvPr/>
        </p:nvSpPr>
        <p:spPr>
          <a:xfrm>
            <a:off x="10223500" y="4216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41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(17.4%)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7E6AEFAE-00B3-9767-6D30-364CEC814FEF}"/>
              </a:ext>
            </a:extLst>
          </p:cNvPr>
          <p:cNvSpPr txBox="1"/>
          <p:nvPr/>
        </p:nvSpPr>
        <p:spPr>
          <a:xfrm>
            <a:off x="6426200" y="4927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お薬相談</a:t>
            </a: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22EE6270-5C61-7C61-206E-6EB65DA59B69}"/>
              </a:ext>
            </a:extLst>
          </p:cNvPr>
          <p:cNvSpPr/>
          <p:nvPr/>
        </p:nvSpPr>
        <p:spPr>
          <a:xfrm>
            <a:off x="8470900" y="49911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709AFBEF-7A71-226A-C461-6786DF2B2C43}"/>
              </a:ext>
            </a:extLst>
          </p:cNvPr>
          <p:cNvSpPr/>
          <p:nvPr/>
        </p:nvSpPr>
        <p:spPr>
          <a:xfrm>
            <a:off x="8470900" y="4991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5CABDA56-9A58-8F81-1CFA-6274A55DF327}"/>
              </a:ext>
            </a:extLst>
          </p:cNvPr>
          <p:cNvSpPr txBox="1"/>
          <p:nvPr/>
        </p:nvSpPr>
        <p:spPr>
          <a:xfrm>
            <a:off x="10223500" y="4927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32</a:t>
            </a:r>
            <a:r>
              <a:rPr kumimoji="1" lang="ja-JP" altLang="en-US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(13.6%)</a:t>
            </a:r>
            <a:endParaRPr kumimoji="1" lang="ja-JP" altLang="en-US" sz="140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四角形: 角を丸くする 83">
            <a:extLst>
              <a:ext uri="{FF2B5EF4-FFF2-40B4-BE49-F238E27FC236}">
                <a16:creationId xmlns:a16="http://schemas.microsoft.com/office/drawing/2014/main" id="{B9C83906-B943-EE7D-87BF-C017243CB5ED}"/>
              </a:ext>
            </a:extLst>
          </p:cNvPr>
          <p:cNvSpPr/>
          <p:nvPr/>
        </p:nvSpPr>
        <p:spPr>
          <a:xfrm>
            <a:off x="6375400" y="6019800"/>
            <a:ext cx="5410200" cy="3810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D9333039-3C0F-9206-150C-B9D8025DBCA8}"/>
              </a:ext>
            </a:extLst>
          </p:cNvPr>
          <p:cNvSpPr/>
          <p:nvPr/>
        </p:nvSpPr>
        <p:spPr>
          <a:xfrm>
            <a:off x="6502400" y="6134100"/>
            <a:ext cx="152400" cy="1524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4FE3A76-44BB-6A94-5031-516650FE6E75}"/>
              </a:ext>
            </a:extLst>
          </p:cNvPr>
          <p:cNvSpPr txBox="1"/>
          <p:nvPr/>
        </p:nvSpPr>
        <p:spPr>
          <a:xfrm>
            <a:off x="6680200" y="6057900"/>
            <a:ext cx="1841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青：上位 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</a:t>
            </a:r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割超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楕円 86">
            <a:extLst>
              <a:ext uri="{FF2B5EF4-FFF2-40B4-BE49-F238E27FC236}">
                <a16:creationId xmlns:a16="http://schemas.microsoft.com/office/drawing/2014/main" id="{F47CEDE6-A841-390B-E008-4AA01FE08DBF}"/>
              </a:ext>
            </a:extLst>
          </p:cNvPr>
          <p:cNvSpPr/>
          <p:nvPr/>
        </p:nvSpPr>
        <p:spPr>
          <a:xfrm>
            <a:off x="8509000" y="6134100"/>
            <a:ext cx="152400" cy="1524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89CA5096-BD2E-FC76-7593-D24C67F0E510}"/>
              </a:ext>
            </a:extLst>
          </p:cNvPr>
          <p:cNvSpPr txBox="1"/>
          <p:nvPr/>
        </p:nvSpPr>
        <p:spPr>
          <a:xfrm>
            <a:off x="8686800" y="6057900"/>
            <a:ext cx="1714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zh-TW" altLang="en-US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赤：最少項目</a:t>
            </a:r>
            <a:endParaRPr kumimoji="1" lang="ja-JP" altLang="en-US" sz="11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楕円 88">
            <a:extLst>
              <a:ext uri="{FF2B5EF4-FFF2-40B4-BE49-F238E27FC236}">
                <a16:creationId xmlns:a16="http://schemas.microsoft.com/office/drawing/2014/main" id="{68A361C4-9292-F4E2-0D6E-E85BF5B7D740}"/>
              </a:ext>
            </a:extLst>
          </p:cNvPr>
          <p:cNvSpPr/>
          <p:nvPr/>
        </p:nvSpPr>
        <p:spPr>
          <a:xfrm>
            <a:off x="10388600" y="6134100"/>
            <a:ext cx="152400" cy="1524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49DF4505-6D81-D90E-23B9-265FB4939F72}"/>
              </a:ext>
            </a:extLst>
          </p:cNvPr>
          <p:cNvSpPr txBox="1"/>
          <p:nvPr/>
        </p:nvSpPr>
        <p:spPr>
          <a:xfrm>
            <a:off x="10566400" y="6057900"/>
            <a:ext cx="1206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灰：中間・標準</a:t>
            </a:r>
          </a:p>
        </p:txBody>
      </p:sp>
    </p:spTree>
    <p:extLst>
      <p:ext uri="{BB962C8B-B14F-4D97-AF65-F5344CB8AC3E}">
        <p14:creationId xmlns:p14="http://schemas.microsoft.com/office/powerpoint/2010/main" val="101365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BE19861-74DE-8240-EA51-389D00A12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7F21F93-B91A-7FD3-70B3-B0162AC82887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BF7D5DF-66CB-3166-AEB3-83FBECCBE153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F3F991-B8E9-D763-5D20-7D002526C7A5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2B9655-8481-65EA-683C-62E67F9FBBF9}"/>
              </a:ext>
            </a:extLst>
          </p:cNvPr>
          <p:cNvSpPr txBox="1"/>
          <p:nvPr/>
        </p:nvSpPr>
        <p:spPr>
          <a:xfrm>
            <a:off x="2895600" y="304800"/>
            <a:ext cx="78486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万が一の際、利用したいですか？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0F6E184-EE65-211C-4B13-C9250DDF1B33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E88FFD-2167-A680-CA85-040DF3E564DE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6216895-036A-D7C3-9818-76D763944320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344C4FD-2674-2471-F844-F1E0A6A55C78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CFD197-C9F0-3E9B-97DB-16B38C346FB9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1CDDE6E-9148-8836-AC41-48FBB6AF1BC0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FC2DB2D1-461F-4F71-8C54-1B9E949A1A6A}"/>
              </a:ext>
            </a:extLst>
          </p:cNvPr>
          <p:cNvSpPr/>
          <p:nvPr/>
        </p:nvSpPr>
        <p:spPr>
          <a:xfrm>
            <a:off x="1866900" y="1803400"/>
            <a:ext cx="2489200" cy="2489200"/>
          </a:xfrm>
          <a:prstGeom prst="pie">
            <a:avLst>
              <a:gd name="adj1" fmla="val 16200000"/>
              <a:gd name="adj2" fmla="val 61344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B81330CD-8EEB-DD2E-DB0A-7D98A7B71A31}"/>
              </a:ext>
            </a:extLst>
          </p:cNvPr>
          <p:cNvSpPr/>
          <p:nvPr/>
        </p:nvSpPr>
        <p:spPr>
          <a:xfrm>
            <a:off x="1866900" y="1803400"/>
            <a:ext cx="2489200" cy="2489200"/>
          </a:xfrm>
          <a:prstGeom prst="pie">
            <a:avLst>
              <a:gd name="adj1" fmla="val 6134400"/>
              <a:gd name="adj2" fmla="val 12268800"/>
            </a:avLst>
          </a:prstGeom>
          <a:solidFill>
            <a:srgbClr val="E14B4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F9DF7384-D472-A157-A952-4A9FBA3D1A80}"/>
              </a:ext>
            </a:extLst>
          </p:cNvPr>
          <p:cNvSpPr/>
          <p:nvPr/>
        </p:nvSpPr>
        <p:spPr>
          <a:xfrm>
            <a:off x="1866900" y="1803400"/>
            <a:ext cx="2489200" cy="2489200"/>
          </a:xfrm>
          <a:prstGeom prst="pie">
            <a:avLst>
              <a:gd name="adj1" fmla="val 12268800"/>
              <a:gd name="adj2" fmla="val 158328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部分円 15">
            <a:extLst>
              <a:ext uri="{FF2B5EF4-FFF2-40B4-BE49-F238E27FC236}">
                <a16:creationId xmlns:a16="http://schemas.microsoft.com/office/drawing/2014/main" id="{F63EBF26-2CFE-A547-15F5-F57571B07B73}"/>
              </a:ext>
            </a:extLst>
          </p:cNvPr>
          <p:cNvSpPr/>
          <p:nvPr/>
        </p:nvSpPr>
        <p:spPr>
          <a:xfrm>
            <a:off x="1866900" y="1803400"/>
            <a:ext cx="2489200" cy="2489200"/>
          </a:xfrm>
          <a:prstGeom prst="pie">
            <a:avLst>
              <a:gd name="adj1" fmla="val 15832800"/>
              <a:gd name="adj2" fmla="val 16200000"/>
            </a:avLst>
          </a:prstGeom>
          <a:solidFill>
            <a:srgbClr val="CBD5E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3AF80C5-2844-CDAF-4037-5FD5BDAA61E9}"/>
              </a:ext>
            </a:extLst>
          </p:cNvPr>
          <p:cNvSpPr/>
          <p:nvPr/>
        </p:nvSpPr>
        <p:spPr>
          <a:xfrm>
            <a:off x="2389632" y="2326132"/>
            <a:ext cx="1443736" cy="144373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4C04A3-78FF-A0D0-322B-27D116036B16}"/>
              </a:ext>
            </a:extLst>
          </p:cNvPr>
          <p:cNvSpPr txBox="1"/>
          <p:nvPr/>
        </p:nvSpPr>
        <p:spPr>
          <a:xfrm>
            <a:off x="2159000" y="2768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名前・場所は知る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27B99CF-E6D2-2898-BBE5-E65489A968EC}"/>
              </a:ext>
            </a:extLst>
          </p:cNvPr>
          <p:cNvSpPr txBox="1"/>
          <p:nvPr/>
        </p:nvSpPr>
        <p:spPr>
          <a:xfrm>
            <a:off x="2159000" y="3073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53.4% (126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A834D84-041E-F4A1-3E26-9E07E8DEA67A}"/>
              </a:ext>
            </a:extLst>
          </p:cNvPr>
          <p:cNvSpPr/>
          <p:nvPr/>
        </p:nvSpPr>
        <p:spPr>
          <a:xfrm>
            <a:off x="431800" y="4483100"/>
            <a:ext cx="5359400" cy="43180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2A0E397-451F-9914-4B06-1EAF00104FDE}"/>
              </a:ext>
            </a:extLst>
          </p:cNvPr>
          <p:cNvSpPr/>
          <p:nvPr/>
        </p:nvSpPr>
        <p:spPr>
          <a:xfrm>
            <a:off x="533400" y="4597400"/>
            <a:ext cx="190500" cy="1905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348FE91-7FC5-A0BD-DD15-1D3A265CFBE3}"/>
              </a:ext>
            </a:extLst>
          </p:cNvPr>
          <p:cNvSpPr txBox="1"/>
          <p:nvPr/>
        </p:nvSpPr>
        <p:spPr>
          <a:xfrm>
            <a:off x="812800" y="4521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名前や場所は知っている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09945B8-B786-D25F-16F4-AF2A389F85C5}"/>
              </a:ext>
            </a:extLst>
          </p:cNvPr>
          <p:cNvSpPr txBox="1"/>
          <p:nvPr/>
        </p:nvSpPr>
        <p:spPr>
          <a:xfrm>
            <a:off x="3848100" y="4521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126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(53.4%)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4DC682B2-4E3E-1D43-D352-1F1567AD809C}"/>
              </a:ext>
            </a:extLst>
          </p:cNvPr>
          <p:cNvSpPr/>
          <p:nvPr/>
        </p:nvSpPr>
        <p:spPr>
          <a:xfrm>
            <a:off x="431800" y="4991100"/>
            <a:ext cx="5359400" cy="431800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B4EFC45A-A4AD-3A21-0496-232C58FFF249}"/>
              </a:ext>
            </a:extLst>
          </p:cNvPr>
          <p:cNvSpPr/>
          <p:nvPr/>
        </p:nvSpPr>
        <p:spPr>
          <a:xfrm>
            <a:off x="533400" y="5105400"/>
            <a:ext cx="190500" cy="1905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D5C529-5DEC-26E0-A574-07A1EA55E9A5}"/>
              </a:ext>
            </a:extLst>
          </p:cNvPr>
          <p:cNvSpPr txBox="1"/>
          <p:nvPr/>
        </p:nvSpPr>
        <p:spPr>
          <a:xfrm>
            <a:off x="812800" y="5029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今日初めて知った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0FC419-F0F3-5387-BB8F-88D96DBEECA0}"/>
              </a:ext>
            </a:extLst>
          </p:cNvPr>
          <p:cNvSpPr txBox="1"/>
          <p:nvPr/>
        </p:nvSpPr>
        <p:spPr>
          <a:xfrm>
            <a:off x="3848100" y="5029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67</a:t>
            </a:r>
            <a:r>
              <a:rPr kumimoji="1" lang="ja-JP" altLang="en-US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(28.4%)</a:t>
            </a:r>
            <a:endParaRPr kumimoji="1" lang="ja-JP" altLang="en-US" sz="14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C0DAA2A-79EB-50AA-5E00-3366F03E57E7}"/>
              </a:ext>
            </a:extLst>
          </p:cNvPr>
          <p:cNvSpPr/>
          <p:nvPr/>
        </p:nvSpPr>
        <p:spPr>
          <a:xfrm>
            <a:off x="533400" y="56134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5110DE3-389C-CEF1-79F7-38EA2A65491F}"/>
              </a:ext>
            </a:extLst>
          </p:cNvPr>
          <p:cNvSpPr txBox="1"/>
          <p:nvPr/>
        </p:nvSpPr>
        <p:spPr>
          <a:xfrm>
            <a:off x="812800" y="5537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よく知っている（利用経験有）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3C54106-9771-E692-CA03-E895ACF89F07}"/>
              </a:ext>
            </a:extLst>
          </p:cNvPr>
          <p:cNvSpPr txBox="1"/>
          <p:nvPr/>
        </p:nvSpPr>
        <p:spPr>
          <a:xfrm>
            <a:off x="3848100" y="5537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3E23229A-B60B-87BD-ACEF-221714651135}"/>
              </a:ext>
            </a:extLst>
          </p:cNvPr>
          <p:cNvSpPr/>
          <p:nvPr/>
        </p:nvSpPr>
        <p:spPr>
          <a:xfrm>
            <a:off x="533400" y="6070600"/>
            <a:ext cx="190500" cy="190500"/>
          </a:xfrm>
          <a:prstGeom prst="ellipse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CA93EB1-03E7-72F6-555F-E06D8D85BA07}"/>
              </a:ext>
            </a:extLst>
          </p:cNvPr>
          <p:cNvSpPr txBox="1"/>
          <p:nvPr/>
        </p:nvSpPr>
        <p:spPr>
          <a:xfrm>
            <a:off x="812800" y="59944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D91D636-6574-C806-1F8C-614AF1349FBA}"/>
              </a:ext>
            </a:extLst>
          </p:cNvPr>
          <p:cNvSpPr txBox="1"/>
          <p:nvPr/>
        </p:nvSpPr>
        <p:spPr>
          <a:xfrm>
            <a:off x="3848100" y="5994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(1.7%)</a:t>
            </a:r>
            <a:endParaRPr kumimoji="1" lang="ja-JP" altLang="en-US" sz="14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E0BC057-9CC7-522C-7B77-A22E8FCA16C3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BAC034B2-D620-D0B5-945A-0F96327EA35E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915ED79-7B82-8034-38DE-44ABAA153E29}"/>
              </a:ext>
            </a:extLst>
          </p:cNvPr>
          <p:cNvSpPr txBox="1"/>
          <p:nvPr/>
        </p:nvSpPr>
        <p:spPr>
          <a:xfrm>
            <a:off x="6629400" y="1282700"/>
            <a:ext cx="5130800" cy="6104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万が一の際、当院を利用したいですか？（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C0CCAB7-3098-A50E-F222-E9D2023A2C57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部分円 37">
            <a:extLst>
              <a:ext uri="{FF2B5EF4-FFF2-40B4-BE49-F238E27FC236}">
                <a16:creationId xmlns:a16="http://schemas.microsoft.com/office/drawing/2014/main" id="{8CBC03E6-E4A8-18A5-DED2-4EF650C47F63}"/>
              </a:ext>
            </a:extLst>
          </p:cNvPr>
          <p:cNvSpPr/>
          <p:nvPr/>
        </p:nvSpPr>
        <p:spPr>
          <a:xfrm>
            <a:off x="7835900" y="1803400"/>
            <a:ext cx="2489200" cy="2489200"/>
          </a:xfrm>
          <a:prstGeom prst="pie">
            <a:avLst>
              <a:gd name="adj1" fmla="val 16200000"/>
              <a:gd name="adj2" fmla="val 864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部分円 38">
            <a:extLst>
              <a:ext uri="{FF2B5EF4-FFF2-40B4-BE49-F238E27FC236}">
                <a16:creationId xmlns:a16="http://schemas.microsoft.com/office/drawing/2014/main" id="{05A8EBFD-7EB2-4016-5AD1-4143FAF2EFDD}"/>
              </a:ext>
            </a:extLst>
          </p:cNvPr>
          <p:cNvSpPr/>
          <p:nvPr/>
        </p:nvSpPr>
        <p:spPr>
          <a:xfrm>
            <a:off x="7835900" y="1803400"/>
            <a:ext cx="2489200" cy="2489200"/>
          </a:xfrm>
          <a:prstGeom prst="pie">
            <a:avLst>
              <a:gd name="adj1" fmla="val 86400"/>
              <a:gd name="adj2" fmla="val 140832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部分円 39">
            <a:extLst>
              <a:ext uri="{FF2B5EF4-FFF2-40B4-BE49-F238E27FC236}">
                <a16:creationId xmlns:a16="http://schemas.microsoft.com/office/drawing/2014/main" id="{FA248A9E-CF9E-E67E-EA27-DD1BEF8B24AB}"/>
              </a:ext>
            </a:extLst>
          </p:cNvPr>
          <p:cNvSpPr/>
          <p:nvPr/>
        </p:nvSpPr>
        <p:spPr>
          <a:xfrm>
            <a:off x="7835900" y="1803400"/>
            <a:ext cx="2489200" cy="2489200"/>
          </a:xfrm>
          <a:prstGeom prst="pie">
            <a:avLst>
              <a:gd name="adj1" fmla="val 14083200"/>
              <a:gd name="adj2" fmla="val 15638401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部分円 40">
            <a:extLst>
              <a:ext uri="{FF2B5EF4-FFF2-40B4-BE49-F238E27FC236}">
                <a16:creationId xmlns:a16="http://schemas.microsoft.com/office/drawing/2014/main" id="{C51052FC-052E-3899-192B-C6F2845E289C}"/>
              </a:ext>
            </a:extLst>
          </p:cNvPr>
          <p:cNvSpPr/>
          <p:nvPr/>
        </p:nvSpPr>
        <p:spPr>
          <a:xfrm>
            <a:off x="7835900" y="1803400"/>
            <a:ext cx="2489200" cy="2489200"/>
          </a:xfrm>
          <a:prstGeom prst="pie">
            <a:avLst>
              <a:gd name="adj1" fmla="val 15638401"/>
              <a:gd name="adj2" fmla="val 16178401"/>
            </a:avLst>
          </a:prstGeom>
          <a:solidFill>
            <a:srgbClr val="CBD5E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7FF14427-96DD-F527-F6FB-B24606B259C2}"/>
              </a:ext>
            </a:extLst>
          </p:cNvPr>
          <p:cNvSpPr/>
          <p:nvPr/>
        </p:nvSpPr>
        <p:spPr>
          <a:xfrm>
            <a:off x="8358632" y="2326132"/>
            <a:ext cx="1443736" cy="144373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15FF7B6-9EA0-A81B-7159-F190571A55B4}"/>
              </a:ext>
            </a:extLst>
          </p:cNvPr>
          <p:cNvSpPr txBox="1"/>
          <p:nvPr/>
        </p:nvSpPr>
        <p:spPr>
          <a:xfrm>
            <a:off x="8128000" y="2768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利用・検討したい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3DDEC18-5A76-CCE2-333D-AC511B883AC6}"/>
              </a:ext>
            </a:extLst>
          </p:cNvPr>
          <p:cNvSpPr txBox="1"/>
          <p:nvPr/>
        </p:nvSpPr>
        <p:spPr>
          <a:xfrm>
            <a:off x="8128000" y="3073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90.3% (213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D8A55ED-A73D-EB6F-A6FD-BFAD0FC6AAC4}"/>
              </a:ext>
            </a:extLst>
          </p:cNvPr>
          <p:cNvSpPr/>
          <p:nvPr/>
        </p:nvSpPr>
        <p:spPr>
          <a:xfrm>
            <a:off x="6400800" y="4483100"/>
            <a:ext cx="5359400" cy="4318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06BF9AAC-3E37-D70F-55F2-0FB21A8D4939}"/>
              </a:ext>
            </a:extLst>
          </p:cNvPr>
          <p:cNvSpPr/>
          <p:nvPr/>
        </p:nvSpPr>
        <p:spPr>
          <a:xfrm>
            <a:off x="6502400" y="45974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86DCD82-0AB6-0347-8718-D8E331B76FB9}"/>
              </a:ext>
            </a:extLst>
          </p:cNvPr>
          <p:cNvSpPr txBox="1"/>
          <p:nvPr/>
        </p:nvSpPr>
        <p:spPr>
          <a:xfrm>
            <a:off x="6781800" y="4521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ぜひ利用したい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FE39FF5-FA6C-9FF4-FE80-323DEB54C56B}"/>
              </a:ext>
            </a:extLst>
          </p:cNvPr>
          <p:cNvSpPr txBox="1"/>
          <p:nvPr/>
        </p:nvSpPr>
        <p:spPr>
          <a:xfrm>
            <a:off x="9817100" y="4521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(25.4%)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C3334C2C-1F4F-5DBA-9486-FC2221CE2D0E}"/>
              </a:ext>
            </a:extLst>
          </p:cNvPr>
          <p:cNvSpPr/>
          <p:nvPr/>
        </p:nvSpPr>
        <p:spPr>
          <a:xfrm>
            <a:off x="6400800" y="4991100"/>
            <a:ext cx="5359400" cy="43180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A6E1FB7A-9C5F-ED69-7E37-631EDA1C4D32}"/>
              </a:ext>
            </a:extLst>
          </p:cNvPr>
          <p:cNvSpPr/>
          <p:nvPr/>
        </p:nvSpPr>
        <p:spPr>
          <a:xfrm>
            <a:off x="6502400" y="5105400"/>
            <a:ext cx="190500" cy="1905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A1B61E4-65D7-2029-49B8-039662B7576E}"/>
              </a:ext>
            </a:extLst>
          </p:cNvPr>
          <p:cNvSpPr txBox="1"/>
          <p:nvPr/>
        </p:nvSpPr>
        <p:spPr>
          <a:xfrm>
            <a:off x="6781800" y="5029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候補の一つとして検討したい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201DB46-A5E3-F9E5-5D8D-93A529195BF4}"/>
              </a:ext>
            </a:extLst>
          </p:cNvPr>
          <p:cNvSpPr txBox="1"/>
          <p:nvPr/>
        </p:nvSpPr>
        <p:spPr>
          <a:xfrm>
            <a:off x="9817100" y="5029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C8B0BCA2-AC48-812B-E19C-8B6A1F66DC55}"/>
              </a:ext>
            </a:extLst>
          </p:cNvPr>
          <p:cNvSpPr/>
          <p:nvPr/>
        </p:nvSpPr>
        <p:spPr>
          <a:xfrm>
            <a:off x="6502400" y="5613400"/>
            <a:ext cx="190500" cy="1905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54ED2F6-5C80-5572-B558-C37B9BBC5034}"/>
              </a:ext>
            </a:extLst>
          </p:cNvPr>
          <p:cNvSpPr txBox="1"/>
          <p:nvPr/>
        </p:nvSpPr>
        <p:spPr>
          <a:xfrm>
            <a:off x="6781800" y="55372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他の病院を選ぶ・わからない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75BF37A-2446-9909-06D2-6131FD171B3B}"/>
              </a:ext>
            </a:extLst>
          </p:cNvPr>
          <p:cNvSpPr txBox="1"/>
          <p:nvPr/>
        </p:nvSpPr>
        <p:spPr>
          <a:xfrm>
            <a:off x="9817100" y="55372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(7.2%)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9C79FAD-5280-F7F9-0F91-7911625FF6C8}"/>
              </a:ext>
            </a:extLst>
          </p:cNvPr>
          <p:cNvSpPr/>
          <p:nvPr/>
        </p:nvSpPr>
        <p:spPr>
          <a:xfrm>
            <a:off x="6502400" y="6070600"/>
            <a:ext cx="190500" cy="190500"/>
          </a:xfrm>
          <a:prstGeom prst="ellipse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8547D94-8BCC-7745-3718-76E0B16533A6}"/>
              </a:ext>
            </a:extLst>
          </p:cNvPr>
          <p:cNvSpPr txBox="1"/>
          <p:nvPr/>
        </p:nvSpPr>
        <p:spPr>
          <a:xfrm>
            <a:off x="6781800" y="5994400"/>
            <a:ext cx="3314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833D28F-2B4A-C1EC-B461-CDEF45C81DBD}"/>
              </a:ext>
            </a:extLst>
          </p:cNvPr>
          <p:cNvSpPr txBox="1"/>
          <p:nvPr/>
        </p:nvSpPr>
        <p:spPr>
          <a:xfrm>
            <a:off x="9817100" y="5994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(2.5%)</a:t>
            </a:r>
            <a:endParaRPr kumimoji="1" lang="ja-JP" altLang="en-US" sz="14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871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0F8D72-385C-9F8A-FB63-79A367630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03E32D2-CF6D-A9DD-549D-5AD5556D3BAA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3F1D1DA-45CE-7A29-2617-4AEAD683FBD8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B8E426-C3F6-E68E-3A12-6DF325D9FBF0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133301-5B21-FD09-E5A0-C9C67F6A564E}"/>
              </a:ext>
            </a:extLst>
          </p:cNvPr>
          <p:cNvSpPr txBox="1"/>
          <p:nvPr/>
        </p:nvSpPr>
        <p:spPr>
          <a:xfrm>
            <a:off x="2895600" y="304800"/>
            <a:ext cx="78486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現在健康について気になることはありますか？（グラフ＋「その他」自由記載）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EB9BD23-DA38-BFC1-120B-E7798F81B87C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2514CB-EDA9-3A5A-81AB-43A0A720B534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83B6744-3101-6B23-1F44-AC52C6BF2476}"/>
              </a:ext>
            </a:extLst>
          </p:cNvPr>
          <p:cNvSpPr/>
          <p:nvPr/>
        </p:nvSpPr>
        <p:spPr>
          <a:xfrm>
            <a:off x="254000" y="1117600"/>
            <a:ext cx="6223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DF87413-82D5-B74B-97D3-7C5FFC8522AB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3B49B7-7349-3EF5-42DA-7C84089CD9F5}"/>
              </a:ext>
            </a:extLst>
          </p:cNvPr>
          <p:cNvSpPr txBox="1"/>
          <p:nvPr/>
        </p:nvSpPr>
        <p:spPr>
          <a:xfrm>
            <a:off x="660400" y="1282700"/>
            <a:ext cx="5638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健康について気になること（複数回答・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6C109E-D61F-1CFC-1BF6-030880E25D73}"/>
              </a:ext>
            </a:extLst>
          </p:cNvPr>
          <p:cNvSpPr/>
          <p:nvPr/>
        </p:nvSpPr>
        <p:spPr>
          <a:xfrm>
            <a:off x="457200" y="1727200"/>
            <a:ext cx="5816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A2E5AA5-9607-CDD8-2895-DB737DB1990B}"/>
              </a:ext>
            </a:extLst>
          </p:cNvPr>
          <p:cNvSpPr txBox="1"/>
          <p:nvPr/>
        </p:nvSpPr>
        <p:spPr>
          <a:xfrm>
            <a:off x="457200" y="1879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足腰の衰え・転倒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80CFB23-1DA8-B079-F38F-5F3EFEC37DED}"/>
              </a:ext>
            </a:extLst>
          </p:cNvPr>
          <p:cNvSpPr/>
          <p:nvPr/>
        </p:nvSpPr>
        <p:spPr>
          <a:xfrm>
            <a:off x="2501900" y="19431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6A1A82D-E6E2-7F13-759C-EC6A02EEBB05}"/>
              </a:ext>
            </a:extLst>
          </p:cNvPr>
          <p:cNvSpPr/>
          <p:nvPr/>
        </p:nvSpPr>
        <p:spPr>
          <a:xfrm>
            <a:off x="2501900" y="1943100"/>
            <a:ext cx="1701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77F412-4427-6A9D-B6CB-DEFA7716102A}"/>
              </a:ext>
            </a:extLst>
          </p:cNvPr>
          <p:cNvSpPr txBox="1"/>
          <p:nvPr/>
        </p:nvSpPr>
        <p:spPr>
          <a:xfrm>
            <a:off x="4762500" y="1879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93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(39.4%)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53FDB1D-E3C4-BBE4-584D-8BC2729753A3}"/>
              </a:ext>
            </a:extLst>
          </p:cNvPr>
          <p:cNvSpPr txBox="1"/>
          <p:nvPr/>
        </p:nvSpPr>
        <p:spPr>
          <a:xfrm>
            <a:off x="457200" y="2438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食事・栄養バランス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1C61279-9EBA-11BA-2309-D7D150A2E57F}"/>
              </a:ext>
            </a:extLst>
          </p:cNvPr>
          <p:cNvSpPr/>
          <p:nvPr/>
        </p:nvSpPr>
        <p:spPr>
          <a:xfrm>
            <a:off x="2501900" y="2501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DF1BDCE-ECED-B690-7CA7-3DA8FEC6D1F9}"/>
              </a:ext>
            </a:extLst>
          </p:cNvPr>
          <p:cNvSpPr/>
          <p:nvPr/>
        </p:nvSpPr>
        <p:spPr>
          <a:xfrm>
            <a:off x="2501900" y="2501900"/>
            <a:ext cx="1447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DE72F04-8382-0CB6-4E73-002FD40A92F8}"/>
              </a:ext>
            </a:extLst>
          </p:cNvPr>
          <p:cNvSpPr txBox="1"/>
          <p:nvPr/>
        </p:nvSpPr>
        <p:spPr>
          <a:xfrm>
            <a:off x="4762500" y="2438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79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(33.5%)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A743761-A239-2A67-47D0-311A83EB177E}"/>
              </a:ext>
            </a:extLst>
          </p:cNvPr>
          <p:cNvSpPr txBox="1"/>
          <p:nvPr/>
        </p:nvSpPr>
        <p:spPr>
          <a:xfrm>
            <a:off x="457200" y="2997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物忘れ・認知機能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DB67589-0207-2301-E14E-A7EF533939BA}"/>
              </a:ext>
            </a:extLst>
          </p:cNvPr>
          <p:cNvSpPr/>
          <p:nvPr/>
        </p:nvSpPr>
        <p:spPr>
          <a:xfrm>
            <a:off x="2501900" y="30607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0197AC2-9CCA-EAE8-181D-EC9E052DEEDF}"/>
              </a:ext>
            </a:extLst>
          </p:cNvPr>
          <p:cNvSpPr/>
          <p:nvPr/>
        </p:nvSpPr>
        <p:spPr>
          <a:xfrm>
            <a:off x="2501900" y="3060700"/>
            <a:ext cx="14351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3ED2C29-13E6-C6C7-5A66-122A91E7A4C4}"/>
              </a:ext>
            </a:extLst>
          </p:cNvPr>
          <p:cNvSpPr txBox="1"/>
          <p:nvPr/>
        </p:nvSpPr>
        <p:spPr>
          <a:xfrm>
            <a:off x="4762500" y="2997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78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(33.1%)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7614CFB-D8DB-2A4E-5656-D94872D2B961}"/>
              </a:ext>
            </a:extLst>
          </p:cNvPr>
          <p:cNvSpPr txBox="1"/>
          <p:nvPr/>
        </p:nvSpPr>
        <p:spPr>
          <a:xfrm>
            <a:off x="457200" y="3556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将来の介護や終活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77F7DB9-AC4F-7DBC-CC3C-4B132ECB90FF}"/>
              </a:ext>
            </a:extLst>
          </p:cNvPr>
          <p:cNvSpPr/>
          <p:nvPr/>
        </p:nvSpPr>
        <p:spPr>
          <a:xfrm>
            <a:off x="2501900" y="36195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D3E5B74-1B0F-BB8C-D422-D2603968C156}"/>
              </a:ext>
            </a:extLst>
          </p:cNvPr>
          <p:cNvSpPr/>
          <p:nvPr/>
        </p:nvSpPr>
        <p:spPr>
          <a:xfrm>
            <a:off x="2501900" y="361950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AC290D-EF18-88D7-EE8A-1A00A639BA39}"/>
              </a:ext>
            </a:extLst>
          </p:cNvPr>
          <p:cNvSpPr txBox="1"/>
          <p:nvPr/>
        </p:nvSpPr>
        <p:spPr>
          <a:xfrm>
            <a:off x="4762500" y="3556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71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(30.1%)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C0FAFC9-2009-2101-BC3D-6CF704B57407}"/>
              </a:ext>
            </a:extLst>
          </p:cNvPr>
          <p:cNvSpPr txBox="1"/>
          <p:nvPr/>
        </p:nvSpPr>
        <p:spPr>
          <a:xfrm>
            <a:off x="457200" y="4114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とくにない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73EE9366-8CAE-EA62-49DA-9D035E09FEFE}"/>
              </a:ext>
            </a:extLst>
          </p:cNvPr>
          <p:cNvSpPr/>
          <p:nvPr/>
        </p:nvSpPr>
        <p:spPr>
          <a:xfrm>
            <a:off x="2501900" y="41783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6E26A95-01FD-AF31-D8AF-EF5EA71AD8B3}"/>
              </a:ext>
            </a:extLst>
          </p:cNvPr>
          <p:cNvSpPr/>
          <p:nvPr/>
        </p:nvSpPr>
        <p:spPr>
          <a:xfrm>
            <a:off x="2501900" y="4178300"/>
            <a:ext cx="6223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BCA9105-08D1-33E1-3A0A-A40EB7CA9FB6}"/>
              </a:ext>
            </a:extLst>
          </p:cNvPr>
          <p:cNvSpPr txBox="1"/>
          <p:nvPr/>
        </p:nvSpPr>
        <p:spPr>
          <a:xfrm>
            <a:off x="4762500" y="4114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34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(14.4%)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A6A6CC4-F8E0-2F07-1595-781726059E42}"/>
              </a:ext>
            </a:extLst>
          </p:cNvPr>
          <p:cNvSpPr txBox="1"/>
          <p:nvPr/>
        </p:nvSpPr>
        <p:spPr>
          <a:xfrm>
            <a:off x="457200" y="4673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薬の飲み方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85A278A-1A45-3519-1730-0D7FD30319C6}"/>
              </a:ext>
            </a:extLst>
          </p:cNvPr>
          <p:cNvSpPr/>
          <p:nvPr/>
        </p:nvSpPr>
        <p:spPr>
          <a:xfrm>
            <a:off x="2501900" y="47371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35A98DD9-E21E-D914-8E5C-5E9A00A12024}"/>
              </a:ext>
            </a:extLst>
          </p:cNvPr>
          <p:cNvSpPr/>
          <p:nvPr/>
        </p:nvSpPr>
        <p:spPr>
          <a:xfrm>
            <a:off x="2501900" y="47371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FF4947-C00D-B070-F699-7A743BF6FA0E}"/>
              </a:ext>
            </a:extLst>
          </p:cNvPr>
          <p:cNvSpPr txBox="1"/>
          <p:nvPr/>
        </p:nvSpPr>
        <p:spPr>
          <a:xfrm>
            <a:off x="4762500" y="4673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CA4DC1E-52A2-596D-20F1-933CA0500561}"/>
              </a:ext>
            </a:extLst>
          </p:cNvPr>
          <p:cNvSpPr txBox="1"/>
          <p:nvPr/>
        </p:nvSpPr>
        <p:spPr>
          <a:xfrm>
            <a:off x="457200" y="5232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F0A2932C-72ED-3EC1-F266-E0D7BB43AA77}"/>
              </a:ext>
            </a:extLst>
          </p:cNvPr>
          <p:cNvSpPr/>
          <p:nvPr/>
        </p:nvSpPr>
        <p:spPr>
          <a:xfrm>
            <a:off x="2501900" y="5295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5985613B-7515-2E03-0D70-83894871A45C}"/>
              </a:ext>
            </a:extLst>
          </p:cNvPr>
          <p:cNvSpPr/>
          <p:nvPr/>
        </p:nvSpPr>
        <p:spPr>
          <a:xfrm>
            <a:off x="2501900" y="52959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6C675B8-A7E1-830E-200A-895AC483AED4}"/>
              </a:ext>
            </a:extLst>
          </p:cNvPr>
          <p:cNvSpPr txBox="1"/>
          <p:nvPr/>
        </p:nvSpPr>
        <p:spPr>
          <a:xfrm>
            <a:off x="4762500" y="5232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CC2BAF34-49C5-EB4B-DA6A-7923EF986B3A}"/>
              </a:ext>
            </a:extLst>
          </p:cNvPr>
          <p:cNvSpPr/>
          <p:nvPr/>
        </p:nvSpPr>
        <p:spPr>
          <a:xfrm>
            <a:off x="660400" y="6019800"/>
            <a:ext cx="5410200" cy="3810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0E4AA7FC-26F2-36C8-FB27-253415D004C1}"/>
              </a:ext>
            </a:extLst>
          </p:cNvPr>
          <p:cNvSpPr/>
          <p:nvPr/>
        </p:nvSpPr>
        <p:spPr>
          <a:xfrm>
            <a:off x="787400" y="6134100"/>
            <a:ext cx="152400" cy="1524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B0E6BD4-115B-9A1A-DBAB-F1A131469525}"/>
              </a:ext>
            </a:extLst>
          </p:cNvPr>
          <p:cNvSpPr txBox="1"/>
          <p:nvPr/>
        </p:nvSpPr>
        <p:spPr>
          <a:xfrm>
            <a:off x="965200" y="6057900"/>
            <a:ext cx="1841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青：上位 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(30%</a:t>
            </a:r>
            <a:r>
              <a:rPr kumimoji="1" lang="ja-JP" altLang="en-US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超</a:t>
            </a:r>
            <a:r>
              <a:rPr kumimoji="1" lang="en-US" altLang="ja-JP" sz="11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379DF4DE-50D9-D024-1722-7DD6F204107E}"/>
              </a:ext>
            </a:extLst>
          </p:cNvPr>
          <p:cNvSpPr/>
          <p:nvPr/>
        </p:nvSpPr>
        <p:spPr>
          <a:xfrm>
            <a:off x="2794000" y="6134100"/>
            <a:ext cx="152400" cy="1524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A15C081-7FCE-5B9A-3254-41597CDB4E79}"/>
              </a:ext>
            </a:extLst>
          </p:cNvPr>
          <p:cNvSpPr txBox="1"/>
          <p:nvPr/>
        </p:nvSpPr>
        <p:spPr>
          <a:xfrm>
            <a:off x="2971800" y="6057900"/>
            <a:ext cx="1714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赤：最少 </a:t>
            </a:r>
            <a:r>
              <a:rPr kumimoji="1" lang="en-US" altLang="ja-JP" sz="11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1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D75C3283-23C2-2228-8DD0-46A13DF36936}"/>
              </a:ext>
            </a:extLst>
          </p:cNvPr>
          <p:cNvSpPr/>
          <p:nvPr/>
        </p:nvSpPr>
        <p:spPr>
          <a:xfrm>
            <a:off x="4673600" y="6134100"/>
            <a:ext cx="152400" cy="1524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CFF359C-F73D-C75F-0026-95DA5B7EB27F}"/>
              </a:ext>
            </a:extLst>
          </p:cNvPr>
          <p:cNvSpPr txBox="1"/>
          <p:nvPr/>
        </p:nvSpPr>
        <p:spPr>
          <a:xfrm>
            <a:off x="4851400" y="6057900"/>
            <a:ext cx="1206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1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灰：中間・標準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3578C97A-1E72-5843-4A7D-CAC005C46FC3}"/>
              </a:ext>
            </a:extLst>
          </p:cNvPr>
          <p:cNvSpPr/>
          <p:nvPr/>
        </p:nvSpPr>
        <p:spPr>
          <a:xfrm>
            <a:off x="6680200" y="1117600"/>
            <a:ext cx="5257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EA5DD295-F60E-260B-115C-13CBF0E821C3}"/>
              </a:ext>
            </a:extLst>
          </p:cNvPr>
          <p:cNvSpPr/>
          <p:nvPr/>
        </p:nvSpPr>
        <p:spPr>
          <a:xfrm>
            <a:off x="6883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B14F8E4-C345-9052-5114-EB2E86F193EB}"/>
              </a:ext>
            </a:extLst>
          </p:cNvPr>
          <p:cNvSpPr txBox="1"/>
          <p:nvPr/>
        </p:nvSpPr>
        <p:spPr>
          <a:xfrm>
            <a:off x="7086600" y="1282700"/>
            <a:ext cx="4673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「その他」の自由記載内容（計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54F26FD-3804-AA32-AF4C-B14969737018}"/>
              </a:ext>
            </a:extLst>
          </p:cNvPr>
          <p:cNvSpPr/>
          <p:nvPr/>
        </p:nvSpPr>
        <p:spPr>
          <a:xfrm>
            <a:off x="6883400" y="1727200"/>
            <a:ext cx="4851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85450632-098C-EEC9-82B6-CDAF5E1A26C7}"/>
              </a:ext>
            </a:extLst>
          </p:cNvPr>
          <p:cNvSpPr/>
          <p:nvPr/>
        </p:nvSpPr>
        <p:spPr>
          <a:xfrm>
            <a:off x="6883400" y="1879600"/>
            <a:ext cx="4851400" cy="4495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C296503A-DE63-F69B-D32D-92D0441D24F6}"/>
              </a:ext>
            </a:extLst>
          </p:cNvPr>
          <p:cNvSpPr txBox="1"/>
          <p:nvPr/>
        </p:nvSpPr>
        <p:spPr>
          <a:xfrm>
            <a:off x="7035800" y="1981200"/>
            <a:ext cx="4546600" cy="381745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・血圧 ／ 血圧が高い（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・糖尿病（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・ひざの痛み（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・足がつる、むくみ（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・胃痛（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・痔（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・早く目が覚める、夜間トイレに行く（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・薬に頼らず努力で（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・病気について（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347156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DC35E98-33CB-2A0D-64AF-F4D2FC21C4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7E6D9D2-2973-050D-C7F1-874B4A97FFB4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0D86A9A-E567-8462-057E-77DF4906A494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A4FD49-CA8E-B5ED-F0F8-2240DF6D833A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5059C8-50C3-BE13-4830-192943E88DAF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Q5.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来年に期待する内容は何ですか？（自由記載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577EEC5-ED22-AF57-DED4-B0E441C61362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1E572C-BED3-2BED-AFAD-3735727680F5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A73AC8D-54E1-11E5-51C9-4244D2BCBECE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CCB0752-637D-9FCA-CEE7-B59A506B65A2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9B3060-6B1A-B8B6-F9D4-E06D37E1E9EB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測定・運動・健康チェックに関する記載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3FA38B-7ADB-884A-9751-624E4E02E557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E3FA464-AF6E-C578-343A-E1BBE2FFC8CB}"/>
              </a:ext>
            </a:extLst>
          </p:cNvPr>
          <p:cNvSpPr/>
          <p:nvPr/>
        </p:nvSpPr>
        <p:spPr>
          <a:xfrm>
            <a:off x="457200" y="1879600"/>
            <a:ext cx="5308600" cy="4495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9AFC1B-463E-93E7-D325-AFB05763C6D1}"/>
              </a:ext>
            </a:extLst>
          </p:cNvPr>
          <p:cNvSpPr txBox="1"/>
          <p:nvPr/>
        </p:nvSpPr>
        <p:spPr>
          <a:xfrm>
            <a:off x="609600" y="1981200"/>
            <a:ext cx="5003800" cy="354969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・今年と同じ内容・同様の測定（筋肉量測定・血管年齢測定など）を来年も継続してほしい（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・自宅の椅子に座っている時のストレッチ、日々できる簡単な運動体験、筋肉をつける姿勢を知りたい（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・認知機能の衰えチェック、認知症・フレイル予防、体力測定をしてほしい（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・転倒予防、バランスが悪いか・転倒危険度のチェックをしてほしい（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・骨粗しょう症・骨密度チェックと対策をしてほしい（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・今回測定した項目以外にも、さらに色々な測定・気軽な健康チェックをしてほしい（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C86CF75-2D74-17E5-2B82-B2E24205723E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C61D99F-1C85-287C-8BC6-8C2F391D7DF4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2F90462-D4E4-4D62-7B02-05D479FC90CC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相談・感想・運営面に関する記載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8970A4E-61FF-A80C-17A7-BE15278190BD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E5D421E-F2EA-AB2C-6A27-5FF476A94161}"/>
              </a:ext>
            </a:extLst>
          </p:cNvPr>
          <p:cNvSpPr/>
          <p:nvPr/>
        </p:nvSpPr>
        <p:spPr>
          <a:xfrm>
            <a:off x="6426200" y="1879600"/>
            <a:ext cx="5308600" cy="4495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3DBF89-4F64-6F14-43F8-FC605FFA436A}"/>
              </a:ext>
            </a:extLst>
          </p:cNvPr>
          <p:cNvSpPr txBox="1"/>
          <p:nvPr/>
        </p:nvSpPr>
        <p:spPr>
          <a:xfrm>
            <a:off x="6578600" y="1981200"/>
            <a:ext cx="5003800" cy="434990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・介護生活の相談、食事、家族が病院に入院した際の飲む薬について知りたい（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・薬について（ジェネリックが効かない）（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・こんな症状には何科に行ったらいいか、五十肩、リハビリへの取り組み方を知りたい（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・マンションで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人ほど入院した方がいて、とてもリハビリが良かったとのこと（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・リハビリセンサーや測定が参考になりとても良かった、来年も元気でいられるアドバイスをお願いしたい（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・記入用のバインダーがあると助かる（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で靴を脱ぐ際、靴入れと靴ベラがあると良かった（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・測定の案内（スタンプラリー）の順番をわかりやすくしてほしい（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109866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CAAE99-FC76-F009-5BC8-A094FB911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3EEF0F1-94B3-E2FB-AE95-7337B0CF45BC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2C4C5F-8B4D-B2CC-5477-18BB1948B96D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58D5CC-1BE8-9DF0-B515-F6B7E6D091A5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847FD1-32F4-2493-337E-CA4BCA3EB90E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今回のどーんと祭に参加して良かったですか？ ／ ② ①の理由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957EE38-887B-4221-D5C3-D450CDB57B85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8FA198-240B-1B4A-BCC0-3F2331E11780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6D4DFB7-A578-2FA6-D2D9-8414386C28C2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5E680AE-4C1C-51AA-1B8B-13D063B79546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BF1C1A-F984-534C-594C-C9DF2253B226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参加して良かったですか？（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2568398-5A20-54C9-30CC-3729F0B410B5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F7BB0EE-775C-EF6D-5AF5-00D628436391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ellipse">
            <a:avLst/>
          </a:prstGeom>
          <a:solidFill>
            <a:srgbClr val="10A37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5734278-78B6-63CE-4034-34B31E849A0D}"/>
              </a:ext>
            </a:extLst>
          </p:cNvPr>
          <p:cNvSpPr/>
          <p:nvPr/>
        </p:nvSpPr>
        <p:spPr>
          <a:xfrm>
            <a:off x="2177034" y="2431034"/>
            <a:ext cx="1487932" cy="148793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A6B0E94-185D-BE39-2315-BB8FDBD892A7}"/>
              </a:ext>
            </a:extLst>
          </p:cNvPr>
          <p:cNvSpPr txBox="1"/>
          <p:nvPr/>
        </p:nvSpPr>
        <p:spPr>
          <a:xfrm>
            <a:off x="1968500" y="2895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E15CB68-D175-63DF-A9BE-7981F148AD81}"/>
              </a:ext>
            </a:extLst>
          </p:cNvPr>
          <p:cNvSpPr txBox="1"/>
          <p:nvPr/>
        </p:nvSpPr>
        <p:spPr>
          <a:xfrm>
            <a:off x="1968500" y="3200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100% (13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EF7388C-A889-216E-8366-BAE28B8FEAB4}"/>
              </a:ext>
            </a:extLst>
          </p:cNvPr>
          <p:cNvSpPr/>
          <p:nvPr/>
        </p:nvSpPr>
        <p:spPr>
          <a:xfrm>
            <a:off x="482600" y="4889500"/>
            <a:ext cx="4876800" cy="4318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CA9629E-B11A-5BAC-3575-95A0CF3BCEA4}"/>
              </a:ext>
            </a:extLst>
          </p:cNvPr>
          <p:cNvSpPr/>
          <p:nvPr/>
        </p:nvSpPr>
        <p:spPr>
          <a:xfrm>
            <a:off x="584200" y="50038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ACF52D-A2A5-D29F-57F9-245B5A05BCCF}"/>
              </a:ext>
            </a:extLst>
          </p:cNvPr>
          <p:cNvSpPr txBox="1"/>
          <p:nvPr/>
        </p:nvSpPr>
        <p:spPr>
          <a:xfrm>
            <a:off x="863600" y="49276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73CFC1-8F0B-8610-5159-FB857E35C325}"/>
              </a:ext>
            </a:extLst>
          </p:cNvPr>
          <p:cNvSpPr txBox="1"/>
          <p:nvPr/>
        </p:nvSpPr>
        <p:spPr>
          <a:xfrm>
            <a:off x="3416300" y="4927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(100.0%)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D7982B6D-8441-650C-A75A-82FA44141DAC}"/>
              </a:ext>
            </a:extLst>
          </p:cNvPr>
          <p:cNvSpPr/>
          <p:nvPr/>
        </p:nvSpPr>
        <p:spPr>
          <a:xfrm>
            <a:off x="584200" y="5562600"/>
            <a:ext cx="190500" cy="190500"/>
          </a:xfrm>
          <a:prstGeom prst="ellipse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21C0927-8933-117E-F14E-B16ADC70CF17}"/>
              </a:ext>
            </a:extLst>
          </p:cNvPr>
          <p:cNvSpPr txBox="1"/>
          <p:nvPr/>
        </p:nvSpPr>
        <p:spPr>
          <a:xfrm>
            <a:off x="863600" y="54864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AE4F5EE-DD13-CA7E-1FB7-3381DA13A014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(0.0%)</a:t>
            </a:r>
            <a:endParaRPr kumimoji="1" lang="ja-JP" altLang="en-US" sz="14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699222F-E54D-CA34-2F5F-F8303BB5B946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ED919666-D3A1-1419-0190-19B67039D542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E1B2805-93F8-8C03-0068-2D816964771F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 ①の理由を教えてください（自由記載の要約）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355A080-885D-2085-7289-4557B468DB9C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77C3AA1-EBD2-DE94-2115-AA993D213484}"/>
              </a:ext>
            </a:extLst>
          </p:cNvPr>
          <p:cNvSpPr/>
          <p:nvPr/>
        </p:nvSpPr>
        <p:spPr>
          <a:xfrm>
            <a:off x="5994400" y="1879600"/>
            <a:ext cx="5740400" cy="4495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2995A-8BB4-24E8-68D6-2232921FC2DD}"/>
              </a:ext>
            </a:extLst>
          </p:cNvPr>
          <p:cNvSpPr txBox="1"/>
          <p:nvPr/>
        </p:nvSpPr>
        <p:spPr>
          <a:xfrm>
            <a:off x="6146800" y="1981200"/>
            <a:ext cx="5435600" cy="354969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・地域住民の方と直接お話しし、当院や介護予防教室を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できたため。
・一般の方々の生活習慣や悩みをリアルに伺え、ご家族が悩まれていることに寄り添える病院だと伝えられたため。
・他部門メンバーと同じ目標に向かって一致団結し、普段できないようなコミュニケーションを取れたため。
・多職種連携ができた、多職種と楽しく地域社会に関われた、当院の結束力が感じられたため。
・たくさんの方が来場されやりがいを感じた、予防医療の大切さや病院アピールの改善点が分かったため。
・普段は病院内で働いているため、外で地域の人と関わる活動が新鮮で良い経験になったため。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220685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A69AF2-F003-9D10-859A-A927209CF9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C05A127-0D4E-E209-58EA-1E06AEE4182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344E3E-5FB1-AA61-B955-0421013370BE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4DD842-B9BD-022C-A2B8-3FD033BC6D38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DB7B8F-7A69-C97B-8438-58DA4673FC61}"/>
              </a:ext>
            </a:extLst>
          </p:cNvPr>
          <p:cNvSpPr txBox="1"/>
          <p:nvPr/>
        </p:nvSpPr>
        <p:spPr>
          <a:xfrm>
            <a:off x="2895600" y="304800"/>
            <a:ext cx="78486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自部署の出展内容や役割は地域住民に貢献できましたか？ ／ ④ ③の理由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CAEA3A9-D8FC-C91F-B879-99BFF72AA0FA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FFF9E7-17D5-BD67-86FC-E5591297938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5A8D035-E1A1-3BFA-DAD0-6139B2B56D21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AAC9127-6BCB-DD42-C2E6-C7D5DD730211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0C81CD-DED1-6B8F-6B5D-57097C912E22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地域住民に貢献できましたか？（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E026A7-D136-B490-135D-3E6306B2D38E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7343758C-E24F-82E1-96FF-9CAD2E502308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6200000"/>
              <a:gd name="adj2" fmla="val 145368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3F7AA2B2-A812-2019-F7F2-0DE9B8687DCC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45368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58CB78F-DAF7-0651-332B-AA172A2260F6}"/>
              </a:ext>
            </a:extLst>
          </p:cNvPr>
          <p:cNvSpPr/>
          <p:nvPr/>
        </p:nvSpPr>
        <p:spPr>
          <a:xfrm>
            <a:off x="2177034" y="2431034"/>
            <a:ext cx="1487932" cy="148793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B546D74-76FB-F8BE-762F-E17E8B4700F3}"/>
              </a:ext>
            </a:extLst>
          </p:cNvPr>
          <p:cNvSpPr txBox="1"/>
          <p:nvPr/>
        </p:nvSpPr>
        <p:spPr>
          <a:xfrm>
            <a:off x="1968500" y="2895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E69289-379E-4E03-EAF3-75E8E9D4FC5E}"/>
              </a:ext>
            </a:extLst>
          </p:cNvPr>
          <p:cNvSpPr txBox="1"/>
          <p:nvPr/>
        </p:nvSpPr>
        <p:spPr>
          <a:xfrm>
            <a:off x="1968500" y="3200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92.3% (12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423D7D5-3AD0-A60D-FD2C-57E9067F3679}"/>
              </a:ext>
            </a:extLst>
          </p:cNvPr>
          <p:cNvSpPr/>
          <p:nvPr/>
        </p:nvSpPr>
        <p:spPr>
          <a:xfrm>
            <a:off x="482600" y="4889500"/>
            <a:ext cx="4876800" cy="4318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CE0EBF7D-88DE-E0A1-64E2-72A34477C018}"/>
              </a:ext>
            </a:extLst>
          </p:cNvPr>
          <p:cNvSpPr/>
          <p:nvPr/>
        </p:nvSpPr>
        <p:spPr>
          <a:xfrm>
            <a:off x="584200" y="50038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58CF817-CCAC-C07D-41B5-294462443B9A}"/>
              </a:ext>
            </a:extLst>
          </p:cNvPr>
          <p:cNvSpPr txBox="1"/>
          <p:nvPr/>
        </p:nvSpPr>
        <p:spPr>
          <a:xfrm>
            <a:off x="863600" y="49276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9F1F605-39F0-093A-EE7A-4540B78926DB}"/>
              </a:ext>
            </a:extLst>
          </p:cNvPr>
          <p:cNvSpPr txBox="1"/>
          <p:nvPr/>
        </p:nvSpPr>
        <p:spPr>
          <a:xfrm>
            <a:off x="3416300" y="4927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(92.3%)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C30632CC-3C4C-AE40-A4CD-F4FDEE890B90}"/>
              </a:ext>
            </a:extLst>
          </p:cNvPr>
          <p:cNvSpPr/>
          <p:nvPr/>
        </p:nvSpPr>
        <p:spPr>
          <a:xfrm>
            <a:off x="584200" y="5562600"/>
            <a:ext cx="190500" cy="1905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8B8B93D-DCF7-B84D-27DA-517FDE85843E}"/>
              </a:ext>
            </a:extLst>
          </p:cNvPr>
          <p:cNvSpPr txBox="1"/>
          <p:nvPr/>
        </p:nvSpPr>
        <p:spPr>
          <a:xfrm>
            <a:off x="863600" y="54864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76B3BBA-435B-DA4F-96A6-0064418A5424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(7.7%)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E397155-A368-2711-212C-15F2C6D47AD0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FE95A10-2DDE-C5DC-CAF4-C89A8521DA16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F0EA649-04F7-6618-4A48-C0980D71ADD4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 ③の理由を教えてください（自由記載の要約）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BAD5B07-B524-50B7-2617-808240B778AC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C3AE2593-E1EF-F7FC-0399-A5D6F79CB099}"/>
              </a:ext>
            </a:extLst>
          </p:cNvPr>
          <p:cNvSpPr/>
          <p:nvPr/>
        </p:nvSpPr>
        <p:spPr>
          <a:xfrm>
            <a:off x="5994400" y="1879600"/>
            <a:ext cx="5740400" cy="4495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08D0E80-3770-7FDB-D2F7-99A97C836A23}"/>
              </a:ext>
            </a:extLst>
          </p:cNvPr>
          <p:cNvSpPr txBox="1"/>
          <p:nvPr/>
        </p:nvSpPr>
        <p:spPr>
          <a:xfrm>
            <a:off x="6146800" y="1981200"/>
            <a:ext cx="5435600" cy="30326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・筋肉量測定（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）に興味を持たれた方が多く、測定結果をもとに運動指導やアドバイスができたため。
・自分の身体の状態を知る機会となり、専門職から様々なアドバイスを行えたため。
・限られた時間の中でできる限りの栄養アドバイスを行えたため。
・お薬カレンダーの無料配布を喜んでいた方がいたため。
・高齢者以外の層にも興味を持っていただける内容であり、近隣の医師会ブースと比較しても多くの住民が来場してくれたため。
・受付として待ち時間がかかることを事前に案内できたため。
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・担当テーマが「人生会議」であり、来場者が求めていた内容だったか判断が難しかったため。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382668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F61D55-D6FB-D0A8-478E-93A161CBC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6D97E40-78D6-A7E8-B57B-9D440AEAF2EF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3CCD987-C884-1398-A78D-3F0CC3F9CC6F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11B04F-7E33-D5D0-4E2F-6C2BBBD2674E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2668E5-AFA0-7B60-3546-BC18CDA76B67}"/>
              </a:ext>
            </a:extLst>
          </p:cNvPr>
          <p:cNvSpPr txBox="1"/>
          <p:nvPr/>
        </p:nvSpPr>
        <p:spPr>
          <a:xfrm>
            <a:off x="2895600" y="304800"/>
            <a:ext cx="78486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今回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区画を借りて出展しましたが広さはいかがでしたか？ ／ ⑥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A4E8296-6B83-DB09-4553-50D98FDDA29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069084-050C-FCA9-DD96-0AADA0E85813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64532DD-D106-D4FF-7D2D-DAB52C0AD757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646E838-0CB7-21C4-DF85-BC4A1EE81D8A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B5C7E8F-CA8F-345E-F454-3D96F13BA25A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区画の広さはいかがでしたか？（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7FA2C6-DAA3-715E-7D9E-68C896B9A4A9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227B4556-D3FA-9CC1-A22C-F53004B529D6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6200000"/>
              <a:gd name="adj2" fmla="val 78840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FEB2A470-F427-2B5F-761C-4CC4E8CCEF35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7884000"/>
              <a:gd name="adj2" fmla="val 16200000"/>
            </a:avLst>
          </a:prstGeom>
          <a:solidFill>
            <a:srgbClr val="E14B4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AEF8AC3-F976-3BA1-ABA1-12BCE765DCB0}"/>
              </a:ext>
            </a:extLst>
          </p:cNvPr>
          <p:cNvSpPr/>
          <p:nvPr/>
        </p:nvSpPr>
        <p:spPr>
          <a:xfrm>
            <a:off x="2177034" y="2431034"/>
            <a:ext cx="1487932" cy="148793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E7FC425-2FB2-B511-EAE1-2B627F2A9DAE}"/>
              </a:ext>
            </a:extLst>
          </p:cNvPr>
          <p:cNvSpPr txBox="1"/>
          <p:nvPr/>
        </p:nvSpPr>
        <p:spPr>
          <a:xfrm>
            <a:off x="1968500" y="2895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93A77D-0271-2E78-674E-69E2B86179FA}"/>
              </a:ext>
            </a:extLst>
          </p:cNvPr>
          <p:cNvSpPr txBox="1"/>
          <p:nvPr/>
        </p:nvSpPr>
        <p:spPr>
          <a:xfrm>
            <a:off x="1968500" y="3200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38.5% (5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16B6AC7C-5020-8EE4-0B44-0280150AB386}"/>
              </a:ext>
            </a:extLst>
          </p:cNvPr>
          <p:cNvSpPr/>
          <p:nvPr/>
        </p:nvSpPr>
        <p:spPr>
          <a:xfrm>
            <a:off x="584200" y="50038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60418B9-D03D-1550-CCA5-9DFC7B42E9C6}"/>
              </a:ext>
            </a:extLst>
          </p:cNvPr>
          <p:cNvSpPr txBox="1"/>
          <p:nvPr/>
        </p:nvSpPr>
        <p:spPr>
          <a:xfrm>
            <a:off x="863600" y="49276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EA67F0A-722A-F831-F90A-C98E87944A8D}"/>
              </a:ext>
            </a:extLst>
          </p:cNvPr>
          <p:cNvSpPr txBox="1"/>
          <p:nvPr/>
        </p:nvSpPr>
        <p:spPr>
          <a:xfrm>
            <a:off x="3416300" y="4927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(61.5%)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2462994-564B-B110-4087-3ECFC1826230}"/>
              </a:ext>
            </a:extLst>
          </p:cNvPr>
          <p:cNvSpPr/>
          <p:nvPr/>
        </p:nvSpPr>
        <p:spPr>
          <a:xfrm>
            <a:off x="482600" y="5448300"/>
            <a:ext cx="4876800" cy="431800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4AFD9586-971C-1A4C-BED5-FA39BCB749BF}"/>
              </a:ext>
            </a:extLst>
          </p:cNvPr>
          <p:cNvSpPr/>
          <p:nvPr/>
        </p:nvSpPr>
        <p:spPr>
          <a:xfrm>
            <a:off x="584200" y="5562600"/>
            <a:ext cx="190500" cy="1905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45AC7AC-16A6-CA5E-3C85-1E9D0367B003}"/>
              </a:ext>
            </a:extLst>
          </p:cNvPr>
          <p:cNvSpPr txBox="1"/>
          <p:nvPr/>
        </p:nvSpPr>
        <p:spPr>
          <a:xfrm>
            <a:off x="863600" y="54864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ABFB769-FFA3-5D07-851D-67F43814D815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(38.5%)</a:t>
            </a:r>
            <a:endParaRPr kumimoji="1" lang="ja-JP" altLang="en-US" sz="14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D955FA0-97CA-FB5D-2C02-C6AC900DB8AC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636DBAE-A961-B121-DEFF-0E61FE6D0E91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1C14681-DB2D-42EE-3CA2-8AD3DA0A7176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⑥「問題あり」と答えた方の具体的な問題点（要約）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1B69695-2297-83B0-85A6-77C39F4FA1F9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F9521AC-BEA8-5E9B-80F5-37D6AA287D78}"/>
              </a:ext>
            </a:extLst>
          </p:cNvPr>
          <p:cNvSpPr/>
          <p:nvPr/>
        </p:nvSpPr>
        <p:spPr>
          <a:xfrm>
            <a:off x="5994400" y="1879600"/>
            <a:ext cx="5740400" cy="4495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3A8E173-9461-BCC7-716A-7B78BC489C46}"/>
              </a:ext>
            </a:extLst>
          </p:cNvPr>
          <p:cNvSpPr txBox="1"/>
          <p:nvPr/>
        </p:nvSpPr>
        <p:spPr>
          <a:xfrm>
            <a:off x="6146800" y="2032000"/>
            <a:ext cx="5435600" cy="238013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・常に混雑していたため狭かった。
・時間帯にもよるが、お待ちの方々が座れず、外出をお勧めして対応した。
・満席の状態が続くことがあり、移動時に狭そうな様子が見受けられた。
・</a:t>
            </a:r>
            <a:r>
              <a:rPr kumimoji="1" lang="en-US" altLang="ja-JP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の測定スペースが狭かった。
・同規模で行うならそのままでもよいが、</a:t>
            </a:r>
            <a:r>
              <a:rPr kumimoji="1" lang="en-US" altLang="ja-JP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を増やすなど規模を広げるのであれば、もう半テント（</a:t>
            </a:r>
            <a:r>
              <a:rPr kumimoji="1" lang="en-US" altLang="ja-JP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区画）必要と感じた。</a:t>
            </a:r>
          </a:p>
        </p:txBody>
      </p:sp>
    </p:spTree>
    <p:extLst>
      <p:ext uri="{BB962C8B-B14F-4D97-AF65-F5344CB8AC3E}">
        <p14:creationId xmlns:p14="http://schemas.microsoft.com/office/powerpoint/2010/main" val="290459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09D024-132A-9301-2780-62EBD1181F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B988D47-C891-7699-9C2D-FB288F998459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A1E9377-39C3-4699-B58D-258E40905892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704EEE-87EB-3D3A-CECF-76195687528F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2844285-FA9F-5E10-33D9-10EE48CB3578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今回の人員配置（部署参加人数）は適切でしたか？ ／ ⑧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58E80A4-91DA-9925-D4A8-5B2C46C60BCC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698FEB-C7AC-886D-6E3E-D1607175C52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EAF781C-F025-8215-0184-F8D06CB1F8E5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B832E0-3928-A4ED-9437-61798D90A896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648B05-526E-FE8B-D4D2-8E779993EF8D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人員配置は適切でしたか？（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30F4439-2CF3-8396-42ED-6E28CFF53458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6B6D1322-205A-399E-D873-640791DD9667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6200000"/>
              <a:gd name="adj2" fmla="val 11210400"/>
            </a:avLst>
          </a:prstGeom>
          <a:solidFill>
            <a:srgbClr val="E14B4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0C7DEC29-7C34-7457-AF9D-793C805A7C7A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1210400"/>
              <a:gd name="adj2" fmla="val 162000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B68C73B-6FC0-8044-5C8C-076A2CFAFA50}"/>
              </a:ext>
            </a:extLst>
          </p:cNvPr>
          <p:cNvSpPr/>
          <p:nvPr/>
        </p:nvSpPr>
        <p:spPr>
          <a:xfrm>
            <a:off x="2177034" y="2431034"/>
            <a:ext cx="1487932" cy="148793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64B1AD7-60CE-A169-A28E-499B3360B219}"/>
              </a:ext>
            </a:extLst>
          </p:cNvPr>
          <p:cNvSpPr txBox="1"/>
          <p:nvPr/>
        </p:nvSpPr>
        <p:spPr>
          <a:xfrm>
            <a:off x="1968500" y="2895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883FF5D-25B0-47B5-B890-0FAD031BE955}"/>
              </a:ext>
            </a:extLst>
          </p:cNvPr>
          <p:cNvSpPr txBox="1"/>
          <p:nvPr/>
        </p:nvSpPr>
        <p:spPr>
          <a:xfrm>
            <a:off x="1968500" y="3200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76.9% (10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5D737EE-F4F0-537C-6DF9-A074D36416F1}"/>
              </a:ext>
            </a:extLst>
          </p:cNvPr>
          <p:cNvSpPr/>
          <p:nvPr/>
        </p:nvSpPr>
        <p:spPr>
          <a:xfrm>
            <a:off x="482600" y="4889500"/>
            <a:ext cx="4876800" cy="431800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459D742C-A5A0-8868-BB18-8EA5C4B85985}"/>
              </a:ext>
            </a:extLst>
          </p:cNvPr>
          <p:cNvSpPr/>
          <p:nvPr/>
        </p:nvSpPr>
        <p:spPr>
          <a:xfrm>
            <a:off x="584200" y="5003800"/>
            <a:ext cx="190500" cy="190500"/>
          </a:xfrm>
          <a:prstGeom prst="ellipse">
            <a:avLst/>
          </a:prstGeom>
          <a:solidFill>
            <a:srgbClr val="E1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FA00525-AA46-58AD-7368-2A8959FA0732}"/>
              </a:ext>
            </a:extLst>
          </p:cNvPr>
          <p:cNvSpPr txBox="1"/>
          <p:nvPr/>
        </p:nvSpPr>
        <p:spPr>
          <a:xfrm>
            <a:off x="863600" y="49276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21F9EC2-6DF5-8835-94BA-307173908AAB}"/>
              </a:ext>
            </a:extLst>
          </p:cNvPr>
          <p:cNvSpPr txBox="1"/>
          <p:nvPr/>
        </p:nvSpPr>
        <p:spPr>
          <a:xfrm>
            <a:off x="3416300" y="4927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14B4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(76.9%)</a:t>
            </a:r>
            <a:endParaRPr kumimoji="1" lang="ja-JP" altLang="en-US" sz="1450" b="1">
              <a:solidFill>
                <a:srgbClr val="E14B4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86E8093C-B32A-F374-7991-6D25B4F285D5}"/>
              </a:ext>
            </a:extLst>
          </p:cNvPr>
          <p:cNvSpPr/>
          <p:nvPr/>
        </p:nvSpPr>
        <p:spPr>
          <a:xfrm>
            <a:off x="584200" y="55626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EF39B5C-8B8A-262E-DFF5-A20AD2BCCA88}"/>
              </a:ext>
            </a:extLst>
          </p:cNvPr>
          <p:cNvSpPr txBox="1"/>
          <p:nvPr/>
        </p:nvSpPr>
        <p:spPr>
          <a:xfrm>
            <a:off x="863600" y="54864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59EDB59-902B-27C3-554A-BC00F9F83374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(23.1%)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637469A-3B47-2C9E-6FE7-2DCB2BB8DE09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8721E20-6014-AC1A-0FCA-CD11B536BF8B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80E028E-7B7D-7E20-6FB6-F47581309374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⑧「問題あり」と答えた方の具体的な問題点（要約）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95799B0-CEBD-52B8-23C4-930518B8F7E5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9F2BF937-6D6E-0577-AF8E-AD8BA1D74DD5}"/>
              </a:ext>
            </a:extLst>
          </p:cNvPr>
          <p:cNvSpPr/>
          <p:nvPr/>
        </p:nvSpPr>
        <p:spPr>
          <a:xfrm>
            <a:off x="5994400" y="1879600"/>
            <a:ext cx="5740400" cy="4495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E7A2CBB-EE8E-B10F-6AB0-2569347E2C98}"/>
              </a:ext>
            </a:extLst>
          </p:cNvPr>
          <p:cNvSpPr txBox="1"/>
          <p:nvPr/>
        </p:nvSpPr>
        <p:spPr>
          <a:xfrm>
            <a:off x="6146800" y="1981200"/>
            <a:ext cx="5435600" cy="31618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・来場者が多く、休憩時間がほとんど取れなかった（長くても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10〜15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回程度）。
・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人が休憩に入ると残りの人数で回すのが大変だったため、リハ・測定スタッフや看護スタッフをあと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1〜3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名多く配置してほしい。
・並んでいる方や待っている方を公平に案内する「誘導係（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名程度）」が必要だった。
・全体を把握・調整する「全体統括」の役割が必要だった。
・事務スタッフがもう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名いると良いと感じた。
・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日間連続の出勤は負担が大きかった。</a:t>
            </a:r>
          </a:p>
        </p:txBody>
      </p:sp>
    </p:spTree>
    <p:extLst>
      <p:ext uri="{BB962C8B-B14F-4D97-AF65-F5344CB8AC3E}">
        <p14:creationId xmlns:p14="http://schemas.microsoft.com/office/powerpoint/2010/main" val="51145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BB0F9E-BC26-1AE8-EAF4-CFDDC542DB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31D7EBB-D5E0-E6F3-005A-A1EE9F2A2030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D44D54E-6566-5C3B-7539-294BD23C0C60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DA8C0A-0F0F-492F-6F5F-4CC4E45F5D92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DCDCD1-A802-9096-7BC2-A32CF9D3BA83}"/>
              </a:ext>
            </a:extLst>
          </p:cNvPr>
          <p:cNvSpPr txBox="1"/>
          <p:nvPr/>
        </p:nvSpPr>
        <p:spPr>
          <a:xfrm>
            <a:off x="2895600" y="304800"/>
            <a:ext cx="78486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来年も自部署が参加する必要性はあると考えますか？ ／ ⑩ ⑨の理由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A1345D1-7943-CE5C-8DAD-66E8DE25348E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32E584-A8B8-76A1-941C-AB2DDB67DC14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9C385AF-1DF0-F7F0-1A26-F31232FCC340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D63C0B1-9EB4-ACFE-5EE6-F86129B485EA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0408083-2899-0550-2AD5-61863AA13F32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来年も参加する必要性はありますか？（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528262A-6C08-7E85-61B2-66BF0C92A1EB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E2825171-84A9-058A-818A-A280BDA25786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6200000"/>
              <a:gd name="adj2" fmla="val 12873600"/>
            </a:avLst>
          </a:prstGeom>
          <a:solidFill>
            <a:srgbClr val="10A37F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72D46F67-C843-4914-3BD8-5025630F582F}"/>
              </a:ext>
            </a:extLst>
          </p:cNvPr>
          <p:cNvSpPr/>
          <p:nvPr/>
        </p:nvSpPr>
        <p:spPr>
          <a:xfrm>
            <a:off x="1638300" y="1892300"/>
            <a:ext cx="2565400" cy="2565400"/>
          </a:xfrm>
          <a:prstGeom prst="pie">
            <a:avLst>
              <a:gd name="adj1" fmla="val 128736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4BEBD72-C6BE-5031-32A8-BDBE55DBCF2A}"/>
              </a:ext>
            </a:extLst>
          </p:cNvPr>
          <p:cNvSpPr/>
          <p:nvPr/>
        </p:nvSpPr>
        <p:spPr>
          <a:xfrm>
            <a:off x="2177034" y="2431034"/>
            <a:ext cx="1487932" cy="148793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415661A-9440-AE4D-B130-7C175C598217}"/>
              </a:ext>
            </a:extLst>
          </p:cNvPr>
          <p:cNvSpPr txBox="1"/>
          <p:nvPr/>
        </p:nvSpPr>
        <p:spPr>
          <a:xfrm>
            <a:off x="1968500" y="28956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E82211-3DF7-FCA4-BC77-3B3E0AA17EE6}"/>
              </a:ext>
            </a:extLst>
          </p:cNvPr>
          <p:cNvSpPr txBox="1"/>
          <p:nvPr/>
        </p:nvSpPr>
        <p:spPr>
          <a:xfrm>
            <a:off x="1968500" y="32004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84.6% (11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8EAC1F0-523F-DBB0-C5CC-6BE893FD1A30}"/>
              </a:ext>
            </a:extLst>
          </p:cNvPr>
          <p:cNvSpPr/>
          <p:nvPr/>
        </p:nvSpPr>
        <p:spPr>
          <a:xfrm>
            <a:off x="482600" y="4889500"/>
            <a:ext cx="4876800" cy="43180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31BA63B-6CEA-1C7A-F998-15A7D1D8A04C}"/>
              </a:ext>
            </a:extLst>
          </p:cNvPr>
          <p:cNvSpPr/>
          <p:nvPr/>
        </p:nvSpPr>
        <p:spPr>
          <a:xfrm>
            <a:off x="584200" y="5003800"/>
            <a:ext cx="190500" cy="190500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2FF66C2-9DD1-21B2-2464-01EC36019899}"/>
              </a:ext>
            </a:extLst>
          </p:cNvPr>
          <p:cNvSpPr txBox="1"/>
          <p:nvPr/>
        </p:nvSpPr>
        <p:spPr>
          <a:xfrm>
            <a:off x="863600" y="49276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09B850-1DF6-B466-B4AB-78952B64FEC8}"/>
              </a:ext>
            </a:extLst>
          </p:cNvPr>
          <p:cNvSpPr txBox="1"/>
          <p:nvPr/>
        </p:nvSpPr>
        <p:spPr>
          <a:xfrm>
            <a:off x="3416300" y="4927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(84.6%)</a:t>
            </a:r>
            <a:endParaRPr kumimoji="1" lang="ja-JP" altLang="en-US" sz="14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876181F-AA06-126B-C6CD-AA9A85D1C222}"/>
              </a:ext>
            </a:extLst>
          </p:cNvPr>
          <p:cNvSpPr/>
          <p:nvPr/>
        </p:nvSpPr>
        <p:spPr>
          <a:xfrm>
            <a:off x="584200" y="5562600"/>
            <a:ext cx="190500" cy="1905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B0C108A-154D-FF51-E75C-13FD3A6ED508}"/>
              </a:ext>
            </a:extLst>
          </p:cNvPr>
          <p:cNvSpPr txBox="1"/>
          <p:nvPr/>
        </p:nvSpPr>
        <p:spPr>
          <a:xfrm>
            <a:off x="863600" y="5486400"/>
            <a:ext cx="2832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F28522-9B5E-BFDD-4958-8507A1C4E8AB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(15.4%)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6E69CFF-0E97-4EF2-9794-D0FC08868D35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F330026-B088-17CD-8AB7-036F27AD7A39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28B610-980F-2DEB-3855-DAE042FEA052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⑩ ⑨の理由を教えてください（自由記載の要約）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60EF6B0-5451-4645-6BF6-6626B06405D9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193ECABE-55AE-771F-AB15-026D49055082}"/>
              </a:ext>
            </a:extLst>
          </p:cNvPr>
          <p:cNvSpPr/>
          <p:nvPr/>
        </p:nvSpPr>
        <p:spPr>
          <a:xfrm>
            <a:off x="5994400" y="1879600"/>
            <a:ext cx="5740400" cy="4495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EA55F49-F3D3-CF47-C230-7C381C1A72A8}"/>
              </a:ext>
            </a:extLst>
          </p:cNvPr>
          <p:cNvSpPr txBox="1"/>
          <p:nvPr/>
        </p:nvSpPr>
        <p:spPr>
          <a:xfrm>
            <a:off x="6146800" y="1955800"/>
            <a:ext cx="5435600" cy="29895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・まだまだ当院の認知度が低いことが分かり、病院を宣伝する良い機会になるため。
・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測定が大変好評であり、健康に対する地域の皆様の関心が高いため。
・栄養相談の需要が想像以上に高いと分かったため。
・血管年齢測定に加えてその他の健康相談をされる方も複数おり、看護師として生活アドバイスを行う必要があるため。
・多職種で関わることで一致団結感が生まれるため。
・病院として出展するなら全部署が参加した方が良いと感じるため（少人数部署は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日間のうち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日参加や相談がある時のみの対応でもよい）。
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4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日連続の参加はきついため。 ／ ・自部署に限らず人員としては必要だと思うため。</a:t>
            </a:r>
          </a:p>
        </p:txBody>
      </p:sp>
    </p:spTree>
    <p:extLst>
      <p:ext uri="{BB962C8B-B14F-4D97-AF65-F5344CB8AC3E}">
        <p14:creationId xmlns:p14="http://schemas.microsoft.com/office/powerpoint/2010/main" val="4339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CF1BA33-EF3E-EC3A-D581-1BBA9DF870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BCBE80C-5496-1B8E-9D5A-25AE20BD7929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C9C6BD1-67AF-DEEB-E774-2481F59024F5}"/>
              </a:ext>
            </a:extLst>
          </p:cNvPr>
          <p:cNvSpPr/>
          <p:nvPr/>
        </p:nvSpPr>
        <p:spPr>
          <a:xfrm>
            <a:off x="431800" y="342900"/>
            <a:ext cx="2311400" cy="457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753225-6376-8E4E-F60D-D794A1346759}"/>
              </a:ext>
            </a:extLst>
          </p:cNvPr>
          <p:cNvSpPr txBox="1"/>
          <p:nvPr/>
        </p:nvSpPr>
        <p:spPr>
          <a:xfrm>
            <a:off x="431800" y="381000"/>
            <a:ext cx="23114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E58BB14-0DD3-A7EE-7539-30E1315CD73B}"/>
              </a:ext>
            </a:extLst>
          </p:cNvPr>
          <p:cNvSpPr txBox="1"/>
          <p:nvPr/>
        </p:nvSpPr>
        <p:spPr>
          <a:xfrm>
            <a:off x="2895600" y="304800"/>
            <a:ext cx="78486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⑪ 来年に向けて改善・強化・取り入れた方がよいこと（自由記載の要約）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A34CB3C-0BE2-9E1F-0000-97EC0FEF5D26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59455B-297E-3E85-1E3C-3A40B23D88C8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A37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 / 12</a:t>
            </a:r>
            <a:endParaRPr kumimoji="1" lang="ja-JP" altLang="en-US" sz="1250" b="1">
              <a:solidFill>
                <a:srgbClr val="10A37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5314DBB-9157-E385-72CB-E95362120B07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736E68F-A812-C16D-4D62-E9D6CC58468E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B036A1-B63C-C7B6-7A9E-1DF79ED5173E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機器・動線・シフト体制に関する記載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054ED6-F856-BD68-9A95-B262E6A2C147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7132195-391D-2680-6FF4-C1D29FF0D41B}"/>
              </a:ext>
            </a:extLst>
          </p:cNvPr>
          <p:cNvSpPr/>
          <p:nvPr/>
        </p:nvSpPr>
        <p:spPr>
          <a:xfrm>
            <a:off x="457200" y="1879600"/>
            <a:ext cx="5308600" cy="4495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424349-BC98-7FA8-9322-7FF84EBFBA40}"/>
              </a:ext>
            </a:extLst>
          </p:cNvPr>
          <p:cNvSpPr txBox="1"/>
          <p:nvPr/>
        </p:nvSpPr>
        <p:spPr>
          <a:xfrm>
            <a:off x="609600" y="1981200"/>
            <a:ext cx="5003800" cy="36604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のスペース拡張と「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台体制」への増設（希望者が多く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分以上待ちとなり最後は並ぶのを中止したため／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台では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150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人が限度／または先着何名までと決める）。
・待ち時間防止のため整理番号を配って時間で来てもらう方式、またはブースを自由に回るのではなく「栄養→薬剤→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MSW→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看護」と順路を決めて誘導する方式の導入。
・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の待ち時間に健康情報を提供するなど有効活用する工夫、栄養相談は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の結果ありきで話す連携、栄養士セミナー形式の検討。
・参加職員の休憩時間を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時間確保してほしい（各日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5〜6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人での運用、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日目の現地集合組の設定、スタッフ用おにぎり・サンドイッチ等の準備）。
・医師の参加の検討。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C9ECA68-000D-2C41-92AB-F99B646F1202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8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1DBFB32-6CA9-6691-D009-93BC94F02130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74CFE47-4288-D56C-19F4-2832DD85ED9A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広報・持参品・備品に関する記載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2647C8C-E0CB-330E-B1D7-55273E1A3499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9E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3ED27D5-90BC-D348-6A22-812EFDEE984B}"/>
              </a:ext>
            </a:extLst>
          </p:cNvPr>
          <p:cNvSpPr/>
          <p:nvPr/>
        </p:nvSpPr>
        <p:spPr>
          <a:xfrm>
            <a:off x="6426200" y="1879600"/>
            <a:ext cx="5308600" cy="4495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43EC06E-BEBB-739B-2069-83646FAB3529}"/>
              </a:ext>
            </a:extLst>
          </p:cNvPr>
          <p:cNvSpPr txBox="1"/>
          <p:nvPr/>
        </p:nvSpPr>
        <p:spPr>
          <a:xfrm>
            <a:off x="6578600" y="1981200"/>
            <a:ext cx="5003800" cy="282333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・病院広報誌、どんな病院か（リハ病院の役割）が分かる紹介パネル、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Instagram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等の映像、求人広告・ポスターの持参（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リハ病院の役割を知らない方や医療センターと誤認している方がいたため）。
・「あなたの健康カルテ」に①受付番号、②実年齢・西暦の生年月日（血管年齢の入力に必要なため）の記入欄を追加。
・ノベルティや配布物の拡充（アンケート回答者全員へのプレゼント、病院名入りボールペン、防災グッズを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200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個程度へ増量、お薬カレンダーを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個程度へ増量、エコバッグの増量、食べ物の無料配布など）。
・区画スペース拡大時の折りたたみ椅子増設、入口の右向き矢印表示、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用のペースメーカー</a:t>
            </a:r>
            <a:r>
              <a:rPr kumimoji="1" lang="en-US" altLang="ja-JP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36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表示の準備。</a:t>
            </a:r>
          </a:p>
        </p:txBody>
      </p:sp>
    </p:spTree>
    <p:extLst>
      <p:ext uri="{BB962C8B-B14F-4D97-AF65-F5344CB8AC3E}">
        <p14:creationId xmlns:p14="http://schemas.microsoft.com/office/powerpoint/2010/main" val="340771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2685</Words>
  <Application>Microsoft Office PowerPoint</Application>
  <PresentationFormat>ユーザー設定</PresentationFormat>
  <Paragraphs>190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憲幸 保科</dc:creator>
  <cp:lastModifiedBy>憲幸 保科</cp:lastModifiedBy>
  <cp:revision>1</cp:revision>
  <dcterms:created xsi:type="dcterms:W3CDTF">2026-10-21T00:35:40Z</dcterms:created>
  <dcterms:modified xsi:type="dcterms:W3CDTF">2026-10-21T00:35:40Z</dcterms:modified>
</cp:coreProperties>
</file>