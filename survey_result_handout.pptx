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A5642A-4AAF-B2ED-EEE6-D7E2E6002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A8B730D-E65F-1725-C8DF-91CA890AAE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E055C2-5665-F939-616C-15915E166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4FA7E4-29A8-DFEF-6078-CF031DADD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3A97D-4CC4-C3E5-E053-5E63523F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1141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FB91BF-7153-1712-8792-DEBFE7508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1319594-9D69-3664-3013-E6C44889A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4C1-ED8A-4112-BC82-CAAA13D1C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010FC7-6E18-9C4D-448D-2B2A5E72C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72DD53-3F62-5D97-3FC1-012DB4E57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938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EB84AC-18AF-56F6-E848-BDCB181E3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03B27B7-1093-B30E-9632-8A13EF4A2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8AE7235-D8D0-6504-C433-1A37EB49F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8AAF7-4A0B-50D9-3F41-13F3B5F79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9BF1F-C1E3-F5AA-B5EB-84794BD5A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4614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391F1-DEEC-D8A9-D931-9474B5E52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7B6B9EA-4E7C-EC40-FBDF-90BA42BE19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8B0614-25B0-FB70-0289-7C2B5FA57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C54E211-C9CB-08D1-89EC-A3C76863C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ADB2D-86C8-B04C-7141-93592E404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CB240E-57CB-7C86-186D-6A2714754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530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4EF271-C92F-ECAF-4730-3737741C3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09E25A-E7A9-7392-C880-5E6E240A9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18230EF-5854-26AA-5243-9CDB99C88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D5AE7B-14CF-AEE9-BF73-8CAE5B757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093247-4CC9-EC32-D8F2-08A5E56426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FB6E22-B0A8-3840-30AD-C216A35C5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53651FB-6A7F-DA3E-D6F1-2436F1B05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6F4B9F0-C518-7A05-6052-E8675A87F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1447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3380C6-D7A5-B1DF-FB53-9CB52E303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A809EE-AB8B-C567-A729-12240156A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3B6A242-4379-5C55-2E2A-3DD1D31D3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90D507B-1CE4-A475-C6B8-F5954A6C3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0832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592AD3-0595-F994-BE0E-E050A4D8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E15E757-6FAD-CBB6-B021-0F463EA6B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058F7B-7A2E-294A-BD67-FD4B7E5D0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732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90B52B-1C81-C8DE-3987-A579A07A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2DFDD1-2101-2611-B2A7-97CCD578E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82B5958-7457-8FC6-A61D-2784BC59D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2E803C-A3DC-2D9D-6060-533532651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EFA214-CE5C-315E-3CD4-DA8D35359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F19460-78FD-6039-C8F4-5C5CA7BB6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637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8C6890-535B-FB5A-829A-F7485F875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7C834F4-9B3D-CC29-C87C-DE18332AF8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B131067-E04E-4BE5-96D8-3D5390E5DA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09F670-E188-9AC6-C5C3-DC6D5F0BC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4BD4894-8D1B-7117-D313-E61EB2BAE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DBC290-E56F-54AA-0E19-833051FA1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376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91DB94-DF36-660F-CE50-F3C2EE099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3DB642-324F-461B-7527-415B1B717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11A602-132A-AAB4-8D15-E44AD67CE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AEF253-43A4-8FFF-CEA0-3C97CF1D0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7039CE-F7E1-05C1-D364-1FC2700FA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294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8AC0FFB-0D1C-0218-36D7-025F238410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098379C-57AC-DEA6-B354-1CD7722747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A87292-3E13-37E8-4357-D62025AF3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CA979-363E-CB64-060E-124EB2995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3FFAD9-0C61-D885-28DE-53FDE8AB9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6683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3567D63-474D-EDEC-603C-748F0279B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EB09F9-36CE-3A2F-CBD5-C937AF5B6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DB18C3-DA97-938D-84B1-AF756F87D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80766-2638-422C-A3F2-9B63D8BA2EA2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7A7BD3-D8BC-8EAC-2449-229242466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A708C8-78D9-27BA-B18E-65D63A796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38FF7-B0AC-4D66-8FFA-EE857CFCD88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3014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3AA9E1-01AD-DB4E-D560-D7ABB6672B1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D95B8EED-346F-DD5A-8F20-286189DD4A01}"/>
              </a:ext>
            </a:extLst>
          </p:cNvPr>
          <p:cNvSpPr/>
          <p:nvPr/>
        </p:nvSpPr>
        <p:spPr>
          <a:xfrm>
            <a:off x="355600" y="355600"/>
            <a:ext cx="11480800" cy="2489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67A518B-ED88-7274-47BF-ABC1183E178F}"/>
              </a:ext>
            </a:extLst>
          </p:cNvPr>
          <p:cNvSpPr/>
          <p:nvPr/>
        </p:nvSpPr>
        <p:spPr>
          <a:xfrm>
            <a:off x="762000" y="812800"/>
            <a:ext cx="914400" cy="9144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9F6E1C7-8D5B-B599-975C-2835E4F55E6F}"/>
              </a:ext>
            </a:extLst>
          </p:cNvPr>
          <p:cNvSpPr/>
          <p:nvPr/>
        </p:nvSpPr>
        <p:spPr>
          <a:xfrm>
            <a:off x="1117600" y="990600"/>
            <a:ext cx="203200" cy="558800"/>
          </a:xfrm>
          <a:prstGeom prst="roundRect">
            <a:avLst>
              <a:gd name="adj" fmla="val 2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0A3AD90-6F91-9D94-0484-25104C84B6F5}"/>
              </a:ext>
            </a:extLst>
          </p:cNvPr>
          <p:cNvSpPr/>
          <p:nvPr/>
        </p:nvSpPr>
        <p:spPr>
          <a:xfrm>
            <a:off x="939800" y="1168400"/>
            <a:ext cx="558800" cy="203200"/>
          </a:xfrm>
          <a:prstGeom prst="roundRect">
            <a:avLst>
              <a:gd name="adj" fmla="val 2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DC3729-2D0F-3FBA-D1FC-15CCA5B48392}"/>
              </a:ext>
            </a:extLst>
          </p:cNvPr>
          <p:cNvSpPr txBox="1"/>
          <p:nvPr/>
        </p:nvSpPr>
        <p:spPr>
          <a:xfrm>
            <a:off x="1955800" y="635000"/>
            <a:ext cx="9398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八千代リハビリテーション病院 ｜ </a:t>
            </a:r>
            <a:r>
              <a:rPr kumimoji="1" lang="en-US" altLang="ja-JP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</a:t>
            </a:r>
            <a:r>
              <a:rPr kumimoji="1" lang="en-US" altLang="ja-JP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</a:t>
            </a:r>
            <a:r>
              <a:rPr kumimoji="1" lang="en-US" altLang="ja-JP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日（土）・</a:t>
            </a:r>
            <a:r>
              <a:rPr kumimoji="1" lang="en-US" altLang="ja-JP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r>
            <a:r>
              <a:rPr kumimoji="1" lang="ja-JP" altLang="en-US" sz="1600" b="1">
                <a:solidFill>
                  <a:srgbClr val="DBEAF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日（日）開催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EA555BA-C622-6CF6-71F4-E34A4BB001A6}"/>
              </a:ext>
            </a:extLst>
          </p:cNvPr>
          <p:cNvSpPr txBox="1"/>
          <p:nvPr/>
        </p:nvSpPr>
        <p:spPr>
          <a:xfrm>
            <a:off x="1955800" y="1117600"/>
            <a:ext cx="9398000" cy="102592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八千代市産業祭「どーんと祭」
アンケート結果報告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AB6CD2CC-E321-71D7-80BB-BFA4C2C84AA4}"/>
              </a:ext>
            </a:extLst>
          </p:cNvPr>
          <p:cNvSpPr/>
          <p:nvPr/>
        </p:nvSpPr>
        <p:spPr>
          <a:xfrm>
            <a:off x="355600" y="3149600"/>
            <a:ext cx="5588000" cy="332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49A2A704-78D1-43D5-1A12-25A6C725F9A3}"/>
              </a:ext>
            </a:extLst>
          </p:cNvPr>
          <p:cNvSpPr/>
          <p:nvPr/>
        </p:nvSpPr>
        <p:spPr>
          <a:xfrm>
            <a:off x="584200" y="3378200"/>
            <a:ext cx="5130800" cy="55880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B390F5E-EEEF-3FE7-9B2C-8B4AEA5E5514}"/>
              </a:ext>
            </a:extLst>
          </p:cNvPr>
          <p:cNvSpPr txBox="1"/>
          <p:nvPr/>
        </p:nvSpPr>
        <p:spPr>
          <a:xfrm>
            <a:off x="584200" y="3467100"/>
            <a:ext cx="5130800" cy="36420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7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7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7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来場者アンケート集計（青テーマ）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CF85E35-AC1C-E889-706C-ADB2D940979E}"/>
              </a:ext>
            </a:extLst>
          </p:cNvPr>
          <p:cNvSpPr txBox="1"/>
          <p:nvPr/>
        </p:nvSpPr>
        <p:spPr>
          <a:xfrm>
            <a:off x="660400" y="4140200"/>
            <a:ext cx="4978400" cy="18261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・ブース来場者数：計 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 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
  （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日目：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日目：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
・アンケート有効回答数：計 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 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
  （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日目：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日目：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
・掲載ページ：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P.2 〜 P.6</a:t>
            </a:r>
            <a:endParaRPr kumimoji="1" lang="ja-JP" altLang="en-US" sz="160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0F3B3CCE-61AF-0672-855C-4D274960C6E8}"/>
              </a:ext>
            </a:extLst>
          </p:cNvPr>
          <p:cNvSpPr/>
          <p:nvPr/>
        </p:nvSpPr>
        <p:spPr>
          <a:xfrm>
            <a:off x="6248400" y="3149600"/>
            <a:ext cx="5588000" cy="332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A08721E-319B-2482-3D78-AFCEC37F3934}"/>
              </a:ext>
            </a:extLst>
          </p:cNvPr>
          <p:cNvSpPr/>
          <p:nvPr/>
        </p:nvSpPr>
        <p:spPr>
          <a:xfrm>
            <a:off x="6477000" y="3378200"/>
            <a:ext cx="5130800" cy="558800"/>
          </a:xfrm>
          <a:prstGeom prst="roundRect">
            <a:avLst>
              <a:gd name="adj" fmla="val 4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82BF3BD-C246-F447-B0FB-B7EE095759DD}"/>
              </a:ext>
            </a:extLst>
          </p:cNvPr>
          <p:cNvSpPr txBox="1"/>
          <p:nvPr/>
        </p:nvSpPr>
        <p:spPr>
          <a:xfrm>
            <a:off x="6477000" y="3467100"/>
            <a:ext cx="5130800" cy="36420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70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70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70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スタッフアンケート集計（緑テーマ）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DBBCFFA-F8DD-79C4-8403-9E56F2FB4F7B}"/>
              </a:ext>
            </a:extLst>
          </p:cNvPr>
          <p:cNvSpPr txBox="1"/>
          <p:nvPr/>
        </p:nvSpPr>
        <p:spPr>
          <a:xfrm>
            <a:off x="6553200" y="4140200"/>
            <a:ext cx="4978400" cy="133369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・対象スタッフ：計 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 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部署）
・回答完了数：計 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 </a:t>
            </a:r>
            <a:r>
              <a:rPr kumimoji="1" lang="ja-JP" altLang="en-US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
・掲載ページ：</a:t>
            </a:r>
            <a:r>
              <a:rPr kumimoji="1" lang="en-US" altLang="ja-JP" sz="16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P.7 〜 P.12</a:t>
            </a:r>
            <a:endParaRPr kumimoji="1" lang="ja-JP" altLang="en-US" sz="160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9768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CBD8438-EFD6-6B24-68DB-672A4B9075B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266323F-0F5D-921B-0A19-948CB3DCEA03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A783A1D-B706-6702-DBC1-6B53AFC3C940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D732184-2B3F-ED62-721A-41B87771C8AB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045929-6264-DB3B-6FB1-07685FE1EA01}"/>
              </a:ext>
            </a:extLst>
          </p:cNvPr>
          <p:cNvSpPr txBox="1"/>
          <p:nvPr/>
        </p:nvSpPr>
        <p:spPr>
          <a:xfrm>
            <a:off x="2870200" y="317500"/>
            <a:ext cx="78994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基本情報：お住まい ／ 性別（</a:t>
            </a:r>
            <a:r>
              <a:rPr kumimoji="1" lang="en-US" altLang="ja-JP" sz="20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20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D9C8B4F-BA2A-1A3B-E9E7-A374BAEB7B59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17B6B98-C90D-2CC4-C9A0-B49F975B8DAE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 / 12</a:t>
            </a:r>
            <a:endParaRPr kumimoji="1" lang="ja-JP" altLang="en-US" sz="12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7887B11A-7399-2263-D577-18CB60353014}"/>
              </a:ext>
            </a:extLst>
          </p:cNvPr>
          <p:cNvSpPr/>
          <p:nvPr/>
        </p:nvSpPr>
        <p:spPr>
          <a:xfrm>
            <a:off x="254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2A9AC57-CD1F-A093-73CC-8C69B49C2A15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D748EFC-4D49-2E6B-E84E-E496B19913C1}"/>
              </a:ext>
            </a:extLst>
          </p:cNvPr>
          <p:cNvSpPr txBox="1"/>
          <p:nvPr/>
        </p:nvSpPr>
        <p:spPr>
          <a:xfrm>
            <a:off x="660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お住まい（単一回答・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7AA4ECA-8CDD-9202-C1FE-64143ACF5239}"/>
              </a:ext>
            </a:extLst>
          </p:cNvPr>
          <p:cNvSpPr/>
          <p:nvPr/>
        </p:nvSpPr>
        <p:spPr>
          <a:xfrm>
            <a:off x="457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部分円 12">
            <a:extLst>
              <a:ext uri="{FF2B5EF4-FFF2-40B4-BE49-F238E27FC236}">
                <a16:creationId xmlns:a16="http://schemas.microsoft.com/office/drawing/2014/main" id="{C673AE67-B690-7811-1831-80B7CF9DB2B5}"/>
              </a:ext>
            </a:extLst>
          </p:cNvPr>
          <p:cNvSpPr/>
          <p:nvPr/>
        </p:nvSpPr>
        <p:spPr>
          <a:xfrm>
            <a:off x="1816100" y="1854200"/>
            <a:ext cx="2590800" cy="2590800"/>
          </a:xfrm>
          <a:prstGeom prst="pie">
            <a:avLst>
              <a:gd name="adj1" fmla="val 16200000"/>
              <a:gd name="adj2" fmla="val 10260000"/>
            </a:avLst>
          </a:prstGeom>
          <a:solidFill>
            <a:srgbClr val="2563E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C4C4AA45-5200-2FB7-5C8B-1E2680C0E4F0}"/>
              </a:ext>
            </a:extLst>
          </p:cNvPr>
          <p:cNvSpPr/>
          <p:nvPr/>
        </p:nvSpPr>
        <p:spPr>
          <a:xfrm>
            <a:off x="1816100" y="1854200"/>
            <a:ext cx="2590800" cy="2590800"/>
          </a:xfrm>
          <a:prstGeom prst="pie">
            <a:avLst>
              <a:gd name="adj1" fmla="val 10260000"/>
              <a:gd name="adj2" fmla="val 159408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部分円 14">
            <a:extLst>
              <a:ext uri="{FF2B5EF4-FFF2-40B4-BE49-F238E27FC236}">
                <a16:creationId xmlns:a16="http://schemas.microsoft.com/office/drawing/2014/main" id="{55D2EB0D-E77E-9600-4F59-099333DEF44B}"/>
              </a:ext>
            </a:extLst>
          </p:cNvPr>
          <p:cNvSpPr/>
          <p:nvPr/>
        </p:nvSpPr>
        <p:spPr>
          <a:xfrm>
            <a:off x="1816100" y="1854200"/>
            <a:ext cx="2590800" cy="2590800"/>
          </a:xfrm>
          <a:prstGeom prst="pie">
            <a:avLst>
              <a:gd name="adj1" fmla="val 15940800"/>
              <a:gd name="adj2" fmla="val 16221599"/>
            </a:avLst>
          </a:prstGeom>
          <a:solidFill>
            <a:srgbClr val="CBD5E1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536F1A47-9939-616F-FA9D-1C29644DAFFA}"/>
              </a:ext>
            </a:extLst>
          </p:cNvPr>
          <p:cNvSpPr/>
          <p:nvPr/>
        </p:nvSpPr>
        <p:spPr>
          <a:xfrm>
            <a:off x="2360168" y="2398268"/>
            <a:ext cx="1502664" cy="1502664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15A53D5-CBC5-81DD-7BF7-C3A6F2ACE459}"/>
              </a:ext>
            </a:extLst>
          </p:cNvPr>
          <p:cNvSpPr txBox="1"/>
          <p:nvPr/>
        </p:nvSpPr>
        <p:spPr>
          <a:xfrm>
            <a:off x="2159000" y="2870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FBCCE1-20E1-1348-9B54-08E97831C886}"/>
              </a:ext>
            </a:extLst>
          </p:cNvPr>
          <p:cNvSpPr txBox="1"/>
          <p:nvPr/>
        </p:nvSpPr>
        <p:spPr>
          <a:xfrm>
            <a:off x="2159000" y="31750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 (171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65000CC-D92C-F836-9CB8-B616A9396182}"/>
              </a:ext>
            </a:extLst>
          </p:cNvPr>
          <p:cNvSpPr/>
          <p:nvPr/>
        </p:nvSpPr>
        <p:spPr>
          <a:xfrm>
            <a:off x="596900" y="4762500"/>
            <a:ext cx="5029200" cy="431800"/>
          </a:xfrm>
          <a:prstGeom prst="roundRect">
            <a:avLst>
              <a:gd name="adj" fmla="val 3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9BC030C6-FDA4-D9EE-EB67-148C3EFAEA3C}"/>
              </a:ext>
            </a:extLst>
          </p:cNvPr>
          <p:cNvSpPr/>
          <p:nvPr/>
        </p:nvSpPr>
        <p:spPr>
          <a:xfrm>
            <a:off x="698500" y="4876800"/>
            <a:ext cx="190500" cy="1905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39A5212-82B0-FF62-8EF0-99537C23EC16}"/>
              </a:ext>
            </a:extLst>
          </p:cNvPr>
          <p:cNvSpPr txBox="1"/>
          <p:nvPr/>
        </p:nvSpPr>
        <p:spPr>
          <a:xfrm>
            <a:off x="977900" y="4800600"/>
            <a:ext cx="2984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8A04424-D335-A606-785B-6A0904A9D06A}"/>
              </a:ext>
            </a:extLst>
          </p:cNvPr>
          <p:cNvSpPr txBox="1"/>
          <p:nvPr/>
        </p:nvSpPr>
        <p:spPr>
          <a:xfrm>
            <a:off x="3683000" y="4800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(72.5%)</a:t>
            </a:r>
            <a:endParaRPr kumimoji="1" lang="ja-JP" altLang="en-US" sz="14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CB4D64E9-9E3B-1A43-9C96-A112504DCAC6}"/>
              </a:ext>
            </a:extLst>
          </p:cNvPr>
          <p:cNvSpPr/>
          <p:nvPr/>
        </p:nvSpPr>
        <p:spPr>
          <a:xfrm>
            <a:off x="698500" y="54102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89EBC99-BD83-78A9-6B19-3C124E710B71}"/>
              </a:ext>
            </a:extLst>
          </p:cNvPr>
          <p:cNvSpPr txBox="1"/>
          <p:nvPr/>
        </p:nvSpPr>
        <p:spPr>
          <a:xfrm>
            <a:off x="977900" y="5334000"/>
            <a:ext cx="2984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八千代市外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3C071AD-92AC-4020-40C3-979342B6CD69}"/>
              </a:ext>
            </a:extLst>
          </p:cNvPr>
          <p:cNvSpPr txBox="1"/>
          <p:nvPr/>
        </p:nvSpPr>
        <p:spPr>
          <a:xfrm>
            <a:off x="3683000" y="53340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547C7F4C-08BF-D059-8C55-0E48E1FF455D}"/>
              </a:ext>
            </a:extLst>
          </p:cNvPr>
          <p:cNvSpPr/>
          <p:nvPr/>
        </p:nvSpPr>
        <p:spPr>
          <a:xfrm>
            <a:off x="698500" y="5918200"/>
            <a:ext cx="190500" cy="190500"/>
          </a:xfrm>
          <a:prstGeom prst="ellipse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6F9DD9B-1240-6421-0335-A683BFF573A2}"/>
              </a:ext>
            </a:extLst>
          </p:cNvPr>
          <p:cNvSpPr txBox="1"/>
          <p:nvPr/>
        </p:nvSpPr>
        <p:spPr>
          <a:xfrm>
            <a:off x="977900" y="5842000"/>
            <a:ext cx="2984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0C0C6F7-3E1D-8C9E-48CB-25B476E5E065}"/>
              </a:ext>
            </a:extLst>
          </p:cNvPr>
          <p:cNvSpPr txBox="1"/>
          <p:nvPr/>
        </p:nvSpPr>
        <p:spPr>
          <a:xfrm>
            <a:off x="3683000" y="58420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(1.3%)</a:t>
            </a:r>
            <a:endParaRPr kumimoji="1" lang="ja-JP" altLang="en-US" sz="14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F86E77F-C068-A7AB-5683-47F3BD70F3E7}"/>
              </a:ext>
            </a:extLst>
          </p:cNvPr>
          <p:cNvSpPr/>
          <p:nvPr/>
        </p:nvSpPr>
        <p:spPr>
          <a:xfrm>
            <a:off x="6223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3C16A327-84C3-D97B-F2C9-450C7539FA5F}"/>
              </a:ext>
            </a:extLst>
          </p:cNvPr>
          <p:cNvSpPr/>
          <p:nvPr/>
        </p:nvSpPr>
        <p:spPr>
          <a:xfrm>
            <a:off x="6426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927C5F5-FF9C-EF0D-5BDF-C4247D8F6C8D}"/>
              </a:ext>
            </a:extLst>
          </p:cNvPr>
          <p:cNvSpPr txBox="1"/>
          <p:nvPr/>
        </p:nvSpPr>
        <p:spPr>
          <a:xfrm>
            <a:off x="6629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性別（単一回答・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0D052835-4983-97A4-4534-1ADF018585D9}"/>
              </a:ext>
            </a:extLst>
          </p:cNvPr>
          <p:cNvSpPr/>
          <p:nvPr/>
        </p:nvSpPr>
        <p:spPr>
          <a:xfrm>
            <a:off x="6426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部分円 32">
            <a:extLst>
              <a:ext uri="{FF2B5EF4-FFF2-40B4-BE49-F238E27FC236}">
                <a16:creationId xmlns:a16="http://schemas.microsoft.com/office/drawing/2014/main" id="{70016CA5-6CE1-76DB-AA26-B250CE339E89}"/>
              </a:ext>
            </a:extLst>
          </p:cNvPr>
          <p:cNvSpPr/>
          <p:nvPr/>
        </p:nvSpPr>
        <p:spPr>
          <a:xfrm>
            <a:off x="7785100" y="1854200"/>
            <a:ext cx="2590800" cy="2590800"/>
          </a:xfrm>
          <a:prstGeom prst="pie">
            <a:avLst>
              <a:gd name="adj1" fmla="val 16200000"/>
              <a:gd name="adj2" fmla="val 8596800"/>
            </a:avLst>
          </a:prstGeom>
          <a:solidFill>
            <a:srgbClr val="EA8A19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4" name="部分円 33">
            <a:extLst>
              <a:ext uri="{FF2B5EF4-FFF2-40B4-BE49-F238E27FC236}">
                <a16:creationId xmlns:a16="http://schemas.microsoft.com/office/drawing/2014/main" id="{165CDF2D-A3EE-7EED-4298-B8B90A948B98}"/>
              </a:ext>
            </a:extLst>
          </p:cNvPr>
          <p:cNvSpPr/>
          <p:nvPr/>
        </p:nvSpPr>
        <p:spPr>
          <a:xfrm>
            <a:off x="7785100" y="1854200"/>
            <a:ext cx="2590800" cy="2590800"/>
          </a:xfrm>
          <a:prstGeom prst="pie">
            <a:avLst>
              <a:gd name="adj1" fmla="val 8596800"/>
              <a:gd name="adj2" fmla="val 16005601"/>
            </a:avLst>
          </a:prstGeom>
          <a:solidFill>
            <a:srgbClr val="2563E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" name="部分円 34">
            <a:extLst>
              <a:ext uri="{FF2B5EF4-FFF2-40B4-BE49-F238E27FC236}">
                <a16:creationId xmlns:a16="http://schemas.microsoft.com/office/drawing/2014/main" id="{4D4BD84A-278B-BA19-ADCD-1AC18427A8BF}"/>
              </a:ext>
            </a:extLst>
          </p:cNvPr>
          <p:cNvSpPr/>
          <p:nvPr/>
        </p:nvSpPr>
        <p:spPr>
          <a:xfrm>
            <a:off x="7785100" y="1854200"/>
            <a:ext cx="2590800" cy="2590800"/>
          </a:xfrm>
          <a:prstGeom prst="pie">
            <a:avLst>
              <a:gd name="adj1" fmla="val 16005601"/>
              <a:gd name="adj2" fmla="val 16178401"/>
            </a:avLst>
          </a:prstGeom>
          <a:solidFill>
            <a:srgbClr val="CBD5E1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DC1BB0A3-CA4A-EF2A-62F6-F6D5E2C1D3E5}"/>
              </a:ext>
            </a:extLst>
          </p:cNvPr>
          <p:cNvSpPr/>
          <p:nvPr/>
        </p:nvSpPr>
        <p:spPr>
          <a:xfrm>
            <a:off x="8329168" y="2398268"/>
            <a:ext cx="1502664" cy="1502664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98EF9C1-1360-E1D9-193A-10A479CADE34}"/>
              </a:ext>
            </a:extLst>
          </p:cNvPr>
          <p:cNvSpPr txBox="1"/>
          <p:nvPr/>
        </p:nvSpPr>
        <p:spPr>
          <a:xfrm>
            <a:off x="8128000" y="2870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女性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EC3A8CD-857B-393F-0EEF-CAF124423C20}"/>
              </a:ext>
            </a:extLst>
          </p:cNvPr>
          <p:cNvSpPr txBox="1"/>
          <p:nvPr/>
        </p:nvSpPr>
        <p:spPr>
          <a:xfrm>
            <a:off x="8128000" y="31750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 (153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F73DA8D2-B569-DDA3-AC27-502EA0D2CACD}"/>
              </a:ext>
            </a:extLst>
          </p:cNvPr>
          <p:cNvSpPr/>
          <p:nvPr/>
        </p:nvSpPr>
        <p:spPr>
          <a:xfrm>
            <a:off x="6565900" y="4762500"/>
            <a:ext cx="5029200" cy="431800"/>
          </a:xfrm>
          <a:prstGeom prst="roundRect">
            <a:avLst>
              <a:gd name="adj" fmla="val 30000"/>
            </a:avLst>
          </a:prstGeom>
          <a:solidFill>
            <a:srgbClr val="FEF9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楕円 39">
            <a:extLst>
              <a:ext uri="{FF2B5EF4-FFF2-40B4-BE49-F238E27FC236}">
                <a16:creationId xmlns:a16="http://schemas.microsoft.com/office/drawing/2014/main" id="{80D70D06-7BE2-6E65-1A72-EE9C022E0073}"/>
              </a:ext>
            </a:extLst>
          </p:cNvPr>
          <p:cNvSpPr/>
          <p:nvPr/>
        </p:nvSpPr>
        <p:spPr>
          <a:xfrm>
            <a:off x="6667500" y="4876800"/>
            <a:ext cx="190500" cy="190500"/>
          </a:xfrm>
          <a:prstGeom prst="ellipse">
            <a:avLst/>
          </a:prstGeom>
          <a:solidFill>
            <a:srgbClr val="EA8A1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7EC84DEA-D34B-CB8E-9F8E-28813BE64D34}"/>
              </a:ext>
            </a:extLst>
          </p:cNvPr>
          <p:cNvSpPr txBox="1"/>
          <p:nvPr/>
        </p:nvSpPr>
        <p:spPr>
          <a:xfrm>
            <a:off x="6946900" y="4800600"/>
            <a:ext cx="2984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女性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4250CC8-73B7-A988-2739-649333B8DBCA}"/>
              </a:ext>
            </a:extLst>
          </p:cNvPr>
          <p:cNvSpPr txBox="1"/>
          <p:nvPr/>
        </p:nvSpPr>
        <p:spPr>
          <a:xfrm>
            <a:off x="9652000" y="4800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EA8A1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450" b="1">
                <a:solidFill>
                  <a:srgbClr val="EA8A1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EA8A1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450" b="1">
              <a:solidFill>
                <a:srgbClr val="EA8A19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1AE9C679-323C-1297-8C40-CD903174B4BA}"/>
              </a:ext>
            </a:extLst>
          </p:cNvPr>
          <p:cNvSpPr/>
          <p:nvPr/>
        </p:nvSpPr>
        <p:spPr>
          <a:xfrm>
            <a:off x="6667500" y="5410200"/>
            <a:ext cx="190500" cy="1905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7EA4E7B-2E40-7CF2-4165-10B3222B5BE6}"/>
              </a:ext>
            </a:extLst>
          </p:cNvPr>
          <p:cNvSpPr txBox="1"/>
          <p:nvPr/>
        </p:nvSpPr>
        <p:spPr>
          <a:xfrm>
            <a:off x="6946900" y="5334000"/>
            <a:ext cx="2984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男性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41FF5877-7A3B-00CF-0B67-9C674BDB48B8}"/>
              </a:ext>
            </a:extLst>
          </p:cNvPr>
          <p:cNvSpPr txBox="1"/>
          <p:nvPr/>
        </p:nvSpPr>
        <p:spPr>
          <a:xfrm>
            <a:off x="9652000" y="53340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(34.3%)</a:t>
            </a:r>
            <a:endParaRPr kumimoji="1" lang="ja-JP" altLang="en-US" sz="14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C2A94F35-770E-0B59-73DB-CA5A677768C5}"/>
              </a:ext>
            </a:extLst>
          </p:cNvPr>
          <p:cNvSpPr/>
          <p:nvPr/>
        </p:nvSpPr>
        <p:spPr>
          <a:xfrm>
            <a:off x="6667500" y="5918200"/>
            <a:ext cx="190500" cy="190500"/>
          </a:xfrm>
          <a:prstGeom prst="ellipse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33C3446-C47C-F6CD-5AC9-04ED922128EA}"/>
              </a:ext>
            </a:extLst>
          </p:cNvPr>
          <p:cNvSpPr txBox="1"/>
          <p:nvPr/>
        </p:nvSpPr>
        <p:spPr>
          <a:xfrm>
            <a:off x="6946900" y="5842000"/>
            <a:ext cx="2984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908216FA-F6DB-C6A9-1856-7A184F69D6B6}"/>
              </a:ext>
            </a:extLst>
          </p:cNvPr>
          <p:cNvSpPr txBox="1"/>
          <p:nvPr/>
        </p:nvSpPr>
        <p:spPr>
          <a:xfrm>
            <a:off x="9652000" y="58420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(0.8%)</a:t>
            </a:r>
            <a:endParaRPr kumimoji="1" lang="ja-JP" altLang="en-US" sz="14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56492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A7FE942-B571-52C5-B5F6-57FCADBF05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08CCCB81-4CEF-910A-952D-F2360817882F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958C7C0-35C2-93E3-0498-45F53D88CECE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88493F9-8ED7-CBBE-0EC7-5CC4AB51E50F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F209CBB-B445-BB9E-D9A3-0009640E837F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基本情報：年齢 ／ </a:t>
            </a:r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Q1. 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本日参考になった内容（</a:t>
            </a:r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FB51B17C-70F4-011A-A2B6-46915F49FE42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5891447-8CD5-A4DA-2056-80990C331AD6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 / 12</a:t>
            </a:r>
            <a:endParaRPr kumimoji="1" lang="ja-JP" altLang="en-US" sz="12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882A4C61-6854-1B04-55E6-BC1B26B95A9A}"/>
              </a:ext>
            </a:extLst>
          </p:cNvPr>
          <p:cNvSpPr/>
          <p:nvPr/>
        </p:nvSpPr>
        <p:spPr>
          <a:xfrm>
            <a:off x="254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28E61630-85EA-BC70-87C3-E79DBC04A256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32371E7-59F6-C69B-EFF9-62E2D72B7639}"/>
              </a:ext>
            </a:extLst>
          </p:cNvPr>
          <p:cNvSpPr txBox="1"/>
          <p:nvPr/>
        </p:nvSpPr>
        <p:spPr>
          <a:xfrm>
            <a:off x="660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年齢（単一回答・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552023-4243-56E1-0BC0-FD0336C72708}"/>
              </a:ext>
            </a:extLst>
          </p:cNvPr>
          <p:cNvSpPr/>
          <p:nvPr/>
        </p:nvSpPr>
        <p:spPr>
          <a:xfrm>
            <a:off x="457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CF999BF-69DE-67A6-E6E6-30F66C4F30A4}"/>
              </a:ext>
            </a:extLst>
          </p:cNvPr>
          <p:cNvSpPr txBox="1"/>
          <p:nvPr/>
        </p:nvSpPr>
        <p:spPr>
          <a:xfrm>
            <a:off x="457200" y="18288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E306FA37-9262-13B8-E5BC-7CF3C51EBFFF}"/>
              </a:ext>
            </a:extLst>
          </p:cNvPr>
          <p:cNvSpPr/>
          <p:nvPr/>
        </p:nvSpPr>
        <p:spPr>
          <a:xfrm>
            <a:off x="1498600" y="18923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980B5D3-FB85-2AB2-4253-60C5D91E795B}"/>
              </a:ext>
            </a:extLst>
          </p:cNvPr>
          <p:cNvSpPr/>
          <p:nvPr/>
        </p:nvSpPr>
        <p:spPr>
          <a:xfrm>
            <a:off x="1498600" y="1892300"/>
            <a:ext cx="2921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509C29B-B243-A34C-D68D-6D54326ABA42}"/>
              </a:ext>
            </a:extLst>
          </p:cNvPr>
          <p:cNvSpPr txBox="1"/>
          <p:nvPr/>
        </p:nvSpPr>
        <p:spPr>
          <a:xfrm>
            <a:off x="4013200" y="1828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A2616E2-FE84-9860-1C33-ABB7B65234C8}"/>
              </a:ext>
            </a:extLst>
          </p:cNvPr>
          <p:cNvSpPr txBox="1"/>
          <p:nvPr/>
        </p:nvSpPr>
        <p:spPr>
          <a:xfrm>
            <a:off x="457200" y="22352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C522D56-309D-913F-AB00-46A5D991CEC1}"/>
              </a:ext>
            </a:extLst>
          </p:cNvPr>
          <p:cNvSpPr/>
          <p:nvPr/>
        </p:nvSpPr>
        <p:spPr>
          <a:xfrm>
            <a:off x="1498600" y="22987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F8F3A65F-0E22-B3BC-8CED-2558AA845E27}"/>
              </a:ext>
            </a:extLst>
          </p:cNvPr>
          <p:cNvSpPr/>
          <p:nvPr/>
        </p:nvSpPr>
        <p:spPr>
          <a:xfrm>
            <a:off x="1498600" y="2298700"/>
            <a:ext cx="2921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96ACA96-A6CA-AD9D-9A14-A275A0C4FF9D}"/>
              </a:ext>
            </a:extLst>
          </p:cNvPr>
          <p:cNvSpPr txBox="1"/>
          <p:nvPr/>
        </p:nvSpPr>
        <p:spPr>
          <a:xfrm>
            <a:off x="4013200" y="2235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F14E4DC-8F55-0FAB-28F3-DDFC6FEAB2C3}"/>
              </a:ext>
            </a:extLst>
          </p:cNvPr>
          <p:cNvSpPr txBox="1"/>
          <p:nvPr/>
        </p:nvSpPr>
        <p:spPr>
          <a:xfrm>
            <a:off x="457200" y="26416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78E9CD84-E74F-45F6-5E4D-EABEB058888B}"/>
              </a:ext>
            </a:extLst>
          </p:cNvPr>
          <p:cNvSpPr/>
          <p:nvPr/>
        </p:nvSpPr>
        <p:spPr>
          <a:xfrm>
            <a:off x="1498600" y="27051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4CC1D77-EDFA-A6F7-9B59-ABCCCEB0CE2C}"/>
              </a:ext>
            </a:extLst>
          </p:cNvPr>
          <p:cNvSpPr/>
          <p:nvPr/>
        </p:nvSpPr>
        <p:spPr>
          <a:xfrm>
            <a:off x="1498600" y="2705100"/>
            <a:ext cx="3937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3EE1CA2-A16C-1694-3E45-940847DD6E4C}"/>
              </a:ext>
            </a:extLst>
          </p:cNvPr>
          <p:cNvSpPr txBox="1"/>
          <p:nvPr/>
        </p:nvSpPr>
        <p:spPr>
          <a:xfrm>
            <a:off x="4013200" y="2641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(5.1%)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4EF3B7F-BBA5-A707-D427-481E1B6DF8AD}"/>
              </a:ext>
            </a:extLst>
          </p:cNvPr>
          <p:cNvSpPr txBox="1"/>
          <p:nvPr/>
        </p:nvSpPr>
        <p:spPr>
          <a:xfrm>
            <a:off x="457200" y="30480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D30C6551-E901-FC2E-22DA-0C06E9E0058E}"/>
              </a:ext>
            </a:extLst>
          </p:cNvPr>
          <p:cNvSpPr/>
          <p:nvPr/>
        </p:nvSpPr>
        <p:spPr>
          <a:xfrm>
            <a:off x="1498600" y="31115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0F27995-706A-C138-8FF7-DA7D8696A76B}"/>
              </a:ext>
            </a:extLst>
          </p:cNvPr>
          <p:cNvSpPr/>
          <p:nvPr/>
        </p:nvSpPr>
        <p:spPr>
          <a:xfrm>
            <a:off x="1498600" y="3111500"/>
            <a:ext cx="10795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854863A-995D-8903-8667-4F27CDA86550}"/>
              </a:ext>
            </a:extLst>
          </p:cNvPr>
          <p:cNvSpPr txBox="1"/>
          <p:nvPr/>
        </p:nvSpPr>
        <p:spPr>
          <a:xfrm>
            <a:off x="4013200" y="3048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(14.0%)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D598DAB-80A9-5B83-881E-B9656F6A9AB5}"/>
              </a:ext>
            </a:extLst>
          </p:cNvPr>
          <p:cNvSpPr txBox="1"/>
          <p:nvPr/>
        </p:nvSpPr>
        <p:spPr>
          <a:xfrm>
            <a:off x="457200" y="34544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80406F8C-6C52-D1C3-36F2-2FC6793C245C}"/>
              </a:ext>
            </a:extLst>
          </p:cNvPr>
          <p:cNvSpPr/>
          <p:nvPr/>
        </p:nvSpPr>
        <p:spPr>
          <a:xfrm>
            <a:off x="1498600" y="35179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8A7C1C75-6CA7-41AD-2B97-D8E7DBFD5C8C}"/>
              </a:ext>
            </a:extLst>
          </p:cNvPr>
          <p:cNvSpPr/>
          <p:nvPr/>
        </p:nvSpPr>
        <p:spPr>
          <a:xfrm>
            <a:off x="1498600" y="3517900"/>
            <a:ext cx="20320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0C36C19-315E-2317-0B76-DEB3A1D1B46D}"/>
              </a:ext>
            </a:extLst>
          </p:cNvPr>
          <p:cNvSpPr txBox="1"/>
          <p:nvPr/>
        </p:nvSpPr>
        <p:spPr>
          <a:xfrm>
            <a:off x="4013200" y="345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3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B12326D-0585-66A3-778D-637273117C69}"/>
              </a:ext>
            </a:extLst>
          </p:cNvPr>
          <p:cNvSpPr txBox="1"/>
          <p:nvPr/>
        </p:nvSpPr>
        <p:spPr>
          <a:xfrm>
            <a:off x="457200" y="38608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5248E985-0EBA-EEFC-245A-A738992101B0}"/>
              </a:ext>
            </a:extLst>
          </p:cNvPr>
          <p:cNvSpPr/>
          <p:nvPr/>
        </p:nvSpPr>
        <p:spPr>
          <a:xfrm>
            <a:off x="1498600" y="39243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0E000084-9214-B76A-E337-F7AB2A3990BB}"/>
              </a:ext>
            </a:extLst>
          </p:cNvPr>
          <p:cNvSpPr/>
          <p:nvPr/>
        </p:nvSpPr>
        <p:spPr>
          <a:xfrm>
            <a:off x="1498600" y="39243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E5A039D-D120-AA70-22A6-A7B7222EDB25}"/>
              </a:ext>
            </a:extLst>
          </p:cNvPr>
          <p:cNvSpPr txBox="1"/>
          <p:nvPr/>
        </p:nvSpPr>
        <p:spPr>
          <a:xfrm>
            <a:off x="4013200" y="3860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6A04D89-2A6F-EDAB-C488-25D9D085ED44}"/>
              </a:ext>
            </a:extLst>
          </p:cNvPr>
          <p:cNvSpPr txBox="1"/>
          <p:nvPr/>
        </p:nvSpPr>
        <p:spPr>
          <a:xfrm>
            <a:off x="457200" y="42672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635EE141-DF30-8C64-F2BD-FF211D13C41E}"/>
              </a:ext>
            </a:extLst>
          </p:cNvPr>
          <p:cNvSpPr/>
          <p:nvPr/>
        </p:nvSpPr>
        <p:spPr>
          <a:xfrm>
            <a:off x="1498600" y="43307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586C0652-D040-9355-94F4-462DD2F5037C}"/>
              </a:ext>
            </a:extLst>
          </p:cNvPr>
          <p:cNvSpPr/>
          <p:nvPr/>
        </p:nvSpPr>
        <p:spPr>
          <a:xfrm>
            <a:off x="1498600" y="4330700"/>
            <a:ext cx="13716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E111554-AA4F-8DEF-6F64-9255DA7C0DD3}"/>
              </a:ext>
            </a:extLst>
          </p:cNvPr>
          <p:cNvSpPr txBox="1"/>
          <p:nvPr/>
        </p:nvSpPr>
        <p:spPr>
          <a:xfrm>
            <a:off x="4013200" y="4267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(17.8%)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9181AA21-1A90-7CF1-E39F-DAD703223763}"/>
              </a:ext>
            </a:extLst>
          </p:cNvPr>
          <p:cNvSpPr txBox="1"/>
          <p:nvPr/>
        </p:nvSpPr>
        <p:spPr>
          <a:xfrm>
            <a:off x="457200" y="46736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19A1E84B-9089-2EA2-9B8B-4C4816553480}"/>
              </a:ext>
            </a:extLst>
          </p:cNvPr>
          <p:cNvSpPr/>
          <p:nvPr/>
        </p:nvSpPr>
        <p:spPr>
          <a:xfrm>
            <a:off x="1498600" y="47371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C7E7628C-8A8B-7E8F-434B-454DE93091F1}"/>
              </a:ext>
            </a:extLst>
          </p:cNvPr>
          <p:cNvSpPr/>
          <p:nvPr/>
        </p:nvSpPr>
        <p:spPr>
          <a:xfrm>
            <a:off x="1498600" y="4737100"/>
            <a:ext cx="8128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F97074F0-6F41-BBD9-75A7-9806C19CED57}"/>
              </a:ext>
            </a:extLst>
          </p:cNvPr>
          <p:cNvSpPr txBox="1"/>
          <p:nvPr/>
        </p:nvSpPr>
        <p:spPr>
          <a:xfrm>
            <a:off x="4013200" y="4673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(10.6%)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012A61BA-3520-06BD-F4F1-3808D09A1971}"/>
              </a:ext>
            </a:extLst>
          </p:cNvPr>
          <p:cNvSpPr txBox="1"/>
          <p:nvPr/>
        </p:nvSpPr>
        <p:spPr>
          <a:xfrm>
            <a:off x="457200" y="50800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94102C86-6381-8C4C-BEED-70C6CBEF6A31}"/>
              </a:ext>
            </a:extLst>
          </p:cNvPr>
          <p:cNvSpPr/>
          <p:nvPr/>
        </p:nvSpPr>
        <p:spPr>
          <a:xfrm>
            <a:off x="1498600" y="51435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EC038575-3C5F-4B34-3FD2-0AA7DC6F810D}"/>
              </a:ext>
            </a:extLst>
          </p:cNvPr>
          <p:cNvSpPr/>
          <p:nvPr/>
        </p:nvSpPr>
        <p:spPr>
          <a:xfrm>
            <a:off x="1498600" y="5143500"/>
            <a:ext cx="101600" cy="228600"/>
          </a:xfrm>
          <a:prstGeom prst="roundRect">
            <a:avLst>
              <a:gd name="adj" fmla="val 50000"/>
            </a:avLst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B8938C1-333D-9729-0076-619482C539FE}"/>
              </a:ext>
            </a:extLst>
          </p:cNvPr>
          <p:cNvSpPr txBox="1"/>
          <p:nvPr/>
        </p:nvSpPr>
        <p:spPr>
          <a:xfrm>
            <a:off x="4013200" y="5080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(0.8%)</a:t>
            </a:r>
            <a:endParaRPr kumimoji="1" lang="ja-JP" altLang="en-US" sz="13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B97D9BA-97BF-5C66-73B4-94DF586E97C0}"/>
              </a:ext>
            </a:extLst>
          </p:cNvPr>
          <p:cNvSpPr txBox="1"/>
          <p:nvPr/>
        </p:nvSpPr>
        <p:spPr>
          <a:xfrm>
            <a:off x="457200" y="54864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E5D00172-DCC4-2E96-3AED-CD1963B25AF9}"/>
              </a:ext>
            </a:extLst>
          </p:cNvPr>
          <p:cNvSpPr/>
          <p:nvPr/>
        </p:nvSpPr>
        <p:spPr>
          <a:xfrm>
            <a:off x="1498600" y="5549900"/>
            <a:ext cx="2413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4CB85807-6F95-B48B-FD4A-40753CE31E34}"/>
              </a:ext>
            </a:extLst>
          </p:cNvPr>
          <p:cNvSpPr/>
          <p:nvPr/>
        </p:nvSpPr>
        <p:spPr>
          <a:xfrm>
            <a:off x="1498600" y="5549900"/>
            <a:ext cx="101600" cy="2286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FB82F62-F9FF-C48E-9C46-2F5FBEB1157D}"/>
              </a:ext>
            </a:extLst>
          </p:cNvPr>
          <p:cNvSpPr txBox="1"/>
          <p:nvPr/>
        </p:nvSpPr>
        <p:spPr>
          <a:xfrm>
            <a:off x="4013200" y="5486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(1.3%)</a:t>
            </a:r>
            <a:endParaRPr kumimoji="1" lang="ja-JP" altLang="en-US" sz="135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6ECB1A6F-E97B-1F20-B070-0F7CCB36A48E}"/>
              </a:ext>
            </a:extLst>
          </p:cNvPr>
          <p:cNvSpPr/>
          <p:nvPr/>
        </p:nvSpPr>
        <p:spPr>
          <a:xfrm>
            <a:off x="406400" y="6019800"/>
            <a:ext cx="5410200" cy="38100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楕円 53">
            <a:extLst>
              <a:ext uri="{FF2B5EF4-FFF2-40B4-BE49-F238E27FC236}">
                <a16:creationId xmlns:a16="http://schemas.microsoft.com/office/drawing/2014/main" id="{6D12441E-1BFD-0A54-DD1D-1A0DD01B29E2}"/>
              </a:ext>
            </a:extLst>
          </p:cNvPr>
          <p:cNvSpPr/>
          <p:nvPr/>
        </p:nvSpPr>
        <p:spPr>
          <a:xfrm>
            <a:off x="533400" y="6134100"/>
            <a:ext cx="152400" cy="1524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B30B6B1-875F-0F5D-83A0-72EBB07BA79A}"/>
              </a:ext>
            </a:extLst>
          </p:cNvPr>
          <p:cNvSpPr txBox="1"/>
          <p:nvPr/>
        </p:nvSpPr>
        <p:spPr>
          <a:xfrm>
            <a:off x="711200" y="6057900"/>
            <a:ext cx="1841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青：最多 </a:t>
            </a:r>
            <a:r>
              <a:rPr kumimoji="1" lang="en-US" altLang="ja-JP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(50</a:t>
            </a:r>
            <a:r>
              <a:rPr kumimoji="1" lang="ja-JP" altLang="en-US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  <a:r>
              <a:rPr kumimoji="1" lang="en-US" altLang="ja-JP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24E8FCCC-9620-2F26-AF96-BAF0F1F65797}"/>
              </a:ext>
            </a:extLst>
          </p:cNvPr>
          <p:cNvSpPr/>
          <p:nvPr/>
        </p:nvSpPr>
        <p:spPr>
          <a:xfrm>
            <a:off x="2540000" y="6134100"/>
            <a:ext cx="152400" cy="152400"/>
          </a:xfrm>
          <a:prstGeom prst="ellipse">
            <a:avLst/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DC49B45B-78D7-68A4-72FB-3C526D40BB6C}"/>
              </a:ext>
            </a:extLst>
          </p:cNvPr>
          <p:cNvSpPr txBox="1"/>
          <p:nvPr/>
        </p:nvSpPr>
        <p:spPr>
          <a:xfrm>
            <a:off x="2717800" y="6057900"/>
            <a:ext cx="1714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赤：最少 </a:t>
            </a:r>
            <a:r>
              <a:rPr kumimoji="1" lang="en-US" altLang="ja-JP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(90</a:t>
            </a:r>
            <a:r>
              <a:rPr kumimoji="1" lang="ja-JP" altLang="en-US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  <a:r>
              <a:rPr kumimoji="1" lang="en-US" altLang="ja-JP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楕円 57">
            <a:extLst>
              <a:ext uri="{FF2B5EF4-FFF2-40B4-BE49-F238E27FC236}">
                <a16:creationId xmlns:a16="http://schemas.microsoft.com/office/drawing/2014/main" id="{BAE3BCD3-8F4C-E061-910A-0D31B9D819CE}"/>
              </a:ext>
            </a:extLst>
          </p:cNvPr>
          <p:cNvSpPr/>
          <p:nvPr/>
        </p:nvSpPr>
        <p:spPr>
          <a:xfrm>
            <a:off x="4419600" y="6134100"/>
            <a:ext cx="152400" cy="152400"/>
          </a:xfrm>
          <a:prstGeom prst="ellipse">
            <a:avLst/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C8FA406-988E-B49B-5F87-045D501C0EA8}"/>
              </a:ext>
            </a:extLst>
          </p:cNvPr>
          <p:cNvSpPr txBox="1"/>
          <p:nvPr/>
        </p:nvSpPr>
        <p:spPr>
          <a:xfrm>
            <a:off x="4597400" y="6057900"/>
            <a:ext cx="1206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灰：中間・標準</a:t>
            </a: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749A94B4-11F2-6FA0-1859-805E592B1572}"/>
              </a:ext>
            </a:extLst>
          </p:cNvPr>
          <p:cNvSpPr/>
          <p:nvPr/>
        </p:nvSpPr>
        <p:spPr>
          <a:xfrm>
            <a:off x="6223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四角形: 角を丸くする 60">
            <a:extLst>
              <a:ext uri="{FF2B5EF4-FFF2-40B4-BE49-F238E27FC236}">
                <a16:creationId xmlns:a16="http://schemas.microsoft.com/office/drawing/2014/main" id="{EA6DE8E1-E77B-6D6F-3F24-423284D95888}"/>
              </a:ext>
            </a:extLst>
          </p:cNvPr>
          <p:cNvSpPr/>
          <p:nvPr/>
        </p:nvSpPr>
        <p:spPr>
          <a:xfrm>
            <a:off x="6426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42371966-2839-E2FA-9BBF-CB9DF1A93377}"/>
              </a:ext>
            </a:extLst>
          </p:cNvPr>
          <p:cNvSpPr txBox="1"/>
          <p:nvPr/>
        </p:nvSpPr>
        <p:spPr>
          <a:xfrm>
            <a:off x="6629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Q1. 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本日参考になった内容（複数回答・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95727B88-693F-6455-EC2E-49BBA66F478D}"/>
              </a:ext>
            </a:extLst>
          </p:cNvPr>
          <p:cNvSpPr/>
          <p:nvPr/>
        </p:nvSpPr>
        <p:spPr>
          <a:xfrm>
            <a:off x="6426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4D59E47A-1756-7CF2-4915-270C9A894D47}"/>
              </a:ext>
            </a:extLst>
          </p:cNvPr>
          <p:cNvSpPr txBox="1"/>
          <p:nvPr/>
        </p:nvSpPr>
        <p:spPr>
          <a:xfrm>
            <a:off x="6426200" y="20828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zh-TW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血管年齢測定</a:t>
            </a:r>
            <a:endParaRPr kumimoji="1" lang="ja-JP" altLang="en-US" sz="140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132261E4-5CE7-9D96-A3E7-81A462FFAD0C}"/>
              </a:ext>
            </a:extLst>
          </p:cNvPr>
          <p:cNvSpPr/>
          <p:nvPr/>
        </p:nvSpPr>
        <p:spPr>
          <a:xfrm>
            <a:off x="8470900" y="2146300"/>
            <a:ext cx="1651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BFF2C033-D213-1332-9373-124B7292E55E}"/>
              </a:ext>
            </a:extLst>
          </p:cNvPr>
          <p:cNvSpPr/>
          <p:nvPr/>
        </p:nvSpPr>
        <p:spPr>
          <a:xfrm>
            <a:off x="8470900" y="2146300"/>
            <a:ext cx="12065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5F364BFA-648B-FD5C-4F4A-0EC464E4D705}"/>
              </a:ext>
            </a:extLst>
          </p:cNvPr>
          <p:cNvSpPr txBox="1"/>
          <p:nvPr/>
        </p:nvSpPr>
        <p:spPr>
          <a:xfrm>
            <a:off x="10223500" y="20828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(72.9%)</a:t>
            </a:r>
            <a:endParaRPr kumimoji="1" lang="ja-JP" altLang="en-US" sz="140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6AB0198F-C7CD-C611-807A-C6F316C1ABA0}"/>
              </a:ext>
            </a:extLst>
          </p:cNvPr>
          <p:cNvSpPr txBox="1"/>
          <p:nvPr/>
        </p:nvSpPr>
        <p:spPr>
          <a:xfrm>
            <a:off x="6426200" y="27940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筋肉量測定</a:t>
            </a:r>
          </a:p>
        </p:txBody>
      </p:sp>
      <p:sp>
        <p:nvSpPr>
          <p:cNvPr id="69" name="四角形: 角を丸くする 68">
            <a:extLst>
              <a:ext uri="{FF2B5EF4-FFF2-40B4-BE49-F238E27FC236}">
                <a16:creationId xmlns:a16="http://schemas.microsoft.com/office/drawing/2014/main" id="{0E9A9290-99F7-7093-84A5-F91090ADA3C6}"/>
              </a:ext>
            </a:extLst>
          </p:cNvPr>
          <p:cNvSpPr/>
          <p:nvPr/>
        </p:nvSpPr>
        <p:spPr>
          <a:xfrm>
            <a:off x="8470900" y="2857500"/>
            <a:ext cx="1651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四角形: 角を丸くする 69">
            <a:extLst>
              <a:ext uri="{FF2B5EF4-FFF2-40B4-BE49-F238E27FC236}">
                <a16:creationId xmlns:a16="http://schemas.microsoft.com/office/drawing/2014/main" id="{B726EE14-FDA5-EFF2-D572-FA561C636BBC}"/>
              </a:ext>
            </a:extLst>
          </p:cNvPr>
          <p:cNvSpPr/>
          <p:nvPr/>
        </p:nvSpPr>
        <p:spPr>
          <a:xfrm>
            <a:off x="8470900" y="2857500"/>
            <a:ext cx="10922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0172FDE5-7D6E-7A8F-4E13-4A8EC4489BBC}"/>
              </a:ext>
            </a:extLst>
          </p:cNvPr>
          <p:cNvSpPr txBox="1"/>
          <p:nvPr/>
        </p:nvSpPr>
        <p:spPr>
          <a:xfrm>
            <a:off x="10223500" y="2794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(66.5%)</a:t>
            </a:r>
            <a:endParaRPr kumimoji="1" lang="ja-JP" altLang="en-US" sz="140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F711F092-FCB5-7489-7B7F-F2EFCB663515}"/>
              </a:ext>
            </a:extLst>
          </p:cNvPr>
          <p:cNvSpPr txBox="1"/>
          <p:nvPr/>
        </p:nvSpPr>
        <p:spPr>
          <a:xfrm>
            <a:off x="6426200" y="35052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栄養レッスン</a:t>
            </a:r>
          </a:p>
        </p:txBody>
      </p:sp>
      <p:sp>
        <p:nvSpPr>
          <p:cNvPr id="73" name="四角形: 角を丸くする 72">
            <a:extLst>
              <a:ext uri="{FF2B5EF4-FFF2-40B4-BE49-F238E27FC236}">
                <a16:creationId xmlns:a16="http://schemas.microsoft.com/office/drawing/2014/main" id="{9C6326FD-23DE-6CE7-3F9E-8F2885174148}"/>
              </a:ext>
            </a:extLst>
          </p:cNvPr>
          <p:cNvSpPr/>
          <p:nvPr/>
        </p:nvSpPr>
        <p:spPr>
          <a:xfrm>
            <a:off x="8470900" y="3568700"/>
            <a:ext cx="1651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四角形: 角を丸くする 73">
            <a:extLst>
              <a:ext uri="{FF2B5EF4-FFF2-40B4-BE49-F238E27FC236}">
                <a16:creationId xmlns:a16="http://schemas.microsoft.com/office/drawing/2014/main" id="{753E4556-2DD9-C305-8298-B335BA4BC370}"/>
              </a:ext>
            </a:extLst>
          </p:cNvPr>
          <p:cNvSpPr/>
          <p:nvPr/>
        </p:nvSpPr>
        <p:spPr>
          <a:xfrm>
            <a:off x="8470900" y="3568700"/>
            <a:ext cx="3937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CE39F9ED-679C-22F8-4BFA-F48767B2CCA1}"/>
              </a:ext>
            </a:extLst>
          </p:cNvPr>
          <p:cNvSpPr txBox="1"/>
          <p:nvPr/>
        </p:nvSpPr>
        <p:spPr>
          <a:xfrm>
            <a:off x="10223500" y="3505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(24.2%)</a:t>
            </a:r>
            <a:endParaRPr kumimoji="1" lang="ja-JP" altLang="en-US" sz="140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F2FF115-FBDB-E1E0-4CF9-A9E9CCA1C746}"/>
              </a:ext>
            </a:extLst>
          </p:cNvPr>
          <p:cNvSpPr txBox="1"/>
          <p:nvPr/>
        </p:nvSpPr>
        <p:spPr>
          <a:xfrm>
            <a:off x="6426200" y="42164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人生会議</a:t>
            </a:r>
            <a:r>
              <a:rPr kumimoji="1" lang="en-US" altLang="ja-JP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終活</a:t>
            </a:r>
            <a:r>
              <a:rPr kumimoji="1" lang="en-US" altLang="ja-JP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の案内</a:t>
            </a: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8DADB917-6C8E-AF69-589E-B5B4E27DD14F}"/>
              </a:ext>
            </a:extLst>
          </p:cNvPr>
          <p:cNvSpPr/>
          <p:nvPr/>
        </p:nvSpPr>
        <p:spPr>
          <a:xfrm>
            <a:off x="8470900" y="4279900"/>
            <a:ext cx="1651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四角形: 角を丸くする 77">
            <a:extLst>
              <a:ext uri="{FF2B5EF4-FFF2-40B4-BE49-F238E27FC236}">
                <a16:creationId xmlns:a16="http://schemas.microsoft.com/office/drawing/2014/main" id="{22C21B05-E390-D66A-B83C-AD561FA9F79F}"/>
              </a:ext>
            </a:extLst>
          </p:cNvPr>
          <p:cNvSpPr/>
          <p:nvPr/>
        </p:nvSpPr>
        <p:spPr>
          <a:xfrm>
            <a:off x="8470900" y="4279900"/>
            <a:ext cx="2921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AB7559FD-D810-C67E-59F8-8783586D6970}"/>
              </a:ext>
            </a:extLst>
          </p:cNvPr>
          <p:cNvSpPr txBox="1"/>
          <p:nvPr/>
        </p:nvSpPr>
        <p:spPr>
          <a:xfrm>
            <a:off x="10223500" y="4216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(17.4%)</a:t>
            </a:r>
            <a:endParaRPr kumimoji="1" lang="ja-JP" altLang="en-US" sz="140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B56F1539-8E85-BD81-8637-BFDAEA52ED6B}"/>
              </a:ext>
            </a:extLst>
          </p:cNvPr>
          <p:cNvSpPr txBox="1"/>
          <p:nvPr/>
        </p:nvSpPr>
        <p:spPr>
          <a:xfrm>
            <a:off x="6426200" y="49276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お薬相談</a:t>
            </a:r>
          </a:p>
        </p:txBody>
      </p:sp>
      <p:sp>
        <p:nvSpPr>
          <p:cNvPr id="81" name="四角形: 角を丸くする 80">
            <a:extLst>
              <a:ext uri="{FF2B5EF4-FFF2-40B4-BE49-F238E27FC236}">
                <a16:creationId xmlns:a16="http://schemas.microsoft.com/office/drawing/2014/main" id="{C358DA30-F4DE-4074-1653-734B051D9168}"/>
              </a:ext>
            </a:extLst>
          </p:cNvPr>
          <p:cNvSpPr/>
          <p:nvPr/>
        </p:nvSpPr>
        <p:spPr>
          <a:xfrm>
            <a:off x="8470900" y="4991100"/>
            <a:ext cx="1651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四角形: 角を丸くする 81">
            <a:extLst>
              <a:ext uri="{FF2B5EF4-FFF2-40B4-BE49-F238E27FC236}">
                <a16:creationId xmlns:a16="http://schemas.microsoft.com/office/drawing/2014/main" id="{B0BF4271-3F0E-037F-9B17-01FE49CFDB97}"/>
              </a:ext>
            </a:extLst>
          </p:cNvPr>
          <p:cNvSpPr/>
          <p:nvPr/>
        </p:nvSpPr>
        <p:spPr>
          <a:xfrm>
            <a:off x="8470900" y="49911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22FE09E1-3BC0-BC6A-1131-4C789BDEBD64}"/>
              </a:ext>
            </a:extLst>
          </p:cNvPr>
          <p:cNvSpPr txBox="1"/>
          <p:nvPr/>
        </p:nvSpPr>
        <p:spPr>
          <a:xfrm>
            <a:off x="10223500" y="4927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(13.6%)</a:t>
            </a:r>
            <a:endParaRPr kumimoji="1" lang="ja-JP" altLang="en-US" sz="140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4" name="四角形: 角を丸くする 83">
            <a:extLst>
              <a:ext uri="{FF2B5EF4-FFF2-40B4-BE49-F238E27FC236}">
                <a16:creationId xmlns:a16="http://schemas.microsoft.com/office/drawing/2014/main" id="{E7443EBC-46CE-9352-B987-63D887065D6E}"/>
              </a:ext>
            </a:extLst>
          </p:cNvPr>
          <p:cNvSpPr/>
          <p:nvPr/>
        </p:nvSpPr>
        <p:spPr>
          <a:xfrm>
            <a:off x="6375400" y="6019800"/>
            <a:ext cx="5410200" cy="38100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楕円 84">
            <a:extLst>
              <a:ext uri="{FF2B5EF4-FFF2-40B4-BE49-F238E27FC236}">
                <a16:creationId xmlns:a16="http://schemas.microsoft.com/office/drawing/2014/main" id="{2C3A4E35-B0C6-A3E4-900F-5C8D78166719}"/>
              </a:ext>
            </a:extLst>
          </p:cNvPr>
          <p:cNvSpPr/>
          <p:nvPr/>
        </p:nvSpPr>
        <p:spPr>
          <a:xfrm>
            <a:off x="6502400" y="6134100"/>
            <a:ext cx="152400" cy="1524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31E90F35-9338-C32B-5B05-41F4FEBA73C0}"/>
              </a:ext>
            </a:extLst>
          </p:cNvPr>
          <p:cNvSpPr txBox="1"/>
          <p:nvPr/>
        </p:nvSpPr>
        <p:spPr>
          <a:xfrm>
            <a:off x="6680200" y="6057900"/>
            <a:ext cx="1841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青：上位 </a:t>
            </a:r>
            <a:r>
              <a:rPr kumimoji="1" lang="en-US" altLang="ja-JP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</a:t>
            </a:r>
            <a:r>
              <a:rPr kumimoji="1" lang="ja-JP" altLang="en-US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割超</a:t>
            </a:r>
            <a:r>
              <a:rPr kumimoji="1" lang="en-US" altLang="ja-JP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7" name="楕円 86">
            <a:extLst>
              <a:ext uri="{FF2B5EF4-FFF2-40B4-BE49-F238E27FC236}">
                <a16:creationId xmlns:a16="http://schemas.microsoft.com/office/drawing/2014/main" id="{D7373198-5A73-34DB-7377-57EBE4A72D60}"/>
              </a:ext>
            </a:extLst>
          </p:cNvPr>
          <p:cNvSpPr/>
          <p:nvPr/>
        </p:nvSpPr>
        <p:spPr>
          <a:xfrm>
            <a:off x="8509000" y="6134100"/>
            <a:ext cx="152400" cy="152400"/>
          </a:xfrm>
          <a:prstGeom prst="ellipse">
            <a:avLst/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42B4E67B-A81E-B140-DE7B-C5CE781CA43A}"/>
              </a:ext>
            </a:extLst>
          </p:cNvPr>
          <p:cNvSpPr txBox="1"/>
          <p:nvPr/>
        </p:nvSpPr>
        <p:spPr>
          <a:xfrm>
            <a:off x="8686800" y="6057900"/>
            <a:ext cx="1714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zh-TW" altLang="en-US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赤：最少項目</a:t>
            </a:r>
            <a:endParaRPr kumimoji="1" lang="ja-JP" altLang="en-US" sz="11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9" name="楕円 88">
            <a:extLst>
              <a:ext uri="{FF2B5EF4-FFF2-40B4-BE49-F238E27FC236}">
                <a16:creationId xmlns:a16="http://schemas.microsoft.com/office/drawing/2014/main" id="{AE4E9796-3A43-C456-7085-A1A0EF7E2DB8}"/>
              </a:ext>
            </a:extLst>
          </p:cNvPr>
          <p:cNvSpPr/>
          <p:nvPr/>
        </p:nvSpPr>
        <p:spPr>
          <a:xfrm>
            <a:off x="10388600" y="6134100"/>
            <a:ext cx="152400" cy="152400"/>
          </a:xfrm>
          <a:prstGeom prst="ellipse">
            <a:avLst/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41D0F7CA-13C8-7873-C2FA-B5315E760124}"/>
              </a:ext>
            </a:extLst>
          </p:cNvPr>
          <p:cNvSpPr txBox="1"/>
          <p:nvPr/>
        </p:nvSpPr>
        <p:spPr>
          <a:xfrm>
            <a:off x="10566400" y="6057900"/>
            <a:ext cx="1206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灰：中間・標準</a:t>
            </a:r>
          </a:p>
        </p:txBody>
      </p:sp>
    </p:spTree>
    <p:extLst>
      <p:ext uri="{BB962C8B-B14F-4D97-AF65-F5344CB8AC3E}">
        <p14:creationId xmlns:p14="http://schemas.microsoft.com/office/powerpoint/2010/main" val="1788909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30C9A52-FD17-1302-8187-D44AA4F4AA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16CC055-71E3-2724-7E42-F57A7C962DFD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2BCC957-517F-EF38-3FD1-D24E8F3B0C65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102637-E4EE-9072-2E3C-996B9D2B0C43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1ADC7CC-669E-8E87-CD86-DF4F239FF193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Q2. 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これまで当院をご存知でしたか？ ／ </a:t>
            </a:r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Q3. 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万が一の際、利用したいですか？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B7F1FAB-3F06-1A5A-316F-E5DAB5220D65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D1A6316-1FBC-499C-F4AA-FC0AE0D1435C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 / 12</a:t>
            </a:r>
            <a:endParaRPr kumimoji="1" lang="ja-JP" altLang="en-US" sz="12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ED929C1-C619-D9B1-EC00-FD0515459222}"/>
              </a:ext>
            </a:extLst>
          </p:cNvPr>
          <p:cNvSpPr/>
          <p:nvPr/>
        </p:nvSpPr>
        <p:spPr>
          <a:xfrm>
            <a:off x="254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45841BC2-153E-0BD8-616F-30D4EED61819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CC56DC8-3135-C105-4F15-3245A9298CB2}"/>
              </a:ext>
            </a:extLst>
          </p:cNvPr>
          <p:cNvSpPr txBox="1"/>
          <p:nvPr/>
        </p:nvSpPr>
        <p:spPr>
          <a:xfrm>
            <a:off x="660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Q2. 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これまで当院をご存知でしたか？（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2EE29CE-0CA0-DBA9-496E-02C5396E814F}"/>
              </a:ext>
            </a:extLst>
          </p:cNvPr>
          <p:cNvSpPr/>
          <p:nvPr/>
        </p:nvSpPr>
        <p:spPr>
          <a:xfrm>
            <a:off x="457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部分円 12">
            <a:extLst>
              <a:ext uri="{FF2B5EF4-FFF2-40B4-BE49-F238E27FC236}">
                <a16:creationId xmlns:a16="http://schemas.microsoft.com/office/drawing/2014/main" id="{1F1C8D22-10D4-6A0B-0D93-B8004231B972}"/>
              </a:ext>
            </a:extLst>
          </p:cNvPr>
          <p:cNvSpPr/>
          <p:nvPr/>
        </p:nvSpPr>
        <p:spPr>
          <a:xfrm>
            <a:off x="1866900" y="1803400"/>
            <a:ext cx="2489200" cy="2489200"/>
          </a:xfrm>
          <a:prstGeom prst="pie">
            <a:avLst>
              <a:gd name="adj1" fmla="val 16200000"/>
              <a:gd name="adj2" fmla="val 6134400"/>
            </a:avLst>
          </a:prstGeom>
          <a:solidFill>
            <a:srgbClr val="2563E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B335BEBE-97B9-F722-BBED-33D0A57CF857}"/>
              </a:ext>
            </a:extLst>
          </p:cNvPr>
          <p:cNvSpPr/>
          <p:nvPr/>
        </p:nvSpPr>
        <p:spPr>
          <a:xfrm>
            <a:off x="1866900" y="1803400"/>
            <a:ext cx="2489200" cy="2489200"/>
          </a:xfrm>
          <a:prstGeom prst="pie">
            <a:avLst>
              <a:gd name="adj1" fmla="val 6134400"/>
              <a:gd name="adj2" fmla="val 12268800"/>
            </a:avLst>
          </a:prstGeom>
          <a:solidFill>
            <a:srgbClr val="E14B4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部分円 14">
            <a:extLst>
              <a:ext uri="{FF2B5EF4-FFF2-40B4-BE49-F238E27FC236}">
                <a16:creationId xmlns:a16="http://schemas.microsoft.com/office/drawing/2014/main" id="{D7EB191B-1B3C-09F6-C5EB-8D9E8B6C9F7B}"/>
              </a:ext>
            </a:extLst>
          </p:cNvPr>
          <p:cNvSpPr/>
          <p:nvPr/>
        </p:nvSpPr>
        <p:spPr>
          <a:xfrm>
            <a:off x="1866900" y="1803400"/>
            <a:ext cx="2489200" cy="2489200"/>
          </a:xfrm>
          <a:prstGeom prst="pie">
            <a:avLst>
              <a:gd name="adj1" fmla="val 12268800"/>
              <a:gd name="adj2" fmla="val 158328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部分円 15">
            <a:extLst>
              <a:ext uri="{FF2B5EF4-FFF2-40B4-BE49-F238E27FC236}">
                <a16:creationId xmlns:a16="http://schemas.microsoft.com/office/drawing/2014/main" id="{414C29EA-EAD1-0593-BF67-22D6E3836016}"/>
              </a:ext>
            </a:extLst>
          </p:cNvPr>
          <p:cNvSpPr/>
          <p:nvPr/>
        </p:nvSpPr>
        <p:spPr>
          <a:xfrm>
            <a:off x="1866900" y="1803400"/>
            <a:ext cx="2489200" cy="2489200"/>
          </a:xfrm>
          <a:prstGeom prst="pie">
            <a:avLst>
              <a:gd name="adj1" fmla="val 15832800"/>
              <a:gd name="adj2" fmla="val 16200000"/>
            </a:avLst>
          </a:prstGeom>
          <a:solidFill>
            <a:srgbClr val="CBD5E1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B93550FA-88C9-BE0F-0F68-99050D0CD573}"/>
              </a:ext>
            </a:extLst>
          </p:cNvPr>
          <p:cNvSpPr/>
          <p:nvPr/>
        </p:nvSpPr>
        <p:spPr>
          <a:xfrm>
            <a:off x="2389632" y="2326132"/>
            <a:ext cx="1443736" cy="1443736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88C616C-E625-EB08-57C1-4F529636E44D}"/>
              </a:ext>
            </a:extLst>
          </p:cNvPr>
          <p:cNvSpPr txBox="1"/>
          <p:nvPr/>
        </p:nvSpPr>
        <p:spPr>
          <a:xfrm>
            <a:off x="2159000" y="2768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名前・場所は知る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D639CD0-BCB9-F22A-8484-12BAEA34B8DC}"/>
              </a:ext>
            </a:extLst>
          </p:cNvPr>
          <p:cNvSpPr txBox="1"/>
          <p:nvPr/>
        </p:nvSpPr>
        <p:spPr>
          <a:xfrm>
            <a:off x="2159000" y="3073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 (126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38E2A3FC-5CA8-D297-C2EA-1550E7FF98CF}"/>
              </a:ext>
            </a:extLst>
          </p:cNvPr>
          <p:cNvSpPr/>
          <p:nvPr/>
        </p:nvSpPr>
        <p:spPr>
          <a:xfrm>
            <a:off x="431800" y="4483100"/>
            <a:ext cx="5359400" cy="431800"/>
          </a:xfrm>
          <a:prstGeom prst="roundRect">
            <a:avLst>
              <a:gd name="adj" fmla="val 3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40340A5A-ADA0-272C-4A01-E05685D383FD}"/>
              </a:ext>
            </a:extLst>
          </p:cNvPr>
          <p:cNvSpPr/>
          <p:nvPr/>
        </p:nvSpPr>
        <p:spPr>
          <a:xfrm>
            <a:off x="533400" y="4597400"/>
            <a:ext cx="190500" cy="1905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66B2A5E-8F06-7301-6AF7-259FF0C6FC76}"/>
              </a:ext>
            </a:extLst>
          </p:cNvPr>
          <p:cNvSpPr txBox="1"/>
          <p:nvPr/>
        </p:nvSpPr>
        <p:spPr>
          <a:xfrm>
            <a:off x="812800" y="45212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0B44E3C-3405-40A8-CCD6-93575E825CFD}"/>
              </a:ext>
            </a:extLst>
          </p:cNvPr>
          <p:cNvSpPr txBox="1"/>
          <p:nvPr/>
        </p:nvSpPr>
        <p:spPr>
          <a:xfrm>
            <a:off x="3848100" y="45212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(53.4%)</a:t>
            </a:r>
            <a:endParaRPr kumimoji="1" lang="ja-JP" altLang="en-US" sz="14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331AC21C-F785-3937-F7FF-33527C2FD331}"/>
              </a:ext>
            </a:extLst>
          </p:cNvPr>
          <p:cNvSpPr/>
          <p:nvPr/>
        </p:nvSpPr>
        <p:spPr>
          <a:xfrm>
            <a:off x="431800" y="4991100"/>
            <a:ext cx="5359400" cy="431800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615537CF-AAF3-1232-2EE1-245EF62A0C1B}"/>
              </a:ext>
            </a:extLst>
          </p:cNvPr>
          <p:cNvSpPr/>
          <p:nvPr/>
        </p:nvSpPr>
        <p:spPr>
          <a:xfrm>
            <a:off x="533400" y="5105400"/>
            <a:ext cx="190500" cy="190500"/>
          </a:xfrm>
          <a:prstGeom prst="ellipse">
            <a:avLst/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EF51704-7030-F397-460E-2A21939BB6D8}"/>
              </a:ext>
            </a:extLst>
          </p:cNvPr>
          <p:cNvSpPr txBox="1"/>
          <p:nvPr/>
        </p:nvSpPr>
        <p:spPr>
          <a:xfrm>
            <a:off x="812800" y="50292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84B006D-E654-467E-C705-F54521DE89AE}"/>
              </a:ext>
            </a:extLst>
          </p:cNvPr>
          <p:cNvSpPr txBox="1"/>
          <p:nvPr/>
        </p:nvSpPr>
        <p:spPr>
          <a:xfrm>
            <a:off x="3848100" y="50292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(28.4%)</a:t>
            </a:r>
            <a:endParaRPr kumimoji="1" lang="ja-JP" altLang="en-US" sz="14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D3DBCE65-2DF6-85C8-2DDE-F12ACE846F89}"/>
              </a:ext>
            </a:extLst>
          </p:cNvPr>
          <p:cNvSpPr/>
          <p:nvPr/>
        </p:nvSpPr>
        <p:spPr>
          <a:xfrm>
            <a:off x="533400" y="56134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0117F89-59DF-1C58-147E-897D0B6790EA}"/>
              </a:ext>
            </a:extLst>
          </p:cNvPr>
          <p:cNvSpPr txBox="1"/>
          <p:nvPr/>
        </p:nvSpPr>
        <p:spPr>
          <a:xfrm>
            <a:off x="812800" y="55372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よく知っている（利用経験有）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5610BE-D6F1-21C3-5F35-78DE03FA9FCE}"/>
              </a:ext>
            </a:extLst>
          </p:cNvPr>
          <p:cNvSpPr txBox="1"/>
          <p:nvPr/>
        </p:nvSpPr>
        <p:spPr>
          <a:xfrm>
            <a:off x="3848100" y="55372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7F7450FD-B63A-FD8B-D52B-E0F7963C25A2}"/>
              </a:ext>
            </a:extLst>
          </p:cNvPr>
          <p:cNvSpPr/>
          <p:nvPr/>
        </p:nvSpPr>
        <p:spPr>
          <a:xfrm>
            <a:off x="533400" y="6070600"/>
            <a:ext cx="190500" cy="190500"/>
          </a:xfrm>
          <a:prstGeom prst="ellipse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AEDC3C9-64EB-FA00-7E17-16C21F752187}"/>
              </a:ext>
            </a:extLst>
          </p:cNvPr>
          <p:cNvSpPr txBox="1"/>
          <p:nvPr/>
        </p:nvSpPr>
        <p:spPr>
          <a:xfrm>
            <a:off x="812800" y="59944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7ACA3AB-6886-9974-318D-4CE861324517}"/>
              </a:ext>
            </a:extLst>
          </p:cNvPr>
          <p:cNvSpPr txBox="1"/>
          <p:nvPr/>
        </p:nvSpPr>
        <p:spPr>
          <a:xfrm>
            <a:off x="3848100" y="5994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(1.7%)</a:t>
            </a:r>
            <a:endParaRPr kumimoji="1" lang="ja-JP" altLang="en-US" sz="14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B6D46CBD-364F-7439-8959-778D221CF08E}"/>
              </a:ext>
            </a:extLst>
          </p:cNvPr>
          <p:cNvSpPr/>
          <p:nvPr/>
        </p:nvSpPr>
        <p:spPr>
          <a:xfrm>
            <a:off x="6223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49E43833-29F9-74A6-27A4-6CF88BAAC2F3}"/>
              </a:ext>
            </a:extLst>
          </p:cNvPr>
          <p:cNvSpPr/>
          <p:nvPr/>
        </p:nvSpPr>
        <p:spPr>
          <a:xfrm>
            <a:off x="6426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9B89815-9040-854B-DA22-AA144C6F3B1A}"/>
              </a:ext>
            </a:extLst>
          </p:cNvPr>
          <p:cNvSpPr txBox="1"/>
          <p:nvPr/>
        </p:nvSpPr>
        <p:spPr>
          <a:xfrm>
            <a:off x="6629400" y="1282700"/>
            <a:ext cx="5130800" cy="61042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Q3. 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万が一の際、当院を利用したいですか？（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9AEF0BD1-3291-5AA5-6114-B332A3D65B29}"/>
              </a:ext>
            </a:extLst>
          </p:cNvPr>
          <p:cNvSpPr/>
          <p:nvPr/>
        </p:nvSpPr>
        <p:spPr>
          <a:xfrm>
            <a:off x="6426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部分円 37">
            <a:extLst>
              <a:ext uri="{FF2B5EF4-FFF2-40B4-BE49-F238E27FC236}">
                <a16:creationId xmlns:a16="http://schemas.microsoft.com/office/drawing/2014/main" id="{75E1AE3E-BB32-B169-7917-404747C533C5}"/>
              </a:ext>
            </a:extLst>
          </p:cNvPr>
          <p:cNvSpPr/>
          <p:nvPr/>
        </p:nvSpPr>
        <p:spPr>
          <a:xfrm>
            <a:off x="7835900" y="1803400"/>
            <a:ext cx="2489200" cy="2489200"/>
          </a:xfrm>
          <a:prstGeom prst="pie">
            <a:avLst>
              <a:gd name="adj1" fmla="val 16200000"/>
              <a:gd name="adj2" fmla="val 864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9" name="部分円 38">
            <a:extLst>
              <a:ext uri="{FF2B5EF4-FFF2-40B4-BE49-F238E27FC236}">
                <a16:creationId xmlns:a16="http://schemas.microsoft.com/office/drawing/2014/main" id="{2EF0E397-DCAB-D567-7A44-1355C34FB60D}"/>
              </a:ext>
            </a:extLst>
          </p:cNvPr>
          <p:cNvSpPr/>
          <p:nvPr/>
        </p:nvSpPr>
        <p:spPr>
          <a:xfrm>
            <a:off x="7835900" y="1803400"/>
            <a:ext cx="2489200" cy="2489200"/>
          </a:xfrm>
          <a:prstGeom prst="pie">
            <a:avLst>
              <a:gd name="adj1" fmla="val 86400"/>
              <a:gd name="adj2" fmla="val 14083200"/>
            </a:avLst>
          </a:prstGeom>
          <a:solidFill>
            <a:srgbClr val="2563E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0" name="部分円 39">
            <a:extLst>
              <a:ext uri="{FF2B5EF4-FFF2-40B4-BE49-F238E27FC236}">
                <a16:creationId xmlns:a16="http://schemas.microsoft.com/office/drawing/2014/main" id="{EE4F84A0-EAE9-423E-2FFF-991547957A73}"/>
              </a:ext>
            </a:extLst>
          </p:cNvPr>
          <p:cNvSpPr/>
          <p:nvPr/>
        </p:nvSpPr>
        <p:spPr>
          <a:xfrm>
            <a:off x="7835900" y="1803400"/>
            <a:ext cx="2489200" cy="2489200"/>
          </a:xfrm>
          <a:prstGeom prst="pie">
            <a:avLst>
              <a:gd name="adj1" fmla="val 14083200"/>
              <a:gd name="adj2" fmla="val 15638401"/>
            </a:avLst>
          </a:prstGeom>
          <a:solidFill>
            <a:srgbClr val="94A3B8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1" name="部分円 40">
            <a:extLst>
              <a:ext uri="{FF2B5EF4-FFF2-40B4-BE49-F238E27FC236}">
                <a16:creationId xmlns:a16="http://schemas.microsoft.com/office/drawing/2014/main" id="{8452CBB2-35B1-B11D-9EAC-FB3BC7E9C8D5}"/>
              </a:ext>
            </a:extLst>
          </p:cNvPr>
          <p:cNvSpPr/>
          <p:nvPr/>
        </p:nvSpPr>
        <p:spPr>
          <a:xfrm>
            <a:off x="7835900" y="1803400"/>
            <a:ext cx="2489200" cy="2489200"/>
          </a:xfrm>
          <a:prstGeom prst="pie">
            <a:avLst>
              <a:gd name="adj1" fmla="val 15638401"/>
              <a:gd name="adj2" fmla="val 16178401"/>
            </a:avLst>
          </a:prstGeom>
          <a:solidFill>
            <a:srgbClr val="CBD5E1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3192B957-52D1-C2F9-E80C-A0F4BD62B215}"/>
              </a:ext>
            </a:extLst>
          </p:cNvPr>
          <p:cNvSpPr/>
          <p:nvPr/>
        </p:nvSpPr>
        <p:spPr>
          <a:xfrm>
            <a:off x="8358632" y="2326132"/>
            <a:ext cx="1443736" cy="1443736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BED44E3E-079E-6CCC-85C7-FBD69972F467}"/>
              </a:ext>
            </a:extLst>
          </p:cNvPr>
          <p:cNvSpPr txBox="1"/>
          <p:nvPr/>
        </p:nvSpPr>
        <p:spPr>
          <a:xfrm>
            <a:off x="8128000" y="2768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利用・検討したい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61ACFC2-9EF9-A7EC-3950-E6116416A750}"/>
              </a:ext>
            </a:extLst>
          </p:cNvPr>
          <p:cNvSpPr txBox="1"/>
          <p:nvPr/>
        </p:nvSpPr>
        <p:spPr>
          <a:xfrm>
            <a:off x="8128000" y="3073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 (213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156AC25E-92E1-48DC-EAD4-2F33625F4E8C}"/>
              </a:ext>
            </a:extLst>
          </p:cNvPr>
          <p:cNvSpPr/>
          <p:nvPr/>
        </p:nvSpPr>
        <p:spPr>
          <a:xfrm>
            <a:off x="6400800" y="4483100"/>
            <a:ext cx="5359400" cy="431800"/>
          </a:xfrm>
          <a:prstGeom prst="roundRect">
            <a:avLst>
              <a:gd name="adj" fmla="val 3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CA28F3DD-977C-E01C-0B76-C7DF6FAD6DE4}"/>
              </a:ext>
            </a:extLst>
          </p:cNvPr>
          <p:cNvSpPr/>
          <p:nvPr/>
        </p:nvSpPr>
        <p:spPr>
          <a:xfrm>
            <a:off x="6502400" y="45974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4837B792-033E-6F28-F993-62BF2BE5308F}"/>
              </a:ext>
            </a:extLst>
          </p:cNvPr>
          <p:cNvSpPr txBox="1"/>
          <p:nvPr/>
        </p:nvSpPr>
        <p:spPr>
          <a:xfrm>
            <a:off x="6781800" y="45212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ぜひ利用したい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B1811779-9B9A-9047-6F58-ACA47A79EF64}"/>
              </a:ext>
            </a:extLst>
          </p:cNvPr>
          <p:cNvSpPr txBox="1"/>
          <p:nvPr/>
        </p:nvSpPr>
        <p:spPr>
          <a:xfrm>
            <a:off x="9817100" y="45212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(25.4%)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79955B71-6E3B-C924-28DF-6B05DD33C472}"/>
              </a:ext>
            </a:extLst>
          </p:cNvPr>
          <p:cNvSpPr/>
          <p:nvPr/>
        </p:nvSpPr>
        <p:spPr>
          <a:xfrm>
            <a:off x="6400800" y="4991100"/>
            <a:ext cx="5359400" cy="431800"/>
          </a:xfrm>
          <a:prstGeom prst="roundRect">
            <a:avLst>
              <a:gd name="adj" fmla="val 3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2C595865-F7AC-BC15-D49D-78359209187D}"/>
              </a:ext>
            </a:extLst>
          </p:cNvPr>
          <p:cNvSpPr/>
          <p:nvPr/>
        </p:nvSpPr>
        <p:spPr>
          <a:xfrm>
            <a:off x="6502400" y="5105400"/>
            <a:ext cx="190500" cy="1905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04F4BF6A-F9F2-7569-DFB0-454925C8F55B}"/>
              </a:ext>
            </a:extLst>
          </p:cNvPr>
          <p:cNvSpPr txBox="1"/>
          <p:nvPr/>
        </p:nvSpPr>
        <p:spPr>
          <a:xfrm>
            <a:off x="6781800" y="50292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候補の一つとして検討したい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4F2D218B-85A5-0B39-6247-D92064AC0E78}"/>
              </a:ext>
            </a:extLst>
          </p:cNvPr>
          <p:cNvSpPr txBox="1"/>
          <p:nvPr/>
        </p:nvSpPr>
        <p:spPr>
          <a:xfrm>
            <a:off x="9817100" y="50292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4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3" name="楕円 52">
            <a:extLst>
              <a:ext uri="{FF2B5EF4-FFF2-40B4-BE49-F238E27FC236}">
                <a16:creationId xmlns:a16="http://schemas.microsoft.com/office/drawing/2014/main" id="{90BA4005-A318-B350-F5DC-6F6B612F066A}"/>
              </a:ext>
            </a:extLst>
          </p:cNvPr>
          <p:cNvSpPr/>
          <p:nvPr/>
        </p:nvSpPr>
        <p:spPr>
          <a:xfrm>
            <a:off x="6502400" y="5613400"/>
            <a:ext cx="190500" cy="190500"/>
          </a:xfrm>
          <a:prstGeom prst="ellipse">
            <a:avLst/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9EBAD3F-D19C-9208-ED12-4A20F004D17A}"/>
              </a:ext>
            </a:extLst>
          </p:cNvPr>
          <p:cNvSpPr txBox="1"/>
          <p:nvPr/>
        </p:nvSpPr>
        <p:spPr>
          <a:xfrm>
            <a:off x="6781800" y="55372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他の病院を選ぶ・わからない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A5DB55A-45C4-CFA8-61FE-4526EB05BEDA}"/>
              </a:ext>
            </a:extLst>
          </p:cNvPr>
          <p:cNvSpPr txBox="1"/>
          <p:nvPr/>
        </p:nvSpPr>
        <p:spPr>
          <a:xfrm>
            <a:off x="9817100" y="55372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(7.2%)</a:t>
            </a:r>
            <a:endParaRPr kumimoji="1" lang="ja-JP" altLang="en-US" sz="1450" b="1">
              <a:solidFill>
                <a:srgbClr val="94A3B8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3B9DA202-5B9B-C25A-3998-ADA79E0DFF4F}"/>
              </a:ext>
            </a:extLst>
          </p:cNvPr>
          <p:cNvSpPr/>
          <p:nvPr/>
        </p:nvSpPr>
        <p:spPr>
          <a:xfrm>
            <a:off x="6502400" y="6070600"/>
            <a:ext cx="190500" cy="190500"/>
          </a:xfrm>
          <a:prstGeom prst="ellipse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7735B5D-F802-AC18-277D-9C6FBB4E05E9}"/>
              </a:ext>
            </a:extLst>
          </p:cNvPr>
          <p:cNvSpPr txBox="1"/>
          <p:nvPr/>
        </p:nvSpPr>
        <p:spPr>
          <a:xfrm>
            <a:off x="6781800" y="5994400"/>
            <a:ext cx="33147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5E33BE32-8B1A-FAD4-4992-99BE814A6A62}"/>
              </a:ext>
            </a:extLst>
          </p:cNvPr>
          <p:cNvSpPr txBox="1"/>
          <p:nvPr/>
        </p:nvSpPr>
        <p:spPr>
          <a:xfrm>
            <a:off x="9817100" y="5994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(2.5%)</a:t>
            </a:r>
            <a:endParaRPr kumimoji="1" lang="ja-JP" altLang="en-US" sz="14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28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495089D-E8F0-8A42-D1B8-320AB65A52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E617CFC4-6180-B373-9782-CEBDF15868C6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94295C6-E252-2E5C-27B8-9AD6A29FA2AA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1F2EFE-59DC-B7F8-709E-3A61D8B88C19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来場者アンケート④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9C9B86-4654-6ACA-C562-D3DF7CB613E3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Q4. 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現在健康について気になることはありますか？（グラフ＋「その他」自由記載）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F07C48D-EFFE-ABD9-8A1A-AE92BEB7B817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561E61-DBDD-E3BA-A960-274924A6A10E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 / 12</a:t>
            </a:r>
            <a:endParaRPr kumimoji="1" lang="ja-JP" altLang="en-US" sz="12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6528A45D-E3B1-A798-825A-0E4DC80C0246}"/>
              </a:ext>
            </a:extLst>
          </p:cNvPr>
          <p:cNvSpPr/>
          <p:nvPr/>
        </p:nvSpPr>
        <p:spPr>
          <a:xfrm>
            <a:off x="254000" y="1117600"/>
            <a:ext cx="6223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E2C4644-9707-7A38-DB68-E0C5480A7799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DA46180-9085-6D85-7AD9-FC80F6DFA29C}"/>
              </a:ext>
            </a:extLst>
          </p:cNvPr>
          <p:cNvSpPr txBox="1"/>
          <p:nvPr/>
        </p:nvSpPr>
        <p:spPr>
          <a:xfrm>
            <a:off x="660400" y="1282700"/>
            <a:ext cx="5638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Q4. 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健康について気になること（複数回答・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F8AA0F2-4092-AFC2-0E59-FA95CF98C523}"/>
              </a:ext>
            </a:extLst>
          </p:cNvPr>
          <p:cNvSpPr/>
          <p:nvPr/>
        </p:nvSpPr>
        <p:spPr>
          <a:xfrm>
            <a:off x="457200" y="1727200"/>
            <a:ext cx="5816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1504E72-BE7A-0C8F-1F7D-643C3C285253}"/>
              </a:ext>
            </a:extLst>
          </p:cNvPr>
          <p:cNvSpPr txBox="1"/>
          <p:nvPr/>
        </p:nvSpPr>
        <p:spPr>
          <a:xfrm>
            <a:off x="457200" y="18796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足腰の衰え・転倒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67FD011-E8B9-6413-191E-CA77C2A4C127}"/>
              </a:ext>
            </a:extLst>
          </p:cNvPr>
          <p:cNvSpPr/>
          <p:nvPr/>
        </p:nvSpPr>
        <p:spPr>
          <a:xfrm>
            <a:off x="2501900" y="19431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91FC387F-5EE4-B22B-7566-84501A7D317F}"/>
              </a:ext>
            </a:extLst>
          </p:cNvPr>
          <p:cNvSpPr/>
          <p:nvPr/>
        </p:nvSpPr>
        <p:spPr>
          <a:xfrm>
            <a:off x="2501900" y="1943100"/>
            <a:ext cx="17018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08EE7C8-5002-4A44-FD68-7FFCCBBDA083}"/>
              </a:ext>
            </a:extLst>
          </p:cNvPr>
          <p:cNvSpPr txBox="1"/>
          <p:nvPr/>
        </p:nvSpPr>
        <p:spPr>
          <a:xfrm>
            <a:off x="4762500" y="1879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(39.4%)</a:t>
            </a:r>
            <a:endParaRPr kumimoji="1" lang="ja-JP" altLang="en-US" sz="140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E8378FD-8BDF-99CF-D58A-4180B050F8B7}"/>
              </a:ext>
            </a:extLst>
          </p:cNvPr>
          <p:cNvSpPr txBox="1"/>
          <p:nvPr/>
        </p:nvSpPr>
        <p:spPr>
          <a:xfrm>
            <a:off x="457200" y="24384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食事・栄養バランス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C6DDB3BA-D011-7744-37AD-57DC50207803}"/>
              </a:ext>
            </a:extLst>
          </p:cNvPr>
          <p:cNvSpPr/>
          <p:nvPr/>
        </p:nvSpPr>
        <p:spPr>
          <a:xfrm>
            <a:off x="2501900" y="25019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0697063-FFF4-BC2B-D8DE-BE504A8CB648}"/>
              </a:ext>
            </a:extLst>
          </p:cNvPr>
          <p:cNvSpPr/>
          <p:nvPr/>
        </p:nvSpPr>
        <p:spPr>
          <a:xfrm>
            <a:off x="2501900" y="2501900"/>
            <a:ext cx="14478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1B75584-ECB2-DD23-1376-4009B94AA0FB}"/>
              </a:ext>
            </a:extLst>
          </p:cNvPr>
          <p:cNvSpPr txBox="1"/>
          <p:nvPr/>
        </p:nvSpPr>
        <p:spPr>
          <a:xfrm>
            <a:off x="4762500" y="2438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(33.5%)</a:t>
            </a:r>
            <a:endParaRPr kumimoji="1" lang="ja-JP" altLang="en-US" sz="140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C6A0D9A-EC2C-BBEC-F6DB-C73029714503}"/>
              </a:ext>
            </a:extLst>
          </p:cNvPr>
          <p:cNvSpPr txBox="1"/>
          <p:nvPr/>
        </p:nvSpPr>
        <p:spPr>
          <a:xfrm>
            <a:off x="457200" y="29972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物忘れ・認知機能</a:t>
            </a: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B5871C9C-0F1A-053B-FD93-ABC529D1540C}"/>
              </a:ext>
            </a:extLst>
          </p:cNvPr>
          <p:cNvSpPr/>
          <p:nvPr/>
        </p:nvSpPr>
        <p:spPr>
          <a:xfrm>
            <a:off x="2501900" y="30607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6E171A6-C81E-7D57-F9DB-C736089D8CCD}"/>
              </a:ext>
            </a:extLst>
          </p:cNvPr>
          <p:cNvSpPr/>
          <p:nvPr/>
        </p:nvSpPr>
        <p:spPr>
          <a:xfrm>
            <a:off x="2501900" y="3060700"/>
            <a:ext cx="14351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1DF04D9-84B1-1E05-0FE1-45CB8875320B}"/>
              </a:ext>
            </a:extLst>
          </p:cNvPr>
          <p:cNvSpPr txBox="1"/>
          <p:nvPr/>
        </p:nvSpPr>
        <p:spPr>
          <a:xfrm>
            <a:off x="4762500" y="2997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(33.1%)</a:t>
            </a:r>
            <a:endParaRPr kumimoji="1" lang="ja-JP" altLang="en-US" sz="140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1CF69AE-EB0A-1306-B5C3-1946E4CCA52C}"/>
              </a:ext>
            </a:extLst>
          </p:cNvPr>
          <p:cNvSpPr txBox="1"/>
          <p:nvPr/>
        </p:nvSpPr>
        <p:spPr>
          <a:xfrm>
            <a:off x="457200" y="35560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将来の介護や終活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EE9069FA-27BA-7878-3070-85C5B4BF3051}"/>
              </a:ext>
            </a:extLst>
          </p:cNvPr>
          <p:cNvSpPr/>
          <p:nvPr/>
        </p:nvSpPr>
        <p:spPr>
          <a:xfrm>
            <a:off x="2501900" y="36195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27259D28-5077-2420-4918-3ACF7CA7693A}"/>
              </a:ext>
            </a:extLst>
          </p:cNvPr>
          <p:cNvSpPr/>
          <p:nvPr/>
        </p:nvSpPr>
        <p:spPr>
          <a:xfrm>
            <a:off x="2501900" y="3619500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E091A7C-AC2B-8BE3-7DE4-A68AE915184F}"/>
              </a:ext>
            </a:extLst>
          </p:cNvPr>
          <p:cNvSpPr txBox="1"/>
          <p:nvPr/>
        </p:nvSpPr>
        <p:spPr>
          <a:xfrm>
            <a:off x="4762500" y="3556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(30.1%)</a:t>
            </a:r>
            <a:endParaRPr kumimoji="1" lang="ja-JP" altLang="en-US" sz="140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9065FC3-5A96-4B29-32EF-846A91D2E9E8}"/>
              </a:ext>
            </a:extLst>
          </p:cNvPr>
          <p:cNvSpPr txBox="1"/>
          <p:nvPr/>
        </p:nvSpPr>
        <p:spPr>
          <a:xfrm>
            <a:off x="457200" y="41148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とくにない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0D278C86-8C63-FB2B-625D-33A9E53FC420}"/>
              </a:ext>
            </a:extLst>
          </p:cNvPr>
          <p:cNvSpPr/>
          <p:nvPr/>
        </p:nvSpPr>
        <p:spPr>
          <a:xfrm>
            <a:off x="2501900" y="41783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F80FDB9C-69B3-9F74-32E9-C6C1DC2C9811}"/>
              </a:ext>
            </a:extLst>
          </p:cNvPr>
          <p:cNvSpPr/>
          <p:nvPr/>
        </p:nvSpPr>
        <p:spPr>
          <a:xfrm>
            <a:off x="2501900" y="4178300"/>
            <a:ext cx="622300" cy="22860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BE95C52-42D5-9DF7-69C6-6C0253E8D1F9}"/>
              </a:ext>
            </a:extLst>
          </p:cNvPr>
          <p:cNvSpPr txBox="1"/>
          <p:nvPr/>
        </p:nvSpPr>
        <p:spPr>
          <a:xfrm>
            <a:off x="4762500" y="41148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</a:t>
            </a:r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(14.4%)</a:t>
            </a:r>
            <a:endParaRPr kumimoji="1" lang="ja-JP" altLang="en-US" sz="1400" b="1">
              <a:solidFill>
                <a:srgbClr val="1E293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B49A6DE-01A0-2D36-2F8C-C36D8DCC59D7}"/>
              </a:ext>
            </a:extLst>
          </p:cNvPr>
          <p:cNvSpPr txBox="1"/>
          <p:nvPr/>
        </p:nvSpPr>
        <p:spPr>
          <a:xfrm>
            <a:off x="457200" y="46736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薬の飲み方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F2CF90F7-D123-F106-6F94-0D8263B2B897}"/>
              </a:ext>
            </a:extLst>
          </p:cNvPr>
          <p:cNvSpPr/>
          <p:nvPr/>
        </p:nvSpPr>
        <p:spPr>
          <a:xfrm>
            <a:off x="2501900" y="47371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BD6B87B6-5B82-2684-7724-E48164962F1C}"/>
              </a:ext>
            </a:extLst>
          </p:cNvPr>
          <p:cNvSpPr/>
          <p:nvPr/>
        </p:nvSpPr>
        <p:spPr>
          <a:xfrm>
            <a:off x="2501900" y="4737100"/>
            <a:ext cx="203200" cy="228600"/>
          </a:xfrm>
          <a:prstGeom prst="roundRect">
            <a:avLst>
              <a:gd name="adj" fmla="val 50000"/>
            </a:avLst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D0BDDFA2-3FFE-40CE-A50E-E08A21FBC77E}"/>
              </a:ext>
            </a:extLst>
          </p:cNvPr>
          <p:cNvSpPr txBox="1"/>
          <p:nvPr/>
        </p:nvSpPr>
        <p:spPr>
          <a:xfrm>
            <a:off x="4762500" y="4673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538C722-9B90-7874-35CE-A34CD35E53AC}"/>
              </a:ext>
            </a:extLst>
          </p:cNvPr>
          <p:cNvSpPr txBox="1"/>
          <p:nvPr/>
        </p:nvSpPr>
        <p:spPr>
          <a:xfrm>
            <a:off x="457200" y="5232400"/>
            <a:ext cx="1968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その他</a:t>
            </a: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F2A203F8-7340-9237-4CD7-A4973169B699}"/>
              </a:ext>
            </a:extLst>
          </p:cNvPr>
          <p:cNvSpPr/>
          <p:nvPr/>
        </p:nvSpPr>
        <p:spPr>
          <a:xfrm>
            <a:off x="2501900" y="5295900"/>
            <a:ext cx="2159000" cy="228600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3365FCC3-A021-2F75-26FB-0E2AA80DBE4B}"/>
              </a:ext>
            </a:extLst>
          </p:cNvPr>
          <p:cNvSpPr/>
          <p:nvPr/>
        </p:nvSpPr>
        <p:spPr>
          <a:xfrm>
            <a:off x="2501900" y="5295900"/>
            <a:ext cx="203200" cy="228600"/>
          </a:xfrm>
          <a:prstGeom prst="roundRect">
            <a:avLst>
              <a:gd name="adj" fmla="val 50000"/>
            </a:avLst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7833136-614F-61B8-E0F3-76D01B1B8095}"/>
              </a:ext>
            </a:extLst>
          </p:cNvPr>
          <p:cNvSpPr txBox="1"/>
          <p:nvPr/>
        </p:nvSpPr>
        <p:spPr>
          <a:xfrm>
            <a:off x="4762500" y="5232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25FDBD4-3885-40B2-9E85-D4C798BBA072}"/>
              </a:ext>
            </a:extLst>
          </p:cNvPr>
          <p:cNvSpPr/>
          <p:nvPr/>
        </p:nvSpPr>
        <p:spPr>
          <a:xfrm>
            <a:off x="660400" y="6019800"/>
            <a:ext cx="5410200" cy="38100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C4431046-5C23-1DD7-5081-D8E4F8B87608}"/>
              </a:ext>
            </a:extLst>
          </p:cNvPr>
          <p:cNvSpPr/>
          <p:nvPr/>
        </p:nvSpPr>
        <p:spPr>
          <a:xfrm>
            <a:off x="787400" y="6134100"/>
            <a:ext cx="152400" cy="1524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180C25D-84AA-382C-D552-B0B57D8152F3}"/>
              </a:ext>
            </a:extLst>
          </p:cNvPr>
          <p:cNvSpPr txBox="1"/>
          <p:nvPr/>
        </p:nvSpPr>
        <p:spPr>
          <a:xfrm>
            <a:off x="965200" y="6057900"/>
            <a:ext cx="1841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青：上位 </a:t>
            </a:r>
            <a:r>
              <a:rPr kumimoji="1" lang="en-US" altLang="ja-JP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(30%</a:t>
            </a:r>
            <a:r>
              <a:rPr kumimoji="1" lang="ja-JP" altLang="en-US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超</a:t>
            </a:r>
            <a:r>
              <a:rPr kumimoji="1" lang="en-US" altLang="ja-JP" sz="11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39CF60E4-6585-474C-5824-EB0FB353FCA5}"/>
              </a:ext>
            </a:extLst>
          </p:cNvPr>
          <p:cNvSpPr/>
          <p:nvPr/>
        </p:nvSpPr>
        <p:spPr>
          <a:xfrm>
            <a:off x="2794000" y="6134100"/>
            <a:ext cx="152400" cy="152400"/>
          </a:xfrm>
          <a:prstGeom prst="ellipse">
            <a:avLst/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ECDA1C8A-FB77-4146-52BC-7DBF311AFAC5}"/>
              </a:ext>
            </a:extLst>
          </p:cNvPr>
          <p:cNvSpPr txBox="1"/>
          <p:nvPr/>
        </p:nvSpPr>
        <p:spPr>
          <a:xfrm>
            <a:off x="2971800" y="6057900"/>
            <a:ext cx="1714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赤：最少 </a:t>
            </a:r>
            <a:r>
              <a:rPr kumimoji="1" lang="en-US" altLang="ja-JP" sz="11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1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AC3C5FCE-86D6-0ACD-53A7-DB903A2661F8}"/>
              </a:ext>
            </a:extLst>
          </p:cNvPr>
          <p:cNvSpPr/>
          <p:nvPr/>
        </p:nvSpPr>
        <p:spPr>
          <a:xfrm>
            <a:off x="4673600" y="6134100"/>
            <a:ext cx="152400" cy="152400"/>
          </a:xfrm>
          <a:prstGeom prst="ellipse">
            <a:avLst/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77DB6F8-BAA9-323A-8FE7-9156A5C3C5A8}"/>
              </a:ext>
            </a:extLst>
          </p:cNvPr>
          <p:cNvSpPr txBox="1"/>
          <p:nvPr/>
        </p:nvSpPr>
        <p:spPr>
          <a:xfrm>
            <a:off x="4851400" y="6057900"/>
            <a:ext cx="1206500" cy="27956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1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灰：中間・標準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80F8BA47-0A0D-1186-1652-50A1D13FF55B}"/>
              </a:ext>
            </a:extLst>
          </p:cNvPr>
          <p:cNvSpPr/>
          <p:nvPr/>
        </p:nvSpPr>
        <p:spPr>
          <a:xfrm>
            <a:off x="6680200" y="1117600"/>
            <a:ext cx="52578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D54CF6EB-4154-9883-E822-60E6B1FBA5A6}"/>
              </a:ext>
            </a:extLst>
          </p:cNvPr>
          <p:cNvSpPr/>
          <p:nvPr/>
        </p:nvSpPr>
        <p:spPr>
          <a:xfrm>
            <a:off x="68834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2C70D4B-AC2E-494F-1402-D74275E3184A}"/>
              </a:ext>
            </a:extLst>
          </p:cNvPr>
          <p:cNvSpPr txBox="1"/>
          <p:nvPr/>
        </p:nvSpPr>
        <p:spPr>
          <a:xfrm>
            <a:off x="7086600" y="1282700"/>
            <a:ext cx="46736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「その他」の自由記載内容（計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AB999C52-DB2A-0ED9-DB75-C108A4EAEE7A}"/>
              </a:ext>
            </a:extLst>
          </p:cNvPr>
          <p:cNvSpPr/>
          <p:nvPr/>
        </p:nvSpPr>
        <p:spPr>
          <a:xfrm>
            <a:off x="6883400" y="1727200"/>
            <a:ext cx="48514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E745B9BE-04C1-0FBB-1386-536DC1F9777E}"/>
              </a:ext>
            </a:extLst>
          </p:cNvPr>
          <p:cNvSpPr/>
          <p:nvPr/>
        </p:nvSpPr>
        <p:spPr>
          <a:xfrm>
            <a:off x="6883400" y="1879600"/>
            <a:ext cx="4851400" cy="44958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97D2D87-A315-3F18-4428-6A54C524EA8C}"/>
              </a:ext>
            </a:extLst>
          </p:cNvPr>
          <p:cNvSpPr txBox="1"/>
          <p:nvPr/>
        </p:nvSpPr>
        <p:spPr>
          <a:xfrm>
            <a:off x="7035800" y="1981200"/>
            <a:ext cx="4546600" cy="38174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・血圧 ／ 血圧が高い（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・糖尿病（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・ひざの痛み（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・足がつる、むくみ（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・胃痛（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・痔（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・早く目が覚める、夜間トイレに行く（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・薬に頼らず努力で（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・病気について（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</a:t>
            </a:r>
          </a:p>
        </p:txBody>
      </p:sp>
    </p:spTree>
    <p:extLst>
      <p:ext uri="{BB962C8B-B14F-4D97-AF65-F5344CB8AC3E}">
        <p14:creationId xmlns:p14="http://schemas.microsoft.com/office/powerpoint/2010/main" val="1966369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1382A10-D2FD-99F1-73D1-91C22BD66B5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804CC5E-DF21-6043-9D74-CFA50C7CF2A9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27661D47-7C40-2CF0-21C3-6F8545D67E42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18EF937-3BFF-667F-1D0A-170880EA7DBB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来場者アンケート⑤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3223F99-63C4-F6B9-AEFA-B904A9CF09C8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Q5. 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来年に期待する内容は何ですか？（自由記載</a:t>
            </a:r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件の要約）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98B3F50-999A-5BA5-B157-9EBE6F80417C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3A54BB-ECF7-7905-9F33-A07798BDD069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2563E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 / 12</a:t>
            </a:r>
            <a:endParaRPr kumimoji="1" lang="ja-JP" altLang="en-US" sz="1250" b="1">
              <a:solidFill>
                <a:srgbClr val="2563E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5D860B5D-1170-64B6-FAFB-AD22893C8ED4}"/>
              </a:ext>
            </a:extLst>
          </p:cNvPr>
          <p:cNvSpPr/>
          <p:nvPr/>
        </p:nvSpPr>
        <p:spPr>
          <a:xfrm>
            <a:off x="254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7910848-0F4E-A3F5-BA1C-26CC3A188067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CCD95A1-569A-1781-604C-24DB0F666DD0}"/>
              </a:ext>
            </a:extLst>
          </p:cNvPr>
          <p:cNvSpPr txBox="1"/>
          <p:nvPr/>
        </p:nvSpPr>
        <p:spPr>
          <a:xfrm>
            <a:off x="660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測定・運動・健康チェックに関する記載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83FDD49-A603-E324-EAAD-2A7381544F00}"/>
              </a:ext>
            </a:extLst>
          </p:cNvPr>
          <p:cNvSpPr/>
          <p:nvPr/>
        </p:nvSpPr>
        <p:spPr>
          <a:xfrm>
            <a:off x="457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7F325D2-77AE-2F2E-29CA-72A2E8DC5886}"/>
              </a:ext>
            </a:extLst>
          </p:cNvPr>
          <p:cNvSpPr/>
          <p:nvPr/>
        </p:nvSpPr>
        <p:spPr>
          <a:xfrm>
            <a:off x="457200" y="1879600"/>
            <a:ext cx="5308600" cy="44958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0FB426D-B501-423F-55D1-95ACC0636686}"/>
              </a:ext>
            </a:extLst>
          </p:cNvPr>
          <p:cNvSpPr txBox="1"/>
          <p:nvPr/>
        </p:nvSpPr>
        <p:spPr>
          <a:xfrm>
            <a:off x="609600" y="1981200"/>
            <a:ext cx="5003800" cy="354969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・今年と同じ内容・同様の測定（筋肉量測定・血管年齢測定など）を来年も継続してほしい（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・自宅の椅子に座っている時のストレッチ、日々できる簡単な運動体験、筋肉をつける姿勢を知りたい（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・認知機能の衰えチェック、認知症・フレイル予防、体力測定をしてほしい（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・転倒予防、バランスが悪いか・転倒危険度のチェックをしてほしい（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・骨粗しょう症・骨密度チェックと対策をしてほしい（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・今回測定した項目以外にも、さらに色々な測定・気軽な健康チェックをしてほしい（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A8C1DB39-77C2-DD24-9134-BD792EAF29C1}"/>
              </a:ext>
            </a:extLst>
          </p:cNvPr>
          <p:cNvSpPr/>
          <p:nvPr/>
        </p:nvSpPr>
        <p:spPr>
          <a:xfrm>
            <a:off x="6223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0A14353-3249-25C8-B38A-4044273E4AEC}"/>
              </a:ext>
            </a:extLst>
          </p:cNvPr>
          <p:cNvSpPr/>
          <p:nvPr/>
        </p:nvSpPr>
        <p:spPr>
          <a:xfrm>
            <a:off x="6426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6176015-019E-CC73-F89D-46E51CD4CDAE}"/>
              </a:ext>
            </a:extLst>
          </p:cNvPr>
          <p:cNvSpPr txBox="1"/>
          <p:nvPr/>
        </p:nvSpPr>
        <p:spPr>
          <a:xfrm>
            <a:off x="6629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相談・感想・運営面に関する記載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D667252-04BC-F023-962B-2E6AF54706B9}"/>
              </a:ext>
            </a:extLst>
          </p:cNvPr>
          <p:cNvSpPr/>
          <p:nvPr/>
        </p:nvSpPr>
        <p:spPr>
          <a:xfrm>
            <a:off x="6426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0DDA184-666A-2FD1-85B6-8937DEE443E0}"/>
              </a:ext>
            </a:extLst>
          </p:cNvPr>
          <p:cNvSpPr/>
          <p:nvPr/>
        </p:nvSpPr>
        <p:spPr>
          <a:xfrm>
            <a:off x="6426200" y="1879600"/>
            <a:ext cx="5308600" cy="4495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F9B83FC-D86A-7484-1C13-53BF7E88CC74}"/>
              </a:ext>
            </a:extLst>
          </p:cNvPr>
          <p:cNvSpPr txBox="1"/>
          <p:nvPr/>
        </p:nvSpPr>
        <p:spPr>
          <a:xfrm>
            <a:off x="6578600" y="1981200"/>
            <a:ext cx="5003800" cy="434990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・介護生活の相談、食事、家族が病院に入院した際の飲む薬について知りたい（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・薬について（ジェネリックが効かない）（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・こんな症状には何科に行ったらいいか、五十肩、リハビリへの取り組み方を知りたい（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・マンションで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人ほど入院した方がいて、とてもリハビリが良かったとのこと（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・リハビリセンサーや測定が参考になりとても良かった、来年も元気でいられるアドバイスをお願いしたい（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・記入用のバインダーがあると助かる（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で靴を脱ぐ際、靴入れと靴ベラがあると良かった（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
・測定の案内（スタンプラリー）の順番をわかりやすくしてほしい（</a:t>
            </a:r>
            <a:r>
              <a:rPr kumimoji="1" lang="en-US" altLang="ja-JP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件）</a:t>
            </a:r>
          </a:p>
        </p:txBody>
      </p:sp>
    </p:spTree>
    <p:extLst>
      <p:ext uri="{BB962C8B-B14F-4D97-AF65-F5344CB8AC3E}">
        <p14:creationId xmlns:p14="http://schemas.microsoft.com/office/powerpoint/2010/main" val="2155530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97C7306-0BF4-9BFB-E41A-4ADD17BBFE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8A2573CE-030A-4C64-281D-B5E53786C48E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7FB06D3-9054-6B46-C3EE-546141107F45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9A1432-29E6-6C6F-2053-C666B2BC6A34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301EA2C-3137-DAF6-0193-44E01A1EF5E5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① 今回のどーんと祭に参加して良かったですか？ ／ ② ①の理由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FE7F0DA4-7F39-1345-FA29-01226A797197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E8E905-73D6-C934-EA08-335B8E921ADD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 / 12</a:t>
            </a:r>
            <a:endParaRPr kumimoji="1" lang="ja-JP" altLang="en-US" sz="12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A58ACC1-279C-1EA8-8BBC-9537688C5518}"/>
              </a:ext>
            </a:extLst>
          </p:cNvPr>
          <p:cNvSpPr/>
          <p:nvPr/>
        </p:nvSpPr>
        <p:spPr>
          <a:xfrm>
            <a:off x="254000" y="1117600"/>
            <a:ext cx="5334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CE0C4C-FD13-BDE6-CC29-B4757CE79B00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E2724B6-001F-0C71-B43A-5ABD18D1566C}"/>
              </a:ext>
            </a:extLst>
          </p:cNvPr>
          <p:cNvSpPr txBox="1"/>
          <p:nvPr/>
        </p:nvSpPr>
        <p:spPr>
          <a:xfrm>
            <a:off x="660400" y="1282700"/>
            <a:ext cx="4749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① 参加して良かったですか？（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E859497-8658-4D05-89CB-717505B17F8B}"/>
              </a:ext>
            </a:extLst>
          </p:cNvPr>
          <p:cNvSpPr/>
          <p:nvPr/>
        </p:nvSpPr>
        <p:spPr>
          <a:xfrm>
            <a:off x="457200" y="1727200"/>
            <a:ext cx="4927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C7728DBB-F216-ACA9-9506-9C3EE1127390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ellipse">
            <a:avLst/>
          </a:prstGeom>
          <a:solidFill>
            <a:srgbClr val="10A37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3CBCA662-B57B-DBAA-786E-25063393FFA8}"/>
              </a:ext>
            </a:extLst>
          </p:cNvPr>
          <p:cNvSpPr/>
          <p:nvPr/>
        </p:nvSpPr>
        <p:spPr>
          <a:xfrm>
            <a:off x="2177034" y="2431034"/>
            <a:ext cx="1487932" cy="1487932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477B6E-7C32-3C76-583D-0307BDCD1D34}"/>
              </a:ext>
            </a:extLst>
          </p:cNvPr>
          <p:cNvSpPr txBox="1"/>
          <p:nvPr/>
        </p:nvSpPr>
        <p:spPr>
          <a:xfrm>
            <a:off x="1968500" y="2895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FD72CEB-DA1D-6CC3-4D31-BA000CBD39F3}"/>
              </a:ext>
            </a:extLst>
          </p:cNvPr>
          <p:cNvSpPr txBox="1"/>
          <p:nvPr/>
        </p:nvSpPr>
        <p:spPr>
          <a:xfrm>
            <a:off x="1968500" y="3200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 (13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A36B07AF-0459-5B22-43CE-B90BD36C34D1}"/>
              </a:ext>
            </a:extLst>
          </p:cNvPr>
          <p:cNvSpPr/>
          <p:nvPr/>
        </p:nvSpPr>
        <p:spPr>
          <a:xfrm>
            <a:off x="482600" y="4889500"/>
            <a:ext cx="4876800" cy="431800"/>
          </a:xfrm>
          <a:prstGeom prst="roundRect">
            <a:avLst>
              <a:gd name="adj" fmla="val 3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72F0F9A4-AEFC-0A05-69F8-0E62EC942710}"/>
              </a:ext>
            </a:extLst>
          </p:cNvPr>
          <p:cNvSpPr/>
          <p:nvPr/>
        </p:nvSpPr>
        <p:spPr>
          <a:xfrm>
            <a:off x="584200" y="50038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B02512B-EEE2-FA0E-80FC-C0EA395290AF}"/>
              </a:ext>
            </a:extLst>
          </p:cNvPr>
          <p:cNvSpPr txBox="1"/>
          <p:nvPr/>
        </p:nvSpPr>
        <p:spPr>
          <a:xfrm>
            <a:off x="863600" y="49276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988C1B6-9661-87B7-5C7A-0D788782A327}"/>
              </a:ext>
            </a:extLst>
          </p:cNvPr>
          <p:cNvSpPr txBox="1"/>
          <p:nvPr/>
        </p:nvSpPr>
        <p:spPr>
          <a:xfrm>
            <a:off x="3416300" y="4927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(100.0%)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0E1CE27B-CCB6-A455-2E11-8F8E3A40EED9}"/>
              </a:ext>
            </a:extLst>
          </p:cNvPr>
          <p:cNvSpPr/>
          <p:nvPr/>
        </p:nvSpPr>
        <p:spPr>
          <a:xfrm>
            <a:off x="584200" y="5562600"/>
            <a:ext cx="190500" cy="190500"/>
          </a:xfrm>
          <a:prstGeom prst="ellipse">
            <a:avLst/>
          </a:prstGeom>
          <a:solidFill>
            <a:srgbClr val="CBD5E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1D7FDB2-1145-7E0E-4C82-5AE44F2FA831}"/>
              </a:ext>
            </a:extLst>
          </p:cNvPr>
          <p:cNvSpPr txBox="1"/>
          <p:nvPr/>
        </p:nvSpPr>
        <p:spPr>
          <a:xfrm>
            <a:off x="863600" y="54864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89840BF-DCC0-B8D2-3737-17CBC6CC27EF}"/>
              </a:ext>
            </a:extLst>
          </p:cNvPr>
          <p:cNvSpPr txBox="1"/>
          <p:nvPr/>
        </p:nvSpPr>
        <p:spPr>
          <a:xfrm>
            <a:off x="3416300" y="5486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</a:t>
            </a:r>
            <a:r>
              <a:rPr kumimoji="1" lang="ja-JP" altLang="en-US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(0.0%)</a:t>
            </a:r>
            <a:endParaRPr kumimoji="1" lang="ja-JP" altLang="en-US" sz="14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F85884D4-EC02-4126-D8C9-7CA2BEF41C8F}"/>
              </a:ext>
            </a:extLst>
          </p:cNvPr>
          <p:cNvSpPr/>
          <p:nvPr/>
        </p:nvSpPr>
        <p:spPr>
          <a:xfrm>
            <a:off x="5791200" y="1117600"/>
            <a:ext cx="61468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9969381A-B33F-FDF3-2052-98F4464C16A0}"/>
              </a:ext>
            </a:extLst>
          </p:cNvPr>
          <p:cNvSpPr/>
          <p:nvPr/>
        </p:nvSpPr>
        <p:spPr>
          <a:xfrm>
            <a:off x="59944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62818F5-692A-6351-FA4C-C874AE1962EB}"/>
              </a:ext>
            </a:extLst>
          </p:cNvPr>
          <p:cNvSpPr txBox="1"/>
          <p:nvPr/>
        </p:nvSpPr>
        <p:spPr>
          <a:xfrm>
            <a:off x="6197600" y="1282700"/>
            <a:ext cx="55626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② ①の理由を教えてください（自由記載の要約）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D3EF7B2-4F5B-6285-3FF2-37472E7E7C7D}"/>
              </a:ext>
            </a:extLst>
          </p:cNvPr>
          <p:cNvSpPr/>
          <p:nvPr/>
        </p:nvSpPr>
        <p:spPr>
          <a:xfrm>
            <a:off x="5994400" y="1727200"/>
            <a:ext cx="57404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F618382D-B5D4-5603-F4CE-524A88E8E1D8}"/>
              </a:ext>
            </a:extLst>
          </p:cNvPr>
          <p:cNvSpPr/>
          <p:nvPr/>
        </p:nvSpPr>
        <p:spPr>
          <a:xfrm>
            <a:off x="5994400" y="1879600"/>
            <a:ext cx="5740400" cy="4495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BD1A2C9-9F7B-79BB-A130-59B141166396}"/>
              </a:ext>
            </a:extLst>
          </p:cNvPr>
          <p:cNvSpPr txBox="1"/>
          <p:nvPr/>
        </p:nvSpPr>
        <p:spPr>
          <a:xfrm>
            <a:off x="6146800" y="1981200"/>
            <a:ext cx="5435600" cy="354969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・地域住民の方と直接お話しし、当院や介護予防教室を</a:t>
            </a:r>
            <a:r>
              <a:rPr kumimoji="1" lang="en-US" altLang="ja-JP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40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できたため。
・一般の方々の生活習慣や悩みをリアルに伺え、ご家族が悩まれていることに寄り添える病院だと伝えられたため。
・他部門メンバーと同じ目標に向かって一致団結し、普段できないようなコミュニケーションを取れたため。
・多職種連携ができた、多職種と楽しく地域社会に関われた、当院の結束力が感じられたため。
・たくさんの方が来場されやりがいを感じた、予防医療の大切さや病院アピールの改善点が分かったため。
・普段は病院内で働いているため、外で地域の人と関わる活動が新鮮で良い経験になったため。</a:t>
            </a:r>
          </a:p>
        </p:txBody>
      </p:sp>
    </p:spTree>
    <p:extLst>
      <p:ext uri="{BB962C8B-B14F-4D97-AF65-F5344CB8AC3E}">
        <p14:creationId xmlns:p14="http://schemas.microsoft.com/office/powerpoint/2010/main" val="1954624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835D1F1-00CE-E2F1-E1B8-625BD7AC32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01D15063-3759-6810-55F9-9E6AED590FEC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596C7BE-ED7D-6881-ACB2-BF17048A058C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9A0A851-9471-5F56-6D4A-5D4E22F4E137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CF9ACE7-DBEB-834D-EEC3-AC15462DCBBC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③ 自部署の出展内容や役割は地域住民に貢献できましたか？ ／ ④ ③の理由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3E13F9B-7211-9A1F-AD3D-5B59E5BF8D40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C524709-412F-A8DB-531A-F3ABB4D4C686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 / 12</a:t>
            </a:r>
            <a:endParaRPr kumimoji="1" lang="ja-JP" altLang="en-US" sz="12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6E902C0-59C0-9D91-735F-B13D2DFF0945}"/>
              </a:ext>
            </a:extLst>
          </p:cNvPr>
          <p:cNvSpPr/>
          <p:nvPr/>
        </p:nvSpPr>
        <p:spPr>
          <a:xfrm>
            <a:off x="254000" y="1117600"/>
            <a:ext cx="5334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33A1738-1D7F-3F25-B0D3-9BC5234952E7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F884307-0506-DD33-99C4-FF4766FA0A28}"/>
              </a:ext>
            </a:extLst>
          </p:cNvPr>
          <p:cNvSpPr txBox="1"/>
          <p:nvPr/>
        </p:nvSpPr>
        <p:spPr>
          <a:xfrm>
            <a:off x="660400" y="1282700"/>
            <a:ext cx="4749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③ 地域住民に貢献できましたか？（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273E189-3330-2529-9941-E8007BADC688}"/>
              </a:ext>
            </a:extLst>
          </p:cNvPr>
          <p:cNvSpPr/>
          <p:nvPr/>
        </p:nvSpPr>
        <p:spPr>
          <a:xfrm>
            <a:off x="457200" y="1727200"/>
            <a:ext cx="4927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部分円 12">
            <a:extLst>
              <a:ext uri="{FF2B5EF4-FFF2-40B4-BE49-F238E27FC236}">
                <a16:creationId xmlns:a16="http://schemas.microsoft.com/office/drawing/2014/main" id="{47FCC428-775F-B79E-7FF0-95956603AB77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6200000"/>
              <a:gd name="adj2" fmla="val 145368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67A2ABFB-8433-4111-409F-3B0518799C25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4536800"/>
              <a:gd name="adj2" fmla="val 16200000"/>
            </a:avLst>
          </a:prstGeom>
          <a:solidFill>
            <a:srgbClr val="94A3B8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7E8FE100-0F45-9746-6E1B-3AF46B3A13EE}"/>
              </a:ext>
            </a:extLst>
          </p:cNvPr>
          <p:cNvSpPr/>
          <p:nvPr/>
        </p:nvSpPr>
        <p:spPr>
          <a:xfrm>
            <a:off x="2177034" y="2431034"/>
            <a:ext cx="1487932" cy="1487932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2A9BC8C-CD9E-19A2-A9E8-186B391CA282}"/>
              </a:ext>
            </a:extLst>
          </p:cNvPr>
          <p:cNvSpPr txBox="1"/>
          <p:nvPr/>
        </p:nvSpPr>
        <p:spPr>
          <a:xfrm>
            <a:off x="1968500" y="2895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B1CB12B-FA4D-F918-C7C4-47B10E4B2D01}"/>
              </a:ext>
            </a:extLst>
          </p:cNvPr>
          <p:cNvSpPr txBox="1"/>
          <p:nvPr/>
        </p:nvSpPr>
        <p:spPr>
          <a:xfrm>
            <a:off x="1968500" y="3200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 (12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CC8ADFF-9630-90E8-0595-4ACAC4CD1F01}"/>
              </a:ext>
            </a:extLst>
          </p:cNvPr>
          <p:cNvSpPr/>
          <p:nvPr/>
        </p:nvSpPr>
        <p:spPr>
          <a:xfrm>
            <a:off x="482600" y="4889500"/>
            <a:ext cx="4876800" cy="431800"/>
          </a:xfrm>
          <a:prstGeom prst="roundRect">
            <a:avLst>
              <a:gd name="adj" fmla="val 3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D1519A1D-AD4F-FBA7-F129-81B2402DAE1C}"/>
              </a:ext>
            </a:extLst>
          </p:cNvPr>
          <p:cNvSpPr/>
          <p:nvPr/>
        </p:nvSpPr>
        <p:spPr>
          <a:xfrm>
            <a:off x="584200" y="50038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AB4AFE2-3967-F6E2-8AC1-D56155EC90ED}"/>
              </a:ext>
            </a:extLst>
          </p:cNvPr>
          <p:cNvSpPr txBox="1"/>
          <p:nvPr/>
        </p:nvSpPr>
        <p:spPr>
          <a:xfrm>
            <a:off x="863600" y="49276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DE5BFB8-5A89-55C4-50FD-E0644A9C4D3F}"/>
              </a:ext>
            </a:extLst>
          </p:cNvPr>
          <p:cNvSpPr txBox="1"/>
          <p:nvPr/>
        </p:nvSpPr>
        <p:spPr>
          <a:xfrm>
            <a:off x="3416300" y="4927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2221FB30-7393-2689-CDBD-2D7FE1BD733C}"/>
              </a:ext>
            </a:extLst>
          </p:cNvPr>
          <p:cNvSpPr/>
          <p:nvPr/>
        </p:nvSpPr>
        <p:spPr>
          <a:xfrm>
            <a:off x="584200" y="5562600"/>
            <a:ext cx="190500" cy="190500"/>
          </a:xfrm>
          <a:prstGeom prst="ellipse">
            <a:avLst/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65FC4A7-37A5-1E72-E017-57FFC224C15F}"/>
              </a:ext>
            </a:extLst>
          </p:cNvPr>
          <p:cNvSpPr txBox="1"/>
          <p:nvPr/>
        </p:nvSpPr>
        <p:spPr>
          <a:xfrm>
            <a:off x="863600" y="54864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848F25B-195D-D0E4-FB04-D6DD843972CE}"/>
              </a:ext>
            </a:extLst>
          </p:cNvPr>
          <p:cNvSpPr txBox="1"/>
          <p:nvPr/>
        </p:nvSpPr>
        <p:spPr>
          <a:xfrm>
            <a:off x="3416300" y="5486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(7.7%)</a:t>
            </a:r>
            <a:endParaRPr kumimoji="1" lang="ja-JP" altLang="en-US" sz="1450" b="1">
              <a:solidFill>
                <a:srgbClr val="94A3B8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EE3B27F5-B4E0-0368-515C-D5DF1CF46C43}"/>
              </a:ext>
            </a:extLst>
          </p:cNvPr>
          <p:cNvSpPr/>
          <p:nvPr/>
        </p:nvSpPr>
        <p:spPr>
          <a:xfrm>
            <a:off x="5791200" y="1117600"/>
            <a:ext cx="61468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9A91254F-5D07-6D73-A08E-984780AD9E09}"/>
              </a:ext>
            </a:extLst>
          </p:cNvPr>
          <p:cNvSpPr/>
          <p:nvPr/>
        </p:nvSpPr>
        <p:spPr>
          <a:xfrm>
            <a:off x="59944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26C91A2-152C-F5E8-FBF9-41DBAAA2AB5F}"/>
              </a:ext>
            </a:extLst>
          </p:cNvPr>
          <p:cNvSpPr txBox="1"/>
          <p:nvPr/>
        </p:nvSpPr>
        <p:spPr>
          <a:xfrm>
            <a:off x="6197600" y="1282700"/>
            <a:ext cx="55626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④ ③の理由を教えてください（自由記載の要約）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C059FC5-1EC9-7923-031A-A8E4CB7E25C3}"/>
              </a:ext>
            </a:extLst>
          </p:cNvPr>
          <p:cNvSpPr/>
          <p:nvPr/>
        </p:nvSpPr>
        <p:spPr>
          <a:xfrm>
            <a:off x="5994400" y="1727200"/>
            <a:ext cx="57404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7F6ED595-5A0E-3F4C-0089-6E86185920B0}"/>
              </a:ext>
            </a:extLst>
          </p:cNvPr>
          <p:cNvSpPr/>
          <p:nvPr/>
        </p:nvSpPr>
        <p:spPr>
          <a:xfrm>
            <a:off x="5994400" y="1879600"/>
            <a:ext cx="5740400" cy="4495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5D0F513F-3212-ED2A-BF36-3A72FD2FE1D0}"/>
              </a:ext>
            </a:extLst>
          </p:cNvPr>
          <p:cNvSpPr txBox="1"/>
          <p:nvPr/>
        </p:nvSpPr>
        <p:spPr>
          <a:xfrm>
            <a:off x="6146800" y="1981200"/>
            <a:ext cx="5435600" cy="303262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「はい」と回答した理由（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・筋肉量測定（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）に興味を持たれた方が多く、測定結果をもとに運動指導やアドバイスができたため。
・自分の身体の状態を知る機会となり、専門職から様々なアドバイスを行えたため。
・限られた時間の中でできる限りの栄養アドバイスを行えたため。
・お薬カレンダーの無料配布を喜んでいた方がいたため。
・高齢者以外の層にも興味を持っていただける内容であり、近隣の医師会ブースと比較しても多くの住民が来場してくれたため。
・受付として待ち時間がかかることを事前に案内できたため。
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「いいえ」と回答した理由（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・担当テーマが「人生会議」であり、来場者が求めていた内容だったか判断が難しかったため。</a:t>
            </a:r>
          </a:p>
        </p:txBody>
      </p:sp>
    </p:spTree>
    <p:extLst>
      <p:ext uri="{BB962C8B-B14F-4D97-AF65-F5344CB8AC3E}">
        <p14:creationId xmlns:p14="http://schemas.microsoft.com/office/powerpoint/2010/main" val="679276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D6950DE-C011-AD44-B172-A6E37825A2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A92D4A7-4019-1998-D5D8-A529DBD7A6DE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36B51E2-3E74-EA09-6C89-06711226DEF1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9324F5-BAE9-2496-DDE5-56181B4AF38C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90EE50E-2C2D-A97F-0EC1-6000FC50A035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⑤ 今回</a:t>
            </a:r>
            <a:r>
              <a:rPr kumimoji="1" lang="en-US" altLang="ja-JP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区画を借りて出展しましたが広さはいかがでしたか？ ／ ⑥ 問題点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0B79346-9791-A7D3-D226-72BA07D56541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376E34F-2D61-DAE8-3A48-A129383A331E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 / 12</a:t>
            </a:r>
            <a:endParaRPr kumimoji="1" lang="ja-JP" altLang="en-US" sz="12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9842629D-8D32-AC4F-245D-46877CD47749}"/>
              </a:ext>
            </a:extLst>
          </p:cNvPr>
          <p:cNvSpPr/>
          <p:nvPr/>
        </p:nvSpPr>
        <p:spPr>
          <a:xfrm>
            <a:off x="254000" y="1117600"/>
            <a:ext cx="5334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A04CA83-0109-CFC8-4893-E8CD31B872EF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FA7145-468F-3D97-F0D1-3B37D2FB0866}"/>
              </a:ext>
            </a:extLst>
          </p:cNvPr>
          <p:cNvSpPr txBox="1"/>
          <p:nvPr/>
        </p:nvSpPr>
        <p:spPr>
          <a:xfrm>
            <a:off x="660400" y="1282700"/>
            <a:ext cx="4749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⑤ 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区画の広さはいかがでしたか？（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591EA5-442B-0033-079A-F111A5ED992D}"/>
              </a:ext>
            </a:extLst>
          </p:cNvPr>
          <p:cNvSpPr/>
          <p:nvPr/>
        </p:nvSpPr>
        <p:spPr>
          <a:xfrm>
            <a:off x="457200" y="1727200"/>
            <a:ext cx="4927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部分円 12">
            <a:extLst>
              <a:ext uri="{FF2B5EF4-FFF2-40B4-BE49-F238E27FC236}">
                <a16:creationId xmlns:a16="http://schemas.microsoft.com/office/drawing/2014/main" id="{C29844E1-D584-499B-9AE4-FFCEAD9CB073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6200000"/>
              <a:gd name="adj2" fmla="val 78840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744698AF-F160-15E4-C22E-C3A1445951AA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7884000"/>
              <a:gd name="adj2" fmla="val 16200000"/>
            </a:avLst>
          </a:prstGeom>
          <a:solidFill>
            <a:srgbClr val="E14B4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BDB281C-0A90-F1F9-4351-DA87C000A94F}"/>
              </a:ext>
            </a:extLst>
          </p:cNvPr>
          <p:cNvSpPr/>
          <p:nvPr/>
        </p:nvSpPr>
        <p:spPr>
          <a:xfrm>
            <a:off x="2177034" y="2431034"/>
            <a:ext cx="1487932" cy="1487932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AE2C276-FB22-F36B-B3A2-A185CB45663E}"/>
              </a:ext>
            </a:extLst>
          </p:cNvPr>
          <p:cNvSpPr txBox="1"/>
          <p:nvPr/>
        </p:nvSpPr>
        <p:spPr>
          <a:xfrm>
            <a:off x="1968500" y="2895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B1CB446-4218-FB44-7851-24158B22C4F3}"/>
              </a:ext>
            </a:extLst>
          </p:cNvPr>
          <p:cNvSpPr txBox="1"/>
          <p:nvPr/>
        </p:nvSpPr>
        <p:spPr>
          <a:xfrm>
            <a:off x="1968500" y="3200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 (5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5E42F323-1BC7-E8C8-371A-4E77E70593B0}"/>
              </a:ext>
            </a:extLst>
          </p:cNvPr>
          <p:cNvSpPr/>
          <p:nvPr/>
        </p:nvSpPr>
        <p:spPr>
          <a:xfrm>
            <a:off x="584200" y="50038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29F4CC2-DFAD-E396-F182-CBBA082DAAA9}"/>
              </a:ext>
            </a:extLst>
          </p:cNvPr>
          <p:cNvSpPr txBox="1"/>
          <p:nvPr/>
        </p:nvSpPr>
        <p:spPr>
          <a:xfrm>
            <a:off x="863600" y="49276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07FB4EF-3D82-19CA-CF45-F14B377087D3}"/>
              </a:ext>
            </a:extLst>
          </p:cNvPr>
          <p:cNvSpPr txBox="1"/>
          <p:nvPr/>
        </p:nvSpPr>
        <p:spPr>
          <a:xfrm>
            <a:off x="3416300" y="4927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(61.5%)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DD10335D-B810-E146-41A2-5CD778CC566C}"/>
              </a:ext>
            </a:extLst>
          </p:cNvPr>
          <p:cNvSpPr/>
          <p:nvPr/>
        </p:nvSpPr>
        <p:spPr>
          <a:xfrm>
            <a:off x="482600" y="5448300"/>
            <a:ext cx="4876800" cy="431800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E99E0642-0C77-B9AC-0250-CEC17947A616}"/>
              </a:ext>
            </a:extLst>
          </p:cNvPr>
          <p:cNvSpPr/>
          <p:nvPr/>
        </p:nvSpPr>
        <p:spPr>
          <a:xfrm>
            <a:off x="584200" y="5562600"/>
            <a:ext cx="190500" cy="190500"/>
          </a:xfrm>
          <a:prstGeom prst="ellipse">
            <a:avLst/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A08F97D-E37F-7D27-BD7D-5924AE2420EF}"/>
              </a:ext>
            </a:extLst>
          </p:cNvPr>
          <p:cNvSpPr txBox="1"/>
          <p:nvPr/>
        </p:nvSpPr>
        <p:spPr>
          <a:xfrm>
            <a:off x="863600" y="54864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03B9A29-8EC0-071C-273C-0AD38B34025D}"/>
              </a:ext>
            </a:extLst>
          </p:cNvPr>
          <p:cNvSpPr txBox="1"/>
          <p:nvPr/>
        </p:nvSpPr>
        <p:spPr>
          <a:xfrm>
            <a:off x="3416300" y="5486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(38.5%)</a:t>
            </a:r>
            <a:endParaRPr kumimoji="1" lang="ja-JP" altLang="en-US" sz="14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C209B376-F248-5409-6620-1844C806C0C8}"/>
              </a:ext>
            </a:extLst>
          </p:cNvPr>
          <p:cNvSpPr/>
          <p:nvPr/>
        </p:nvSpPr>
        <p:spPr>
          <a:xfrm>
            <a:off x="5791200" y="1117600"/>
            <a:ext cx="61468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0170C736-6590-6C2A-34BC-4612C7F09E70}"/>
              </a:ext>
            </a:extLst>
          </p:cNvPr>
          <p:cNvSpPr/>
          <p:nvPr/>
        </p:nvSpPr>
        <p:spPr>
          <a:xfrm>
            <a:off x="59944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8024D62-7CFC-C480-053A-3DF3DEFFD264}"/>
              </a:ext>
            </a:extLst>
          </p:cNvPr>
          <p:cNvSpPr txBox="1"/>
          <p:nvPr/>
        </p:nvSpPr>
        <p:spPr>
          <a:xfrm>
            <a:off x="6197600" y="1282700"/>
            <a:ext cx="55626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⑥「問題あり」と答えた方の具体的な問題点（要約）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EA4B3F3-CB57-A043-7E58-0DD252EAB6F6}"/>
              </a:ext>
            </a:extLst>
          </p:cNvPr>
          <p:cNvSpPr/>
          <p:nvPr/>
        </p:nvSpPr>
        <p:spPr>
          <a:xfrm>
            <a:off x="5994400" y="1727200"/>
            <a:ext cx="57404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129A719-1E25-1D78-8492-638AE873309B}"/>
              </a:ext>
            </a:extLst>
          </p:cNvPr>
          <p:cNvSpPr/>
          <p:nvPr/>
        </p:nvSpPr>
        <p:spPr>
          <a:xfrm>
            <a:off x="5994400" y="1879600"/>
            <a:ext cx="5740400" cy="44958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617186F-6753-BC5D-0B29-579E2BD3FB23}"/>
              </a:ext>
            </a:extLst>
          </p:cNvPr>
          <p:cNvSpPr txBox="1"/>
          <p:nvPr/>
        </p:nvSpPr>
        <p:spPr>
          <a:xfrm>
            <a:off x="6146800" y="2032000"/>
            <a:ext cx="5435600" cy="238013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・常に混雑していたため狭かった。
・時間帯にもよるが、お待ちの方々が座れず、外出をお勧めして対応した。
・満席の状態が続くことがあり、移動時に狭そうな様子が見受けられた。
・</a:t>
            </a:r>
            <a:r>
              <a:rPr kumimoji="1" lang="en-US" altLang="ja-JP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の測定スペースが狭かった。
・同規模で行うならそのままでもよいが、</a:t>
            </a:r>
            <a:r>
              <a:rPr kumimoji="1" lang="en-US" altLang="ja-JP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を増やすなど規模を広げるのであれば、もう半テント（</a:t>
            </a:r>
            <a:r>
              <a:rPr kumimoji="1" lang="en-US" altLang="ja-JP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8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区画）必要と感じた。</a:t>
            </a:r>
          </a:p>
        </p:txBody>
      </p:sp>
    </p:spTree>
    <p:extLst>
      <p:ext uri="{BB962C8B-B14F-4D97-AF65-F5344CB8AC3E}">
        <p14:creationId xmlns:p14="http://schemas.microsoft.com/office/powerpoint/2010/main" val="3918318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A16CEC9-E3E0-FFF8-81B6-B72968EB12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E76D974-7A24-B532-FC38-8021E53DED2E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A8A8C86-3522-FAE8-E23A-7C16151138C3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FA4859B-8103-FDF1-2F13-958986877278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スタッフアンケート④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7122E73-1FD0-D149-FF0C-77FCF9BD44C5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⑦ 今回の人員配置（部署参加人数）は適切でしたか？ ／ ⑧ 問題点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44E8856E-FC67-3ADD-AB5D-A9B5C95F2F25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5FDAC12-C478-B058-EAF8-7220BBFDDB32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 / 12</a:t>
            </a:r>
            <a:endParaRPr kumimoji="1" lang="ja-JP" altLang="en-US" sz="12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8F469BA-EA40-EC51-186A-A63E66DF3AEA}"/>
              </a:ext>
            </a:extLst>
          </p:cNvPr>
          <p:cNvSpPr/>
          <p:nvPr/>
        </p:nvSpPr>
        <p:spPr>
          <a:xfrm>
            <a:off x="254000" y="1117600"/>
            <a:ext cx="5334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DE780D5-29E9-509D-809F-22341804E4D5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2C6FD18-47C5-214A-029D-DF1E8D9CD094}"/>
              </a:ext>
            </a:extLst>
          </p:cNvPr>
          <p:cNvSpPr txBox="1"/>
          <p:nvPr/>
        </p:nvSpPr>
        <p:spPr>
          <a:xfrm>
            <a:off x="660400" y="1282700"/>
            <a:ext cx="4749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⑦ 人員配置は適切でしたか？（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6B5290-E6CD-376F-A33C-B6BCEAB1C339}"/>
              </a:ext>
            </a:extLst>
          </p:cNvPr>
          <p:cNvSpPr/>
          <p:nvPr/>
        </p:nvSpPr>
        <p:spPr>
          <a:xfrm>
            <a:off x="457200" y="1727200"/>
            <a:ext cx="4927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部分円 12">
            <a:extLst>
              <a:ext uri="{FF2B5EF4-FFF2-40B4-BE49-F238E27FC236}">
                <a16:creationId xmlns:a16="http://schemas.microsoft.com/office/drawing/2014/main" id="{038D5F4C-424A-E564-27F4-BDC1EFF28E80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6200000"/>
              <a:gd name="adj2" fmla="val 11210400"/>
            </a:avLst>
          </a:prstGeom>
          <a:solidFill>
            <a:srgbClr val="E14B4B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5EF70EDC-1D27-CDE7-BE81-AEB590DE7562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1210400"/>
              <a:gd name="adj2" fmla="val 162000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4488F995-FEA4-78A2-AAB7-53F22FA9FD82}"/>
              </a:ext>
            </a:extLst>
          </p:cNvPr>
          <p:cNvSpPr/>
          <p:nvPr/>
        </p:nvSpPr>
        <p:spPr>
          <a:xfrm>
            <a:off x="2177034" y="2431034"/>
            <a:ext cx="1487932" cy="1487932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B32E9D7-E4AF-145D-2269-CA0DFC2483FB}"/>
              </a:ext>
            </a:extLst>
          </p:cNvPr>
          <p:cNvSpPr txBox="1"/>
          <p:nvPr/>
        </p:nvSpPr>
        <p:spPr>
          <a:xfrm>
            <a:off x="1968500" y="2895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6A4B1AD-37CB-66F0-5AAD-0C372C2713AA}"/>
              </a:ext>
            </a:extLst>
          </p:cNvPr>
          <p:cNvSpPr txBox="1"/>
          <p:nvPr/>
        </p:nvSpPr>
        <p:spPr>
          <a:xfrm>
            <a:off x="1968500" y="3200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 (10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328FED22-C3FF-4345-B4FC-031D759F6F7F}"/>
              </a:ext>
            </a:extLst>
          </p:cNvPr>
          <p:cNvSpPr/>
          <p:nvPr/>
        </p:nvSpPr>
        <p:spPr>
          <a:xfrm>
            <a:off x="482600" y="4889500"/>
            <a:ext cx="4876800" cy="431800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1675DF5E-4245-7305-6606-186998A2F471}"/>
              </a:ext>
            </a:extLst>
          </p:cNvPr>
          <p:cNvSpPr/>
          <p:nvPr/>
        </p:nvSpPr>
        <p:spPr>
          <a:xfrm>
            <a:off x="584200" y="5003800"/>
            <a:ext cx="190500" cy="190500"/>
          </a:xfrm>
          <a:prstGeom prst="ellipse">
            <a:avLst/>
          </a:prstGeom>
          <a:solidFill>
            <a:srgbClr val="E14B4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EB6FAD2-C7F2-D7DB-76A2-459733D663C5}"/>
              </a:ext>
            </a:extLst>
          </p:cNvPr>
          <p:cNvSpPr txBox="1"/>
          <p:nvPr/>
        </p:nvSpPr>
        <p:spPr>
          <a:xfrm>
            <a:off x="863600" y="49276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C808AF5-3E62-F52E-F714-EC58C43BB374}"/>
              </a:ext>
            </a:extLst>
          </p:cNvPr>
          <p:cNvSpPr txBox="1"/>
          <p:nvPr/>
        </p:nvSpPr>
        <p:spPr>
          <a:xfrm>
            <a:off x="3416300" y="4927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E14B4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(76.9%)</a:t>
            </a:r>
            <a:endParaRPr kumimoji="1" lang="ja-JP" altLang="en-US" sz="1450" b="1">
              <a:solidFill>
                <a:srgbClr val="E14B4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AB9A05DE-453E-F3B3-841F-4284A252BBE9}"/>
              </a:ext>
            </a:extLst>
          </p:cNvPr>
          <p:cNvSpPr/>
          <p:nvPr/>
        </p:nvSpPr>
        <p:spPr>
          <a:xfrm>
            <a:off x="584200" y="55626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C357090-F958-3736-0B01-9C180FD02255}"/>
              </a:ext>
            </a:extLst>
          </p:cNvPr>
          <p:cNvSpPr txBox="1"/>
          <p:nvPr/>
        </p:nvSpPr>
        <p:spPr>
          <a:xfrm>
            <a:off x="863600" y="54864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1C858FC-0B1C-184B-C75C-501B15FB7D27}"/>
              </a:ext>
            </a:extLst>
          </p:cNvPr>
          <p:cNvSpPr txBox="1"/>
          <p:nvPr/>
        </p:nvSpPr>
        <p:spPr>
          <a:xfrm>
            <a:off x="3416300" y="5486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(23.1%)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9CBBAE3B-6F62-6036-29E2-DA3983CCDF13}"/>
              </a:ext>
            </a:extLst>
          </p:cNvPr>
          <p:cNvSpPr/>
          <p:nvPr/>
        </p:nvSpPr>
        <p:spPr>
          <a:xfrm>
            <a:off x="5791200" y="1117600"/>
            <a:ext cx="61468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CE796D74-5D18-9F82-E4DD-8D6BAF07E8FF}"/>
              </a:ext>
            </a:extLst>
          </p:cNvPr>
          <p:cNvSpPr/>
          <p:nvPr/>
        </p:nvSpPr>
        <p:spPr>
          <a:xfrm>
            <a:off x="59944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47CD715-9058-2CDE-7ACA-750E129CEF37}"/>
              </a:ext>
            </a:extLst>
          </p:cNvPr>
          <p:cNvSpPr txBox="1"/>
          <p:nvPr/>
        </p:nvSpPr>
        <p:spPr>
          <a:xfrm>
            <a:off x="6197600" y="1282700"/>
            <a:ext cx="55626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⑧「問題あり」と答えた方の具体的な問題点（要約）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CEF051E-CD1F-5C90-0AC9-4B7640C5B903}"/>
              </a:ext>
            </a:extLst>
          </p:cNvPr>
          <p:cNvSpPr/>
          <p:nvPr/>
        </p:nvSpPr>
        <p:spPr>
          <a:xfrm>
            <a:off x="5994400" y="1727200"/>
            <a:ext cx="57404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79E08B91-0771-7741-6D34-FBAE1052D1C4}"/>
              </a:ext>
            </a:extLst>
          </p:cNvPr>
          <p:cNvSpPr/>
          <p:nvPr/>
        </p:nvSpPr>
        <p:spPr>
          <a:xfrm>
            <a:off x="5994400" y="1879600"/>
            <a:ext cx="5740400" cy="44958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77A9B24-F6EF-B30F-186F-B43378EA7090}"/>
              </a:ext>
            </a:extLst>
          </p:cNvPr>
          <p:cNvSpPr txBox="1"/>
          <p:nvPr/>
        </p:nvSpPr>
        <p:spPr>
          <a:xfrm>
            <a:off x="6146800" y="1981200"/>
            <a:ext cx="5435600" cy="31618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・来場者が多く、休憩時間がほとんど取れなかった（長くても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10〜15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×2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回程度）。
・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人が休憩に入ると残りの人数で回すのが大変だったため、リハ・測定スタッフや看護スタッフをあと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1〜3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名多く配置してほしい。
・並んでいる方や待っている方を公平に案内する「誘導係（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名程度）」が必要だった。
・全体を把握・調整する「全体統括」の役割が必要だった。
・事務スタッフがもう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名いると良いと感じた。
・</a:t>
            </a:r>
            <a:r>
              <a:rPr kumimoji="1" lang="en-US" altLang="ja-JP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2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日間連続の出勤は負担が大きかった。</a:t>
            </a:r>
          </a:p>
        </p:txBody>
      </p:sp>
    </p:spTree>
    <p:extLst>
      <p:ext uri="{BB962C8B-B14F-4D97-AF65-F5344CB8AC3E}">
        <p14:creationId xmlns:p14="http://schemas.microsoft.com/office/powerpoint/2010/main" val="2856045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0A420F6-A86A-8D87-7ADF-7CA6128659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984770A5-21AA-562F-006A-F0FDA2051352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F4F5F7E-39E3-15FC-46B1-0C1F5DE61445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F9224A-9503-582F-5F53-42C02AEF610E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スタッフアンケート⑤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7ECC5F2-A874-D6C8-F2F8-BD30E0AC7758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⑨ 来年も自部署が参加する必要性はあると考えますか？ ／ ⑩ ⑨の理由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02CCB97-C513-E932-B9C8-F836CA5DCDF2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59F09ED-1031-C311-7EAC-58E9E391E8FC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 / 12</a:t>
            </a:r>
            <a:endParaRPr kumimoji="1" lang="ja-JP" altLang="en-US" sz="12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852CB34-1B56-FBEE-D256-68469B57C39C}"/>
              </a:ext>
            </a:extLst>
          </p:cNvPr>
          <p:cNvSpPr/>
          <p:nvPr/>
        </p:nvSpPr>
        <p:spPr>
          <a:xfrm>
            <a:off x="254000" y="1117600"/>
            <a:ext cx="5334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6B3E666-5115-FEAD-3325-B1CDBD05CC58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7C7F85-D5A9-C7DE-6B97-2F7FFECB8A50}"/>
              </a:ext>
            </a:extLst>
          </p:cNvPr>
          <p:cNvSpPr txBox="1"/>
          <p:nvPr/>
        </p:nvSpPr>
        <p:spPr>
          <a:xfrm>
            <a:off x="660400" y="1282700"/>
            <a:ext cx="4749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⑨ 来年も参加する必要性はありますか？（</a:t>
            </a:r>
            <a:r>
              <a:rPr kumimoji="1" lang="en-US" altLang="ja-JP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</a:t>
            </a:r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B1D1DAA-ACC8-C4CD-2DEC-66C32FE99891}"/>
              </a:ext>
            </a:extLst>
          </p:cNvPr>
          <p:cNvSpPr/>
          <p:nvPr/>
        </p:nvSpPr>
        <p:spPr>
          <a:xfrm>
            <a:off x="457200" y="1727200"/>
            <a:ext cx="4927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部分円 12">
            <a:extLst>
              <a:ext uri="{FF2B5EF4-FFF2-40B4-BE49-F238E27FC236}">
                <a16:creationId xmlns:a16="http://schemas.microsoft.com/office/drawing/2014/main" id="{0B69DB40-3FF5-6B59-7755-04F3B66B6E0B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6200000"/>
              <a:gd name="adj2" fmla="val 12873600"/>
            </a:avLst>
          </a:prstGeom>
          <a:solidFill>
            <a:srgbClr val="10A37F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CDBF62A3-0A32-5F34-B1CB-0E8871060103}"/>
              </a:ext>
            </a:extLst>
          </p:cNvPr>
          <p:cNvSpPr/>
          <p:nvPr/>
        </p:nvSpPr>
        <p:spPr>
          <a:xfrm>
            <a:off x="1638300" y="1892300"/>
            <a:ext cx="2565400" cy="2565400"/>
          </a:xfrm>
          <a:prstGeom prst="pie">
            <a:avLst>
              <a:gd name="adj1" fmla="val 12873600"/>
              <a:gd name="adj2" fmla="val 16200000"/>
            </a:avLst>
          </a:prstGeom>
          <a:solidFill>
            <a:srgbClr val="94A3B8"/>
          </a:solidFill>
          <a:ln w="317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2F6F7FAB-1153-3F9B-B114-710C7C8967A1}"/>
              </a:ext>
            </a:extLst>
          </p:cNvPr>
          <p:cNvSpPr/>
          <p:nvPr/>
        </p:nvSpPr>
        <p:spPr>
          <a:xfrm>
            <a:off x="2177034" y="2431034"/>
            <a:ext cx="1487932" cy="1487932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4FD0AAA-9298-128B-545F-610916FE47B7}"/>
              </a:ext>
            </a:extLst>
          </p:cNvPr>
          <p:cNvSpPr txBox="1"/>
          <p:nvPr/>
        </p:nvSpPr>
        <p:spPr>
          <a:xfrm>
            <a:off x="1968500" y="2895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48F698-93D5-F40B-2E68-C62AF42AF246}"/>
              </a:ext>
            </a:extLst>
          </p:cNvPr>
          <p:cNvSpPr txBox="1"/>
          <p:nvPr/>
        </p:nvSpPr>
        <p:spPr>
          <a:xfrm>
            <a:off x="1968500" y="3200400"/>
            <a:ext cx="19050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84.6% (11</a:t>
            </a:r>
            <a:r>
              <a:rPr kumimoji="1" lang="ja-JP" altLang="en-US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250" b="1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250" b="1">
              <a:solidFill>
                <a:srgbClr val="64748B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93E095C6-6324-1761-4ABD-48BB6DB079E9}"/>
              </a:ext>
            </a:extLst>
          </p:cNvPr>
          <p:cNvSpPr/>
          <p:nvPr/>
        </p:nvSpPr>
        <p:spPr>
          <a:xfrm>
            <a:off x="482600" y="4889500"/>
            <a:ext cx="4876800" cy="431800"/>
          </a:xfrm>
          <a:prstGeom prst="roundRect">
            <a:avLst>
              <a:gd name="adj" fmla="val 3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73BE12A3-71EF-46A9-6BB0-30196CCEFC28}"/>
              </a:ext>
            </a:extLst>
          </p:cNvPr>
          <p:cNvSpPr/>
          <p:nvPr/>
        </p:nvSpPr>
        <p:spPr>
          <a:xfrm>
            <a:off x="584200" y="5003800"/>
            <a:ext cx="190500" cy="190500"/>
          </a:xfrm>
          <a:prstGeom prst="ellipse">
            <a:avLst/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386DED5-B553-B833-C122-0AAC91160983}"/>
              </a:ext>
            </a:extLst>
          </p:cNvPr>
          <p:cNvSpPr txBox="1"/>
          <p:nvPr/>
        </p:nvSpPr>
        <p:spPr>
          <a:xfrm>
            <a:off x="863600" y="49276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E0C8650-D596-6C1D-4ED0-E4AE8DE30413}"/>
              </a:ext>
            </a:extLst>
          </p:cNvPr>
          <p:cNvSpPr txBox="1"/>
          <p:nvPr/>
        </p:nvSpPr>
        <p:spPr>
          <a:xfrm>
            <a:off x="3416300" y="49276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(84.6%)</a:t>
            </a:r>
            <a:endParaRPr kumimoji="1" lang="ja-JP" altLang="en-US" sz="14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75055AC7-80AD-A103-DF4E-06E5A7F42D51}"/>
              </a:ext>
            </a:extLst>
          </p:cNvPr>
          <p:cNvSpPr/>
          <p:nvPr/>
        </p:nvSpPr>
        <p:spPr>
          <a:xfrm>
            <a:off x="584200" y="5562600"/>
            <a:ext cx="190500" cy="190500"/>
          </a:xfrm>
          <a:prstGeom prst="ellipse">
            <a:avLst/>
          </a:prstGeom>
          <a:solidFill>
            <a:srgbClr val="94A3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AEDBFB0-A0F8-2F99-9623-BE320D26D277}"/>
              </a:ext>
            </a:extLst>
          </p:cNvPr>
          <p:cNvSpPr txBox="1"/>
          <p:nvPr/>
        </p:nvSpPr>
        <p:spPr>
          <a:xfrm>
            <a:off x="863600" y="5486400"/>
            <a:ext cx="28321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CEE2225-641C-9264-2FE5-67ADF1B27967}"/>
              </a:ext>
            </a:extLst>
          </p:cNvPr>
          <p:cNvSpPr txBox="1"/>
          <p:nvPr/>
        </p:nvSpPr>
        <p:spPr>
          <a:xfrm>
            <a:off x="3416300" y="5486400"/>
            <a:ext cx="18415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50" b="1">
                <a:solidFill>
                  <a:srgbClr val="94A3B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(15.4%)</a:t>
            </a:r>
            <a:endParaRPr kumimoji="1" lang="ja-JP" altLang="en-US" sz="1450" b="1">
              <a:solidFill>
                <a:srgbClr val="94A3B8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9AE507AE-4514-D710-D631-7921E85C5E21}"/>
              </a:ext>
            </a:extLst>
          </p:cNvPr>
          <p:cNvSpPr/>
          <p:nvPr/>
        </p:nvSpPr>
        <p:spPr>
          <a:xfrm>
            <a:off x="5791200" y="1117600"/>
            <a:ext cx="61468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D6169688-C800-044C-A65D-5E9708EE971D}"/>
              </a:ext>
            </a:extLst>
          </p:cNvPr>
          <p:cNvSpPr/>
          <p:nvPr/>
        </p:nvSpPr>
        <p:spPr>
          <a:xfrm>
            <a:off x="59944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9D6AA68-0A20-852C-010A-FD581CB98738}"/>
              </a:ext>
            </a:extLst>
          </p:cNvPr>
          <p:cNvSpPr txBox="1"/>
          <p:nvPr/>
        </p:nvSpPr>
        <p:spPr>
          <a:xfrm>
            <a:off x="6197600" y="1282700"/>
            <a:ext cx="55626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⑩ ⑨の理由を教えてください（自由記載の要約）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14E1943-0FF2-AFD8-88C7-06766541F42C}"/>
              </a:ext>
            </a:extLst>
          </p:cNvPr>
          <p:cNvSpPr/>
          <p:nvPr/>
        </p:nvSpPr>
        <p:spPr>
          <a:xfrm>
            <a:off x="5994400" y="1727200"/>
            <a:ext cx="57404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15BD9AD-A97B-A196-E9AA-28D4377B6C5A}"/>
              </a:ext>
            </a:extLst>
          </p:cNvPr>
          <p:cNvSpPr/>
          <p:nvPr/>
        </p:nvSpPr>
        <p:spPr>
          <a:xfrm>
            <a:off x="5994400" y="1879600"/>
            <a:ext cx="5740400" cy="4495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2B0D9EF-70B8-E990-7DAA-290F55D8969C}"/>
              </a:ext>
            </a:extLst>
          </p:cNvPr>
          <p:cNvSpPr txBox="1"/>
          <p:nvPr/>
        </p:nvSpPr>
        <p:spPr>
          <a:xfrm>
            <a:off x="6146800" y="1955800"/>
            <a:ext cx="5435600" cy="29895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「はい」と回答した理由（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・まだまだ当院の認知度が低いことが分かり、病院を宣伝する良い機会になるため。
・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測定が大変好評であり、健康に対する地域の皆様の関心が高いため。
・栄養相談の需要が想像以上に高いと分かったため。
・血管年齢測定に加えてその他の健康相談をされる方も複数おり、看護師として生活アドバイスを行う必要があるため。
・多職種で関わることで一致団結感が生まれるため。
・病院として出展するなら全部署が参加した方が良いと感じるため（少人数部署は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日間のうち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日参加や相談がある時のみの対応でもよい）。
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「いいえ」と回答した理由（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4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日連続の参加はきついため。 ／ ・自部署に限らず人員としては必要だと思うため。</a:t>
            </a:r>
          </a:p>
        </p:txBody>
      </p:sp>
    </p:spTree>
    <p:extLst>
      <p:ext uri="{BB962C8B-B14F-4D97-AF65-F5344CB8AC3E}">
        <p14:creationId xmlns:p14="http://schemas.microsoft.com/office/powerpoint/2010/main" val="3575695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7A11B49-78F8-7EB0-B053-116B10AA19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5A6CF47-2E98-3916-2D37-E90CDA17272E}"/>
              </a:ext>
            </a:extLst>
          </p:cNvPr>
          <p:cNvSpPr/>
          <p:nvPr/>
        </p:nvSpPr>
        <p:spPr>
          <a:xfrm>
            <a:off x="254000" y="177800"/>
            <a:ext cx="11684000" cy="787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163468A5-AE06-2D6D-4979-5028B9B26355}"/>
              </a:ext>
            </a:extLst>
          </p:cNvPr>
          <p:cNvSpPr/>
          <p:nvPr/>
        </p:nvSpPr>
        <p:spPr>
          <a:xfrm>
            <a:off x="431800" y="342900"/>
            <a:ext cx="2311400" cy="457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29FAA99-BBD1-3E45-3B3A-BEB9DDB6BAE7}"/>
              </a:ext>
            </a:extLst>
          </p:cNvPr>
          <p:cNvSpPr txBox="1"/>
          <p:nvPr/>
        </p:nvSpPr>
        <p:spPr>
          <a:xfrm>
            <a:off x="431800" y="381000"/>
            <a:ext cx="23114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776B97B-E430-9994-762B-9085C9A9F2D7}"/>
              </a:ext>
            </a:extLst>
          </p:cNvPr>
          <p:cNvSpPr txBox="1"/>
          <p:nvPr/>
        </p:nvSpPr>
        <p:spPr>
          <a:xfrm>
            <a:off x="2870200" y="317500"/>
            <a:ext cx="7899400" cy="3795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⑪ 来年に向けて改善・強化・取り入れた方がよいこと（自由記載の要約）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44BC287-923D-36F9-C265-6A726C7E474D}"/>
              </a:ext>
            </a:extLst>
          </p:cNvPr>
          <p:cNvSpPr/>
          <p:nvPr/>
        </p:nvSpPr>
        <p:spPr>
          <a:xfrm>
            <a:off x="10845800" y="368300"/>
            <a:ext cx="914400" cy="406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1E678A3-4804-B936-03DE-96C2FDE34E24}"/>
              </a:ext>
            </a:extLst>
          </p:cNvPr>
          <p:cNvSpPr txBox="1"/>
          <p:nvPr/>
        </p:nvSpPr>
        <p:spPr>
          <a:xfrm>
            <a:off x="10845800" y="393700"/>
            <a:ext cx="914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250" b="1">
                <a:solidFill>
                  <a:srgbClr val="10A37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 / 12</a:t>
            </a:r>
            <a:endParaRPr kumimoji="1" lang="ja-JP" altLang="en-US" sz="1250" b="1">
              <a:solidFill>
                <a:srgbClr val="10A37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6A98079-60F8-9785-5A7D-A41D36569FA4}"/>
              </a:ext>
            </a:extLst>
          </p:cNvPr>
          <p:cNvSpPr/>
          <p:nvPr/>
        </p:nvSpPr>
        <p:spPr>
          <a:xfrm>
            <a:off x="254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D99FBB5-1842-AEC4-387B-60FD50CBF854}"/>
              </a:ext>
            </a:extLst>
          </p:cNvPr>
          <p:cNvSpPr/>
          <p:nvPr/>
        </p:nvSpPr>
        <p:spPr>
          <a:xfrm>
            <a:off x="457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0D23E12-5C5C-3109-A2F3-9387638BF37E}"/>
              </a:ext>
            </a:extLst>
          </p:cNvPr>
          <p:cNvSpPr txBox="1"/>
          <p:nvPr/>
        </p:nvSpPr>
        <p:spPr>
          <a:xfrm>
            <a:off x="660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機器・動線・シフト体制に関する記載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DBD7816-BF82-898D-5081-5EB990FAF22E}"/>
              </a:ext>
            </a:extLst>
          </p:cNvPr>
          <p:cNvSpPr/>
          <p:nvPr/>
        </p:nvSpPr>
        <p:spPr>
          <a:xfrm>
            <a:off x="457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295AB7B-F474-2EA2-3D2F-30B5E57DC70C}"/>
              </a:ext>
            </a:extLst>
          </p:cNvPr>
          <p:cNvSpPr/>
          <p:nvPr/>
        </p:nvSpPr>
        <p:spPr>
          <a:xfrm>
            <a:off x="457200" y="1879600"/>
            <a:ext cx="5308600" cy="4495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5F6133E-3189-0356-7C77-9C9E9F7B9F48}"/>
              </a:ext>
            </a:extLst>
          </p:cNvPr>
          <p:cNvSpPr txBox="1"/>
          <p:nvPr/>
        </p:nvSpPr>
        <p:spPr>
          <a:xfrm>
            <a:off x="609600" y="1981200"/>
            <a:ext cx="5003800" cy="36604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のスペース拡張と「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台体制」への増設（希望者が多く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分以上待ちとなり最後は並ぶのを中止したため／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台では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150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人が限度／または先着何名までと決める）。
・待ち時間防止のため整理番号を配って時間で来てもらう方式、またはブースを自由に回るのではなく「栄養→薬剤→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MSW→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看護」と順路を決めて誘導する方式の導入。
・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の待ち時間に健康情報を提供するなど有効活用する工夫、栄養相談は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の結果ありきで話す連携、栄養士セミナー形式の検討。
・参加職員の休憩時間を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時間確保してほしい（各日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5〜6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人での運用、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日目の現地集合組の設定、スタッフ用おにぎり・サンドイッチ等の準備）。
・医師の参加の検討。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83D9F01-E801-BF8D-251E-BD356A3E468A}"/>
              </a:ext>
            </a:extLst>
          </p:cNvPr>
          <p:cNvSpPr/>
          <p:nvPr/>
        </p:nvSpPr>
        <p:spPr>
          <a:xfrm>
            <a:off x="6223000" y="1117600"/>
            <a:ext cx="57150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8E2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59857C94-6689-4A4F-FCCA-9D4A5332C9E5}"/>
              </a:ext>
            </a:extLst>
          </p:cNvPr>
          <p:cNvSpPr/>
          <p:nvPr/>
        </p:nvSpPr>
        <p:spPr>
          <a:xfrm>
            <a:off x="6426200" y="1320800"/>
            <a:ext cx="101600" cy="330200"/>
          </a:xfrm>
          <a:prstGeom prst="roundRect">
            <a:avLst>
              <a:gd name="adj" fmla="val 50000"/>
            </a:avLst>
          </a:prstGeom>
          <a:solidFill>
            <a:srgbClr val="10A37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F30D3BB-B0A3-C865-2264-021BA538F43D}"/>
              </a:ext>
            </a:extLst>
          </p:cNvPr>
          <p:cNvSpPr txBox="1"/>
          <p:nvPr/>
        </p:nvSpPr>
        <p:spPr>
          <a:xfrm>
            <a:off x="6629400" y="1282700"/>
            <a:ext cx="5130800" cy="35650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50" b="1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広報・持参品・備品に関する記載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38BBC0B-C567-33AA-C3B8-11B95669BDFB}"/>
              </a:ext>
            </a:extLst>
          </p:cNvPr>
          <p:cNvSpPr/>
          <p:nvPr/>
        </p:nvSpPr>
        <p:spPr>
          <a:xfrm>
            <a:off x="6426200" y="1727200"/>
            <a:ext cx="5308600" cy="12700"/>
          </a:xfrm>
          <a:prstGeom prst="rect">
            <a:avLst/>
          </a:prstGeom>
          <a:solidFill>
            <a:srgbClr val="E9EE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D87AC292-38D0-B890-31D6-4D85E1822970}"/>
              </a:ext>
            </a:extLst>
          </p:cNvPr>
          <p:cNvSpPr/>
          <p:nvPr/>
        </p:nvSpPr>
        <p:spPr>
          <a:xfrm>
            <a:off x="6426200" y="1879600"/>
            <a:ext cx="5308600" cy="4495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B27A2AC-1AA4-2E21-4FBF-98990E1DD1D8}"/>
              </a:ext>
            </a:extLst>
          </p:cNvPr>
          <p:cNvSpPr txBox="1"/>
          <p:nvPr/>
        </p:nvSpPr>
        <p:spPr>
          <a:xfrm>
            <a:off x="6578600" y="1981200"/>
            <a:ext cx="5003800" cy="282333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・病院広報誌、どんな病院か（リハ病院の役割）が分かる紹介パネル、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Instagram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等の映像、求人広告・ポスターの持参（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リハ病院の役割を知らない方や医療センターと誤認している方がいたため）。
・「あなたの健康カルテ」に①受付番号、②実年齢・西暦の生年月日（血管年齢の入力に必要なため）の記入欄を追加。
・ノベルティや配布物の拡充（アンケート回答者全員へのプレゼント、病院名入りボールペン、防災グッズを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200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個程度へ増量、お薬カレンダーを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個程度へ増量、エコバッグの増量、食べ物の無料配布など）。
・区画スペース拡大時の折りたたみ椅子増設、入口の右向き矢印表示、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用のペースメーカー</a:t>
            </a:r>
            <a:r>
              <a:rPr kumimoji="1" lang="en-US" altLang="ja-JP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NG</a:t>
            </a:r>
            <a:r>
              <a:rPr kumimoji="1" lang="ja-JP" altLang="en-US" sz="1360">
                <a:solidFill>
                  <a:srgbClr val="1E293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表示の準備。</a:t>
            </a:r>
          </a:p>
        </p:txBody>
      </p:sp>
    </p:spTree>
    <p:extLst>
      <p:ext uri="{BB962C8B-B14F-4D97-AF65-F5344CB8AC3E}">
        <p14:creationId xmlns:p14="http://schemas.microsoft.com/office/powerpoint/2010/main" val="3576072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2685</Words>
  <Application>Microsoft Office PowerPoint</Application>
  <PresentationFormat>ユーザー設定</PresentationFormat>
  <Paragraphs>190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憲幸 保科</dc:creator>
  <cp:lastModifiedBy>憲幸 保科</cp:lastModifiedBy>
  <cp:revision>1</cp:revision>
  <dcterms:created xsi:type="dcterms:W3CDTF">2026-10-21T00:38:48Z</dcterms:created>
  <dcterms:modified xsi:type="dcterms:W3CDTF">2026-10-21T00:38:48Z</dcterms:modified>
</cp:coreProperties>
</file>