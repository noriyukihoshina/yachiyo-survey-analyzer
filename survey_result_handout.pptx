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910684-3307-7B2C-836A-7F42F98BCB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4F9C5F3-8C3D-E700-0676-DD23710CB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56BEAB-8EF4-9841-B502-13BC977FE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B6C5-2C33-43DE-B046-675D1D8235DA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6B2CC4-470A-0154-72C2-FAF950FE9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B65849-83E4-4E86-F6F6-CED954404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F8D1-EBE3-421B-A9F0-6C4DB2110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654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81B9AD-F2C2-F30E-76ED-259E324C2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8D4CDAA-EA52-9CBD-2C4F-17D8FA6BB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A119CA-14F4-5C10-C0CD-0F9F50C35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B6C5-2C33-43DE-B046-675D1D8235DA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1CE9F2-6038-CE63-CFF8-5FE3EB5B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56EC3A-19DE-C8DC-E058-0636C0D82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F8D1-EBE3-421B-A9F0-6C4DB2110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0849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D8655B-4B84-F1FC-DA4C-F081B13E8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AD62ED5-C4D9-B01F-912B-ECC3185BF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1A4D76-572B-393C-B5D5-D0A7EB33A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B6C5-2C33-43DE-B046-675D1D8235DA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F73F98-1CEB-0F8A-0192-C24A281CD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CF49B9-9513-ABDB-47BA-16AA6BD4B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F8D1-EBE3-421B-A9F0-6C4DB2110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623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500615-DFA9-7A25-551E-11003C70C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D4355B-0752-4CA4-F276-DB3DA8DAA0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AA9B637-AB7D-7253-3F37-6972C2AEED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E89EC5C-412A-5F19-80AB-01B65ECE9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B6C5-2C33-43DE-B046-675D1D8235DA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0C233EC-5589-0CD4-540B-6F4B22F20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2558D19-0B9D-42FE-469E-5FC09EF19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F8D1-EBE3-421B-A9F0-6C4DB2110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2623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E8D823-D28C-69D6-4639-BF77F616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D605349-E217-B109-F957-080A6E9C6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5BB1895-060C-631A-8929-DC1250C98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33D0B7-9A07-6BF8-B110-DC54776BE3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48E53F0-7320-A7DA-1C53-A2419074DF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19B1949-28F9-6855-90B8-A2586528E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B6C5-2C33-43DE-B046-675D1D8235DA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0D21BEF-DFB6-E2E6-81B1-9AE85B043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84E1087-27AE-1BDE-06BA-E0950A729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F8D1-EBE3-421B-A9F0-6C4DB2110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1054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0C4AAC-22C2-07DB-3FF4-DBB56463D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E29AC30-AF3F-D6A4-3D99-9BF6B64CE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B6C5-2C33-43DE-B046-675D1D8235DA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965B404-ACA5-B411-8B94-3EE86C003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FE14DF8-F671-6A2B-0FDC-57B32D2B1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F8D1-EBE3-421B-A9F0-6C4DB2110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336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77C25E4-9BCE-C932-526A-01280A309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B6C5-2C33-43DE-B046-675D1D8235DA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CFA39A1-5F1B-F2B5-9784-C6C907AD5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153184A-1AD0-F8EA-7302-DEF5A8934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F8D1-EBE3-421B-A9F0-6C4DB2110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1968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C0C310-1411-ED80-6D27-9B3FE0124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D7CE6A-4C2B-8CE2-E5AE-83DD75239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F675FD5-8694-3E4E-F24D-181B8FA14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D098D65-068A-EAA0-9035-23F946609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B6C5-2C33-43DE-B046-675D1D8235DA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63053D4-3AE5-F0FA-DF77-212B0260F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D3FBF19-8CFF-7BA8-40E9-B4CB75C45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F8D1-EBE3-421B-A9F0-6C4DB2110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5808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AE4DA2-43BF-04F8-2E11-B6BF1147E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55B1C0A-DB8F-66DE-A66D-26C74A096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9630A94-84BD-660F-8CD5-C714CE203B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3AA8C88-0200-9D51-2916-83B1B207E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B6C5-2C33-43DE-B046-675D1D8235DA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A549981-8F9F-0DF9-DD29-6501E4202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48B5BCE-CEBB-DDB7-5441-14ADA3F1E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F8D1-EBE3-421B-A9F0-6C4DB2110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8543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657115-2FA1-98DC-DC06-A1BE62E3E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CC4A681-1008-A627-578D-4CFCEF3A3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001F7B-3A15-CDC2-AD2F-438531D61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B6C5-2C33-43DE-B046-675D1D8235DA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2EE73E-DB77-AC3C-3E04-9637ED757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3291E3-E35B-B702-566A-26D8C8B35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F8D1-EBE3-421B-A9F0-6C4DB2110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1222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5DC1137-635F-4CBD-A490-E3E174C1B8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E57D365-7AFB-BE4C-45B8-DEBD5D8DBC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2139E6-722F-DF66-5F72-B7C965CC0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B6C5-2C33-43DE-B046-675D1D8235DA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D0D9B3-0CF8-09C4-11D3-7C9DF1B09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510D8C-EDCA-9C1C-A10C-C5EC85AD8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DF8D1-EBE3-421B-A9F0-6C4DB2110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9919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553949C-B8F9-7CF3-979A-BEA7A4F6A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D60F12D-3C9B-8E50-0858-63413FBBC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B04D91-B384-D641-E136-C0E6DAE645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BB6C5-2C33-43DE-B046-675D1D8235DA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025A30-254E-ADD0-A4AC-BFF66B26B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8366F7-2122-186C-0B9C-04DD67D6C7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DF8D1-EBE3-421B-A9F0-6C4DB2110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4170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BBCB559-8C8E-05C4-14E9-B852B58C8D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F86113F4-164E-0858-79AB-7E99295DCC13}"/>
              </a:ext>
            </a:extLst>
          </p:cNvPr>
          <p:cNvSpPr/>
          <p:nvPr/>
        </p:nvSpPr>
        <p:spPr>
          <a:xfrm>
            <a:off x="355600" y="355600"/>
            <a:ext cx="11480800" cy="25400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992AB847-DD5F-A7FF-28D4-4DADF7014A1F}"/>
              </a:ext>
            </a:extLst>
          </p:cNvPr>
          <p:cNvSpPr/>
          <p:nvPr/>
        </p:nvSpPr>
        <p:spPr>
          <a:xfrm>
            <a:off x="762000" y="838200"/>
            <a:ext cx="914400" cy="9144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CE0C7EE2-497F-4210-B895-E6010542F7B8}"/>
              </a:ext>
            </a:extLst>
          </p:cNvPr>
          <p:cNvSpPr/>
          <p:nvPr/>
        </p:nvSpPr>
        <p:spPr>
          <a:xfrm>
            <a:off x="1117600" y="1016000"/>
            <a:ext cx="203200" cy="5588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3971CC5C-BDF0-93AD-5CF1-0675B3D1DABE}"/>
              </a:ext>
            </a:extLst>
          </p:cNvPr>
          <p:cNvSpPr/>
          <p:nvPr/>
        </p:nvSpPr>
        <p:spPr>
          <a:xfrm>
            <a:off x="939800" y="1193800"/>
            <a:ext cx="558800" cy="2032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E31F503-81AD-FCC6-32F4-D8348810D3A2}"/>
              </a:ext>
            </a:extLst>
          </p:cNvPr>
          <p:cNvSpPr txBox="1"/>
          <p:nvPr/>
        </p:nvSpPr>
        <p:spPr>
          <a:xfrm>
            <a:off x="1955800" y="660400"/>
            <a:ext cx="93980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00" b="1">
                <a:solidFill>
                  <a:srgbClr val="DBEAF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八千代リハビリテーション病院 ｜ </a:t>
            </a:r>
            <a:r>
              <a:rPr kumimoji="1" lang="en-US" altLang="ja-JP" sz="1600" b="1">
                <a:solidFill>
                  <a:srgbClr val="DBEAF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2026</a:t>
            </a:r>
            <a:r>
              <a:rPr kumimoji="1" lang="ja-JP" altLang="en-US" sz="1600" b="1">
                <a:solidFill>
                  <a:srgbClr val="DBEAF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年</a:t>
            </a:r>
            <a:r>
              <a:rPr kumimoji="1" lang="en-US" altLang="ja-JP" sz="1600" b="1">
                <a:solidFill>
                  <a:srgbClr val="DBEAF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</a:t>
            </a:r>
            <a:r>
              <a:rPr kumimoji="1" lang="ja-JP" altLang="en-US" sz="1600" b="1">
                <a:solidFill>
                  <a:srgbClr val="DBEAF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月</a:t>
            </a:r>
            <a:r>
              <a:rPr kumimoji="1" lang="en-US" altLang="ja-JP" sz="1600" b="1">
                <a:solidFill>
                  <a:srgbClr val="DBEAF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</a:t>
            </a:r>
            <a:r>
              <a:rPr kumimoji="1" lang="ja-JP" altLang="en-US" sz="1600" b="1">
                <a:solidFill>
                  <a:srgbClr val="DBEAF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日（土）・</a:t>
            </a:r>
            <a:r>
              <a:rPr kumimoji="1" lang="en-US" altLang="ja-JP" sz="1600" b="1">
                <a:solidFill>
                  <a:srgbClr val="DBEAF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18</a:t>
            </a:r>
            <a:r>
              <a:rPr kumimoji="1" lang="ja-JP" altLang="en-US" sz="1600" b="1">
                <a:solidFill>
                  <a:srgbClr val="DBEAF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日（日）開催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2A1F769-9891-F68D-5553-AF17E590EF3D}"/>
              </a:ext>
            </a:extLst>
          </p:cNvPr>
          <p:cNvSpPr txBox="1"/>
          <p:nvPr/>
        </p:nvSpPr>
        <p:spPr>
          <a:xfrm>
            <a:off x="1955800" y="1143000"/>
            <a:ext cx="9398000" cy="1025922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30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八千代市産業祭「どーんと祭」
アンケート結果報告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821C16B6-54EA-ADD6-50E5-C57D732DD790}"/>
              </a:ext>
            </a:extLst>
          </p:cNvPr>
          <p:cNvSpPr/>
          <p:nvPr/>
        </p:nvSpPr>
        <p:spPr>
          <a:xfrm>
            <a:off x="355600" y="3200400"/>
            <a:ext cx="5588000" cy="325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E82BC271-345D-95D8-C38D-62EB0676EF5C}"/>
              </a:ext>
            </a:extLst>
          </p:cNvPr>
          <p:cNvSpPr/>
          <p:nvPr/>
        </p:nvSpPr>
        <p:spPr>
          <a:xfrm>
            <a:off x="558800" y="34036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7086E66-A3C8-03EF-C354-D7D055A68FBF}"/>
              </a:ext>
            </a:extLst>
          </p:cNvPr>
          <p:cNvSpPr txBox="1"/>
          <p:nvPr/>
        </p:nvSpPr>
        <p:spPr>
          <a:xfrm>
            <a:off x="762000" y="3365500"/>
            <a:ext cx="5003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1. 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来場者アンケート 集計概要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CEDD93C-16A5-C8D1-78D6-8DA091447B96}"/>
              </a:ext>
            </a:extLst>
          </p:cNvPr>
          <p:cNvSpPr/>
          <p:nvPr/>
        </p:nvSpPr>
        <p:spPr>
          <a:xfrm>
            <a:off x="558800" y="3810000"/>
            <a:ext cx="5181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7C46E19-A306-E87E-7F0D-38A294B7A29F}"/>
              </a:ext>
            </a:extLst>
          </p:cNvPr>
          <p:cNvSpPr txBox="1"/>
          <p:nvPr/>
        </p:nvSpPr>
        <p:spPr>
          <a:xfrm>
            <a:off x="609600" y="3987800"/>
            <a:ext cx="5080000" cy="18261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・ブース来場者数：計 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268 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
  （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日目：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120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／ 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日目：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148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名）
・アンケート有効回答数：計 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236 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
  （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日目：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106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／ 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日目：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130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名）
・掲載ページ：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P.2 〜 P.6</a:t>
            </a:r>
            <a:endParaRPr kumimoji="1" lang="ja-JP" altLang="en-US" sz="1600" b="1">
              <a:solidFill>
                <a:srgbClr val="1E293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12870E14-2194-B9B8-6445-3FA4093CB0B7}"/>
              </a:ext>
            </a:extLst>
          </p:cNvPr>
          <p:cNvSpPr/>
          <p:nvPr/>
        </p:nvSpPr>
        <p:spPr>
          <a:xfrm>
            <a:off x="6248400" y="3200400"/>
            <a:ext cx="5588000" cy="325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EEF819F1-A60A-408D-497F-49C0EAB60F5C}"/>
              </a:ext>
            </a:extLst>
          </p:cNvPr>
          <p:cNvSpPr/>
          <p:nvPr/>
        </p:nvSpPr>
        <p:spPr>
          <a:xfrm>
            <a:off x="6451600" y="34036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028D54B-FAAF-39AE-F50F-30E67088DA5C}"/>
              </a:ext>
            </a:extLst>
          </p:cNvPr>
          <p:cNvSpPr txBox="1"/>
          <p:nvPr/>
        </p:nvSpPr>
        <p:spPr>
          <a:xfrm>
            <a:off x="6654800" y="3365500"/>
            <a:ext cx="5003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2. 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スタッフアンケート 集計概要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3D50EC4-5003-A792-1B26-0450E75657D8}"/>
              </a:ext>
            </a:extLst>
          </p:cNvPr>
          <p:cNvSpPr/>
          <p:nvPr/>
        </p:nvSpPr>
        <p:spPr>
          <a:xfrm>
            <a:off x="6451600" y="3810000"/>
            <a:ext cx="5181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D945F24-FF39-16B9-C284-516CC39C8A8E}"/>
              </a:ext>
            </a:extLst>
          </p:cNvPr>
          <p:cNvSpPr txBox="1"/>
          <p:nvPr/>
        </p:nvSpPr>
        <p:spPr>
          <a:xfrm>
            <a:off x="6502400" y="3987800"/>
            <a:ext cx="5080000" cy="133369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・対象スタッフ：計 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14 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名（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部署）
・回答完了数：計 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 </a:t>
            </a:r>
            <a:r>
              <a:rPr kumimoji="1" lang="ja-JP" altLang="en-US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
・掲載ページ：</a:t>
            </a:r>
            <a:r>
              <a:rPr kumimoji="1" lang="en-US" altLang="ja-JP" sz="16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P.7 〜 P.12</a:t>
            </a:r>
            <a:endParaRPr kumimoji="1" lang="ja-JP" altLang="en-US" sz="1600" b="1">
              <a:solidFill>
                <a:srgbClr val="1E293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50897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15EF85B-FCA4-392D-F054-DEFDDBBC88E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AA81DFBC-CF0B-AE39-047E-E7BB2090D3D0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605D160F-DDF3-130D-17AD-BB995BCB89F1}"/>
              </a:ext>
            </a:extLst>
          </p:cNvPr>
          <p:cNvSpPr/>
          <p:nvPr/>
        </p:nvSpPr>
        <p:spPr>
          <a:xfrm>
            <a:off x="431800" y="342900"/>
            <a:ext cx="2235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B63AB25-2E94-93FB-586B-A94B007522DD}"/>
              </a:ext>
            </a:extLst>
          </p:cNvPr>
          <p:cNvSpPr txBox="1"/>
          <p:nvPr/>
        </p:nvSpPr>
        <p:spPr>
          <a:xfrm>
            <a:off x="431800" y="381000"/>
            <a:ext cx="22352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来場者アンケート①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43BA3A6-19CD-C823-7DEA-066098B076F6}"/>
              </a:ext>
            </a:extLst>
          </p:cNvPr>
          <p:cNvSpPr txBox="1"/>
          <p:nvPr/>
        </p:nvSpPr>
        <p:spPr>
          <a:xfrm>
            <a:off x="2844800" y="317500"/>
            <a:ext cx="78740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基本情報：お住まい ／ 性別（</a:t>
            </a:r>
            <a:r>
              <a:rPr kumimoji="1" lang="en-US" altLang="ja-JP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N=236</a:t>
            </a:r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0D25E8CE-8B81-735F-6A67-0F6F52C67DDE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C0DF6BF-7033-346C-601A-5D3196518074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 / 12</a:t>
            </a:r>
            <a:endParaRPr kumimoji="1" lang="ja-JP" altLang="en-US" sz="12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6FE5D45D-D274-E977-B8BA-FDB0D83B261B}"/>
              </a:ext>
            </a:extLst>
          </p:cNvPr>
          <p:cNvSpPr/>
          <p:nvPr/>
        </p:nvSpPr>
        <p:spPr>
          <a:xfrm>
            <a:off x="254000" y="1117600"/>
            <a:ext cx="5715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4F1F45FC-83C7-726C-7BBA-1C7A77A7CB92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05CE245-0E55-9A5D-59C0-A5405A93787F}"/>
              </a:ext>
            </a:extLst>
          </p:cNvPr>
          <p:cNvSpPr txBox="1"/>
          <p:nvPr/>
        </p:nvSpPr>
        <p:spPr>
          <a:xfrm>
            <a:off x="660400" y="1282700"/>
            <a:ext cx="5130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お住まい（単一回答・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N=236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1457A53-BC86-8CD7-7BE1-03AF919C5D6D}"/>
              </a:ext>
            </a:extLst>
          </p:cNvPr>
          <p:cNvSpPr/>
          <p:nvPr/>
        </p:nvSpPr>
        <p:spPr>
          <a:xfrm>
            <a:off x="457200" y="1727200"/>
            <a:ext cx="5308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部分円 12">
            <a:extLst>
              <a:ext uri="{FF2B5EF4-FFF2-40B4-BE49-F238E27FC236}">
                <a16:creationId xmlns:a16="http://schemas.microsoft.com/office/drawing/2014/main" id="{A45F7A30-695B-3604-9D15-A1FCA7FD6677}"/>
              </a:ext>
            </a:extLst>
          </p:cNvPr>
          <p:cNvSpPr/>
          <p:nvPr/>
        </p:nvSpPr>
        <p:spPr>
          <a:xfrm>
            <a:off x="1778000" y="1917700"/>
            <a:ext cx="2667000" cy="2667000"/>
          </a:xfrm>
          <a:prstGeom prst="pie">
            <a:avLst>
              <a:gd name="adj1" fmla="val 16200000"/>
              <a:gd name="adj2" fmla="val 10260000"/>
            </a:avLst>
          </a:prstGeom>
          <a:solidFill>
            <a:srgbClr val="2563EB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部分円 13">
            <a:extLst>
              <a:ext uri="{FF2B5EF4-FFF2-40B4-BE49-F238E27FC236}">
                <a16:creationId xmlns:a16="http://schemas.microsoft.com/office/drawing/2014/main" id="{CC31BC50-1BDC-D242-3BBA-CBCFDF8F8E13}"/>
              </a:ext>
            </a:extLst>
          </p:cNvPr>
          <p:cNvSpPr/>
          <p:nvPr/>
        </p:nvSpPr>
        <p:spPr>
          <a:xfrm>
            <a:off x="1778000" y="1917700"/>
            <a:ext cx="2667000" cy="2667000"/>
          </a:xfrm>
          <a:prstGeom prst="pie">
            <a:avLst>
              <a:gd name="adj1" fmla="val 10260000"/>
              <a:gd name="adj2" fmla="val 15940800"/>
            </a:avLst>
          </a:prstGeom>
          <a:solidFill>
            <a:srgbClr val="10B981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部分円 14">
            <a:extLst>
              <a:ext uri="{FF2B5EF4-FFF2-40B4-BE49-F238E27FC236}">
                <a16:creationId xmlns:a16="http://schemas.microsoft.com/office/drawing/2014/main" id="{4D0E9BA5-EA3E-BE2B-5B84-A4E3AC75B88B}"/>
              </a:ext>
            </a:extLst>
          </p:cNvPr>
          <p:cNvSpPr/>
          <p:nvPr/>
        </p:nvSpPr>
        <p:spPr>
          <a:xfrm>
            <a:off x="1778000" y="1917700"/>
            <a:ext cx="2667000" cy="2667000"/>
          </a:xfrm>
          <a:prstGeom prst="pie">
            <a:avLst>
              <a:gd name="adj1" fmla="val 15940800"/>
              <a:gd name="adj2" fmla="val 16221599"/>
            </a:avLst>
          </a:prstGeom>
          <a:solidFill>
            <a:srgbClr val="94A3B8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BB3A402-659C-1149-8E41-791F8A1E003A}"/>
              </a:ext>
            </a:extLst>
          </p:cNvPr>
          <p:cNvSpPr/>
          <p:nvPr/>
        </p:nvSpPr>
        <p:spPr>
          <a:xfrm>
            <a:off x="2338070" y="2477770"/>
            <a:ext cx="1546860" cy="154686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6DE1E6B-125B-B6CE-E58C-94A41248696D}"/>
              </a:ext>
            </a:extLst>
          </p:cNvPr>
          <p:cNvSpPr txBox="1"/>
          <p:nvPr/>
        </p:nvSpPr>
        <p:spPr>
          <a:xfrm>
            <a:off x="2159000" y="2971800"/>
            <a:ext cx="19050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八千代市内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E58765C-3529-2028-42C9-FE27A1774F03}"/>
              </a:ext>
            </a:extLst>
          </p:cNvPr>
          <p:cNvSpPr txBox="1"/>
          <p:nvPr/>
        </p:nvSpPr>
        <p:spPr>
          <a:xfrm>
            <a:off x="2159000" y="3276600"/>
            <a:ext cx="19050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72.5% (171</a:t>
            </a:r>
            <a:r>
              <a:rPr kumimoji="1" lang="ja-JP" altLang="en-US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914682A5-7E83-9663-DF3C-0832FD6DD23D}"/>
              </a:ext>
            </a:extLst>
          </p:cNvPr>
          <p:cNvSpPr/>
          <p:nvPr/>
        </p:nvSpPr>
        <p:spPr>
          <a:xfrm>
            <a:off x="698500" y="4940300"/>
            <a:ext cx="203200" cy="203200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7B29C8C-09FC-4D50-71A9-11360D91AF65}"/>
              </a:ext>
            </a:extLst>
          </p:cNvPr>
          <p:cNvSpPr txBox="1"/>
          <p:nvPr/>
        </p:nvSpPr>
        <p:spPr>
          <a:xfrm>
            <a:off x="1003300" y="4876800"/>
            <a:ext cx="2857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八千代市内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881DF7C-2B7E-EA93-7317-2CF2DDD6A898}"/>
              </a:ext>
            </a:extLst>
          </p:cNvPr>
          <p:cNvSpPr txBox="1"/>
          <p:nvPr/>
        </p:nvSpPr>
        <p:spPr>
          <a:xfrm>
            <a:off x="3683000" y="48768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171</a:t>
            </a:r>
            <a:r>
              <a:rPr kumimoji="1" lang="ja-JP" altLang="en-US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(72.5%)</a:t>
            </a:r>
            <a:endParaRPr kumimoji="1" lang="ja-JP" altLang="en-US" sz="14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2B626DFF-5BE3-7744-7D37-F311AD302243}"/>
              </a:ext>
            </a:extLst>
          </p:cNvPr>
          <p:cNvSpPr/>
          <p:nvPr/>
        </p:nvSpPr>
        <p:spPr>
          <a:xfrm>
            <a:off x="698500" y="5422900"/>
            <a:ext cx="203200" cy="203200"/>
          </a:xfrm>
          <a:prstGeom prst="ellipse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6C774E3-9076-C6DE-1B37-EDAF109E60E9}"/>
              </a:ext>
            </a:extLst>
          </p:cNvPr>
          <p:cNvSpPr txBox="1"/>
          <p:nvPr/>
        </p:nvSpPr>
        <p:spPr>
          <a:xfrm>
            <a:off x="1003300" y="5359400"/>
            <a:ext cx="2857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八千代市外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D7E95BA-6D61-5343-05CD-ABFD450E9618}"/>
              </a:ext>
            </a:extLst>
          </p:cNvPr>
          <p:cNvSpPr txBox="1"/>
          <p:nvPr/>
        </p:nvSpPr>
        <p:spPr>
          <a:xfrm>
            <a:off x="3683000" y="5359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62</a:t>
            </a:r>
            <a:r>
              <a:rPr kumimoji="1" lang="ja-JP" altLang="en-US" sz="14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(26.3%)</a:t>
            </a:r>
            <a:endParaRPr kumimoji="1" lang="ja-JP" altLang="en-US" sz="1450" b="1">
              <a:solidFill>
                <a:srgbClr val="10B98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0174117C-598F-25AD-3EF9-978B8FFBBAE2}"/>
              </a:ext>
            </a:extLst>
          </p:cNvPr>
          <p:cNvSpPr/>
          <p:nvPr/>
        </p:nvSpPr>
        <p:spPr>
          <a:xfrm>
            <a:off x="698500" y="5905500"/>
            <a:ext cx="203200" cy="203200"/>
          </a:xfrm>
          <a:prstGeom prst="ellipse">
            <a:avLst/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781DE5B3-79A0-CE30-CDE9-2D17FDB0FEAA}"/>
              </a:ext>
            </a:extLst>
          </p:cNvPr>
          <p:cNvSpPr txBox="1"/>
          <p:nvPr/>
        </p:nvSpPr>
        <p:spPr>
          <a:xfrm>
            <a:off x="1003300" y="5842000"/>
            <a:ext cx="2857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未記入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8451B00-195A-487B-8194-CB16AD909F72}"/>
              </a:ext>
            </a:extLst>
          </p:cNvPr>
          <p:cNvSpPr txBox="1"/>
          <p:nvPr/>
        </p:nvSpPr>
        <p:spPr>
          <a:xfrm>
            <a:off x="3683000" y="58420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kumimoji="1" lang="ja-JP" altLang="en-US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(1.3%)</a:t>
            </a:r>
            <a:endParaRPr kumimoji="1" lang="ja-JP" altLang="en-US" sz="1450" b="1">
              <a:solidFill>
                <a:srgbClr val="94A3B8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B8235B97-2BD6-C9A2-12E9-8289C4AA8671}"/>
              </a:ext>
            </a:extLst>
          </p:cNvPr>
          <p:cNvSpPr/>
          <p:nvPr/>
        </p:nvSpPr>
        <p:spPr>
          <a:xfrm>
            <a:off x="6223000" y="1117600"/>
            <a:ext cx="5715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5C010528-B7CF-10AC-A5F1-1D70D3029C1A}"/>
              </a:ext>
            </a:extLst>
          </p:cNvPr>
          <p:cNvSpPr/>
          <p:nvPr/>
        </p:nvSpPr>
        <p:spPr>
          <a:xfrm>
            <a:off x="6426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73A01C4-6ECE-13C5-5102-C6AE12BBA9A0}"/>
              </a:ext>
            </a:extLst>
          </p:cNvPr>
          <p:cNvSpPr txBox="1"/>
          <p:nvPr/>
        </p:nvSpPr>
        <p:spPr>
          <a:xfrm>
            <a:off x="6629400" y="1282700"/>
            <a:ext cx="5130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性別（単一回答・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N=236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D43790A7-32E6-F7CC-2052-1DE331116D92}"/>
              </a:ext>
            </a:extLst>
          </p:cNvPr>
          <p:cNvSpPr/>
          <p:nvPr/>
        </p:nvSpPr>
        <p:spPr>
          <a:xfrm>
            <a:off x="6426200" y="1727200"/>
            <a:ext cx="5308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部分円 31">
            <a:extLst>
              <a:ext uri="{FF2B5EF4-FFF2-40B4-BE49-F238E27FC236}">
                <a16:creationId xmlns:a16="http://schemas.microsoft.com/office/drawing/2014/main" id="{6A75DF85-C562-AE6E-316A-EFC99E895591}"/>
              </a:ext>
            </a:extLst>
          </p:cNvPr>
          <p:cNvSpPr/>
          <p:nvPr/>
        </p:nvSpPr>
        <p:spPr>
          <a:xfrm>
            <a:off x="7747000" y="1917700"/>
            <a:ext cx="2667000" cy="2667000"/>
          </a:xfrm>
          <a:prstGeom prst="pie">
            <a:avLst>
              <a:gd name="adj1" fmla="val 16200000"/>
              <a:gd name="adj2" fmla="val 8596800"/>
            </a:avLst>
          </a:prstGeom>
          <a:solidFill>
            <a:srgbClr val="F59E0B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3" name="部分円 32">
            <a:extLst>
              <a:ext uri="{FF2B5EF4-FFF2-40B4-BE49-F238E27FC236}">
                <a16:creationId xmlns:a16="http://schemas.microsoft.com/office/drawing/2014/main" id="{463E6878-167B-114A-C0E6-2AB12AFF31CA}"/>
              </a:ext>
            </a:extLst>
          </p:cNvPr>
          <p:cNvSpPr/>
          <p:nvPr/>
        </p:nvSpPr>
        <p:spPr>
          <a:xfrm>
            <a:off x="7747000" y="1917700"/>
            <a:ext cx="2667000" cy="2667000"/>
          </a:xfrm>
          <a:prstGeom prst="pie">
            <a:avLst>
              <a:gd name="adj1" fmla="val 8596800"/>
              <a:gd name="adj2" fmla="val 16005601"/>
            </a:avLst>
          </a:prstGeom>
          <a:solidFill>
            <a:srgbClr val="2563EB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4" name="部分円 33">
            <a:extLst>
              <a:ext uri="{FF2B5EF4-FFF2-40B4-BE49-F238E27FC236}">
                <a16:creationId xmlns:a16="http://schemas.microsoft.com/office/drawing/2014/main" id="{32C17BE6-AA60-9D3B-D1C4-2F05BE5E6B50}"/>
              </a:ext>
            </a:extLst>
          </p:cNvPr>
          <p:cNvSpPr/>
          <p:nvPr/>
        </p:nvSpPr>
        <p:spPr>
          <a:xfrm>
            <a:off x="7747000" y="1917700"/>
            <a:ext cx="2667000" cy="2667000"/>
          </a:xfrm>
          <a:prstGeom prst="pie">
            <a:avLst>
              <a:gd name="adj1" fmla="val 16005601"/>
              <a:gd name="adj2" fmla="val 16178401"/>
            </a:avLst>
          </a:prstGeom>
          <a:solidFill>
            <a:srgbClr val="94A3B8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9AF6D046-56DA-2691-2FFA-E25D99A031F3}"/>
              </a:ext>
            </a:extLst>
          </p:cNvPr>
          <p:cNvSpPr/>
          <p:nvPr/>
        </p:nvSpPr>
        <p:spPr>
          <a:xfrm>
            <a:off x="8307070" y="2477770"/>
            <a:ext cx="1546860" cy="154686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0B3FAF99-3413-9A39-7B2F-C7ED6379CC4D}"/>
              </a:ext>
            </a:extLst>
          </p:cNvPr>
          <p:cNvSpPr txBox="1"/>
          <p:nvPr/>
        </p:nvSpPr>
        <p:spPr>
          <a:xfrm>
            <a:off x="8128000" y="2971800"/>
            <a:ext cx="19050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女性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1E2BF958-A7FB-673A-7C63-BCE6A67A9146}"/>
              </a:ext>
            </a:extLst>
          </p:cNvPr>
          <p:cNvSpPr txBox="1"/>
          <p:nvPr/>
        </p:nvSpPr>
        <p:spPr>
          <a:xfrm>
            <a:off x="8128000" y="3276600"/>
            <a:ext cx="19050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64.8% (153</a:t>
            </a:r>
            <a:r>
              <a:rPr kumimoji="1" lang="ja-JP" altLang="en-US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C4A20B5D-DA8A-FD7E-B441-3C71AC746C0D}"/>
              </a:ext>
            </a:extLst>
          </p:cNvPr>
          <p:cNvSpPr/>
          <p:nvPr/>
        </p:nvSpPr>
        <p:spPr>
          <a:xfrm>
            <a:off x="6667500" y="4940300"/>
            <a:ext cx="203200" cy="203200"/>
          </a:xfrm>
          <a:prstGeom prst="ellipse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857AEE43-1610-E919-58C4-7943DBDEBE74}"/>
              </a:ext>
            </a:extLst>
          </p:cNvPr>
          <p:cNvSpPr txBox="1"/>
          <p:nvPr/>
        </p:nvSpPr>
        <p:spPr>
          <a:xfrm>
            <a:off x="6972300" y="4876800"/>
            <a:ext cx="2857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女性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0D238EB5-120F-7583-7A7D-A067BBD10AE4}"/>
              </a:ext>
            </a:extLst>
          </p:cNvPr>
          <p:cNvSpPr txBox="1"/>
          <p:nvPr/>
        </p:nvSpPr>
        <p:spPr>
          <a:xfrm>
            <a:off x="9652000" y="48768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153</a:t>
            </a:r>
            <a:r>
              <a:rPr kumimoji="1" lang="ja-JP" altLang="en-US" sz="145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(64.8%)</a:t>
            </a:r>
            <a:endParaRPr kumimoji="1" lang="ja-JP" altLang="en-US" sz="1450" b="1">
              <a:solidFill>
                <a:srgbClr val="F59E0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F8CDD89F-C4A0-5F6C-C0D4-603A1E5C45A7}"/>
              </a:ext>
            </a:extLst>
          </p:cNvPr>
          <p:cNvSpPr/>
          <p:nvPr/>
        </p:nvSpPr>
        <p:spPr>
          <a:xfrm>
            <a:off x="6667500" y="5422900"/>
            <a:ext cx="203200" cy="203200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04BE5D17-476F-559D-F6E2-86DCF82586BD}"/>
              </a:ext>
            </a:extLst>
          </p:cNvPr>
          <p:cNvSpPr txBox="1"/>
          <p:nvPr/>
        </p:nvSpPr>
        <p:spPr>
          <a:xfrm>
            <a:off x="6972300" y="5359400"/>
            <a:ext cx="2857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男性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F7F79D38-8800-30CD-E5AB-475D88F75A44}"/>
              </a:ext>
            </a:extLst>
          </p:cNvPr>
          <p:cNvSpPr txBox="1"/>
          <p:nvPr/>
        </p:nvSpPr>
        <p:spPr>
          <a:xfrm>
            <a:off x="9652000" y="5359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81</a:t>
            </a:r>
            <a:r>
              <a:rPr kumimoji="1" lang="ja-JP" altLang="en-US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(34.3%)</a:t>
            </a:r>
            <a:endParaRPr kumimoji="1" lang="ja-JP" altLang="en-US" sz="14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EA13A595-1DBB-19AB-ABAA-C81BC13B4020}"/>
              </a:ext>
            </a:extLst>
          </p:cNvPr>
          <p:cNvSpPr/>
          <p:nvPr/>
        </p:nvSpPr>
        <p:spPr>
          <a:xfrm>
            <a:off x="6667500" y="5905500"/>
            <a:ext cx="203200" cy="203200"/>
          </a:xfrm>
          <a:prstGeom prst="ellipse">
            <a:avLst/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A7002E3E-AD23-BFCB-1191-16343F67F935}"/>
              </a:ext>
            </a:extLst>
          </p:cNvPr>
          <p:cNvSpPr txBox="1"/>
          <p:nvPr/>
        </p:nvSpPr>
        <p:spPr>
          <a:xfrm>
            <a:off x="6972300" y="5842000"/>
            <a:ext cx="2857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未記入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B46DBF1D-03F0-F4AA-4EEC-52AA677E8152}"/>
              </a:ext>
            </a:extLst>
          </p:cNvPr>
          <p:cNvSpPr txBox="1"/>
          <p:nvPr/>
        </p:nvSpPr>
        <p:spPr>
          <a:xfrm>
            <a:off x="9652000" y="58420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(0.8%)</a:t>
            </a:r>
            <a:endParaRPr kumimoji="1" lang="ja-JP" altLang="en-US" sz="1450" b="1">
              <a:solidFill>
                <a:srgbClr val="94A3B8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56336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47B1FC3-5286-AC62-A77A-348858F22EB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25705CA0-60A6-0A35-858E-293DF5073EA7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36FA0CB1-B519-12C8-A54F-EC45203FB661}"/>
              </a:ext>
            </a:extLst>
          </p:cNvPr>
          <p:cNvSpPr/>
          <p:nvPr/>
        </p:nvSpPr>
        <p:spPr>
          <a:xfrm>
            <a:off x="431800" y="342900"/>
            <a:ext cx="2235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D47F7CD-FE67-D90D-1F3B-2CD1621DE673}"/>
              </a:ext>
            </a:extLst>
          </p:cNvPr>
          <p:cNvSpPr txBox="1"/>
          <p:nvPr/>
        </p:nvSpPr>
        <p:spPr>
          <a:xfrm>
            <a:off x="431800" y="381000"/>
            <a:ext cx="22352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来場者アンケート②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0B46089-6E25-9EC2-74F5-BE1752C93D5A}"/>
              </a:ext>
            </a:extLst>
          </p:cNvPr>
          <p:cNvSpPr txBox="1"/>
          <p:nvPr/>
        </p:nvSpPr>
        <p:spPr>
          <a:xfrm>
            <a:off x="2844800" y="317500"/>
            <a:ext cx="78740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基本情報：年齢 ／ </a:t>
            </a:r>
            <a:r>
              <a:rPr kumimoji="1" lang="en-US" altLang="ja-JP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Q1. </a:t>
            </a:r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本日参考になった内容（</a:t>
            </a:r>
            <a:r>
              <a:rPr kumimoji="1" lang="en-US" altLang="ja-JP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N=236</a:t>
            </a:r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E05CD53-1675-ECC4-B408-F05F9436D622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2F45F00-B58E-4822-E8DD-7DEEF11823AD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 / 12</a:t>
            </a:r>
            <a:endParaRPr kumimoji="1" lang="ja-JP" altLang="en-US" sz="12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5783B94F-E248-DA6E-9EA1-64F9F8CE08C9}"/>
              </a:ext>
            </a:extLst>
          </p:cNvPr>
          <p:cNvSpPr/>
          <p:nvPr/>
        </p:nvSpPr>
        <p:spPr>
          <a:xfrm>
            <a:off x="254000" y="1117600"/>
            <a:ext cx="5715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A133AA5-2C3C-AAE6-2516-1EB8EB66513A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4793881-0B3A-4B9A-64A3-3ABC494742F6}"/>
              </a:ext>
            </a:extLst>
          </p:cNvPr>
          <p:cNvSpPr txBox="1"/>
          <p:nvPr/>
        </p:nvSpPr>
        <p:spPr>
          <a:xfrm>
            <a:off x="660400" y="1282700"/>
            <a:ext cx="5130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年齢（単一回答・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N=236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C8D7CAB-E611-3A12-8255-C4AB3E0AC7D9}"/>
              </a:ext>
            </a:extLst>
          </p:cNvPr>
          <p:cNvSpPr/>
          <p:nvPr/>
        </p:nvSpPr>
        <p:spPr>
          <a:xfrm>
            <a:off x="457200" y="1727200"/>
            <a:ext cx="5308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E47D1AD-1A34-CED4-17BA-543BFFDB008B}"/>
              </a:ext>
            </a:extLst>
          </p:cNvPr>
          <p:cNvSpPr txBox="1"/>
          <p:nvPr/>
        </p:nvSpPr>
        <p:spPr>
          <a:xfrm>
            <a:off x="457200" y="1854200"/>
            <a:ext cx="10160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</a:t>
            </a:r>
            <a:r>
              <a:rPr kumimoji="1" lang="ja-JP" altLang="en-US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歳代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6CB99EAF-BB52-371A-2705-EC2487A4CFF2}"/>
              </a:ext>
            </a:extLst>
          </p:cNvPr>
          <p:cNvSpPr/>
          <p:nvPr/>
        </p:nvSpPr>
        <p:spPr>
          <a:xfrm>
            <a:off x="1549400" y="1917700"/>
            <a:ext cx="24765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09B13F91-0D05-781F-B4C7-5B5916347B3A}"/>
              </a:ext>
            </a:extLst>
          </p:cNvPr>
          <p:cNvSpPr/>
          <p:nvPr/>
        </p:nvSpPr>
        <p:spPr>
          <a:xfrm>
            <a:off x="1549400" y="1917700"/>
            <a:ext cx="304800" cy="2286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F5525CD-A481-5F24-F1F6-9FF08FDE7376}"/>
              </a:ext>
            </a:extLst>
          </p:cNvPr>
          <p:cNvSpPr txBox="1"/>
          <p:nvPr/>
        </p:nvSpPr>
        <p:spPr>
          <a:xfrm>
            <a:off x="4127500" y="1854200"/>
            <a:ext cx="17145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9</a:t>
            </a:r>
            <a:r>
              <a:rPr kumimoji="1" lang="ja-JP" altLang="en-US" sz="1350" b="1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350" b="1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(3.8%)</a:t>
            </a:r>
            <a:endParaRPr kumimoji="1" lang="ja-JP" altLang="en-US" sz="1350" b="1">
              <a:solidFill>
                <a:srgbClr val="0EA5E9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79BD86F-8CF1-025F-F39F-D41ABEF5AC1E}"/>
              </a:ext>
            </a:extLst>
          </p:cNvPr>
          <p:cNvSpPr txBox="1"/>
          <p:nvPr/>
        </p:nvSpPr>
        <p:spPr>
          <a:xfrm>
            <a:off x="457200" y="2311400"/>
            <a:ext cx="10160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</a:t>
            </a:r>
            <a:r>
              <a:rPr kumimoji="1" lang="ja-JP" altLang="en-US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歳代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76B3E33B-096C-90B3-F9F5-0DBD326546E7}"/>
              </a:ext>
            </a:extLst>
          </p:cNvPr>
          <p:cNvSpPr/>
          <p:nvPr/>
        </p:nvSpPr>
        <p:spPr>
          <a:xfrm>
            <a:off x="1549400" y="2374900"/>
            <a:ext cx="24765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B813CD8F-8F4A-7F1C-11A9-1E39BB07B421}"/>
              </a:ext>
            </a:extLst>
          </p:cNvPr>
          <p:cNvSpPr/>
          <p:nvPr/>
        </p:nvSpPr>
        <p:spPr>
          <a:xfrm>
            <a:off x="1549400" y="2374900"/>
            <a:ext cx="304800" cy="2286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CE4BE42-5931-89E5-8894-1846CBF5BA7D}"/>
              </a:ext>
            </a:extLst>
          </p:cNvPr>
          <p:cNvSpPr txBox="1"/>
          <p:nvPr/>
        </p:nvSpPr>
        <p:spPr>
          <a:xfrm>
            <a:off x="4127500" y="2311400"/>
            <a:ext cx="17145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9</a:t>
            </a:r>
            <a:r>
              <a:rPr kumimoji="1" lang="ja-JP" altLang="en-US" sz="1350" b="1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350" b="1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(3.8%)</a:t>
            </a:r>
            <a:endParaRPr kumimoji="1" lang="ja-JP" altLang="en-US" sz="1350" b="1">
              <a:solidFill>
                <a:srgbClr val="0EA5E9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45CAAC4-D386-8317-EA9D-A899C72630F8}"/>
              </a:ext>
            </a:extLst>
          </p:cNvPr>
          <p:cNvSpPr txBox="1"/>
          <p:nvPr/>
        </p:nvSpPr>
        <p:spPr>
          <a:xfrm>
            <a:off x="457200" y="2768600"/>
            <a:ext cx="10160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30</a:t>
            </a:r>
            <a:r>
              <a:rPr kumimoji="1" lang="ja-JP" altLang="en-US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歳代</a:t>
            </a: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7883D70F-9790-F523-5FE0-222E9B3EDABE}"/>
              </a:ext>
            </a:extLst>
          </p:cNvPr>
          <p:cNvSpPr/>
          <p:nvPr/>
        </p:nvSpPr>
        <p:spPr>
          <a:xfrm>
            <a:off x="1549400" y="2832100"/>
            <a:ext cx="24765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D11D3168-2FC4-FC64-CF25-0891491CE3DF}"/>
              </a:ext>
            </a:extLst>
          </p:cNvPr>
          <p:cNvSpPr/>
          <p:nvPr/>
        </p:nvSpPr>
        <p:spPr>
          <a:xfrm>
            <a:off x="1549400" y="2832100"/>
            <a:ext cx="406400" cy="2286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E4B5191-0565-0796-6584-D25D470C9407}"/>
              </a:ext>
            </a:extLst>
          </p:cNvPr>
          <p:cNvSpPr txBox="1"/>
          <p:nvPr/>
        </p:nvSpPr>
        <p:spPr>
          <a:xfrm>
            <a:off x="4127500" y="2768600"/>
            <a:ext cx="17145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  <a:r>
              <a:rPr kumimoji="1" lang="ja-JP" altLang="en-US" sz="1350" b="1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350" b="1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(5.1%)</a:t>
            </a:r>
            <a:endParaRPr kumimoji="1" lang="ja-JP" altLang="en-US" sz="1350" b="1">
              <a:solidFill>
                <a:srgbClr val="0EA5E9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E1BA004-F9E3-AF08-91C4-EDAD821EE9BA}"/>
              </a:ext>
            </a:extLst>
          </p:cNvPr>
          <p:cNvSpPr txBox="1"/>
          <p:nvPr/>
        </p:nvSpPr>
        <p:spPr>
          <a:xfrm>
            <a:off x="457200" y="3225800"/>
            <a:ext cx="10160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40</a:t>
            </a:r>
            <a:r>
              <a:rPr kumimoji="1" lang="ja-JP" altLang="en-US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歳代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5528EA70-EE13-58EF-A9F1-BA63BA21F90E}"/>
              </a:ext>
            </a:extLst>
          </p:cNvPr>
          <p:cNvSpPr/>
          <p:nvPr/>
        </p:nvSpPr>
        <p:spPr>
          <a:xfrm>
            <a:off x="1549400" y="3289300"/>
            <a:ext cx="24765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D31477E2-FBB7-B072-72EE-685D5C0636AE}"/>
              </a:ext>
            </a:extLst>
          </p:cNvPr>
          <p:cNvSpPr/>
          <p:nvPr/>
        </p:nvSpPr>
        <p:spPr>
          <a:xfrm>
            <a:off x="1549400" y="3289300"/>
            <a:ext cx="1104900" cy="2286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2675DD5-2D3E-E4B8-41B1-9C15086ED115}"/>
              </a:ext>
            </a:extLst>
          </p:cNvPr>
          <p:cNvSpPr txBox="1"/>
          <p:nvPr/>
        </p:nvSpPr>
        <p:spPr>
          <a:xfrm>
            <a:off x="4127500" y="3225800"/>
            <a:ext cx="17145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33</a:t>
            </a:r>
            <a:r>
              <a:rPr kumimoji="1" lang="ja-JP" altLang="en-US" sz="13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3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(14.0%)</a:t>
            </a:r>
            <a:endParaRPr kumimoji="1" lang="ja-JP" altLang="en-US" sz="1350" b="1">
              <a:solidFill>
                <a:srgbClr val="10B98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08FFA83-DBB8-BB94-DA78-C356F6B63667}"/>
              </a:ext>
            </a:extLst>
          </p:cNvPr>
          <p:cNvSpPr txBox="1"/>
          <p:nvPr/>
        </p:nvSpPr>
        <p:spPr>
          <a:xfrm>
            <a:off x="457200" y="3683000"/>
            <a:ext cx="10160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50</a:t>
            </a:r>
            <a:r>
              <a:rPr kumimoji="1" lang="ja-JP" altLang="en-US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歳代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56352F27-307C-490F-E545-277D719142B1}"/>
              </a:ext>
            </a:extLst>
          </p:cNvPr>
          <p:cNvSpPr/>
          <p:nvPr/>
        </p:nvSpPr>
        <p:spPr>
          <a:xfrm>
            <a:off x="1549400" y="3746500"/>
            <a:ext cx="24765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EA58510F-9DE8-A051-102A-E44BF7FA4600}"/>
              </a:ext>
            </a:extLst>
          </p:cNvPr>
          <p:cNvSpPr/>
          <p:nvPr/>
        </p:nvSpPr>
        <p:spPr>
          <a:xfrm>
            <a:off x="1549400" y="3746500"/>
            <a:ext cx="20828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F215D35-80EA-9BE2-2A8D-3E6921B85972}"/>
              </a:ext>
            </a:extLst>
          </p:cNvPr>
          <p:cNvSpPr txBox="1"/>
          <p:nvPr/>
        </p:nvSpPr>
        <p:spPr>
          <a:xfrm>
            <a:off x="4127500" y="3683000"/>
            <a:ext cx="17145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62</a:t>
            </a:r>
            <a:r>
              <a:rPr kumimoji="1" lang="ja-JP" altLang="en-US" sz="13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3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(26.3%)</a:t>
            </a:r>
            <a:endParaRPr kumimoji="1" lang="ja-JP" altLang="en-US" sz="13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EC3D3239-E580-C0A0-9021-A908561511DD}"/>
              </a:ext>
            </a:extLst>
          </p:cNvPr>
          <p:cNvSpPr txBox="1"/>
          <p:nvPr/>
        </p:nvSpPr>
        <p:spPr>
          <a:xfrm>
            <a:off x="457200" y="4140200"/>
            <a:ext cx="10160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60</a:t>
            </a:r>
            <a:r>
              <a:rPr kumimoji="1" lang="ja-JP" altLang="en-US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歳代</a:t>
            </a: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AC1AB420-2E8C-7E3E-98D2-1558711A84D9}"/>
              </a:ext>
            </a:extLst>
          </p:cNvPr>
          <p:cNvSpPr/>
          <p:nvPr/>
        </p:nvSpPr>
        <p:spPr>
          <a:xfrm>
            <a:off x="1549400" y="4203700"/>
            <a:ext cx="24765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0AF4CD83-FAC9-EC1F-8829-56A6C5C949A6}"/>
              </a:ext>
            </a:extLst>
          </p:cNvPr>
          <p:cNvSpPr/>
          <p:nvPr/>
        </p:nvSpPr>
        <p:spPr>
          <a:xfrm>
            <a:off x="1549400" y="4203700"/>
            <a:ext cx="13081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1434F1B-585D-D34F-C940-3ADF2EDED9E1}"/>
              </a:ext>
            </a:extLst>
          </p:cNvPr>
          <p:cNvSpPr txBox="1"/>
          <p:nvPr/>
        </p:nvSpPr>
        <p:spPr>
          <a:xfrm>
            <a:off x="4127500" y="4140200"/>
            <a:ext cx="17145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39</a:t>
            </a:r>
            <a:r>
              <a:rPr kumimoji="1" lang="ja-JP" altLang="en-US" sz="13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3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(16.5%)</a:t>
            </a:r>
            <a:endParaRPr kumimoji="1" lang="ja-JP" altLang="en-US" sz="13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05575934-0731-13E6-3FC6-7415296204B8}"/>
              </a:ext>
            </a:extLst>
          </p:cNvPr>
          <p:cNvSpPr txBox="1"/>
          <p:nvPr/>
        </p:nvSpPr>
        <p:spPr>
          <a:xfrm>
            <a:off x="457200" y="4597400"/>
            <a:ext cx="10160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70</a:t>
            </a:r>
            <a:r>
              <a:rPr kumimoji="1" lang="ja-JP" altLang="en-US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歳代</a:t>
            </a: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A316CA83-80A4-AA0A-E35D-14E366F2FA5E}"/>
              </a:ext>
            </a:extLst>
          </p:cNvPr>
          <p:cNvSpPr/>
          <p:nvPr/>
        </p:nvSpPr>
        <p:spPr>
          <a:xfrm>
            <a:off x="1549400" y="4660900"/>
            <a:ext cx="24765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AEB46CC9-47E7-72B2-97B5-C767A3EC4C39}"/>
              </a:ext>
            </a:extLst>
          </p:cNvPr>
          <p:cNvSpPr/>
          <p:nvPr/>
        </p:nvSpPr>
        <p:spPr>
          <a:xfrm>
            <a:off x="1549400" y="4660900"/>
            <a:ext cx="1409700" cy="2286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D14CDC0A-0047-A95B-59AA-93BA911F9548}"/>
              </a:ext>
            </a:extLst>
          </p:cNvPr>
          <p:cNvSpPr txBox="1"/>
          <p:nvPr/>
        </p:nvSpPr>
        <p:spPr>
          <a:xfrm>
            <a:off x="4127500" y="4597400"/>
            <a:ext cx="17145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42</a:t>
            </a:r>
            <a:r>
              <a:rPr kumimoji="1" lang="ja-JP" altLang="en-US" sz="135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35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(17.8%)</a:t>
            </a:r>
            <a:endParaRPr kumimoji="1" lang="ja-JP" altLang="en-US" sz="1350" b="1">
              <a:solidFill>
                <a:srgbClr val="F59E0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B3D32964-00EC-9D34-C54C-3E872813699E}"/>
              </a:ext>
            </a:extLst>
          </p:cNvPr>
          <p:cNvSpPr txBox="1"/>
          <p:nvPr/>
        </p:nvSpPr>
        <p:spPr>
          <a:xfrm>
            <a:off x="457200" y="5054600"/>
            <a:ext cx="10160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80</a:t>
            </a:r>
            <a:r>
              <a:rPr kumimoji="1" lang="ja-JP" altLang="en-US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歳代</a:t>
            </a: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5FF9C622-D80B-49A7-47C3-3E1EED83CC89}"/>
              </a:ext>
            </a:extLst>
          </p:cNvPr>
          <p:cNvSpPr/>
          <p:nvPr/>
        </p:nvSpPr>
        <p:spPr>
          <a:xfrm>
            <a:off x="1549400" y="5118100"/>
            <a:ext cx="24765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3A269951-04C9-A529-68A6-9374F1E49EC8}"/>
              </a:ext>
            </a:extLst>
          </p:cNvPr>
          <p:cNvSpPr/>
          <p:nvPr/>
        </p:nvSpPr>
        <p:spPr>
          <a:xfrm>
            <a:off x="1549400" y="5118100"/>
            <a:ext cx="838200" cy="2286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67180DAE-AC5B-BB14-6F32-1B1B9F24E153}"/>
              </a:ext>
            </a:extLst>
          </p:cNvPr>
          <p:cNvSpPr txBox="1"/>
          <p:nvPr/>
        </p:nvSpPr>
        <p:spPr>
          <a:xfrm>
            <a:off x="4127500" y="5054600"/>
            <a:ext cx="17145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8B5CF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25</a:t>
            </a:r>
            <a:r>
              <a:rPr kumimoji="1" lang="ja-JP" altLang="en-US" sz="1350" b="1">
                <a:solidFill>
                  <a:srgbClr val="8B5CF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350" b="1">
                <a:solidFill>
                  <a:srgbClr val="8B5CF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(10.6%)</a:t>
            </a:r>
            <a:endParaRPr kumimoji="1" lang="ja-JP" altLang="en-US" sz="1350" b="1">
              <a:solidFill>
                <a:srgbClr val="8B5CF6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5AA713FF-ACF3-6DAD-D8E1-A50B37A8CF49}"/>
              </a:ext>
            </a:extLst>
          </p:cNvPr>
          <p:cNvSpPr txBox="1"/>
          <p:nvPr/>
        </p:nvSpPr>
        <p:spPr>
          <a:xfrm>
            <a:off x="457200" y="5511800"/>
            <a:ext cx="10160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90</a:t>
            </a:r>
            <a:r>
              <a:rPr kumimoji="1" lang="ja-JP" altLang="en-US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歳代</a:t>
            </a:r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5BADDF95-257F-62C5-99FB-A2A5D0E7C322}"/>
              </a:ext>
            </a:extLst>
          </p:cNvPr>
          <p:cNvSpPr/>
          <p:nvPr/>
        </p:nvSpPr>
        <p:spPr>
          <a:xfrm>
            <a:off x="1549400" y="5575300"/>
            <a:ext cx="24765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2EB54BF2-5475-4FB1-8D1E-84F779B5A67E}"/>
              </a:ext>
            </a:extLst>
          </p:cNvPr>
          <p:cNvSpPr/>
          <p:nvPr/>
        </p:nvSpPr>
        <p:spPr>
          <a:xfrm>
            <a:off x="1549400" y="5575300"/>
            <a:ext cx="101600" cy="2286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0D66239D-D71B-768C-1CFF-C9C557BFEA92}"/>
              </a:ext>
            </a:extLst>
          </p:cNvPr>
          <p:cNvSpPr txBox="1"/>
          <p:nvPr/>
        </p:nvSpPr>
        <p:spPr>
          <a:xfrm>
            <a:off x="4127500" y="5511800"/>
            <a:ext cx="17145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3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3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(0.8%)</a:t>
            </a:r>
            <a:endParaRPr kumimoji="1" lang="ja-JP" altLang="en-US" sz="1350" b="1">
              <a:solidFill>
                <a:srgbClr val="94A3B8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2F87B8E6-7A42-0845-918C-7716C02AD831}"/>
              </a:ext>
            </a:extLst>
          </p:cNvPr>
          <p:cNvSpPr txBox="1"/>
          <p:nvPr/>
        </p:nvSpPr>
        <p:spPr>
          <a:xfrm>
            <a:off x="457200" y="5969000"/>
            <a:ext cx="10160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3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未記入</a:t>
            </a:r>
          </a:p>
        </p:txBody>
      </p:sp>
      <p:sp>
        <p:nvSpPr>
          <p:cNvPr id="50" name="四角形: 角を丸くする 49">
            <a:extLst>
              <a:ext uri="{FF2B5EF4-FFF2-40B4-BE49-F238E27FC236}">
                <a16:creationId xmlns:a16="http://schemas.microsoft.com/office/drawing/2014/main" id="{B99C0233-8040-E568-4F32-F7EC2F17741B}"/>
              </a:ext>
            </a:extLst>
          </p:cNvPr>
          <p:cNvSpPr/>
          <p:nvPr/>
        </p:nvSpPr>
        <p:spPr>
          <a:xfrm>
            <a:off x="1549400" y="6032500"/>
            <a:ext cx="24765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F8622799-744C-94C7-8789-39D064CA18DC}"/>
              </a:ext>
            </a:extLst>
          </p:cNvPr>
          <p:cNvSpPr/>
          <p:nvPr/>
        </p:nvSpPr>
        <p:spPr>
          <a:xfrm>
            <a:off x="1549400" y="6032500"/>
            <a:ext cx="101600" cy="2286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E3BF24A8-20A1-2E96-E149-0B82AE88B37D}"/>
              </a:ext>
            </a:extLst>
          </p:cNvPr>
          <p:cNvSpPr txBox="1"/>
          <p:nvPr/>
        </p:nvSpPr>
        <p:spPr>
          <a:xfrm>
            <a:off x="4127500" y="5969000"/>
            <a:ext cx="17145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kumimoji="1" lang="ja-JP" altLang="en-US" sz="13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3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(1.3%)</a:t>
            </a:r>
            <a:endParaRPr kumimoji="1" lang="ja-JP" altLang="en-US" sz="1350" b="1">
              <a:solidFill>
                <a:srgbClr val="94A3B8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四角形: 角を丸くする 52">
            <a:extLst>
              <a:ext uri="{FF2B5EF4-FFF2-40B4-BE49-F238E27FC236}">
                <a16:creationId xmlns:a16="http://schemas.microsoft.com/office/drawing/2014/main" id="{C84C163F-E1C7-68E1-22CD-AFC1F51CB4B6}"/>
              </a:ext>
            </a:extLst>
          </p:cNvPr>
          <p:cNvSpPr/>
          <p:nvPr/>
        </p:nvSpPr>
        <p:spPr>
          <a:xfrm>
            <a:off x="6223000" y="1117600"/>
            <a:ext cx="5715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734B6EE8-8CA7-7273-EFF6-39FD06EA0A8A}"/>
              </a:ext>
            </a:extLst>
          </p:cNvPr>
          <p:cNvSpPr/>
          <p:nvPr/>
        </p:nvSpPr>
        <p:spPr>
          <a:xfrm>
            <a:off x="6426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655D33F4-671C-40E5-0D5A-1E6C947C6A73}"/>
              </a:ext>
            </a:extLst>
          </p:cNvPr>
          <p:cNvSpPr txBox="1"/>
          <p:nvPr/>
        </p:nvSpPr>
        <p:spPr>
          <a:xfrm>
            <a:off x="6629400" y="1282700"/>
            <a:ext cx="5130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Q1. 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本日参考になった内容（複数回答・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N=236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2495F43B-E438-281C-D64A-A10D0E175D84}"/>
              </a:ext>
            </a:extLst>
          </p:cNvPr>
          <p:cNvSpPr/>
          <p:nvPr/>
        </p:nvSpPr>
        <p:spPr>
          <a:xfrm>
            <a:off x="6426200" y="1727200"/>
            <a:ext cx="5308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B1F6BF85-717F-1472-A85D-676A6C9B08B2}"/>
              </a:ext>
            </a:extLst>
          </p:cNvPr>
          <p:cNvSpPr txBox="1"/>
          <p:nvPr/>
        </p:nvSpPr>
        <p:spPr>
          <a:xfrm>
            <a:off x="6426200" y="21590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zh-TW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血管年齢測定</a:t>
            </a:r>
            <a:endParaRPr kumimoji="1" lang="ja-JP" altLang="en-US" sz="1400" b="1">
              <a:solidFill>
                <a:srgbClr val="1E293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544209E7-BF56-AA42-4A23-E7EE369A74FC}"/>
              </a:ext>
            </a:extLst>
          </p:cNvPr>
          <p:cNvSpPr/>
          <p:nvPr/>
        </p:nvSpPr>
        <p:spPr>
          <a:xfrm>
            <a:off x="8470900" y="2222500"/>
            <a:ext cx="16510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四角形: 角を丸くする 58">
            <a:extLst>
              <a:ext uri="{FF2B5EF4-FFF2-40B4-BE49-F238E27FC236}">
                <a16:creationId xmlns:a16="http://schemas.microsoft.com/office/drawing/2014/main" id="{6019692F-C90A-C6A6-ED63-A11AEC2C0CC1}"/>
              </a:ext>
            </a:extLst>
          </p:cNvPr>
          <p:cNvSpPr/>
          <p:nvPr/>
        </p:nvSpPr>
        <p:spPr>
          <a:xfrm>
            <a:off x="8470900" y="2222500"/>
            <a:ext cx="12065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74AC3CD8-CEAC-C791-B44C-7654569EB089}"/>
              </a:ext>
            </a:extLst>
          </p:cNvPr>
          <p:cNvSpPr txBox="1"/>
          <p:nvPr/>
        </p:nvSpPr>
        <p:spPr>
          <a:xfrm>
            <a:off x="10223500" y="21590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172</a:t>
            </a:r>
            <a:r>
              <a:rPr kumimoji="1" lang="ja-JP" altLang="en-US" sz="14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(72.9%)</a:t>
            </a:r>
            <a:endParaRPr kumimoji="1" lang="ja-JP" altLang="en-US" sz="140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2DC00FDB-A184-76BC-66A6-397A6F1564A3}"/>
              </a:ext>
            </a:extLst>
          </p:cNvPr>
          <p:cNvSpPr txBox="1"/>
          <p:nvPr/>
        </p:nvSpPr>
        <p:spPr>
          <a:xfrm>
            <a:off x="6426200" y="28956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筋肉量測定</a:t>
            </a:r>
          </a:p>
        </p:txBody>
      </p:sp>
      <p:sp>
        <p:nvSpPr>
          <p:cNvPr id="62" name="四角形: 角を丸くする 61">
            <a:extLst>
              <a:ext uri="{FF2B5EF4-FFF2-40B4-BE49-F238E27FC236}">
                <a16:creationId xmlns:a16="http://schemas.microsoft.com/office/drawing/2014/main" id="{5320DC31-C50C-4D04-4529-EA432C886C74}"/>
              </a:ext>
            </a:extLst>
          </p:cNvPr>
          <p:cNvSpPr/>
          <p:nvPr/>
        </p:nvSpPr>
        <p:spPr>
          <a:xfrm>
            <a:off x="8470900" y="2959100"/>
            <a:ext cx="16510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四角形: 角を丸くする 62">
            <a:extLst>
              <a:ext uri="{FF2B5EF4-FFF2-40B4-BE49-F238E27FC236}">
                <a16:creationId xmlns:a16="http://schemas.microsoft.com/office/drawing/2014/main" id="{7AFF5A26-CE13-415D-6C4A-C521E90DFB8F}"/>
              </a:ext>
            </a:extLst>
          </p:cNvPr>
          <p:cNvSpPr/>
          <p:nvPr/>
        </p:nvSpPr>
        <p:spPr>
          <a:xfrm>
            <a:off x="8470900" y="2959100"/>
            <a:ext cx="1092200" cy="2286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88EE3F9B-C6BC-FE2A-7917-F790DBF11FF1}"/>
              </a:ext>
            </a:extLst>
          </p:cNvPr>
          <p:cNvSpPr txBox="1"/>
          <p:nvPr/>
        </p:nvSpPr>
        <p:spPr>
          <a:xfrm>
            <a:off x="10223500" y="28956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157</a:t>
            </a:r>
            <a:r>
              <a:rPr kumimoji="1" lang="ja-JP" altLang="en-US" sz="140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(66.5%)</a:t>
            </a:r>
            <a:endParaRPr kumimoji="1" lang="ja-JP" altLang="en-US" sz="1400" b="1">
              <a:solidFill>
                <a:srgbClr val="10B98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C4770C01-A61F-7B9A-9F84-9251CEE991A5}"/>
              </a:ext>
            </a:extLst>
          </p:cNvPr>
          <p:cNvSpPr txBox="1"/>
          <p:nvPr/>
        </p:nvSpPr>
        <p:spPr>
          <a:xfrm>
            <a:off x="6426200" y="36322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栄養レッスン</a:t>
            </a:r>
          </a:p>
        </p:txBody>
      </p:sp>
      <p:sp>
        <p:nvSpPr>
          <p:cNvPr id="66" name="四角形: 角を丸くする 65">
            <a:extLst>
              <a:ext uri="{FF2B5EF4-FFF2-40B4-BE49-F238E27FC236}">
                <a16:creationId xmlns:a16="http://schemas.microsoft.com/office/drawing/2014/main" id="{0303ED15-76AA-3452-77DB-48A11802A9D6}"/>
              </a:ext>
            </a:extLst>
          </p:cNvPr>
          <p:cNvSpPr/>
          <p:nvPr/>
        </p:nvSpPr>
        <p:spPr>
          <a:xfrm>
            <a:off x="8470900" y="3695700"/>
            <a:ext cx="16510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四角形: 角を丸くする 66">
            <a:extLst>
              <a:ext uri="{FF2B5EF4-FFF2-40B4-BE49-F238E27FC236}">
                <a16:creationId xmlns:a16="http://schemas.microsoft.com/office/drawing/2014/main" id="{E7882BF6-082C-879A-B7E3-3DFE7461B137}"/>
              </a:ext>
            </a:extLst>
          </p:cNvPr>
          <p:cNvSpPr/>
          <p:nvPr/>
        </p:nvSpPr>
        <p:spPr>
          <a:xfrm>
            <a:off x="8470900" y="3695700"/>
            <a:ext cx="393700" cy="2286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2C8A35F2-FFB9-D8DA-26CB-5FA36DE017D2}"/>
              </a:ext>
            </a:extLst>
          </p:cNvPr>
          <p:cNvSpPr txBox="1"/>
          <p:nvPr/>
        </p:nvSpPr>
        <p:spPr>
          <a:xfrm>
            <a:off x="10223500" y="36322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57</a:t>
            </a:r>
            <a:r>
              <a:rPr kumimoji="1" lang="ja-JP" altLang="en-US" sz="140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(24.2%)</a:t>
            </a:r>
            <a:endParaRPr kumimoji="1" lang="ja-JP" altLang="en-US" sz="1400" b="1">
              <a:solidFill>
                <a:srgbClr val="F59E0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980B087C-1512-143F-D474-391B897E3092}"/>
              </a:ext>
            </a:extLst>
          </p:cNvPr>
          <p:cNvSpPr txBox="1"/>
          <p:nvPr/>
        </p:nvSpPr>
        <p:spPr>
          <a:xfrm>
            <a:off x="6426200" y="43688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人生会議</a:t>
            </a:r>
            <a:r>
              <a:rPr kumimoji="1" lang="en-US" altLang="ja-JP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終活</a:t>
            </a:r>
            <a:r>
              <a:rPr kumimoji="1" lang="en-US" altLang="ja-JP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の案内</a:t>
            </a:r>
          </a:p>
        </p:txBody>
      </p:sp>
      <p:sp>
        <p:nvSpPr>
          <p:cNvPr id="70" name="四角形: 角を丸くする 69">
            <a:extLst>
              <a:ext uri="{FF2B5EF4-FFF2-40B4-BE49-F238E27FC236}">
                <a16:creationId xmlns:a16="http://schemas.microsoft.com/office/drawing/2014/main" id="{DCED2D97-1643-5E2B-AC50-A0E93FF2A17A}"/>
              </a:ext>
            </a:extLst>
          </p:cNvPr>
          <p:cNvSpPr/>
          <p:nvPr/>
        </p:nvSpPr>
        <p:spPr>
          <a:xfrm>
            <a:off x="8470900" y="4432300"/>
            <a:ext cx="16510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四角形: 角を丸くする 70">
            <a:extLst>
              <a:ext uri="{FF2B5EF4-FFF2-40B4-BE49-F238E27FC236}">
                <a16:creationId xmlns:a16="http://schemas.microsoft.com/office/drawing/2014/main" id="{EF448916-88B8-D84B-4930-2CD66B69BEEF}"/>
              </a:ext>
            </a:extLst>
          </p:cNvPr>
          <p:cNvSpPr/>
          <p:nvPr/>
        </p:nvSpPr>
        <p:spPr>
          <a:xfrm>
            <a:off x="8470900" y="4432300"/>
            <a:ext cx="292100" cy="2286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AB589B1D-298A-812F-A593-808E8A3E6D7E}"/>
              </a:ext>
            </a:extLst>
          </p:cNvPr>
          <p:cNvSpPr txBox="1"/>
          <p:nvPr/>
        </p:nvSpPr>
        <p:spPr>
          <a:xfrm>
            <a:off x="10223500" y="43688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8B5CF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41</a:t>
            </a:r>
            <a:r>
              <a:rPr kumimoji="1" lang="ja-JP" altLang="en-US" sz="1400" b="1">
                <a:solidFill>
                  <a:srgbClr val="8B5CF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8B5CF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(17.4%)</a:t>
            </a:r>
            <a:endParaRPr kumimoji="1" lang="ja-JP" altLang="en-US" sz="1400" b="1">
              <a:solidFill>
                <a:srgbClr val="8B5CF6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2D910442-06D4-3DB4-8005-C8D048162736}"/>
              </a:ext>
            </a:extLst>
          </p:cNvPr>
          <p:cNvSpPr txBox="1"/>
          <p:nvPr/>
        </p:nvSpPr>
        <p:spPr>
          <a:xfrm>
            <a:off x="6426200" y="51054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お薬相談</a:t>
            </a:r>
          </a:p>
        </p:txBody>
      </p:sp>
      <p:sp>
        <p:nvSpPr>
          <p:cNvPr id="74" name="四角形: 角を丸くする 73">
            <a:extLst>
              <a:ext uri="{FF2B5EF4-FFF2-40B4-BE49-F238E27FC236}">
                <a16:creationId xmlns:a16="http://schemas.microsoft.com/office/drawing/2014/main" id="{01C8D021-C65A-F8E0-5DDC-2D776FFD35EA}"/>
              </a:ext>
            </a:extLst>
          </p:cNvPr>
          <p:cNvSpPr/>
          <p:nvPr/>
        </p:nvSpPr>
        <p:spPr>
          <a:xfrm>
            <a:off x="8470900" y="5168900"/>
            <a:ext cx="16510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四角形: 角を丸くする 74">
            <a:extLst>
              <a:ext uri="{FF2B5EF4-FFF2-40B4-BE49-F238E27FC236}">
                <a16:creationId xmlns:a16="http://schemas.microsoft.com/office/drawing/2014/main" id="{BB1A13DB-4EB0-8573-142F-E4F697F8096E}"/>
              </a:ext>
            </a:extLst>
          </p:cNvPr>
          <p:cNvSpPr/>
          <p:nvPr/>
        </p:nvSpPr>
        <p:spPr>
          <a:xfrm>
            <a:off x="8470900" y="51689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CCA449B4-BB85-05E0-D328-2C85973BF904}"/>
              </a:ext>
            </a:extLst>
          </p:cNvPr>
          <p:cNvSpPr txBox="1"/>
          <p:nvPr/>
        </p:nvSpPr>
        <p:spPr>
          <a:xfrm>
            <a:off x="10223500" y="51054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32</a:t>
            </a:r>
            <a:r>
              <a:rPr kumimoji="1" lang="ja-JP" altLang="en-US" sz="1400" b="1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(13.6%)</a:t>
            </a:r>
            <a:endParaRPr kumimoji="1" lang="ja-JP" altLang="en-US" sz="1400" b="1">
              <a:solidFill>
                <a:srgbClr val="0EA5E9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91808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DB3AF9A-5A35-0841-3AED-632F112C0A6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48F7DD9C-A4B5-6667-D405-0F28C37B72BD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791EE1E3-D8E4-1EBD-3E7F-246B6D7DFBAF}"/>
              </a:ext>
            </a:extLst>
          </p:cNvPr>
          <p:cNvSpPr/>
          <p:nvPr/>
        </p:nvSpPr>
        <p:spPr>
          <a:xfrm>
            <a:off x="431800" y="342900"/>
            <a:ext cx="2235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7AE5652-6AE2-AEB6-A663-C47DA1D6BE74}"/>
              </a:ext>
            </a:extLst>
          </p:cNvPr>
          <p:cNvSpPr txBox="1"/>
          <p:nvPr/>
        </p:nvSpPr>
        <p:spPr>
          <a:xfrm>
            <a:off x="431800" y="381000"/>
            <a:ext cx="22352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来場者アンケート③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03BC946-72B0-065A-BBC6-6519B6EE9938}"/>
              </a:ext>
            </a:extLst>
          </p:cNvPr>
          <p:cNvSpPr txBox="1"/>
          <p:nvPr/>
        </p:nvSpPr>
        <p:spPr>
          <a:xfrm>
            <a:off x="2844800" y="317500"/>
            <a:ext cx="7874000" cy="71814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Q2. </a:t>
            </a:r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これまで当院をご存知でしたか？ ／ </a:t>
            </a:r>
            <a:r>
              <a:rPr kumimoji="1" lang="en-US" altLang="ja-JP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Q3. </a:t>
            </a:r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万が一の際、利用したいですか？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870EDEC9-2711-D067-A267-446AC9707A53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281C0EE-1855-03E1-A8A3-C981FEA08E61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 / 12</a:t>
            </a:r>
            <a:endParaRPr kumimoji="1" lang="ja-JP" altLang="en-US" sz="12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983CAA3D-84DD-F349-AB7C-73828CF0E73E}"/>
              </a:ext>
            </a:extLst>
          </p:cNvPr>
          <p:cNvSpPr/>
          <p:nvPr/>
        </p:nvSpPr>
        <p:spPr>
          <a:xfrm>
            <a:off x="254000" y="1117600"/>
            <a:ext cx="5715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DE980CD1-A008-D94B-27E7-C9FA76A0EA97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4C089A5-7868-2554-6371-0E1E80DFA400}"/>
              </a:ext>
            </a:extLst>
          </p:cNvPr>
          <p:cNvSpPr txBox="1"/>
          <p:nvPr/>
        </p:nvSpPr>
        <p:spPr>
          <a:xfrm>
            <a:off x="660400" y="1282700"/>
            <a:ext cx="5130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Q2. 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これまで当院をご存知でしたか？（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N=236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291D813-4EE6-71AF-47DB-955141C0BD47}"/>
              </a:ext>
            </a:extLst>
          </p:cNvPr>
          <p:cNvSpPr/>
          <p:nvPr/>
        </p:nvSpPr>
        <p:spPr>
          <a:xfrm>
            <a:off x="457200" y="1727200"/>
            <a:ext cx="5308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部分円 12">
            <a:extLst>
              <a:ext uri="{FF2B5EF4-FFF2-40B4-BE49-F238E27FC236}">
                <a16:creationId xmlns:a16="http://schemas.microsoft.com/office/drawing/2014/main" id="{00CF9DF6-0BF8-6F92-E5C5-8B696C0F6864}"/>
              </a:ext>
            </a:extLst>
          </p:cNvPr>
          <p:cNvSpPr/>
          <p:nvPr/>
        </p:nvSpPr>
        <p:spPr>
          <a:xfrm>
            <a:off x="1841500" y="1828800"/>
            <a:ext cx="2540000" cy="2540000"/>
          </a:xfrm>
          <a:prstGeom prst="pie">
            <a:avLst>
              <a:gd name="adj1" fmla="val 16200000"/>
              <a:gd name="adj2" fmla="val 6134400"/>
            </a:avLst>
          </a:prstGeom>
          <a:solidFill>
            <a:srgbClr val="2563EB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部分円 13">
            <a:extLst>
              <a:ext uri="{FF2B5EF4-FFF2-40B4-BE49-F238E27FC236}">
                <a16:creationId xmlns:a16="http://schemas.microsoft.com/office/drawing/2014/main" id="{84015AF7-C2BD-615A-6DF6-3EB5047D42CC}"/>
              </a:ext>
            </a:extLst>
          </p:cNvPr>
          <p:cNvSpPr/>
          <p:nvPr/>
        </p:nvSpPr>
        <p:spPr>
          <a:xfrm>
            <a:off x="1841500" y="1828800"/>
            <a:ext cx="2540000" cy="2540000"/>
          </a:xfrm>
          <a:prstGeom prst="pie">
            <a:avLst>
              <a:gd name="adj1" fmla="val 6134400"/>
              <a:gd name="adj2" fmla="val 12268800"/>
            </a:avLst>
          </a:prstGeom>
          <a:solidFill>
            <a:srgbClr val="F59E0B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部分円 14">
            <a:extLst>
              <a:ext uri="{FF2B5EF4-FFF2-40B4-BE49-F238E27FC236}">
                <a16:creationId xmlns:a16="http://schemas.microsoft.com/office/drawing/2014/main" id="{69CBCBF2-A5E3-3AF0-C6FF-231413080E8C}"/>
              </a:ext>
            </a:extLst>
          </p:cNvPr>
          <p:cNvSpPr/>
          <p:nvPr/>
        </p:nvSpPr>
        <p:spPr>
          <a:xfrm>
            <a:off x="1841500" y="1828800"/>
            <a:ext cx="2540000" cy="2540000"/>
          </a:xfrm>
          <a:prstGeom prst="pie">
            <a:avLst>
              <a:gd name="adj1" fmla="val 12268800"/>
              <a:gd name="adj2" fmla="val 15832800"/>
            </a:avLst>
          </a:prstGeom>
          <a:solidFill>
            <a:srgbClr val="10B981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6" name="部分円 15">
            <a:extLst>
              <a:ext uri="{FF2B5EF4-FFF2-40B4-BE49-F238E27FC236}">
                <a16:creationId xmlns:a16="http://schemas.microsoft.com/office/drawing/2014/main" id="{4EF2A05F-90FB-4567-6EFA-C5DFB7D92FA6}"/>
              </a:ext>
            </a:extLst>
          </p:cNvPr>
          <p:cNvSpPr/>
          <p:nvPr/>
        </p:nvSpPr>
        <p:spPr>
          <a:xfrm>
            <a:off x="1841500" y="1828800"/>
            <a:ext cx="2540000" cy="2540000"/>
          </a:xfrm>
          <a:prstGeom prst="pie">
            <a:avLst>
              <a:gd name="adj1" fmla="val 15832800"/>
              <a:gd name="adj2" fmla="val 16200000"/>
            </a:avLst>
          </a:prstGeom>
          <a:solidFill>
            <a:srgbClr val="94A3B8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9E3D7C67-C03B-EF48-D169-749EF84F8322}"/>
              </a:ext>
            </a:extLst>
          </p:cNvPr>
          <p:cNvSpPr/>
          <p:nvPr/>
        </p:nvSpPr>
        <p:spPr>
          <a:xfrm>
            <a:off x="2374900" y="2362200"/>
            <a:ext cx="1473200" cy="14732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2645D91-FFE6-7E13-BA7F-B1A0E42C1FF3}"/>
              </a:ext>
            </a:extLst>
          </p:cNvPr>
          <p:cNvSpPr txBox="1"/>
          <p:nvPr/>
        </p:nvSpPr>
        <p:spPr>
          <a:xfrm>
            <a:off x="2159000" y="2819400"/>
            <a:ext cx="19050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名前・場所は知る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39C3866-4347-C7CC-57C2-9B7A1136728E}"/>
              </a:ext>
            </a:extLst>
          </p:cNvPr>
          <p:cNvSpPr txBox="1"/>
          <p:nvPr/>
        </p:nvSpPr>
        <p:spPr>
          <a:xfrm>
            <a:off x="2159000" y="3124200"/>
            <a:ext cx="19050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53.4% (126</a:t>
            </a:r>
            <a:r>
              <a:rPr kumimoji="1" lang="ja-JP" altLang="en-US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5DD97C47-160A-EB69-1DA4-CB84DBC1666A}"/>
              </a:ext>
            </a:extLst>
          </p:cNvPr>
          <p:cNvSpPr/>
          <p:nvPr/>
        </p:nvSpPr>
        <p:spPr>
          <a:xfrm>
            <a:off x="533400" y="4660900"/>
            <a:ext cx="203200" cy="203200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6C3AEC9-8D68-4DD7-E3CE-E3BBE4665CF6}"/>
              </a:ext>
            </a:extLst>
          </p:cNvPr>
          <p:cNvSpPr txBox="1"/>
          <p:nvPr/>
        </p:nvSpPr>
        <p:spPr>
          <a:xfrm>
            <a:off x="838200" y="4597400"/>
            <a:ext cx="31877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名前や場所は知っている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C73E5E5-9B0E-0A72-0C12-4BF7772CDC6B}"/>
              </a:ext>
            </a:extLst>
          </p:cNvPr>
          <p:cNvSpPr txBox="1"/>
          <p:nvPr/>
        </p:nvSpPr>
        <p:spPr>
          <a:xfrm>
            <a:off x="3848100" y="4597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126</a:t>
            </a:r>
            <a:r>
              <a:rPr kumimoji="1" lang="ja-JP" altLang="en-US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(53.4%)</a:t>
            </a:r>
            <a:endParaRPr kumimoji="1" lang="ja-JP" altLang="en-US" sz="14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882757EB-29E4-3F5C-1AE3-4B6536982410}"/>
              </a:ext>
            </a:extLst>
          </p:cNvPr>
          <p:cNvSpPr/>
          <p:nvPr/>
        </p:nvSpPr>
        <p:spPr>
          <a:xfrm>
            <a:off x="533400" y="5118100"/>
            <a:ext cx="203200" cy="203200"/>
          </a:xfrm>
          <a:prstGeom prst="ellipse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938DC68-32BA-6731-2EDB-429396BC36E1}"/>
              </a:ext>
            </a:extLst>
          </p:cNvPr>
          <p:cNvSpPr txBox="1"/>
          <p:nvPr/>
        </p:nvSpPr>
        <p:spPr>
          <a:xfrm>
            <a:off x="838200" y="5054600"/>
            <a:ext cx="31877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今日初めて知った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1BB58C8-DA1A-A73F-53A7-5FBD7A642218}"/>
              </a:ext>
            </a:extLst>
          </p:cNvPr>
          <p:cNvSpPr txBox="1"/>
          <p:nvPr/>
        </p:nvSpPr>
        <p:spPr>
          <a:xfrm>
            <a:off x="3848100" y="50546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67</a:t>
            </a:r>
            <a:r>
              <a:rPr kumimoji="1" lang="ja-JP" altLang="en-US" sz="145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(28.4%)</a:t>
            </a:r>
            <a:endParaRPr kumimoji="1" lang="ja-JP" altLang="en-US" sz="1450" b="1">
              <a:solidFill>
                <a:srgbClr val="F59E0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CAD5954D-D036-D2F7-F7EF-C677AB5A9EDC}"/>
              </a:ext>
            </a:extLst>
          </p:cNvPr>
          <p:cNvSpPr/>
          <p:nvPr/>
        </p:nvSpPr>
        <p:spPr>
          <a:xfrm>
            <a:off x="533400" y="5575300"/>
            <a:ext cx="203200" cy="203200"/>
          </a:xfrm>
          <a:prstGeom prst="ellipse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026F395-5637-67E7-4E9A-59AC64B575CA}"/>
              </a:ext>
            </a:extLst>
          </p:cNvPr>
          <p:cNvSpPr txBox="1"/>
          <p:nvPr/>
        </p:nvSpPr>
        <p:spPr>
          <a:xfrm>
            <a:off x="838200" y="5511800"/>
            <a:ext cx="31877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よく知っている（利用経験有）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9808DB9-F038-BF2F-01FF-F4EA9249A412}"/>
              </a:ext>
            </a:extLst>
          </p:cNvPr>
          <p:cNvSpPr txBox="1"/>
          <p:nvPr/>
        </p:nvSpPr>
        <p:spPr>
          <a:xfrm>
            <a:off x="3848100" y="55118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39</a:t>
            </a:r>
            <a:r>
              <a:rPr kumimoji="1" lang="ja-JP" altLang="en-US" sz="14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(16.5%)</a:t>
            </a:r>
            <a:endParaRPr kumimoji="1" lang="ja-JP" altLang="en-US" sz="1450" b="1">
              <a:solidFill>
                <a:srgbClr val="10B98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D9839B94-27B4-FFE0-D0A5-F586C95E6066}"/>
              </a:ext>
            </a:extLst>
          </p:cNvPr>
          <p:cNvSpPr/>
          <p:nvPr/>
        </p:nvSpPr>
        <p:spPr>
          <a:xfrm>
            <a:off x="533400" y="6032500"/>
            <a:ext cx="203200" cy="203200"/>
          </a:xfrm>
          <a:prstGeom prst="ellipse">
            <a:avLst/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AD9E1096-6028-DCAF-4ABB-6B79965B555E}"/>
              </a:ext>
            </a:extLst>
          </p:cNvPr>
          <p:cNvSpPr txBox="1"/>
          <p:nvPr/>
        </p:nvSpPr>
        <p:spPr>
          <a:xfrm>
            <a:off x="838200" y="5969000"/>
            <a:ext cx="31877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未記入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8AD75A73-C433-0A20-A965-FBA227123D1A}"/>
              </a:ext>
            </a:extLst>
          </p:cNvPr>
          <p:cNvSpPr txBox="1"/>
          <p:nvPr/>
        </p:nvSpPr>
        <p:spPr>
          <a:xfrm>
            <a:off x="3848100" y="59690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r>
            <a:r>
              <a:rPr kumimoji="1" lang="ja-JP" altLang="en-US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(1.7%)</a:t>
            </a:r>
            <a:endParaRPr kumimoji="1" lang="ja-JP" altLang="en-US" sz="1450" b="1">
              <a:solidFill>
                <a:srgbClr val="94A3B8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F60A4CED-6C69-6B55-EA4C-FDEC8FBA6BE1}"/>
              </a:ext>
            </a:extLst>
          </p:cNvPr>
          <p:cNvSpPr/>
          <p:nvPr/>
        </p:nvSpPr>
        <p:spPr>
          <a:xfrm>
            <a:off x="6223000" y="1117600"/>
            <a:ext cx="5715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BB0A98CC-12D2-8072-6133-F55F8F08F71A}"/>
              </a:ext>
            </a:extLst>
          </p:cNvPr>
          <p:cNvSpPr/>
          <p:nvPr/>
        </p:nvSpPr>
        <p:spPr>
          <a:xfrm>
            <a:off x="6426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BEE7E08-B9F5-DC5B-B9DF-13B5819D8418}"/>
              </a:ext>
            </a:extLst>
          </p:cNvPr>
          <p:cNvSpPr txBox="1"/>
          <p:nvPr/>
        </p:nvSpPr>
        <p:spPr>
          <a:xfrm>
            <a:off x="6629400" y="1282700"/>
            <a:ext cx="5130800" cy="61042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Q3. 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万が一の際、当院を利用したいですか？（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N=236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C46897A6-382D-C19D-086F-AC6638408211}"/>
              </a:ext>
            </a:extLst>
          </p:cNvPr>
          <p:cNvSpPr/>
          <p:nvPr/>
        </p:nvSpPr>
        <p:spPr>
          <a:xfrm>
            <a:off x="6426200" y="1727200"/>
            <a:ext cx="5308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部分円 35">
            <a:extLst>
              <a:ext uri="{FF2B5EF4-FFF2-40B4-BE49-F238E27FC236}">
                <a16:creationId xmlns:a16="http://schemas.microsoft.com/office/drawing/2014/main" id="{D8920033-FED8-F250-4A79-9DC769E4F514}"/>
              </a:ext>
            </a:extLst>
          </p:cNvPr>
          <p:cNvSpPr/>
          <p:nvPr/>
        </p:nvSpPr>
        <p:spPr>
          <a:xfrm>
            <a:off x="7810500" y="1828800"/>
            <a:ext cx="2540000" cy="2540000"/>
          </a:xfrm>
          <a:prstGeom prst="pie">
            <a:avLst>
              <a:gd name="adj1" fmla="val 16200000"/>
              <a:gd name="adj2" fmla="val 86400"/>
            </a:avLst>
          </a:prstGeom>
          <a:solidFill>
            <a:srgbClr val="10B981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7" name="部分円 36">
            <a:extLst>
              <a:ext uri="{FF2B5EF4-FFF2-40B4-BE49-F238E27FC236}">
                <a16:creationId xmlns:a16="http://schemas.microsoft.com/office/drawing/2014/main" id="{02D80293-794D-9646-085C-781D8A24B9C6}"/>
              </a:ext>
            </a:extLst>
          </p:cNvPr>
          <p:cNvSpPr/>
          <p:nvPr/>
        </p:nvSpPr>
        <p:spPr>
          <a:xfrm>
            <a:off x="7810500" y="1828800"/>
            <a:ext cx="2540000" cy="2540000"/>
          </a:xfrm>
          <a:prstGeom prst="pie">
            <a:avLst>
              <a:gd name="adj1" fmla="val 86400"/>
              <a:gd name="adj2" fmla="val 14083200"/>
            </a:avLst>
          </a:prstGeom>
          <a:solidFill>
            <a:srgbClr val="2563EB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8" name="部分円 37">
            <a:extLst>
              <a:ext uri="{FF2B5EF4-FFF2-40B4-BE49-F238E27FC236}">
                <a16:creationId xmlns:a16="http://schemas.microsoft.com/office/drawing/2014/main" id="{C25EF8F7-4392-ED50-BCE3-5BCB6B631731}"/>
              </a:ext>
            </a:extLst>
          </p:cNvPr>
          <p:cNvSpPr/>
          <p:nvPr/>
        </p:nvSpPr>
        <p:spPr>
          <a:xfrm>
            <a:off x="7810500" y="1828800"/>
            <a:ext cx="2540000" cy="2540000"/>
          </a:xfrm>
          <a:prstGeom prst="pie">
            <a:avLst>
              <a:gd name="adj1" fmla="val 14083200"/>
              <a:gd name="adj2" fmla="val 15638401"/>
            </a:avLst>
          </a:prstGeom>
          <a:solidFill>
            <a:srgbClr val="EF4444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9" name="部分円 38">
            <a:extLst>
              <a:ext uri="{FF2B5EF4-FFF2-40B4-BE49-F238E27FC236}">
                <a16:creationId xmlns:a16="http://schemas.microsoft.com/office/drawing/2014/main" id="{55A2DF80-029E-8613-E4F0-0F11A3B71B99}"/>
              </a:ext>
            </a:extLst>
          </p:cNvPr>
          <p:cNvSpPr/>
          <p:nvPr/>
        </p:nvSpPr>
        <p:spPr>
          <a:xfrm>
            <a:off x="7810500" y="1828800"/>
            <a:ext cx="2540000" cy="2540000"/>
          </a:xfrm>
          <a:prstGeom prst="pie">
            <a:avLst>
              <a:gd name="adj1" fmla="val 15638401"/>
              <a:gd name="adj2" fmla="val 16178401"/>
            </a:avLst>
          </a:prstGeom>
          <a:solidFill>
            <a:srgbClr val="94A3B8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EE37420E-FB4F-CA5A-80AA-0820558258F2}"/>
              </a:ext>
            </a:extLst>
          </p:cNvPr>
          <p:cNvSpPr/>
          <p:nvPr/>
        </p:nvSpPr>
        <p:spPr>
          <a:xfrm>
            <a:off x="8343900" y="2362200"/>
            <a:ext cx="1473200" cy="14732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E4738957-4E3F-28BA-9FF0-0615EC0731DB}"/>
              </a:ext>
            </a:extLst>
          </p:cNvPr>
          <p:cNvSpPr txBox="1"/>
          <p:nvPr/>
        </p:nvSpPr>
        <p:spPr>
          <a:xfrm>
            <a:off x="8128000" y="2819400"/>
            <a:ext cx="19050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利用・検討したい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81BA30D0-6BF9-2695-E733-42A2C83964CA}"/>
              </a:ext>
            </a:extLst>
          </p:cNvPr>
          <p:cNvSpPr txBox="1"/>
          <p:nvPr/>
        </p:nvSpPr>
        <p:spPr>
          <a:xfrm>
            <a:off x="8128000" y="3124200"/>
            <a:ext cx="19050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90.3% (213</a:t>
            </a:r>
            <a:r>
              <a:rPr kumimoji="1" lang="ja-JP" altLang="en-US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EFBE31D9-87C8-EDAC-4F88-B031E3ED91BC}"/>
              </a:ext>
            </a:extLst>
          </p:cNvPr>
          <p:cNvSpPr/>
          <p:nvPr/>
        </p:nvSpPr>
        <p:spPr>
          <a:xfrm>
            <a:off x="6502400" y="4660900"/>
            <a:ext cx="203200" cy="203200"/>
          </a:xfrm>
          <a:prstGeom prst="ellipse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87A81965-20FB-578B-2F57-DE032BAD7A4A}"/>
              </a:ext>
            </a:extLst>
          </p:cNvPr>
          <p:cNvSpPr txBox="1"/>
          <p:nvPr/>
        </p:nvSpPr>
        <p:spPr>
          <a:xfrm>
            <a:off x="6807200" y="4597400"/>
            <a:ext cx="31877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ぜひ利用したい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CB3EF28D-2E53-5DB8-42B3-1D791389C014}"/>
              </a:ext>
            </a:extLst>
          </p:cNvPr>
          <p:cNvSpPr txBox="1"/>
          <p:nvPr/>
        </p:nvSpPr>
        <p:spPr>
          <a:xfrm>
            <a:off x="9817100" y="4597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60</a:t>
            </a:r>
            <a:r>
              <a:rPr kumimoji="1" lang="ja-JP" altLang="en-US" sz="14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(25.4%)</a:t>
            </a:r>
            <a:endParaRPr kumimoji="1" lang="ja-JP" altLang="en-US" sz="1450" b="1">
              <a:solidFill>
                <a:srgbClr val="10B98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552E9902-2FD4-DE2C-CD41-CD1315B2BC40}"/>
              </a:ext>
            </a:extLst>
          </p:cNvPr>
          <p:cNvSpPr/>
          <p:nvPr/>
        </p:nvSpPr>
        <p:spPr>
          <a:xfrm>
            <a:off x="6502400" y="5118100"/>
            <a:ext cx="203200" cy="203200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95434AD2-8044-0518-689A-DE1325F52177}"/>
              </a:ext>
            </a:extLst>
          </p:cNvPr>
          <p:cNvSpPr txBox="1"/>
          <p:nvPr/>
        </p:nvSpPr>
        <p:spPr>
          <a:xfrm>
            <a:off x="6807200" y="5054600"/>
            <a:ext cx="31877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候補の一つとして検討したい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6EB685E5-ECCA-D688-7C91-45BE622095B4}"/>
              </a:ext>
            </a:extLst>
          </p:cNvPr>
          <p:cNvSpPr txBox="1"/>
          <p:nvPr/>
        </p:nvSpPr>
        <p:spPr>
          <a:xfrm>
            <a:off x="9817100" y="50546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153</a:t>
            </a:r>
            <a:r>
              <a:rPr kumimoji="1" lang="ja-JP" altLang="en-US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(64.8%)</a:t>
            </a:r>
            <a:endParaRPr kumimoji="1" lang="ja-JP" altLang="en-US" sz="14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880362F4-E35E-204E-C2D8-81CB33D237F2}"/>
              </a:ext>
            </a:extLst>
          </p:cNvPr>
          <p:cNvSpPr/>
          <p:nvPr/>
        </p:nvSpPr>
        <p:spPr>
          <a:xfrm>
            <a:off x="6502400" y="5575300"/>
            <a:ext cx="203200" cy="203200"/>
          </a:xfrm>
          <a:prstGeom prst="ellipse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2AF5C717-40AA-7293-571A-5F59C93AB8AB}"/>
              </a:ext>
            </a:extLst>
          </p:cNvPr>
          <p:cNvSpPr txBox="1"/>
          <p:nvPr/>
        </p:nvSpPr>
        <p:spPr>
          <a:xfrm>
            <a:off x="6807200" y="5511800"/>
            <a:ext cx="31877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他の病院を選ぶ・わからない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8C508C24-66F1-FDC5-C104-97EAB0C5580B}"/>
              </a:ext>
            </a:extLst>
          </p:cNvPr>
          <p:cNvSpPr txBox="1"/>
          <p:nvPr/>
        </p:nvSpPr>
        <p:spPr>
          <a:xfrm>
            <a:off x="9817100" y="55118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EF444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</a:t>
            </a:r>
            <a:r>
              <a:rPr kumimoji="1" lang="ja-JP" altLang="en-US" sz="1450" b="1">
                <a:solidFill>
                  <a:srgbClr val="EF444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EF444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(7.2%)</a:t>
            </a:r>
            <a:endParaRPr kumimoji="1" lang="ja-JP" altLang="en-US" sz="1450" b="1">
              <a:solidFill>
                <a:srgbClr val="EF444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D0165B53-E773-E2C2-EA1A-B5B48ABFCBA4}"/>
              </a:ext>
            </a:extLst>
          </p:cNvPr>
          <p:cNvSpPr/>
          <p:nvPr/>
        </p:nvSpPr>
        <p:spPr>
          <a:xfrm>
            <a:off x="6502400" y="6032500"/>
            <a:ext cx="203200" cy="203200"/>
          </a:xfrm>
          <a:prstGeom prst="ellipse">
            <a:avLst/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79BFFF71-5848-575C-6A75-BEB293BBC45D}"/>
              </a:ext>
            </a:extLst>
          </p:cNvPr>
          <p:cNvSpPr txBox="1"/>
          <p:nvPr/>
        </p:nvSpPr>
        <p:spPr>
          <a:xfrm>
            <a:off x="6807200" y="5969000"/>
            <a:ext cx="31877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未記入</a:t>
            </a: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54EE21C2-1848-27B0-1335-E911CFB39150}"/>
              </a:ext>
            </a:extLst>
          </p:cNvPr>
          <p:cNvSpPr txBox="1"/>
          <p:nvPr/>
        </p:nvSpPr>
        <p:spPr>
          <a:xfrm>
            <a:off x="9817100" y="59690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r>
            <a:r>
              <a:rPr kumimoji="1" lang="ja-JP" altLang="en-US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(2.5%)</a:t>
            </a:r>
            <a:endParaRPr kumimoji="1" lang="ja-JP" altLang="en-US" sz="1450" b="1">
              <a:solidFill>
                <a:srgbClr val="94A3B8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88192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F84A97F-6246-A9B9-40B6-B56F87B4B8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323F891C-1993-1611-700E-9AF7AE7E4AF8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7A60B980-D8B2-1B4D-5B1C-D779BA821A07}"/>
              </a:ext>
            </a:extLst>
          </p:cNvPr>
          <p:cNvSpPr/>
          <p:nvPr/>
        </p:nvSpPr>
        <p:spPr>
          <a:xfrm>
            <a:off x="431800" y="342900"/>
            <a:ext cx="2235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250FC0A-09B5-9674-FD2B-B1C44F17E71A}"/>
              </a:ext>
            </a:extLst>
          </p:cNvPr>
          <p:cNvSpPr txBox="1"/>
          <p:nvPr/>
        </p:nvSpPr>
        <p:spPr>
          <a:xfrm>
            <a:off x="431800" y="381000"/>
            <a:ext cx="22352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来場者アンケート④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C0AE010-882F-E8ED-3E02-656E13455A61}"/>
              </a:ext>
            </a:extLst>
          </p:cNvPr>
          <p:cNvSpPr txBox="1"/>
          <p:nvPr/>
        </p:nvSpPr>
        <p:spPr>
          <a:xfrm>
            <a:off x="2844800" y="317500"/>
            <a:ext cx="7874000" cy="71814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Q4. </a:t>
            </a:r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現在健康について気になることはありますか？（グラフ＋「その他」自由記載）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95BA40EA-4F6F-CF23-843D-E3BE6F6A10CE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B2126BB-FB35-413E-E60F-75303505B348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 / 12</a:t>
            </a:r>
            <a:endParaRPr kumimoji="1" lang="ja-JP" altLang="en-US" sz="12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5AD0AE8D-0EBB-8BD1-B3C1-54404EC73650}"/>
              </a:ext>
            </a:extLst>
          </p:cNvPr>
          <p:cNvSpPr/>
          <p:nvPr/>
        </p:nvSpPr>
        <p:spPr>
          <a:xfrm>
            <a:off x="254000" y="1117600"/>
            <a:ext cx="6223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BAD9FC9-0893-4B12-6BCB-B6BA87768B67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8D82C61-6C44-1883-C785-A13C96DC99F0}"/>
              </a:ext>
            </a:extLst>
          </p:cNvPr>
          <p:cNvSpPr txBox="1"/>
          <p:nvPr/>
        </p:nvSpPr>
        <p:spPr>
          <a:xfrm>
            <a:off x="660400" y="1282700"/>
            <a:ext cx="5638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Q4. 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健康について気になること（複数回答・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N=236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DF97A56-2298-D019-1F38-D413FCB13B7E}"/>
              </a:ext>
            </a:extLst>
          </p:cNvPr>
          <p:cNvSpPr/>
          <p:nvPr/>
        </p:nvSpPr>
        <p:spPr>
          <a:xfrm>
            <a:off x="457200" y="1727200"/>
            <a:ext cx="5816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15D295A-3A5C-733D-0B80-E13C0AB582C6}"/>
              </a:ext>
            </a:extLst>
          </p:cNvPr>
          <p:cNvSpPr txBox="1"/>
          <p:nvPr/>
        </p:nvSpPr>
        <p:spPr>
          <a:xfrm>
            <a:off x="457200" y="19558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足腰の衰え・転倒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16DADA55-6CDA-D8D0-12F4-B34F2CC4237B}"/>
              </a:ext>
            </a:extLst>
          </p:cNvPr>
          <p:cNvSpPr/>
          <p:nvPr/>
        </p:nvSpPr>
        <p:spPr>
          <a:xfrm>
            <a:off x="2501900" y="2019300"/>
            <a:ext cx="21590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88A595BB-3D3B-CEE5-7CC4-40CCC5666F26}"/>
              </a:ext>
            </a:extLst>
          </p:cNvPr>
          <p:cNvSpPr/>
          <p:nvPr/>
        </p:nvSpPr>
        <p:spPr>
          <a:xfrm>
            <a:off x="2501900" y="2019300"/>
            <a:ext cx="17018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2E00817-EA18-9E20-B305-00026C2C136B}"/>
              </a:ext>
            </a:extLst>
          </p:cNvPr>
          <p:cNvSpPr txBox="1"/>
          <p:nvPr/>
        </p:nvSpPr>
        <p:spPr>
          <a:xfrm>
            <a:off x="4762500" y="19558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93</a:t>
            </a:r>
            <a:r>
              <a:rPr kumimoji="1" lang="ja-JP" altLang="en-US" sz="14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(39.4%)</a:t>
            </a:r>
            <a:endParaRPr kumimoji="1" lang="ja-JP" altLang="en-US" sz="140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F64EDF6-78E7-29C2-D7E7-94C60EC00774}"/>
              </a:ext>
            </a:extLst>
          </p:cNvPr>
          <p:cNvSpPr txBox="1"/>
          <p:nvPr/>
        </p:nvSpPr>
        <p:spPr>
          <a:xfrm>
            <a:off x="457200" y="25654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食事・栄養バランス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57934578-6D25-FF6A-5ABE-C5EA5BAFF605}"/>
              </a:ext>
            </a:extLst>
          </p:cNvPr>
          <p:cNvSpPr/>
          <p:nvPr/>
        </p:nvSpPr>
        <p:spPr>
          <a:xfrm>
            <a:off x="2501900" y="2628900"/>
            <a:ext cx="21590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2F1AA0F3-8629-F092-A311-666BF7C9C92B}"/>
              </a:ext>
            </a:extLst>
          </p:cNvPr>
          <p:cNvSpPr/>
          <p:nvPr/>
        </p:nvSpPr>
        <p:spPr>
          <a:xfrm>
            <a:off x="2501900" y="2628900"/>
            <a:ext cx="1447800" cy="2286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85FCC3A-3018-8B92-5CCF-4855EF6890EE}"/>
              </a:ext>
            </a:extLst>
          </p:cNvPr>
          <p:cNvSpPr txBox="1"/>
          <p:nvPr/>
        </p:nvSpPr>
        <p:spPr>
          <a:xfrm>
            <a:off x="4762500" y="25654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79</a:t>
            </a:r>
            <a:r>
              <a:rPr kumimoji="1" lang="ja-JP" altLang="en-US" sz="140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(33.5%)</a:t>
            </a:r>
            <a:endParaRPr kumimoji="1" lang="ja-JP" altLang="en-US" sz="1400" b="1">
              <a:solidFill>
                <a:srgbClr val="10B98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6D16EDA-EB89-7972-6450-93FA9098D8C4}"/>
              </a:ext>
            </a:extLst>
          </p:cNvPr>
          <p:cNvSpPr txBox="1"/>
          <p:nvPr/>
        </p:nvSpPr>
        <p:spPr>
          <a:xfrm>
            <a:off x="457200" y="31750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物忘れ・認知機能</a:t>
            </a: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D3958137-9040-187B-504F-C085BEF38166}"/>
              </a:ext>
            </a:extLst>
          </p:cNvPr>
          <p:cNvSpPr/>
          <p:nvPr/>
        </p:nvSpPr>
        <p:spPr>
          <a:xfrm>
            <a:off x="2501900" y="3238500"/>
            <a:ext cx="21590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61069706-4434-C916-3020-165A489AB518}"/>
              </a:ext>
            </a:extLst>
          </p:cNvPr>
          <p:cNvSpPr/>
          <p:nvPr/>
        </p:nvSpPr>
        <p:spPr>
          <a:xfrm>
            <a:off x="2501900" y="3238500"/>
            <a:ext cx="1435100" cy="2286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12A5C90-5957-6E72-CB2C-BBE2D6A2D4F4}"/>
              </a:ext>
            </a:extLst>
          </p:cNvPr>
          <p:cNvSpPr txBox="1"/>
          <p:nvPr/>
        </p:nvSpPr>
        <p:spPr>
          <a:xfrm>
            <a:off x="4762500" y="31750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78</a:t>
            </a:r>
            <a:r>
              <a:rPr kumimoji="1" lang="ja-JP" altLang="en-US" sz="140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(33.1%)</a:t>
            </a:r>
            <a:endParaRPr kumimoji="1" lang="ja-JP" altLang="en-US" sz="1400" b="1">
              <a:solidFill>
                <a:srgbClr val="F59E0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A185258-A9C4-877F-4BB2-282EF55CD996}"/>
              </a:ext>
            </a:extLst>
          </p:cNvPr>
          <p:cNvSpPr txBox="1"/>
          <p:nvPr/>
        </p:nvSpPr>
        <p:spPr>
          <a:xfrm>
            <a:off x="457200" y="37846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将来の介護や終活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F3578EDA-A203-EA4F-9095-60AD1DFEA9CB}"/>
              </a:ext>
            </a:extLst>
          </p:cNvPr>
          <p:cNvSpPr/>
          <p:nvPr/>
        </p:nvSpPr>
        <p:spPr>
          <a:xfrm>
            <a:off x="2501900" y="3848100"/>
            <a:ext cx="21590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C7602816-7D0D-0CD2-2671-0B9512C9EEDE}"/>
              </a:ext>
            </a:extLst>
          </p:cNvPr>
          <p:cNvSpPr/>
          <p:nvPr/>
        </p:nvSpPr>
        <p:spPr>
          <a:xfrm>
            <a:off x="2501900" y="3848100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923B0D3-935D-8214-7F54-4C4AB8460709}"/>
              </a:ext>
            </a:extLst>
          </p:cNvPr>
          <p:cNvSpPr txBox="1"/>
          <p:nvPr/>
        </p:nvSpPr>
        <p:spPr>
          <a:xfrm>
            <a:off x="4762500" y="37846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8B5CF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71</a:t>
            </a:r>
            <a:r>
              <a:rPr kumimoji="1" lang="ja-JP" altLang="en-US" sz="1400" b="1">
                <a:solidFill>
                  <a:srgbClr val="8B5CF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8B5CF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(30.1%)</a:t>
            </a:r>
            <a:endParaRPr kumimoji="1" lang="ja-JP" altLang="en-US" sz="1400" b="1">
              <a:solidFill>
                <a:srgbClr val="8B5CF6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AC4A0CCB-0DD1-373B-1BD9-C68CEA525DB3}"/>
              </a:ext>
            </a:extLst>
          </p:cNvPr>
          <p:cNvSpPr txBox="1"/>
          <p:nvPr/>
        </p:nvSpPr>
        <p:spPr>
          <a:xfrm>
            <a:off x="457200" y="43942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とくにない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22B92C41-6939-BE29-714D-9EE8DCB2D032}"/>
              </a:ext>
            </a:extLst>
          </p:cNvPr>
          <p:cNvSpPr/>
          <p:nvPr/>
        </p:nvSpPr>
        <p:spPr>
          <a:xfrm>
            <a:off x="2501900" y="4457700"/>
            <a:ext cx="21590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737B5BAE-310F-DC52-1709-D9E616C4D8A7}"/>
              </a:ext>
            </a:extLst>
          </p:cNvPr>
          <p:cNvSpPr/>
          <p:nvPr/>
        </p:nvSpPr>
        <p:spPr>
          <a:xfrm>
            <a:off x="2501900" y="4457700"/>
            <a:ext cx="622300" cy="2286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56218BD4-8636-4039-3CD2-AB1BECA2A8AB}"/>
              </a:ext>
            </a:extLst>
          </p:cNvPr>
          <p:cNvSpPr txBox="1"/>
          <p:nvPr/>
        </p:nvSpPr>
        <p:spPr>
          <a:xfrm>
            <a:off x="4762500" y="43942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34</a:t>
            </a:r>
            <a:r>
              <a:rPr kumimoji="1" lang="ja-JP" altLang="en-US" sz="140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(14.4%)</a:t>
            </a:r>
            <a:endParaRPr kumimoji="1" lang="ja-JP" altLang="en-US" sz="1400" b="1">
              <a:solidFill>
                <a:srgbClr val="94A3B8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EF9F61E-5931-3739-FF24-73D0ADC00FED}"/>
              </a:ext>
            </a:extLst>
          </p:cNvPr>
          <p:cNvSpPr txBox="1"/>
          <p:nvPr/>
        </p:nvSpPr>
        <p:spPr>
          <a:xfrm>
            <a:off x="457200" y="50038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薬の飲み方</a:t>
            </a: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F33B9BE5-8735-13C9-A96B-D264696FC5D3}"/>
              </a:ext>
            </a:extLst>
          </p:cNvPr>
          <p:cNvSpPr/>
          <p:nvPr/>
        </p:nvSpPr>
        <p:spPr>
          <a:xfrm>
            <a:off x="2501900" y="5067300"/>
            <a:ext cx="21590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E36F4C2E-8979-FE4F-B404-FA9F938BDDF7}"/>
              </a:ext>
            </a:extLst>
          </p:cNvPr>
          <p:cNvSpPr/>
          <p:nvPr/>
        </p:nvSpPr>
        <p:spPr>
          <a:xfrm>
            <a:off x="2501900" y="5067300"/>
            <a:ext cx="203200" cy="2286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D968DD1-084B-5307-1294-F0D0638C465D}"/>
              </a:ext>
            </a:extLst>
          </p:cNvPr>
          <p:cNvSpPr txBox="1"/>
          <p:nvPr/>
        </p:nvSpPr>
        <p:spPr>
          <a:xfrm>
            <a:off x="4762500" y="50038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  <a:r>
              <a:rPr kumimoji="1" lang="ja-JP" altLang="en-US" sz="1400" b="1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(4.7%)</a:t>
            </a:r>
            <a:endParaRPr kumimoji="1" lang="ja-JP" altLang="en-US" sz="1400" b="1">
              <a:solidFill>
                <a:srgbClr val="0EA5E9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FA1C7B9-4BA9-36A0-7647-1E4801760360}"/>
              </a:ext>
            </a:extLst>
          </p:cNvPr>
          <p:cNvSpPr txBox="1"/>
          <p:nvPr/>
        </p:nvSpPr>
        <p:spPr>
          <a:xfrm>
            <a:off x="457200" y="5613400"/>
            <a:ext cx="1968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その他</a:t>
            </a: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35B5F4B9-A879-77DC-43A4-29BC1B2D4565}"/>
              </a:ext>
            </a:extLst>
          </p:cNvPr>
          <p:cNvSpPr/>
          <p:nvPr/>
        </p:nvSpPr>
        <p:spPr>
          <a:xfrm>
            <a:off x="2501900" y="5676900"/>
            <a:ext cx="2159000" cy="228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B1BB0553-EA2B-85F1-FC07-72C0413CD97E}"/>
              </a:ext>
            </a:extLst>
          </p:cNvPr>
          <p:cNvSpPr/>
          <p:nvPr/>
        </p:nvSpPr>
        <p:spPr>
          <a:xfrm>
            <a:off x="2501900" y="5676900"/>
            <a:ext cx="203200" cy="2286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BF751D8C-64CD-8E83-157B-C107787C6C74}"/>
              </a:ext>
            </a:extLst>
          </p:cNvPr>
          <p:cNvSpPr txBox="1"/>
          <p:nvPr/>
        </p:nvSpPr>
        <p:spPr>
          <a:xfrm>
            <a:off x="4762500" y="5613400"/>
            <a:ext cx="17145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400" b="1">
                <a:solidFill>
                  <a:srgbClr val="EF444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  <a:r>
              <a:rPr kumimoji="1" lang="ja-JP" altLang="en-US" sz="1400" b="1">
                <a:solidFill>
                  <a:srgbClr val="EF444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00" b="1">
                <a:solidFill>
                  <a:srgbClr val="EF444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(4.7%)</a:t>
            </a:r>
            <a:endParaRPr kumimoji="1" lang="ja-JP" altLang="en-US" sz="1400" b="1">
              <a:solidFill>
                <a:srgbClr val="EF444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BBBA6EBC-F046-DE65-02A8-B4C3D67C683E}"/>
              </a:ext>
            </a:extLst>
          </p:cNvPr>
          <p:cNvSpPr/>
          <p:nvPr/>
        </p:nvSpPr>
        <p:spPr>
          <a:xfrm>
            <a:off x="6680200" y="1117600"/>
            <a:ext cx="52578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DF162AA4-23D5-2CAD-3B06-86583BEDA3FB}"/>
              </a:ext>
            </a:extLst>
          </p:cNvPr>
          <p:cNvSpPr/>
          <p:nvPr/>
        </p:nvSpPr>
        <p:spPr>
          <a:xfrm>
            <a:off x="68834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F74CF43C-F2DB-CCAB-C156-18720BCF4B29}"/>
              </a:ext>
            </a:extLst>
          </p:cNvPr>
          <p:cNvSpPr txBox="1"/>
          <p:nvPr/>
        </p:nvSpPr>
        <p:spPr>
          <a:xfrm>
            <a:off x="7086600" y="1282700"/>
            <a:ext cx="46736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Q4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「その他」の自由記載内容（計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C9D80452-C247-7250-D890-030C79B7E40D}"/>
              </a:ext>
            </a:extLst>
          </p:cNvPr>
          <p:cNvSpPr/>
          <p:nvPr/>
        </p:nvSpPr>
        <p:spPr>
          <a:xfrm>
            <a:off x="6883400" y="1727200"/>
            <a:ext cx="48514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268BBF4E-6ABC-FB5B-F4CF-20CB51AFDE06}"/>
              </a:ext>
            </a:extLst>
          </p:cNvPr>
          <p:cNvSpPr txBox="1"/>
          <p:nvPr/>
        </p:nvSpPr>
        <p:spPr>
          <a:xfrm>
            <a:off x="6908800" y="1905000"/>
            <a:ext cx="4800600" cy="389593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・血圧 ／ 血圧が高い（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・糖尿病（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・ひざの痛み（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・足がつる、むくみ（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・胃痛（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・痔（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・早く目が覚める、夜間トイレに行く（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・薬に頼らず努力で（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・病気について（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</a:t>
            </a:r>
          </a:p>
        </p:txBody>
      </p:sp>
    </p:spTree>
    <p:extLst>
      <p:ext uri="{BB962C8B-B14F-4D97-AF65-F5344CB8AC3E}">
        <p14:creationId xmlns:p14="http://schemas.microsoft.com/office/powerpoint/2010/main" val="1960409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8282DDE-F5BD-9536-625D-2CFA347178A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EB6E38C8-287B-3804-B88B-27E1AB0D0C56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23B55A5-0DE4-579F-CBA7-566B9EC63A7F}"/>
              </a:ext>
            </a:extLst>
          </p:cNvPr>
          <p:cNvSpPr/>
          <p:nvPr/>
        </p:nvSpPr>
        <p:spPr>
          <a:xfrm>
            <a:off x="431800" y="342900"/>
            <a:ext cx="2235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EC9C25A-7AED-AC92-02B1-56F2408AFF6A}"/>
              </a:ext>
            </a:extLst>
          </p:cNvPr>
          <p:cNvSpPr txBox="1"/>
          <p:nvPr/>
        </p:nvSpPr>
        <p:spPr>
          <a:xfrm>
            <a:off x="431800" y="381000"/>
            <a:ext cx="22352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来場者アンケート⑤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4EFD3D9-864A-A67E-DCAD-6DA3F5541501}"/>
              </a:ext>
            </a:extLst>
          </p:cNvPr>
          <p:cNvSpPr txBox="1"/>
          <p:nvPr/>
        </p:nvSpPr>
        <p:spPr>
          <a:xfrm>
            <a:off x="2844800" y="317500"/>
            <a:ext cx="78740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Q5. </a:t>
            </a:r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来年に期待する内容は何ですか？（自由記載</a:t>
            </a:r>
            <a:r>
              <a:rPr kumimoji="1" lang="en-US" altLang="ja-JP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39</a:t>
            </a:r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件の要約）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D7DC571E-43C3-EA4B-AAE6-3BC5E67037F0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D280F96-048F-1890-3FB2-CF02C5CB6149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 / 12</a:t>
            </a:r>
            <a:endParaRPr kumimoji="1" lang="ja-JP" altLang="en-US" sz="12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84AED9D7-BCAE-CA46-F64D-DC2ED17AA507}"/>
              </a:ext>
            </a:extLst>
          </p:cNvPr>
          <p:cNvSpPr/>
          <p:nvPr/>
        </p:nvSpPr>
        <p:spPr>
          <a:xfrm>
            <a:off x="254000" y="1117600"/>
            <a:ext cx="5715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4EE4567A-8D3F-8569-38B1-4F41991EB654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438B1B3-EAE7-AB37-6494-EFA118FB0FEB}"/>
              </a:ext>
            </a:extLst>
          </p:cNvPr>
          <p:cNvSpPr txBox="1"/>
          <p:nvPr/>
        </p:nvSpPr>
        <p:spPr>
          <a:xfrm>
            <a:off x="660400" y="1282700"/>
            <a:ext cx="5130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測定・運動・健康チェックに関する記載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6D83DC3-3024-D442-D8D9-F0F501BC4CE6}"/>
              </a:ext>
            </a:extLst>
          </p:cNvPr>
          <p:cNvSpPr/>
          <p:nvPr/>
        </p:nvSpPr>
        <p:spPr>
          <a:xfrm>
            <a:off x="457200" y="1727200"/>
            <a:ext cx="5308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DC0D98B-D5F6-E28B-1C5F-3C8DD1849CD9}"/>
              </a:ext>
            </a:extLst>
          </p:cNvPr>
          <p:cNvSpPr txBox="1"/>
          <p:nvPr/>
        </p:nvSpPr>
        <p:spPr>
          <a:xfrm>
            <a:off x="482600" y="1879600"/>
            <a:ext cx="5257800" cy="359893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・今年と同じ内容・同様の測定（筋肉量測定・血管年齢測定など）を来年も継続してほしい（</a:t>
            </a:r>
            <a:r>
              <a:rPr kumimoji="1" lang="en-US" altLang="ja-JP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・自宅の椅子に座っている時のストレッチ、日々できる簡単な運動体験、筋肉をつける姿勢を知りたい（</a:t>
            </a:r>
            <a:r>
              <a:rPr kumimoji="1" lang="en-US" altLang="ja-JP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r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・認知機能の衰えチェック、認知症・フレイル予防、体力測定をしてほしい（</a:t>
            </a:r>
            <a:r>
              <a:rPr kumimoji="1" lang="en-US" altLang="ja-JP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・転倒予防、バランスが悪いか・転倒危険度のチェックをしてほしい（</a:t>
            </a:r>
            <a:r>
              <a:rPr kumimoji="1" lang="en-US" altLang="ja-JP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・骨粗しょう症・骨密度チェックと対策をしてほしい（</a:t>
            </a:r>
            <a:r>
              <a:rPr kumimoji="1" lang="en-US" altLang="ja-JP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・今回測定した項目以外にも、さらに色々な測定・気軽な健康チェックをしてほしい（</a:t>
            </a:r>
            <a:r>
              <a:rPr kumimoji="1" lang="en-US" altLang="ja-JP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509BA263-2BEA-5196-203C-EBC6FDE74D32}"/>
              </a:ext>
            </a:extLst>
          </p:cNvPr>
          <p:cNvSpPr/>
          <p:nvPr/>
        </p:nvSpPr>
        <p:spPr>
          <a:xfrm>
            <a:off x="6223000" y="1117600"/>
            <a:ext cx="5715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11C0C53C-8550-DE10-6F27-C3026873BFAC}"/>
              </a:ext>
            </a:extLst>
          </p:cNvPr>
          <p:cNvSpPr/>
          <p:nvPr/>
        </p:nvSpPr>
        <p:spPr>
          <a:xfrm>
            <a:off x="6426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C0E4D46-9585-60AF-E8F2-40C722587CC2}"/>
              </a:ext>
            </a:extLst>
          </p:cNvPr>
          <p:cNvSpPr txBox="1"/>
          <p:nvPr/>
        </p:nvSpPr>
        <p:spPr>
          <a:xfrm>
            <a:off x="6629400" y="1282700"/>
            <a:ext cx="5130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相談・感想・運営面に関する記載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8374588-6290-0853-6B8E-4582952E652F}"/>
              </a:ext>
            </a:extLst>
          </p:cNvPr>
          <p:cNvSpPr/>
          <p:nvPr/>
        </p:nvSpPr>
        <p:spPr>
          <a:xfrm>
            <a:off x="6426200" y="1727200"/>
            <a:ext cx="5308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CC19CCD-4169-E081-0335-84ED75E442ED}"/>
              </a:ext>
            </a:extLst>
          </p:cNvPr>
          <p:cNvSpPr txBox="1"/>
          <p:nvPr/>
        </p:nvSpPr>
        <p:spPr>
          <a:xfrm>
            <a:off x="6451600" y="1879600"/>
            <a:ext cx="5257800" cy="419602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・介護生活の相談、食事、家族が病院に入院した際の飲む薬について知りたい（</a:t>
            </a:r>
            <a:r>
              <a:rPr kumimoji="1" lang="en-US" altLang="ja-JP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・薬について（ジェネリックが効かない）（</a:t>
            </a:r>
            <a:r>
              <a:rPr kumimoji="1" lang="en-US" altLang="ja-JP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・こんな症状には何科に行ったらいいか、五十肩、リハビリへの取り組み方を知りたい（</a:t>
            </a:r>
            <a:r>
              <a:rPr kumimoji="1" lang="en-US" altLang="ja-JP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kumimoji="1" lang="ja-JP" altLang="en-US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・マンションで</a:t>
            </a:r>
            <a:r>
              <a:rPr kumimoji="1" lang="en-US" altLang="ja-JP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  <a:r>
              <a:rPr kumimoji="1" lang="ja-JP" altLang="en-US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人ほど入院した方がいて、とてもリハビリが良かったとのこと（</a:t>
            </a:r>
            <a:r>
              <a:rPr kumimoji="1" lang="en-US" altLang="ja-JP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・リハビリセンサーや測定が参考になりとても良かった、来年も元気でいられるアドバイスをお願いしたい（</a:t>
            </a:r>
            <a:r>
              <a:rPr kumimoji="1" lang="en-US" altLang="ja-JP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r>
            <a:r>
              <a:rPr kumimoji="1" lang="ja-JP" altLang="en-US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・記入用のバインダーがあると助かる（</a:t>
            </a:r>
            <a:r>
              <a:rPr kumimoji="1" lang="en-US" altLang="ja-JP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</a:t>
            </a:r>
            <a:r>
              <a:rPr kumimoji="1" lang="en-US" altLang="ja-JP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InBody</a:t>
            </a:r>
            <a:r>
              <a:rPr kumimoji="1" lang="ja-JP" altLang="en-US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で靴を脱ぐ際、靴入れと靴ベラがあると良かった（</a:t>
            </a:r>
            <a:r>
              <a:rPr kumimoji="1" lang="en-US" altLang="ja-JP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
・測定の案内（スタンプラリー）の順番をわかりやすくしてほしい（</a:t>
            </a:r>
            <a:r>
              <a:rPr kumimoji="1" lang="en-US" altLang="ja-JP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件）</a:t>
            </a:r>
          </a:p>
        </p:txBody>
      </p:sp>
    </p:spTree>
    <p:extLst>
      <p:ext uri="{BB962C8B-B14F-4D97-AF65-F5344CB8AC3E}">
        <p14:creationId xmlns:p14="http://schemas.microsoft.com/office/powerpoint/2010/main" val="3374742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B1E6AF0-10DB-3A93-3CF0-8E6A92C647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D34F28F8-8788-DB93-0DD4-A1F7DC908DB8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7A518E5A-ED45-16E8-59BD-98DC7D46D35F}"/>
              </a:ext>
            </a:extLst>
          </p:cNvPr>
          <p:cNvSpPr/>
          <p:nvPr/>
        </p:nvSpPr>
        <p:spPr>
          <a:xfrm>
            <a:off x="431800" y="342900"/>
            <a:ext cx="223520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629CC0B-DC52-BEF1-8A71-3B20607F01FA}"/>
              </a:ext>
            </a:extLst>
          </p:cNvPr>
          <p:cNvSpPr txBox="1"/>
          <p:nvPr/>
        </p:nvSpPr>
        <p:spPr>
          <a:xfrm>
            <a:off x="431800" y="381000"/>
            <a:ext cx="22352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スタッフアンケート①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198BE54-4364-729B-F9C3-5F7D591C8106}"/>
              </a:ext>
            </a:extLst>
          </p:cNvPr>
          <p:cNvSpPr txBox="1"/>
          <p:nvPr/>
        </p:nvSpPr>
        <p:spPr>
          <a:xfrm>
            <a:off x="2844800" y="317500"/>
            <a:ext cx="78740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① 今回のどーんと祭に参加して良かったですか？ ／ ② ①の理由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59F11E2C-F10B-CF01-F11E-7B9EA8A4EBE4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EF36CB1-39B9-663C-B1C2-4A9970B7D775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 / 12</a:t>
            </a:r>
            <a:endParaRPr kumimoji="1" lang="ja-JP" altLang="en-US" sz="1250" b="1">
              <a:solidFill>
                <a:srgbClr val="10B98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A3CF000A-F5A9-725B-0EF7-EACE3DB51796}"/>
              </a:ext>
            </a:extLst>
          </p:cNvPr>
          <p:cNvSpPr/>
          <p:nvPr/>
        </p:nvSpPr>
        <p:spPr>
          <a:xfrm>
            <a:off x="254000" y="1117600"/>
            <a:ext cx="5334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12C19513-1535-69E5-42D1-5B7DB74622E7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4FA6B10-FE5B-8FF8-5DD2-EF8529F2B46E}"/>
              </a:ext>
            </a:extLst>
          </p:cNvPr>
          <p:cNvSpPr txBox="1"/>
          <p:nvPr/>
        </p:nvSpPr>
        <p:spPr>
          <a:xfrm>
            <a:off x="660400" y="1282700"/>
            <a:ext cx="4749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① 参加して良かったですか？（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N=13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4E798AF-A066-190B-A8C6-7605FA7F48FB}"/>
              </a:ext>
            </a:extLst>
          </p:cNvPr>
          <p:cNvSpPr/>
          <p:nvPr/>
        </p:nvSpPr>
        <p:spPr>
          <a:xfrm>
            <a:off x="457200" y="1727200"/>
            <a:ext cx="4927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A5F359BE-ABC9-9FCC-9C51-063488CAAA2A}"/>
              </a:ext>
            </a:extLst>
          </p:cNvPr>
          <p:cNvSpPr/>
          <p:nvPr/>
        </p:nvSpPr>
        <p:spPr>
          <a:xfrm>
            <a:off x="1612900" y="1917700"/>
            <a:ext cx="2616200" cy="2616200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E1561762-1657-ACF3-4109-A26E79B3D30A}"/>
              </a:ext>
            </a:extLst>
          </p:cNvPr>
          <p:cNvSpPr/>
          <p:nvPr/>
        </p:nvSpPr>
        <p:spPr>
          <a:xfrm>
            <a:off x="2162302" y="2467102"/>
            <a:ext cx="1517396" cy="1517396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DF190D1-7E62-23E3-CF10-AC7A4816394A}"/>
              </a:ext>
            </a:extLst>
          </p:cNvPr>
          <p:cNvSpPr txBox="1"/>
          <p:nvPr/>
        </p:nvSpPr>
        <p:spPr>
          <a:xfrm>
            <a:off x="1968500" y="2946400"/>
            <a:ext cx="19050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はい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B72DDAA-DD0D-0627-ACB0-438724FC4640}"/>
              </a:ext>
            </a:extLst>
          </p:cNvPr>
          <p:cNvSpPr txBox="1"/>
          <p:nvPr/>
        </p:nvSpPr>
        <p:spPr>
          <a:xfrm>
            <a:off x="1968500" y="3251200"/>
            <a:ext cx="19050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100% (13</a:t>
            </a:r>
            <a:r>
              <a:rPr kumimoji="1" lang="ja-JP" altLang="en-US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9AAAB191-3C1C-EB2C-4343-8928611C0571}"/>
              </a:ext>
            </a:extLst>
          </p:cNvPr>
          <p:cNvSpPr/>
          <p:nvPr/>
        </p:nvSpPr>
        <p:spPr>
          <a:xfrm>
            <a:off x="584200" y="5041900"/>
            <a:ext cx="203200" cy="203200"/>
          </a:xfrm>
          <a:prstGeom prst="ellipse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B4D978F-0D4E-6924-86DD-687ECC8782A2}"/>
              </a:ext>
            </a:extLst>
          </p:cNvPr>
          <p:cNvSpPr txBox="1"/>
          <p:nvPr/>
        </p:nvSpPr>
        <p:spPr>
          <a:xfrm>
            <a:off x="889000" y="4978400"/>
            <a:ext cx="27051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はい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2B4AB9F-EE6C-EFF2-2A36-49586C9023FF}"/>
              </a:ext>
            </a:extLst>
          </p:cNvPr>
          <p:cNvSpPr txBox="1"/>
          <p:nvPr/>
        </p:nvSpPr>
        <p:spPr>
          <a:xfrm>
            <a:off x="3416300" y="4978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  <a:r>
              <a:rPr kumimoji="1" lang="ja-JP" altLang="en-US" sz="14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(100.0%)</a:t>
            </a:r>
            <a:endParaRPr kumimoji="1" lang="ja-JP" altLang="en-US" sz="1450" b="1">
              <a:solidFill>
                <a:srgbClr val="10B98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0FAE7A95-F561-63E3-F127-AD715AE7C1DC}"/>
              </a:ext>
            </a:extLst>
          </p:cNvPr>
          <p:cNvSpPr/>
          <p:nvPr/>
        </p:nvSpPr>
        <p:spPr>
          <a:xfrm>
            <a:off x="584200" y="5549900"/>
            <a:ext cx="203200" cy="203200"/>
          </a:xfrm>
          <a:prstGeom prst="ellipse">
            <a:avLst/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5002584-A17E-F101-484A-2F4E8A89F1A7}"/>
              </a:ext>
            </a:extLst>
          </p:cNvPr>
          <p:cNvSpPr txBox="1"/>
          <p:nvPr/>
        </p:nvSpPr>
        <p:spPr>
          <a:xfrm>
            <a:off x="889000" y="5486400"/>
            <a:ext cx="27051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いいえ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8C9F66E-4792-FCAB-CCD1-F6F97E2BEE1A}"/>
              </a:ext>
            </a:extLst>
          </p:cNvPr>
          <p:cNvSpPr txBox="1"/>
          <p:nvPr/>
        </p:nvSpPr>
        <p:spPr>
          <a:xfrm>
            <a:off x="3416300" y="5486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(0.0%)</a:t>
            </a:r>
            <a:endParaRPr kumimoji="1" lang="ja-JP" altLang="en-US" sz="1450" b="1">
              <a:solidFill>
                <a:srgbClr val="94A3B8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CD24CBDB-4BFA-F4C4-6BD0-81AD4459A7EA}"/>
              </a:ext>
            </a:extLst>
          </p:cNvPr>
          <p:cNvSpPr/>
          <p:nvPr/>
        </p:nvSpPr>
        <p:spPr>
          <a:xfrm>
            <a:off x="5791200" y="1117600"/>
            <a:ext cx="61468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E91BE875-2C22-E090-6BD1-D1FC23E525FB}"/>
              </a:ext>
            </a:extLst>
          </p:cNvPr>
          <p:cNvSpPr/>
          <p:nvPr/>
        </p:nvSpPr>
        <p:spPr>
          <a:xfrm>
            <a:off x="59944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C6F72DA-0EE4-6328-E738-C2E98DBD4215}"/>
              </a:ext>
            </a:extLst>
          </p:cNvPr>
          <p:cNvSpPr txBox="1"/>
          <p:nvPr/>
        </p:nvSpPr>
        <p:spPr>
          <a:xfrm>
            <a:off x="6197600" y="1282700"/>
            <a:ext cx="55626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② ①の理由を教えてください（自由記載の要約）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022A85AA-B57E-F47D-66B2-651102D59BF8}"/>
              </a:ext>
            </a:extLst>
          </p:cNvPr>
          <p:cNvSpPr/>
          <p:nvPr/>
        </p:nvSpPr>
        <p:spPr>
          <a:xfrm>
            <a:off x="5994400" y="1727200"/>
            <a:ext cx="57404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3DFDF427-9AAF-11C5-B240-C45990B4BBBE}"/>
              </a:ext>
            </a:extLst>
          </p:cNvPr>
          <p:cNvSpPr txBox="1"/>
          <p:nvPr/>
        </p:nvSpPr>
        <p:spPr>
          <a:xfrm>
            <a:off x="6019800" y="1879600"/>
            <a:ext cx="5689600" cy="359893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・地域住民の方と直接お話しし、当院や介護予防教室を</a:t>
            </a:r>
            <a:r>
              <a:rPr kumimoji="1" lang="en-US" altLang="ja-JP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PR</a:t>
            </a:r>
            <a:r>
              <a:rPr kumimoji="1" lang="ja-JP" altLang="en-US" sz="142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できたため。
・一般の方々の生活習慣や悩みをリアルに伺え、ご家族が悩まれていることに寄り添える病院だと伝えられたため。
・他部門メンバーと同じ目標に向かって一致団結し、普段できないようなコミュニケーションを取れたため。
・多職種連携ができた、多職種と楽しく地域社会に関われた、当院の結束力が感じられたため。
・たくさんの方が来場されやりがいを感じた、予防医療の大切さや病院アピールの改善点が分かったため。
・普段は病院内で働いているため、外で地域の人と関わる活動が新鮮で良い経験になったため。</a:t>
            </a:r>
          </a:p>
        </p:txBody>
      </p:sp>
    </p:spTree>
    <p:extLst>
      <p:ext uri="{BB962C8B-B14F-4D97-AF65-F5344CB8AC3E}">
        <p14:creationId xmlns:p14="http://schemas.microsoft.com/office/powerpoint/2010/main" val="4141244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6B9AF97-D4DC-E505-54D4-25E9401A24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7B42716A-B7DA-F1BA-0B62-CF6875AE71E9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4F69A3B-168C-2802-F963-F0FB32DF63F9}"/>
              </a:ext>
            </a:extLst>
          </p:cNvPr>
          <p:cNvSpPr/>
          <p:nvPr/>
        </p:nvSpPr>
        <p:spPr>
          <a:xfrm>
            <a:off x="431800" y="342900"/>
            <a:ext cx="223520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6D7B057-1812-DF74-DFDE-F3BA33B759BA}"/>
              </a:ext>
            </a:extLst>
          </p:cNvPr>
          <p:cNvSpPr txBox="1"/>
          <p:nvPr/>
        </p:nvSpPr>
        <p:spPr>
          <a:xfrm>
            <a:off x="431800" y="381000"/>
            <a:ext cx="22352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スタッフアンケート②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F004329-BE49-7275-FBB4-BFA381EA8DC2}"/>
              </a:ext>
            </a:extLst>
          </p:cNvPr>
          <p:cNvSpPr txBox="1"/>
          <p:nvPr/>
        </p:nvSpPr>
        <p:spPr>
          <a:xfrm>
            <a:off x="2844800" y="317500"/>
            <a:ext cx="7874000" cy="71814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③ 自部署の出展内容や役割は地域住民に貢献できましたか？ ／ ④ ③の理由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3B8DEC3-7E6D-59B0-D2AB-01BAFE4B716F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64D2997-0C06-5BEA-E5C9-65EADA0B913F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8 / 12</a:t>
            </a:r>
            <a:endParaRPr kumimoji="1" lang="ja-JP" altLang="en-US" sz="1250" b="1">
              <a:solidFill>
                <a:srgbClr val="10B98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4C0E0532-1DAF-C8AE-A768-8F6D25556E3C}"/>
              </a:ext>
            </a:extLst>
          </p:cNvPr>
          <p:cNvSpPr/>
          <p:nvPr/>
        </p:nvSpPr>
        <p:spPr>
          <a:xfrm>
            <a:off x="254000" y="1117600"/>
            <a:ext cx="5334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4EE710C7-1656-FDC7-1E01-FA5BAF8CCB4B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C8098BC-BD72-7C22-1F66-6900647A7869}"/>
              </a:ext>
            </a:extLst>
          </p:cNvPr>
          <p:cNvSpPr txBox="1"/>
          <p:nvPr/>
        </p:nvSpPr>
        <p:spPr>
          <a:xfrm>
            <a:off x="660400" y="1282700"/>
            <a:ext cx="4749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③ 地域住民に貢献できましたか？（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N=13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9D1597A-8136-4FE0-99A7-051E6FBC24CA}"/>
              </a:ext>
            </a:extLst>
          </p:cNvPr>
          <p:cNvSpPr/>
          <p:nvPr/>
        </p:nvSpPr>
        <p:spPr>
          <a:xfrm>
            <a:off x="457200" y="1727200"/>
            <a:ext cx="4927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部分円 12">
            <a:extLst>
              <a:ext uri="{FF2B5EF4-FFF2-40B4-BE49-F238E27FC236}">
                <a16:creationId xmlns:a16="http://schemas.microsoft.com/office/drawing/2014/main" id="{89FE39BA-A4D4-2CA8-B674-EAB71B5B29C3}"/>
              </a:ext>
            </a:extLst>
          </p:cNvPr>
          <p:cNvSpPr/>
          <p:nvPr/>
        </p:nvSpPr>
        <p:spPr>
          <a:xfrm>
            <a:off x="1612900" y="1917700"/>
            <a:ext cx="2616200" cy="2616200"/>
          </a:xfrm>
          <a:prstGeom prst="pie">
            <a:avLst>
              <a:gd name="adj1" fmla="val 16200000"/>
              <a:gd name="adj2" fmla="val 14536800"/>
            </a:avLst>
          </a:prstGeom>
          <a:solidFill>
            <a:srgbClr val="2563EB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部分円 13">
            <a:extLst>
              <a:ext uri="{FF2B5EF4-FFF2-40B4-BE49-F238E27FC236}">
                <a16:creationId xmlns:a16="http://schemas.microsoft.com/office/drawing/2014/main" id="{5A6D534C-C9E9-1D27-D51D-43763284A68F}"/>
              </a:ext>
            </a:extLst>
          </p:cNvPr>
          <p:cNvSpPr/>
          <p:nvPr/>
        </p:nvSpPr>
        <p:spPr>
          <a:xfrm>
            <a:off x="1612900" y="1917700"/>
            <a:ext cx="2616200" cy="2616200"/>
          </a:xfrm>
          <a:prstGeom prst="pie">
            <a:avLst>
              <a:gd name="adj1" fmla="val 14536800"/>
              <a:gd name="adj2" fmla="val 16200000"/>
            </a:avLst>
          </a:prstGeom>
          <a:solidFill>
            <a:srgbClr val="94A3B8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F493F432-2BAA-3584-69C2-FFC59CBE6135}"/>
              </a:ext>
            </a:extLst>
          </p:cNvPr>
          <p:cNvSpPr/>
          <p:nvPr/>
        </p:nvSpPr>
        <p:spPr>
          <a:xfrm>
            <a:off x="2162302" y="2467102"/>
            <a:ext cx="1517396" cy="1517396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50BC1BB-C8C6-DAA5-9D0B-54E5BDDEAAA9}"/>
              </a:ext>
            </a:extLst>
          </p:cNvPr>
          <p:cNvSpPr txBox="1"/>
          <p:nvPr/>
        </p:nvSpPr>
        <p:spPr>
          <a:xfrm>
            <a:off x="1968500" y="2946400"/>
            <a:ext cx="19050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はい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F92F147-0649-CE94-DF5D-1EF7F57DDEB6}"/>
              </a:ext>
            </a:extLst>
          </p:cNvPr>
          <p:cNvSpPr txBox="1"/>
          <p:nvPr/>
        </p:nvSpPr>
        <p:spPr>
          <a:xfrm>
            <a:off x="1968500" y="3251200"/>
            <a:ext cx="19050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92.3% (12</a:t>
            </a:r>
            <a:r>
              <a:rPr kumimoji="1" lang="ja-JP" altLang="en-US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E0E7D1BA-DFC2-5EB9-793E-066381564776}"/>
              </a:ext>
            </a:extLst>
          </p:cNvPr>
          <p:cNvSpPr/>
          <p:nvPr/>
        </p:nvSpPr>
        <p:spPr>
          <a:xfrm>
            <a:off x="584200" y="5041900"/>
            <a:ext cx="203200" cy="203200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CA9EB21-D60C-10D8-8D8E-9A96FA9EB595}"/>
              </a:ext>
            </a:extLst>
          </p:cNvPr>
          <p:cNvSpPr txBox="1"/>
          <p:nvPr/>
        </p:nvSpPr>
        <p:spPr>
          <a:xfrm>
            <a:off x="889000" y="4978400"/>
            <a:ext cx="27051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はい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BADDB4E-FF6A-74A0-6C88-9197DAC5184B}"/>
              </a:ext>
            </a:extLst>
          </p:cNvPr>
          <p:cNvSpPr txBox="1"/>
          <p:nvPr/>
        </p:nvSpPr>
        <p:spPr>
          <a:xfrm>
            <a:off x="3416300" y="4978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  <a:r>
              <a:rPr kumimoji="1" lang="ja-JP" altLang="en-US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(92.3%)</a:t>
            </a:r>
            <a:endParaRPr kumimoji="1" lang="ja-JP" altLang="en-US" sz="14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533569D2-8476-F7A5-90C4-438AD417A28A}"/>
              </a:ext>
            </a:extLst>
          </p:cNvPr>
          <p:cNvSpPr/>
          <p:nvPr/>
        </p:nvSpPr>
        <p:spPr>
          <a:xfrm>
            <a:off x="584200" y="5549900"/>
            <a:ext cx="203200" cy="203200"/>
          </a:xfrm>
          <a:prstGeom prst="ellipse">
            <a:avLst/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461C8BF-AE7F-15CD-EFC5-E99299ABDFC9}"/>
              </a:ext>
            </a:extLst>
          </p:cNvPr>
          <p:cNvSpPr txBox="1"/>
          <p:nvPr/>
        </p:nvSpPr>
        <p:spPr>
          <a:xfrm>
            <a:off x="889000" y="5486400"/>
            <a:ext cx="27051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いいえ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8A4CE7A-00E3-3BF4-3D0B-FC97F2161DB8}"/>
              </a:ext>
            </a:extLst>
          </p:cNvPr>
          <p:cNvSpPr txBox="1"/>
          <p:nvPr/>
        </p:nvSpPr>
        <p:spPr>
          <a:xfrm>
            <a:off x="3416300" y="5486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(7.7%)</a:t>
            </a:r>
            <a:endParaRPr kumimoji="1" lang="ja-JP" altLang="en-US" sz="1450" b="1">
              <a:solidFill>
                <a:srgbClr val="94A3B8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8C59EF01-F013-D013-D7D2-308EA68C0D7F}"/>
              </a:ext>
            </a:extLst>
          </p:cNvPr>
          <p:cNvSpPr/>
          <p:nvPr/>
        </p:nvSpPr>
        <p:spPr>
          <a:xfrm>
            <a:off x="5791200" y="1117600"/>
            <a:ext cx="61468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781F9D33-F429-DA5A-C16A-3150B4651AEC}"/>
              </a:ext>
            </a:extLst>
          </p:cNvPr>
          <p:cNvSpPr/>
          <p:nvPr/>
        </p:nvSpPr>
        <p:spPr>
          <a:xfrm>
            <a:off x="59944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1C52103-775A-158B-1A51-6E5489D2EAB9}"/>
              </a:ext>
            </a:extLst>
          </p:cNvPr>
          <p:cNvSpPr txBox="1"/>
          <p:nvPr/>
        </p:nvSpPr>
        <p:spPr>
          <a:xfrm>
            <a:off x="6197600" y="1282700"/>
            <a:ext cx="55626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④ ③の理由を教えてください（自由記載の要約）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441AD74B-23E9-813F-B557-A8F12022766A}"/>
              </a:ext>
            </a:extLst>
          </p:cNvPr>
          <p:cNvSpPr/>
          <p:nvPr/>
        </p:nvSpPr>
        <p:spPr>
          <a:xfrm>
            <a:off x="5994400" y="1727200"/>
            <a:ext cx="57404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D2CC7D9-D5FE-4FD0-A3EE-1F8FF1AC05E3}"/>
              </a:ext>
            </a:extLst>
          </p:cNvPr>
          <p:cNvSpPr txBox="1"/>
          <p:nvPr/>
        </p:nvSpPr>
        <p:spPr>
          <a:xfrm>
            <a:off x="6019800" y="1879600"/>
            <a:ext cx="5689600" cy="286334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【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「はい」と回答した理由（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名）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】
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・筋肉量測定（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InBody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）に興味を持たれた方が多く、測定結果をもとに運動指導やアドバイスができたため。
・自分の身体の状態を知る機会となり、専門職から様々なアドバイスを行えたため。
・限られた時間の中でできる限りの栄養アドバイスを行えたため。
・お薬カレンダーの無料配布を喜んでいた方がいたため。
・高齢者以外の層にも興味を持っていただける内容であり、近隣の医師会ブースと比較しても多くの住民が来場してくれたため。
・受付として待ち時間がかかることを事前に案内できたため。
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【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「いいえ」と回答した理由（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名）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】
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・担当テーマが「人生会議」であり、来場者が求めていた内容だったか判断が難しかったため。</a:t>
            </a:r>
          </a:p>
        </p:txBody>
      </p:sp>
    </p:spTree>
    <p:extLst>
      <p:ext uri="{BB962C8B-B14F-4D97-AF65-F5344CB8AC3E}">
        <p14:creationId xmlns:p14="http://schemas.microsoft.com/office/powerpoint/2010/main" val="168551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B5D537B-0689-FA52-DCD1-50305B7430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1A69A9F8-382D-40A6-9986-363DF10CE508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C57890A-C7F6-F5BD-E6BF-44396C82A354}"/>
              </a:ext>
            </a:extLst>
          </p:cNvPr>
          <p:cNvSpPr/>
          <p:nvPr/>
        </p:nvSpPr>
        <p:spPr>
          <a:xfrm>
            <a:off x="431800" y="342900"/>
            <a:ext cx="2235200" cy="457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B53CC17-B27F-C520-E8EC-8300B9ED2DD9}"/>
              </a:ext>
            </a:extLst>
          </p:cNvPr>
          <p:cNvSpPr txBox="1"/>
          <p:nvPr/>
        </p:nvSpPr>
        <p:spPr>
          <a:xfrm>
            <a:off x="431800" y="381000"/>
            <a:ext cx="22352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スタッフアンケート③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A0B4EE9-D69A-1263-C53C-8E0FBE54F9FE}"/>
              </a:ext>
            </a:extLst>
          </p:cNvPr>
          <p:cNvSpPr txBox="1"/>
          <p:nvPr/>
        </p:nvSpPr>
        <p:spPr>
          <a:xfrm>
            <a:off x="2844800" y="317500"/>
            <a:ext cx="7874000" cy="71814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⑤ 今回</a:t>
            </a:r>
            <a:r>
              <a:rPr kumimoji="1" lang="en-US" altLang="ja-JP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区画を借りて出展しましたが広さはいかがでしたか？ ／ ⑥ 問題点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A834D045-5E58-87E1-C5EA-5261E1269DDA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36A03DF-A2AF-F161-CD9B-19DE9DD91ED1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F59E0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9 / 12</a:t>
            </a:r>
            <a:endParaRPr kumimoji="1" lang="ja-JP" altLang="en-US" sz="1250" b="1">
              <a:solidFill>
                <a:srgbClr val="F59E0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2DB3D8FE-5920-781F-5902-DB3BD7CC4DDA}"/>
              </a:ext>
            </a:extLst>
          </p:cNvPr>
          <p:cNvSpPr/>
          <p:nvPr/>
        </p:nvSpPr>
        <p:spPr>
          <a:xfrm>
            <a:off x="254000" y="1117600"/>
            <a:ext cx="5334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CEDC52B-C29F-946E-FFE5-C6B99F3DD723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1F9D918-ACEC-0F26-FC06-FA0461371BC9}"/>
              </a:ext>
            </a:extLst>
          </p:cNvPr>
          <p:cNvSpPr txBox="1"/>
          <p:nvPr/>
        </p:nvSpPr>
        <p:spPr>
          <a:xfrm>
            <a:off x="660400" y="1282700"/>
            <a:ext cx="4749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⑤ 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区画の広さはいかがでしたか？（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N=13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17727D9-5BAF-1613-03DF-EDDFDCFB7B28}"/>
              </a:ext>
            </a:extLst>
          </p:cNvPr>
          <p:cNvSpPr/>
          <p:nvPr/>
        </p:nvSpPr>
        <p:spPr>
          <a:xfrm>
            <a:off x="457200" y="1727200"/>
            <a:ext cx="4927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部分円 12">
            <a:extLst>
              <a:ext uri="{FF2B5EF4-FFF2-40B4-BE49-F238E27FC236}">
                <a16:creationId xmlns:a16="http://schemas.microsoft.com/office/drawing/2014/main" id="{8BDC8039-1837-CE0C-1A1A-11179C6031E8}"/>
              </a:ext>
            </a:extLst>
          </p:cNvPr>
          <p:cNvSpPr/>
          <p:nvPr/>
        </p:nvSpPr>
        <p:spPr>
          <a:xfrm>
            <a:off x="1612900" y="1917700"/>
            <a:ext cx="2616200" cy="2616200"/>
          </a:xfrm>
          <a:prstGeom prst="pie">
            <a:avLst>
              <a:gd name="adj1" fmla="val 16200000"/>
              <a:gd name="adj2" fmla="val 7884000"/>
            </a:avLst>
          </a:prstGeom>
          <a:solidFill>
            <a:srgbClr val="2563EB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部分円 13">
            <a:extLst>
              <a:ext uri="{FF2B5EF4-FFF2-40B4-BE49-F238E27FC236}">
                <a16:creationId xmlns:a16="http://schemas.microsoft.com/office/drawing/2014/main" id="{A747DDF8-0CF8-F374-1284-332CB86DC9DF}"/>
              </a:ext>
            </a:extLst>
          </p:cNvPr>
          <p:cNvSpPr/>
          <p:nvPr/>
        </p:nvSpPr>
        <p:spPr>
          <a:xfrm>
            <a:off x="1612900" y="1917700"/>
            <a:ext cx="2616200" cy="2616200"/>
          </a:xfrm>
          <a:prstGeom prst="pie">
            <a:avLst>
              <a:gd name="adj1" fmla="val 7884000"/>
              <a:gd name="adj2" fmla="val 16200000"/>
            </a:avLst>
          </a:prstGeom>
          <a:solidFill>
            <a:srgbClr val="EF4444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2D1299D-5B2A-A804-FCEA-36F1F3E9CFC5}"/>
              </a:ext>
            </a:extLst>
          </p:cNvPr>
          <p:cNvSpPr/>
          <p:nvPr/>
        </p:nvSpPr>
        <p:spPr>
          <a:xfrm>
            <a:off x="2162302" y="2467102"/>
            <a:ext cx="1517396" cy="1517396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AFB64E3-5326-9E30-D45E-26E4BFB65384}"/>
              </a:ext>
            </a:extLst>
          </p:cNvPr>
          <p:cNvSpPr txBox="1"/>
          <p:nvPr/>
        </p:nvSpPr>
        <p:spPr>
          <a:xfrm>
            <a:off x="1968500" y="2946400"/>
            <a:ext cx="19050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問題あり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9C804F3-F2D5-673F-08D2-ED692F216F7B}"/>
              </a:ext>
            </a:extLst>
          </p:cNvPr>
          <p:cNvSpPr txBox="1"/>
          <p:nvPr/>
        </p:nvSpPr>
        <p:spPr>
          <a:xfrm>
            <a:off x="1968500" y="3251200"/>
            <a:ext cx="19050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38.5% (5</a:t>
            </a:r>
            <a:r>
              <a:rPr kumimoji="1" lang="ja-JP" altLang="en-US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997DB574-D86B-48AA-028C-570A46F40744}"/>
              </a:ext>
            </a:extLst>
          </p:cNvPr>
          <p:cNvSpPr/>
          <p:nvPr/>
        </p:nvSpPr>
        <p:spPr>
          <a:xfrm>
            <a:off x="584200" y="5041900"/>
            <a:ext cx="203200" cy="203200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870F787-1736-0075-EE29-CBBE48BE44CA}"/>
              </a:ext>
            </a:extLst>
          </p:cNvPr>
          <p:cNvSpPr txBox="1"/>
          <p:nvPr/>
        </p:nvSpPr>
        <p:spPr>
          <a:xfrm>
            <a:off x="889000" y="4978400"/>
            <a:ext cx="27051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問題なし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9DE16B1-973D-765C-6199-2F98DC3051C7}"/>
              </a:ext>
            </a:extLst>
          </p:cNvPr>
          <p:cNvSpPr txBox="1"/>
          <p:nvPr/>
        </p:nvSpPr>
        <p:spPr>
          <a:xfrm>
            <a:off x="3416300" y="4978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8</a:t>
            </a:r>
            <a:r>
              <a:rPr kumimoji="1" lang="ja-JP" altLang="en-US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(61.5%)</a:t>
            </a:r>
            <a:endParaRPr kumimoji="1" lang="ja-JP" altLang="en-US" sz="14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3944BDE2-CB70-22D1-85F3-4D39374BB60F}"/>
              </a:ext>
            </a:extLst>
          </p:cNvPr>
          <p:cNvSpPr/>
          <p:nvPr/>
        </p:nvSpPr>
        <p:spPr>
          <a:xfrm>
            <a:off x="584200" y="5549900"/>
            <a:ext cx="203200" cy="203200"/>
          </a:xfrm>
          <a:prstGeom prst="ellipse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439E4BB-E12F-EAF0-BE2D-CADA29C2AEA7}"/>
              </a:ext>
            </a:extLst>
          </p:cNvPr>
          <p:cNvSpPr txBox="1"/>
          <p:nvPr/>
        </p:nvSpPr>
        <p:spPr>
          <a:xfrm>
            <a:off x="889000" y="5486400"/>
            <a:ext cx="27051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問題あり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998CBC5-CEB4-644A-73A3-4CF8744C0794}"/>
              </a:ext>
            </a:extLst>
          </p:cNvPr>
          <p:cNvSpPr txBox="1"/>
          <p:nvPr/>
        </p:nvSpPr>
        <p:spPr>
          <a:xfrm>
            <a:off x="3416300" y="5486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EF444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  <a:r>
              <a:rPr kumimoji="1" lang="ja-JP" altLang="en-US" sz="1450" b="1">
                <a:solidFill>
                  <a:srgbClr val="EF444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EF444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(38.5%)</a:t>
            </a:r>
            <a:endParaRPr kumimoji="1" lang="ja-JP" altLang="en-US" sz="1450" b="1">
              <a:solidFill>
                <a:srgbClr val="EF444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68D81C92-A766-B7D3-2D99-505E88C5CBEF}"/>
              </a:ext>
            </a:extLst>
          </p:cNvPr>
          <p:cNvSpPr/>
          <p:nvPr/>
        </p:nvSpPr>
        <p:spPr>
          <a:xfrm>
            <a:off x="5791200" y="1117600"/>
            <a:ext cx="61468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E379CB5F-569A-469B-09DF-0CD99F1B302E}"/>
              </a:ext>
            </a:extLst>
          </p:cNvPr>
          <p:cNvSpPr/>
          <p:nvPr/>
        </p:nvSpPr>
        <p:spPr>
          <a:xfrm>
            <a:off x="59944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274F860-3C97-16F3-1ABA-181BF9AA2EEC}"/>
              </a:ext>
            </a:extLst>
          </p:cNvPr>
          <p:cNvSpPr txBox="1"/>
          <p:nvPr/>
        </p:nvSpPr>
        <p:spPr>
          <a:xfrm>
            <a:off x="6197600" y="1282700"/>
            <a:ext cx="55626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⑥「問題あり」と答えた方の具体的な問題点（要約）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D2FD96A3-6E60-3836-9672-88A5BCE4EA67}"/>
              </a:ext>
            </a:extLst>
          </p:cNvPr>
          <p:cNvSpPr/>
          <p:nvPr/>
        </p:nvSpPr>
        <p:spPr>
          <a:xfrm>
            <a:off x="5994400" y="1727200"/>
            <a:ext cx="57404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7A5D175-CDED-ACA4-1A78-E6CAEEEA5051}"/>
              </a:ext>
            </a:extLst>
          </p:cNvPr>
          <p:cNvSpPr txBox="1"/>
          <p:nvPr/>
        </p:nvSpPr>
        <p:spPr>
          <a:xfrm>
            <a:off x="6019800" y="1981200"/>
            <a:ext cx="5689600" cy="241091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5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・常に混雑していたため狭かった。
・時間帯にもよるが、お待ちの方々が座れず、外出をお勧めして対応した。
・満席の状態が続くことがあり、移動時に狭そうな様子が見受けられた。
・</a:t>
            </a:r>
            <a:r>
              <a:rPr kumimoji="1" lang="en-US" altLang="ja-JP" sz="15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InBody</a:t>
            </a:r>
            <a:r>
              <a:rPr kumimoji="1" lang="ja-JP" altLang="en-US" sz="15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の測定スペースが狭かった。
・同規模で行うならそのままでもよいが、</a:t>
            </a:r>
            <a:r>
              <a:rPr kumimoji="1" lang="en-US" altLang="ja-JP" sz="15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InBody</a:t>
            </a:r>
            <a:r>
              <a:rPr kumimoji="1" lang="ja-JP" altLang="en-US" sz="15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を増やすなど規模を広げるのであれば、もう半テント（</a:t>
            </a:r>
            <a:r>
              <a:rPr kumimoji="1" lang="en-US" altLang="ja-JP" sz="15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r>
            <a:r>
              <a:rPr kumimoji="1" lang="ja-JP" altLang="en-US" sz="150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区画）必要と感じた。</a:t>
            </a:r>
          </a:p>
        </p:txBody>
      </p:sp>
    </p:spTree>
    <p:extLst>
      <p:ext uri="{BB962C8B-B14F-4D97-AF65-F5344CB8AC3E}">
        <p14:creationId xmlns:p14="http://schemas.microsoft.com/office/powerpoint/2010/main" val="3459230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221BFC1-024D-823D-F47C-965BDE20E8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A5805800-5976-FC70-7033-F5078F0B613C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BFF4CC78-7E42-267A-5F39-F7798BF31EB9}"/>
              </a:ext>
            </a:extLst>
          </p:cNvPr>
          <p:cNvSpPr/>
          <p:nvPr/>
        </p:nvSpPr>
        <p:spPr>
          <a:xfrm>
            <a:off x="431800" y="342900"/>
            <a:ext cx="2235200" cy="457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F4CAA68-7F55-291A-A7DA-3D93D7ACBF0B}"/>
              </a:ext>
            </a:extLst>
          </p:cNvPr>
          <p:cNvSpPr txBox="1"/>
          <p:nvPr/>
        </p:nvSpPr>
        <p:spPr>
          <a:xfrm>
            <a:off x="431800" y="381000"/>
            <a:ext cx="22352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スタッフアンケート④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553C748-8944-3798-55D8-894FF67466CE}"/>
              </a:ext>
            </a:extLst>
          </p:cNvPr>
          <p:cNvSpPr txBox="1"/>
          <p:nvPr/>
        </p:nvSpPr>
        <p:spPr>
          <a:xfrm>
            <a:off x="2844800" y="317500"/>
            <a:ext cx="78740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⑦ 今回の人員配置（部署参加人数）は適切でしたか？ ／ ⑧ 問題点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BB0674F9-2421-8E49-D429-876FDD804603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7F6A4C4-251B-EC55-1AEF-853B985A809D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EF444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 / 12</a:t>
            </a:r>
            <a:endParaRPr kumimoji="1" lang="ja-JP" altLang="en-US" sz="1250" b="1">
              <a:solidFill>
                <a:srgbClr val="EF444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5EB43997-B8EA-9C49-5025-90A42B466A2E}"/>
              </a:ext>
            </a:extLst>
          </p:cNvPr>
          <p:cNvSpPr/>
          <p:nvPr/>
        </p:nvSpPr>
        <p:spPr>
          <a:xfrm>
            <a:off x="254000" y="1117600"/>
            <a:ext cx="5334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DD944E2D-CA3C-CCED-E46E-F3F8AB0C1575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34B3EB4-86CE-DC45-9E16-98E67E269722}"/>
              </a:ext>
            </a:extLst>
          </p:cNvPr>
          <p:cNvSpPr txBox="1"/>
          <p:nvPr/>
        </p:nvSpPr>
        <p:spPr>
          <a:xfrm>
            <a:off x="660400" y="1282700"/>
            <a:ext cx="4749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⑦ 人員配置は適切でしたか？（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N=13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E4F9FC7-D67F-77ED-46DD-35460773FEF4}"/>
              </a:ext>
            </a:extLst>
          </p:cNvPr>
          <p:cNvSpPr/>
          <p:nvPr/>
        </p:nvSpPr>
        <p:spPr>
          <a:xfrm>
            <a:off x="457200" y="1727200"/>
            <a:ext cx="4927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部分円 12">
            <a:extLst>
              <a:ext uri="{FF2B5EF4-FFF2-40B4-BE49-F238E27FC236}">
                <a16:creationId xmlns:a16="http://schemas.microsoft.com/office/drawing/2014/main" id="{A1F89B1D-63DB-04B9-F0F4-876934D882CC}"/>
              </a:ext>
            </a:extLst>
          </p:cNvPr>
          <p:cNvSpPr/>
          <p:nvPr/>
        </p:nvSpPr>
        <p:spPr>
          <a:xfrm>
            <a:off x="1612900" y="1917700"/>
            <a:ext cx="2616200" cy="2616200"/>
          </a:xfrm>
          <a:prstGeom prst="pie">
            <a:avLst>
              <a:gd name="adj1" fmla="val 16200000"/>
              <a:gd name="adj2" fmla="val 11210400"/>
            </a:avLst>
          </a:prstGeom>
          <a:solidFill>
            <a:srgbClr val="EF4444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部分円 13">
            <a:extLst>
              <a:ext uri="{FF2B5EF4-FFF2-40B4-BE49-F238E27FC236}">
                <a16:creationId xmlns:a16="http://schemas.microsoft.com/office/drawing/2014/main" id="{9DA7F4CC-1CAC-2AA7-F63F-C45D55E79EF6}"/>
              </a:ext>
            </a:extLst>
          </p:cNvPr>
          <p:cNvSpPr/>
          <p:nvPr/>
        </p:nvSpPr>
        <p:spPr>
          <a:xfrm>
            <a:off x="1612900" y="1917700"/>
            <a:ext cx="2616200" cy="2616200"/>
          </a:xfrm>
          <a:prstGeom prst="pie">
            <a:avLst>
              <a:gd name="adj1" fmla="val 11210400"/>
              <a:gd name="adj2" fmla="val 16200000"/>
            </a:avLst>
          </a:prstGeom>
          <a:solidFill>
            <a:srgbClr val="2563EB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2D46D9D6-900B-4FDA-6098-DDACB1F0DA74}"/>
              </a:ext>
            </a:extLst>
          </p:cNvPr>
          <p:cNvSpPr/>
          <p:nvPr/>
        </p:nvSpPr>
        <p:spPr>
          <a:xfrm>
            <a:off x="2162302" y="2467102"/>
            <a:ext cx="1517396" cy="1517396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03D4A8D-AF36-2390-7B28-D584B2F194A6}"/>
              </a:ext>
            </a:extLst>
          </p:cNvPr>
          <p:cNvSpPr txBox="1"/>
          <p:nvPr/>
        </p:nvSpPr>
        <p:spPr>
          <a:xfrm>
            <a:off x="1968500" y="2946400"/>
            <a:ext cx="19050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問題あり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8D1F032-C080-6371-600C-96196E266B6B}"/>
              </a:ext>
            </a:extLst>
          </p:cNvPr>
          <p:cNvSpPr txBox="1"/>
          <p:nvPr/>
        </p:nvSpPr>
        <p:spPr>
          <a:xfrm>
            <a:off x="1968500" y="3251200"/>
            <a:ext cx="19050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76.9% (10</a:t>
            </a:r>
            <a:r>
              <a:rPr kumimoji="1" lang="ja-JP" altLang="en-US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360DF903-B66F-28C5-9E86-B3A8D3B2F3CD}"/>
              </a:ext>
            </a:extLst>
          </p:cNvPr>
          <p:cNvSpPr/>
          <p:nvPr/>
        </p:nvSpPr>
        <p:spPr>
          <a:xfrm>
            <a:off x="584200" y="5041900"/>
            <a:ext cx="203200" cy="203200"/>
          </a:xfrm>
          <a:prstGeom prst="ellipse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5FD0CBC-D82B-76BC-C202-4F9641E94903}"/>
              </a:ext>
            </a:extLst>
          </p:cNvPr>
          <p:cNvSpPr txBox="1"/>
          <p:nvPr/>
        </p:nvSpPr>
        <p:spPr>
          <a:xfrm>
            <a:off x="889000" y="4978400"/>
            <a:ext cx="27051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問題あり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D6D511E-874A-B1A3-9E68-1951B2AFEA82}"/>
              </a:ext>
            </a:extLst>
          </p:cNvPr>
          <p:cNvSpPr txBox="1"/>
          <p:nvPr/>
        </p:nvSpPr>
        <p:spPr>
          <a:xfrm>
            <a:off x="3416300" y="4978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EF444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</a:t>
            </a:r>
            <a:r>
              <a:rPr kumimoji="1" lang="ja-JP" altLang="en-US" sz="1450" b="1">
                <a:solidFill>
                  <a:srgbClr val="EF444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EF444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(76.9%)</a:t>
            </a:r>
            <a:endParaRPr kumimoji="1" lang="ja-JP" altLang="en-US" sz="1450" b="1">
              <a:solidFill>
                <a:srgbClr val="EF444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436C7DFC-67A3-381F-6886-700FC433B843}"/>
              </a:ext>
            </a:extLst>
          </p:cNvPr>
          <p:cNvSpPr/>
          <p:nvPr/>
        </p:nvSpPr>
        <p:spPr>
          <a:xfrm>
            <a:off x="584200" y="5549900"/>
            <a:ext cx="203200" cy="203200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4B791C3-A161-DB68-95DC-88F3DFFEAFC1}"/>
              </a:ext>
            </a:extLst>
          </p:cNvPr>
          <p:cNvSpPr txBox="1"/>
          <p:nvPr/>
        </p:nvSpPr>
        <p:spPr>
          <a:xfrm>
            <a:off x="889000" y="5486400"/>
            <a:ext cx="27051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問題なし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F7A68E0-1996-D509-69D6-1A53D921466B}"/>
              </a:ext>
            </a:extLst>
          </p:cNvPr>
          <p:cNvSpPr txBox="1"/>
          <p:nvPr/>
        </p:nvSpPr>
        <p:spPr>
          <a:xfrm>
            <a:off x="3416300" y="5486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kumimoji="1" lang="ja-JP" altLang="en-US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(23.1%)</a:t>
            </a:r>
            <a:endParaRPr kumimoji="1" lang="ja-JP" altLang="en-US" sz="14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01C01BFB-FD7E-19EF-7D67-9D8169FDE7D3}"/>
              </a:ext>
            </a:extLst>
          </p:cNvPr>
          <p:cNvSpPr/>
          <p:nvPr/>
        </p:nvSpPr>
        <p:spPr>
          <a:xfrm>
            <a:off x="5791200" y="1117600"/>
            <a:ext cx="61468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44925749-7D11-6E41-CE28-59CA9B116AF4}"/>
              </a:ext>
            </a:extLst>
          </p:cNvPr>
          <p:cNvSpPr/>
          <p:nvPr/>
        </p:nvSpPr>
        <p:spPr>
          <a:xfrm>
            <a:off x="59944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28D5499-4589-D582-87B8-98C6D8871656}"/>
              </a:ext>
            </a:extLst>
          </p:cNvPr>
          <p:cNvSpPr txBox="1"/>
          <p:nvPr/>
        </p:nvSpPr>
        <p:spPr>
          <a:xfrm>
            <a:off x="6197600" y="1282700"/>
            <a:ext cx="55626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⑧「問題あり」と答えた方の具体的な問題点（要約）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52E5FE59-A4F3-B524-C30B-5068C4CD3FC3}"/>
              </a:ext>
            </a:extLst>
          </p:cNvPr>
          <p:cNvSpPr/>
          <p:nvPr/>
        </p:nvSpPr>
        <p:spPr>
          <a:xfrm>
            <a:off x="5994400" y="1727200"/>
            <a:ext cx="57404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EC92434-F811-B366-4BC2-AB904B8814E6}"/>
              </a:ext>
            </a:extLst>
          </p:cNvPr>
          <p:cNvSpPr txBox="1"/>
          <p:nvPr/>
        </p:nvSpPr>
        <p:spPr>
          <a:xfrm>
            <a:off x="6019800" y="1905000"/>
            <a:ext cx="5689600" cy="322652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・来場者が多く、休憩時間がほとんど取れなかった（長くても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10〜15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分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×2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回程度）。
・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人が休憩に入ると残りの人数で回すのが大変だったため、リハ・測定スタッフや看護スタッフをあと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1〜3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名多く配置してほしい。
・並んでいる方や待っている方を公平に案内する「誘導係（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名程度）」が必要だった。
・全体を把握・調整する「全体統括」の役割が必要だった。
・事務スタッフがもう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名いると良いと感じた。
・</a:t>
            </a:r>
            <a:r>
              <a:rPr kumimoji="1" lang="en-US" altLang="ja-JP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4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日間連続の出勤は負担が大きかった。</a:t>
            </a:r>
          </a:p>
        </p:txBody>
      </p:sp>
    </p:spTree>
    <p:extLst>
      <p:ext uri="{BB962C8B-B14F-4D97-AF65-F5344CB8AC3E}">
        <p14:creationId xmlns:p14="http://schemas.microsoft.com/office/powerpoint/2010/main" val="2013550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30DA6E8-C0AE-C74C-EF18-83070E3BFC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207E9639-3293-C114-E96A-F7C01D2AC983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367CCC14-4C6E-2078-360A-F78C4856FCAC}"/>
              </a:ext>
            </a:extLst>
          </p:cNvPr>
          <p:cNvSpPr/>
          <p:nvPr/>
        </p:nvSpPr>
        <p:spPr>
          <a:xfrm>
            <a:off x="431800" y="342900"/>
            <a:ext cx="223520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41BC006-68DB-FD73-721E-346EA98086EE}"/>
              </a:ext>
            </a:extLst>
          </p:cNvPr>
          <p:cNvSpPr txBox="1"/>
          <p:nvPr/>
        </p:nvSpPr>
        <p:spPr>
          <a:xfrm>
            <a:off x="431800" y="381000"/>
            <a:ext cx="22352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スタッフアンケート⑤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8FDCED5-CCFB-5476-013A-58B2D7BAEA29}"/>
              </a:ext>
            </a:extLst>
          </p:cNvPr>
          <p:cNvSpPr txBox="1"/>
          <p:nvPr/>
        </p:nvSpPr>
        <p:spPr>
          <a:xfrm>
            <a:off x="2844800" y="317500"/>
            <a:ext cx="78740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⑨ 来年も自部署が参加する必要性はあると考えますか？ ／ ⑩ ⑨の理由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64B33F91-7829-9DC0-C169-52043114F2B0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E756CA2-6B3A-723C-966E-90EEF57158F8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 / 12</a:t>
            </a:r>
            <a:endParaRPr kumimoji="1" lang="ja-JP" altLang="en-US" sz="1250" b="1">
              <a:solidFill>
                <a:srgbClr val="10B98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02CB9914-67F7-86BD-0323-12BBE61D55A5}"/>
              </a:ext>
            </a:extLst>
          </p:cNvPr>
          <p:cNvSpPr/>
          <p:nvPr/>
        </p:nvSpPr>
        <p:spPr>
          <a:xfrm>
            <a:off x="254000" y="1117600"/>
            <a:ext cx="5334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0D80B24-BF3C-F1CC-3DCD-650A127CB035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6D0B8A3-8204-DE40-EC70-A158A18F6C1D}"/>
              </a:ext>
            </a:extLst>
          </p:cNvPr>
          <p:cNvSpPr txBox="1"/>
          <p:nvPr/>
        </p:nvSpPr>
        <p:spPr>
          <a:xfrm>
            <a:off x="660400" y="1282700"/>
            <a:ext cx="4749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⑨ 来年も参加する必要性はありますか？（</a:t>
            </a:r>
            <a:r>
              <a:rPr kumimoji="1" lang="en-US" altLang="ja-JP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N=13</a:t>
            </a:r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96163CF-5A3A-065B-9939-744BC2C8506A}"/>
              </a:ext>
            </a:extLst>
          </p:cNvPr>
          <p:cNvSpPr/>
          <p:nvPr/>
        </p:nvSpPr>
        <p:spPr>
          <a:xfrm>
            <a:off x="457200" y="1727200"/>
            <a:ext cx="4927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部分円 12">
            <a:extLst>
              <a:ext uri="{FF2B5EF4-FFF2-40B4-BE49-F238E27FC236}">
                <a16:creationId xmlns:a16="http://schemas.microsoft.com/office/drawing/2014/main" id="{D111C61B-DB15-5D26-6380-7AF65E935826}"/>
              </a:ext>
            </a:extLst>
          </p:cNvPr>
          <p:cNvSpPr/>
          <p:nvPr/>
        </p:nvSpPr>
        <p:spPr>
          <a:xfrm>
            <a:off x="1612900" y="1917700"/>
            <a:ext cx="2616200" cy="2616200"/>
          </a:xfrm>
          <a:prstGeom prst="pie">
            <a:avLst>
              <a:gd name="adj1" fmla="val 16200000"/>
              <a:gd name="adj2" fmla="val 12873600"/>
            </a:avLst>
          </a:prstGeom>
          <a:solidFill>
            <a:srgbClr val="10B981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部分円 13">
            <a:extLst>
              <a:ext uri="{FF2B5EF4-FFF2-40B4-BE49-F238E27FC236}">
                <a16:creationId xmlns:a16="http://schemas.microsoft.com/office/drawing/2014/main" id="{391A7FAB-728B-4CBA-208C-1F9FCAFEBF85}"/>
              </a:ext>
            </a:extLst>
          </p:cNvPr>
          <p:cNvSpPr/>
          <p:nvPr/>
        </p:nvSpPr>
        <p:spPr>
          <a:xfrm>
            <a:off x="1612900" y="1917700"/>
            <a:ext cx="2616200" cy="2616200"/>
          </a:xfrm>
          <a:prstGeom prst="pie">
            <a:avLst>
              <a:gd name="adj1" fmla="val 12873600"/>
              <a:gd name="adj2" fmla="val 16200000"/>
            </a:avLst>
          </a:prstGeom>
          <a:solidFill>
            <a:srgbClr val="94A3B8"/>
          </a:solidFill>
          <a:ln w="317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913A755C-B8C7-D68E-496F-5B4B2463BF9E}"/>
              </a:ext>
            </a:extLst>
          </p:cNvPr>
          <p:cNvSpPr/>
          <p:nvPr/>
        </p:nvSpPr>
        <p:spPr>
          <a:xfrm>
            <a:off x="2162302" y="2467102"/>
            <a:ext cx="1517396" cy="1517396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E5529CB-5FCF-0F54-CAEC-00EBA1E80F9C}"/>
              </a:ext>
            </a:extLst>
          </p:cNvPr>
          <p:cNvSpPr txBox="1"/>
          <p:nvPr/>
        </p:nvSpPr>
        <p:spPr>
          <a:xfrm>
            <a:off x="1968500" y="2946400"/>
            <a:ext cx="19050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はい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0587CE4-8286-47A7-943B-7139DB6111D8}"/>
              </a:ext>
            </a:extLst>
          </p:cNvPr>
          <p:cNvSpPr txBox="1"/>
          <p:nvPr/>
        </p:nvSpPr>
        <p:spPr>
          <a:xfrm>
            <a:off x="1968500" y="3251200"/>
            <a:ext cx="19050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84.6% (11</a:t>
            </a:r>
            <a:r>
              <a:rPr kumimoji="1" lang="ja-JP" altLang="en-US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  <a:r>
              <a:rPr kumimoji="1" lang="en-US" altLang="ja-JP" sz="1250" b="1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50" b="1">
              <a:solidFill>
                <a:srgbClr val="64748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A07FB04-4C2C-5A45-319C-2E0AA4EB4993}"/>
              </a:ext>
            </a:extLst>
          </p:cNvPr>
          <p:cNvSpPr/>
          <p:nvPr/>
        </p:nvSpPr>
        <p:spPr>
          <a:xfrm>
            <a:off x="584200" y="5041900"/>
            <a:ext cx="203200" cy="203200"/>
          </a:xfrm>
          <a:prstGeom prst="ellipse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3B13B7A-FAAC-ABA5-ACB0-50A9CFE0DE74}"/>
              </a:ext>
            </a:extLst>
          </p:cNvPr>
          <p:cNvSpPr txBox="1"/>
          <p:nvPr/>
        </p:nvSpPr>
        <p:spPr>
          <a:xfrm>
            <a:off x="889000" y="4978400"/>
            <a:ext cx="27051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はい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F545F9C-4783-97EA-6BC3-5D572EB08F7B}"/>
              </a:ext>
            </a:extLst>
          </p:cNvPr>
          <p:cNvSpPr txBox="1"/>
          <p:nvPr/>
        </p:nvSpPr>
        <p:spPr>
          <a:xfrm>
            <a:off x="3416300" y="4978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  <a:r>
              <a:rPr kumimoji="1" lang="ja-JP" altLang="en-US" sz="14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10B98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(84.6%)</a:t>
            </a:r>
            <a:endParaRPr kumimoji="1" lang="ja-JP" altLang="en-US" sz="1450" b="1">
              <a:solidFill>
                <a:srgbClr val="10B98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57B23715-C539-8AC2-6B7D-AF4C1EBA31C6}"/>
              </a:ext>
            </a:extLst>
          </p:cNvPr>
          <p:cNvSpPr/>
          <p:nvPr/>
        </p:nvSpPr>
        <p:spPr>
          <a:xfrm>
            <a:off x="584200" y="5549900"/>
            <a:ext cx="203200" cy="203200"/>
          </a:xfrm>
          <a:prstGeom prst="ellipse">
            <a:avLst/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71AAB9F-6722-7B68-0407-A0BFCCFA0D8C}"/>
              </a:ext>
            </a:extLst>
          </p:cNvPr>
          <p:cNvSpPr txBox="1"/>
          <p:nvPr/>
        </p:nvSpPr>
        <p:spPr>
          <a:xfrm>
            <a:off x="889000" y="5486400"/>
            <a:ext cx="27051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4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いいえ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188D896-BADB-6745-0C1A-7BF0B0C800A6}"/>
              </a:ext>
            </a:extLst>
          </p:cNvPr>
          <p:cNvSpPr txBox="1"/>
          <p:nvPr/>
        </p:nvSpPr>
        <p:spPr>
          <a:xfrm>
            <a:off x="3416300" y="5486400"/>
            <a:ext cx="18415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 </a:t>
            </a:r>
            <a:r>
              <a:rPr kumimoji="1" lang="en-US" altLang="ja-JP" sz="1450" b="1">
                <a:solidFill>
                  <a:srgbClr val="94A3B8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(15.4%)</a:t>
            </a:r>
            <a:endParaRPr kumimoji="1" lang="ja-JP" altLang="en-US" sz="1450" b="1">
              <a:solidFill>
                <a:srgbClr val="94A3B8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69242FBB-5BAB-BD03-B89C-8809D3A6F183}"/>
              </a:ext>
            </a:extLst>
          </p:cNvPr>
          <p:cNvSpPr/>
          <p:nvPr/>
        </p:nvSpPr>
        <p:spPr>
          <a:xfrm>
            <a:off x="5791200" y="1117600"/>
            <a:ext cx="61468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03033149-E8E2-4560-F3B6-87CC2C589243}"/>
              </a:ext>
            </a:extLst>
          </p:cNvPr>
          <p:cNvSpPr/>
          <p:nvPr/>
        </p:nvSpPr>
        <p:spPr>
          <a:xfrm>
            <a:off x="59944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80EA7E4-3AF4-395B-FB7A-AF2D7BD7F27E}"/>
              </a:ext>
            </a:extLst>
          </p:cNvPr>
          <p:cNvSpPr txBox="1"/>
          <p:nvPr/>
        </p:nvSpPr>
        <p:spPr>
          <a:xfrm>
            <a:off x="6197600" y="1282700"/>
            <a:ext cx="55626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⑩ ⑨の理由を教えてください（自由記載の要約）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06300DA6-4DB9-1227-FBCB-67D8D97C3031}"/>
              </a:ext>
            </a:extLst>
          </p:cNvPr>
          <p:cNvSpPr/>
          <p:nvPr/>
        </p:nvSpPr>
        <p:spPr>
          <a:xfrm>
            <a:off x="5994400" y="1727200"/>
            <a:ext cx="57404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E15F128-1A6A-CE4F-64EC-5F6E383113AB}"/>
              </a:ext>
            </a:extLst>
          </p:cNvPr>
          <p:cNvSpPr txBox="1"/>
          <p:nvPr/>
        </p:nvSpPr>
        <p:spPr>
          <a:xfrm>
            <a:off x="6019800" y="1854200"/>
            <a:ext cx="5689600" cy="2803332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en-US" altLang="ja-JP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【</a:t>
            </a:r>
            <a:r>
              <a:rPr kumimoji="1" lang="ja-JP" altLang="en-US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「はい」と回答した理由（</a:t>
            </a:r>
            <a:r>
              <a:rPr kumimoji="1" lang="en-US" altLang="ja-JP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  <a:r>
              <a:rPr kumimoji="1" lang="ja-JP" altLang="en-US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名）</a:t>
            </a:r>
            <a:r>
              <a:rPr kumimoji="1" lang="en-US" altLang="ja-JP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】
</a:t>
            </a:r>
            <a:r>
              <a:rPr kumimoji="1" lang="ja-JP" altLang="en-US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・まだまだ当院の認知度が低いことが分かり、病院を宣伝する良い機会になるため。
・</a:t>
            </a:r>
            <a:r>
              <a:rPr kumimoji="1" lang="en-US" altLang="ja-JP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InBody</a:t>
            </a:r>
            <a:r>
              <a:rPr kumimoji="1" lang="ja-JP" altLang="en-US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測定が大変好評であり、健康に対する地域の皆様の関心が高いため。
・栄養相談の需要が想像以上に高いと分かったため。
・血管年齢測定に加えてその他の健康相談をされる方も複数おり、看護師として生活アドバイスを行う必要があるため。
・多職種で関わることで一致団結感が生まれるため。
・病院として出展するなら全部署が参加した方が良いと感じるため（少人数部署は</a:t>
            </a:r>
            <a:r>
              <a:rPr kumimoji="1" lang="en-US" altLang="ja-JP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日間のうち</a:t>
            </a:r>
            <a:r>
              <a:rPr kumimoji="1" lang="en-US" altLang="ja-JP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日参加や相談がある時のみの対応でもよい）。
</a:t>
            </a:r>
            <a:r>
              <a:rPr kumimoji="1" lang="en-US" altLang="ja-JP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【</a:t>
            </a:r>
            <a:r>
              <a:rPr kumimoji="1" lang="ja-JP" altLang="en-US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「いいえ」と回答した理由（</a:t>
            </a:r>
            <a:r>
              <a:rPr kumimoji="1" lang="en-US" altLang="ja-JP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名）</a:t>
            </a:r>
            <a:r>
              <a:rPr kumimoji="1" lang="en-US" altLang="ja-JP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】
</a:t>
            </a:r>
            <a:r>
              <a:rPr kumimoji="1" lang="ja-JP" altLang="en-US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kumimoji="1" lang="en-US" altLang="ja-JP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35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日連続の参加はきついため。 ／ ・自部署に限らず人員としては必要だと思うため。</a:t>
            </a:r>
          </a:p>
        </p:txBody>
      </p:sp>
    </p:spTree>
    <p:extLst>
      <p:ext uri="{BB962C8B-B14F-4D97-AF65-F5344CB8AC3E}">
        <p14:creationId xmlns:p14="http://schemas.microsoft.com/office/powerpoint/2010/main" val="3924966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A9E14BF-CFA4-30F0-2481-0E7874A8A7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D90C3CDA-937B-82CE-EA6C-612FCE8DE865}"/>
              </a:ext>
            </a:extLst>
          </p:cNvPr>
          <p:cNvSpPr/>
          <p:nvPr/>
        </p:nvSpPr>
        <p:spPr>
          <a:xfrm>
            <a:off x="254000" y="177800"/>
            <a:ext cx="11684000" cy="787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8B0BED7-9179-5C94-0D8D-69CC45E168D8}"/>
              </a:ext>
            </a:extLst>
          </p:cNvPr>
          <p:cNvSpPr/>
          <p:nvPr/>
        </p:nvSpPr>
        <p:spPr>
          <a:xfrm>
            <a:off x="431800" y="342900"/>
            <a:ext cx="2235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0DADAE5-19F6-B23D-E124-35F959935FF6}"/>
              </a:ext>
            </a:extLst>
          </p:cNvPr>
          <p:cNvSpPr txBox="1"/>
          <p:nvPr/>
        </p:nvSpPr>
        <p:spPr>
          <a:xfrm>
            <a:off x="431800" y="381000"/>
            <a:ext cx="22352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スタッフアンケート⑥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CF24C93-2E6A-E6FA-DD35-EAB69239BC3F}"/>
              </a:ext>
            </a:extLst>
          </p:cNvPr>
          <p:cNvSpPr txBox="1"/>
          <p:nvPr/>
        </p:nvSpPr>
        <p:spPr>
          <a:xfrm>
            <a:off x="2844800" y="317500"/>
            <a:ext cx="78740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200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⑪ 来年に向けて改善・強化・取り入れた方がよいこと（自由記載の要約）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06CF731-6FDA-8124-8F09-41E54F4C1D99}"/>
              </a:ext>
            </a:extLst>
          </p:cNvPr>
          <p:cNvSpPr/>
          <p:nvPr/>
        </p:nvSpPr>
        <p:spPr>
          <a:xfrm>
            <a:off x="10845800" y="368300"/>
            <a:ext cx="914400" cy="4064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1F59351-A093-FB0E-4BA5-BADF2C4891CA}"/>
              </a:ext>
            </a:extLst>
          </p:cNvPr>
          <p:cNvSpPr txBox="1"/>
          <p:nvPr/>
        </p:nvSpPr>
        <p:spPr>
          <a:xfrm>
            <a:off x="10845800" y="393700"/>
            <a:ext cx="9144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kumimoji="1" lang="en-US" altLang="ja-JP" sz="1250" b="1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 / 12</a:t>
            </a:r>
            <a:endParaRPr kumimoji="1" lang="ja-JP" altLang="en-US" sz="1250" b="1">
              <a:solidFill>
                <a:srgbClr val="2563EB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A2940CC8-30CD-71F5-05DC-D7A350A41889}"/>
              </a:ext>
            </a:extLst>
          </p:cNvPr>
          <p:cNvSpPr/>
          <p:nvPr/>
        </p:nvSpPr>
        <p:spPr>
          <a:xfrm>
            <a:off x="254000" y="1117600"/>
            <a:ext cx="5715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9F9C2B89-94E9-8A7A-DA5A-4B6B180C3411}"/>
              </a:ext>
            </a:extLst>
          </p:cNvPr>
          <p:cNvSpPr/>
          <p:nvPr/>
        </p:nvSpPr>
        <p:spPr>
          <a:xfrm>
            <a:off x="457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44CCBF4-0FA1-0E61-DE24-FA51CDEA3158}"/>
              </a:ext>
            </a:extLst>
          </p:cNvPr>
          <p:cNvSpPr txBox="1"/>
          <p:nvPr/>
        </p:nvSpPr>
        <p:spPr>
          <a:xfrm>
            <a:off x="660400" y="1282700"/>
            <a:ext cx="5130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機器・動線・シフト体制に関する記載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385A81A-BA56-879A-101A-C8638678ABA8}"/>
              </a:ext>
            </a:extLst>
          </p:cNvPr>
          <p:cNvSpPr/>
          <p:nvPr/>
        </p:nvSpPr>
        <p:spPr>
          <a:xfrm>
            <a:off x="457200" y="1727200"/>
            <a:ext cx="5308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F1AA56C-A015-90F8-3F16-7E2C309BD1E4}"/>
              </a:ext>
            </a:extLst>
          </p:cNvPr>
          <p:cNvSpPr txBox="1"/>
          <p:nvPr/>
        </p:nvSpPr>
        <p:spPr>
          <a:xfrm>
            <a:off x="482600" y="1879600"/>
            <a:ext cx="5257800" cy="32880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InBody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のスペース拡張と「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台体制」への増設（希望者が多く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30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分以上待ちとなり最後は並ぶのを中止したため／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台では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150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人が限度／または先着何名までと決める）。
・待ち時間防止のため整理番号を配って時間で来てもらう方式、またはブースを自由に回るのではなく「栄養→薬剤→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MSW→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看護」と順路を決めて誘導する方式の導入。
・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InBody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の待ち時間に健康情報を提供するなど有効活用する工夫、栄養相談は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InBody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の結果ありきで話す連携、栄養士セミナー形式の検討。
・参加職員の休憩時間を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時間確保してほしい（各日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5〜6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人での運用、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日目の現地集合組の設定、スタッフ用おにぎり・サンドイッチ等の準備）。
・医師の参加の検討。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F44B0B2E-E88C-8FC6-8111-45B4FA6CE220}"/>
              </a:ext>
            </a:extLst>
          </p:cNvPr>
          <p:cNvSpPr/>
          <p:nvPr/>
        </p:nvSpPr>
        <p:spPr>
          <a:xfrm>
            <a:off x="6223000" y="1117600"/>
            <a:ext cx="57150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BE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235948ED-5A64-5CB5-D0A1-A7D56EAC1443}"/>
              </a:ext>
            </a:extLst>
          </p:cNvPr>
          <p:cNvSpPr/>
          <p:nvPr/>
        </p:nvSpPr>
        <p:spPr>
          <a:xfrm>
            <a:off x="6426200" y="1320800"/>
            <a:ext cx="101600" cy="330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47E2498-F5CD-3945-299D-A17635F8B6EC}"/>
              </a:ext>
            </a:extLst>
          </p:cNvPr>
          <p:cNvSpPr txBox="1"/>
          <p:nvPr/>
        </p:nvSpPr>
        <p:spPr>
          <a:xfrm>
            <a:off x="6629400" y="1282700"/>
            <a:ext cx="5130800" cy="35650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650" b="1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広報・持参品・備品に関する記載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46A214B-61DF-1190-674C-33D46EEA1F0C}"/>
              </a:ext>
            </a:extLst>
          </p:cNvPr>
          <p:cNvSpPr/>
          <p:nvPr/>
        </p:nvSpPr>
        <p:spPr>
          <a:xfrm>
            <a:off x="6426200" y="1727200"/>
            <a:ext cx="53086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0D17C9A-6F22-594A-EFB1-F69810398615}"/>
              </a:ext>
            </a:extLst>
          </p:cNvPr>
          <p:cNvSpPr txBox="1"/>
          <p:nvPr/>
        </p:nvSpPr>
        <p:spPr>
          <a:xfrm>
            <a:off x="6451600" y="1879600"/>
            <a:ext cx="5257800" cy="286334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・病院広報誌、どんな病院か（リハ病院の役割）が分かる紹介パネル、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Instagram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等の映像、求人広告・ポスターの持参（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リハ病院の役割を知らない方や医療センターと誤認している方がいたため）。
・「あなたの健康カルテ」に①受付番号、②実年齢・西暦の生年月日（血管年齢の入力に必要なため）の記入欄を追加。
・ノベルティや配布物の拡充（アンケート回答者全員へのプレゼント、病院名入りボールペン、防災グッズを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200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個程度へ増量、お薬カレンダーを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120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個程度へ増量、エコバッグの増量、食べ物の無料配布など）。
・区画スペース拡大時の折りたたみ椅子増設、入口の右向き矢印表示、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InBody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用のペースメーカー</a:t>
            </a:r>
            <a:r>
              <a:rPr kumimoji="1" lang="en-US" altLang="ja-JP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NG</a:t>
            </a:r>
            <a:r>
              <a:rPr kumimoji="1" lang="ja-JP" altLang="en-US" sz="1380">
                <a:solidFill>
                  <a:srgbClr val="1E293B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表示の準備。</a:t>
            </a:r>
          </a:p>
        </p:txBody>
      </p:sp>
    </p:spTree>
    <p:extLst>
      <p:ext uri="{BB962C8B-B14F-4D97-AF65-F5344CB8AC3E}">
        <p14:creationId xmlns:p14="http://schemas.microsoft.com/office/powerpoint/2010/main" val="4151608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2623</Words>
  <Application>Microsoft Office PowerPoint</Application>
  <PresentationFormat>ユーザー設定</PresentationFormat>
  <Paragraphs>181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Meiryo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憲幸 保科</dc:creator>
  <cp:lastModifiedBy>憲幸 保科</cp:lastModifiedBy>
  <cp:revision>1</cp:revision>
  <dcterms:created xsi:type="dcterms:W3CDTF">2026-10-21T00:16:22Z</dcterms:created>
  <dcterms:modified xsi:type="dcterms:W3CDTF">2026-10-21T00:16:25Z</dcterms:modified>
</cp:coreProperties>
</file>